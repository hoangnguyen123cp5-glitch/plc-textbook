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7" r:id="rId3"/>
  </p:sldMasterIdLst>
  <p:notesMasterIdLst>
    <p:notesMasterId r:id="rId44"/>
  </p:notesMasterIdLst>
  <p:sldIdLst>
    <p:sldId id="257" r:id="rId4"/>
    <p:sldId id="341" r:id="rId5"/>
    <p:sldId id="339"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5" r:id="rId19"/>
    <p:sldId id="366" r:id="rId20"/>
    <p:sldId id="367" r:id="rId21"/>
    <p:sldId id="368" r:id="rId22"/>
    <p:sldId id="369" r:id="rId23"/>
    <p:sldId id="370" r:id="rId24"/>
    <p:sldId id="400" r:id="rId25"/>
    <p:sldId id="371" r:id="rId26"/>
    <p:sldId id="372" r:id="rId27"/>
    <p:sldId id="373" r:id="rId28"/>
    <p:sldId id="375" r:id="rId29"/>
    <p:sldId id="374" r:id="rId30"/>
    <p:sldId id="376" r:id="rId31"/>
    <p:sldId id="377" r:id="rId32"/>
    <p:sldId id="378" r:id="rId33"/>
    <p:sldId id="379" r:id="rId34"/>
    <p:sldId id="380" r:id="rId35"/>
    <p:sldId id="381" r:id="rId36"/>
    <p:sldId id="382" r:id="rId37"/>
    <p:sldId id="385" r:id="rId38"/>
    <p:sldId id="383" r:id="rId39"/>
    <p:sldId id="384" r:id="rId40"/>
    <p:sldId id="386" r:id="rId41"/>
    <p:sldId id="387" r:id="rId42"/>
    <p:sldId id="30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2897" autoAdjust="0"/>
  </p:normalViewPr>
  <p:slideViewPr>
    <p:cSldViewPr snapToGrid="0">
      <p:cViewPr varScale="1">
        <p:scale>
          <a:sx n="108" d="100"/>
          <a:sy n="108" d="100"/>
        </p:scale>
        <p:origin x="630"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EF37C-3239-4CC1-9458-1F4F89E202E7}" type="datetimeFigureOut">
              <a:rPr lang="en-US" smtClean="0"/>
              <a:t>11/29/2021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567F6F-AC6B-4134-8A12-A6DFC3D5752F}" type="slidenum">
              <a:rPr lang="en-US" smtClean="0"/>
              <a:t>‹#›</a:t>
            </a:fld>
            <a:endParaRPr lang="en-US"/>
          </a:p>
        </p:txBody>
      </p:sp>
    </p:spTree>
    <p:extLst>
      <p:ext uri="{BB962C8B-B14F-4D97-AF65-F5344CB8AC3E}">
        <p14:creationId xmlns:p14="http://schemas.microsoft.com/office/powerpoint/2010/main" val="1287825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05148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91548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18317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3808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72222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38735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406663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19525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90700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75727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81339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501716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777494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21975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1424861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a:solidFill>
                  <a:srgbClr val="000000"/>
                </a:solidFill>
                <a:cs typeface="Times New Roman" panose="02020603050405020304" pitchFamily="18" charset="0"/>
                <a:sym typeface="Arial" panose="020B0604020202020204" pitchFamily="34" charset="0"/>
              </a:rPr>
              <a:t>https://itudong.com/su-khac-nhau-giua-cac-phien-ban-wincc-flexible-wincc-7-va-wincc-tia-portal/</a:t>
            </a: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43491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769980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056597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50982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smtClean="0">
                <a:solidFill>
                  <a:srgbClr val="000000"/>
                </a:solidFill>
                <a:cs typeface="Times New Roman" panose="02020603050405020304" pitchFamily="18" charset="0"/>
                <a:sym typeface="Arial" panose="020B0604020202020204" pitchFamily="34" charset="0"/>
              </a:rPr>
              <a:t>s</a:t>
            </a: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839972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smtClean="0">
                <a:solidFill>
                  <a:srgbClr val="000000"/>
                </a:solidFill>
                <a:cs typeface="Times New Roman" panose="02020603050405020304" pitchFamily="18" charset="0"/>
                <a:sym typeface="Arial" panose="020B0604020202020204" pitchFamily="34" charset="0"/>
              </a:rPr>
              <a:t>s</a:t>
            </a: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107271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63935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579144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smtClean="0">
                <a:solidFill>
                  <a:srgbClr val="000000"/>
                </a:solidFill>
                <a:cs typeface="Times New Roman" panose="02020603050405020304" pitchFamily="18" charset="0"/>
                <a:sym typeface="Arial" panose="020B0604020202020204" pitchFamily="34" charset="0"/>
              </a:rPr>
              <a:t>s</a:t>
            </a: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501912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543794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smtClean="0">
                <a:solidFill>
                  <a:srgbClr val="000000"/>
                </a:solidFill>
                <a:cs typeface="Times New Roman" panose="02020603050405020304" pitchFamily="18" charset="0"/>
                <a:sym typeface="Arial" panose="020B0604020202020204" pitchFamily="34" charset="0"/>
              </a:rPr>
              <a:t>s</a:t>
            </a: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95480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10199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smtClean="0">
                <a:solidFill>
                  <a:srgbClr val="000000"/>
                </a:solidFill>
                <a:cs typeface="Times New Roman" panose="02020603050405020304" pitchFamily="18" charset="0"/>
                <a:sym typeface="Arial" panose="020B0604020202020204" pitchFamily="34" charset="0"/>
              </a:rPr>
              <a:t>s</a:t>
            </a: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6495144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139905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smtClean="0">
                <a:solidFill>
                  <a:srgbClr val="000000"/>
                </a:solidFill>
                <a:cs typeface="Times New Roman" panose="02020603050405020304" pitchFamily="18" charset="0"/>
                <a:sym typeface="Arial" panose="020B0604020202020204" pitchFamily="34" charset="0"/>
              </a:rPr>
              <a:t>s</a:t>
            </a: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59307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smtClean="0">
                <a:solidFill>
                  <a:srgbClr val="000000"/>
                </a:solidFill>
                <a:cs typeface="Times New Roman" panose="02020603050405020304" pitchFamily="18" charset="0"/>
                <a:sym typeface="Arial" panose="020B0604020202020204" pitchFamily="34" charset="0"/>
              </a:rPr>
              <a:t>s</a:t>
            </a: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3670686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smtClean="0">
                <a:solidFill>
                  <a:srgbClr val="000000"/>
                </a:solidFill>
                <a:cs typeface="Times New Roman" panose="02020603050405020304" pitchFamily="18" charset="0"/>
                <a:sym typeface="Arial" panose="020B0604020202020204" pitchFamily="34" charset="0"/>
              </a:rPr>
              <a:t>s</a:t>
            </a: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3082198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smtClean="0">
                <a:solidFill>
                  <a:srgbClr val="000000"/>
                </a:solidFill>
                <a:cs typeface="Times New Roman" panose="02020603050405020304" pitchFamily="18" charset="0"/>
                <a:sym typeface="Arial" panose="020B0604020202020204" pitchFamily="34" charset="0"/>
              </a:rPr>
              <a:t>s</a:t>
            </a: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1713347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r>
              <a:rPr lang="en-US" altLang="en-US" dirty="0" smtClean="0">
                <a:solidFill>
                  <a:srgbClr val="000000"/>
                </a:solidFill>
                <a:cs typeface="Times New Roman" panose="02020603050405020304" pitchFamily="18" charset="0"/>
                <a:sym typeface="Arial" panose="020B0604020202020204" pitchFamily="34" charset="0"/>
              </a:rPr>
              <a:t>s</a:t>
            </a: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644513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Slide Image Placeholder 1"/>
          <p:cNvSpPr>
            <a:spLocks noGrp="1" noRot="1" noChangeAspect="1" noTextEdit="1"/>
          </p:cNvSpPr>
          <p:nvPr>
            <p:ph type="sldImg"/>
          </p:nvPr>
        </p:nvSpPr>
        <p:spPr>
          <a:ln/>
        </p:spPr>
      </p:sp>
      <p:sp>
        <p:nvSpPr>
          <p:cNvPr id="3461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461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93E0FCE-8BAB-41A6-9695-3E5F75C21E84}" type="slidenum">
              <a:rPr kumimoji="0" lang="en-US"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38824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5054E70C-47C2-4482-8988-74AF4DA451C8}"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67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C3DC5AC-A2C3-434D-9582-E0EC0F6FAA16}"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842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9D51F59-BE09-49EF-946D-237576B9685B}"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9169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67DB86A-4D3F-4176-86D2-120FC381B7C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07339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A8AA00D-68EE-4067-BF52-4AAB8CCFAC3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25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4A71BA5-2B67-4F9A-91BC-1DB91DB7E825}"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5072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0E06C07-1723-4142-A5DC-829C5D45E06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50065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7370940-1979-4244-9AD8-282EE740D23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870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3E4EF4D-25D8-42A0-896B-A7FD1DB7D984}"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4538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4F2807B-369F-4B8A-9F9F-3093857B5C9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651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2EAAE3A-2ACC-48DC-A270-F0C60EC6FDA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65451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p:cNvSpPr/>
          <p:nvPr userDrawn="1"/>
        </p:nvSpPr>
        <p:spPr bwMode="blackWhite">
          <a:xfrm>
            <a:off x="254000" y="263525"/>
            <a:ext cx="11684000"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27392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ectangle 4"/>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cxnSp>
        <p:nvCxnSpPr>
          <p:cNvPr id="6" name="Straight Connector 5"/>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11" y="448056"/>
            <a:ext cx="6877120" cy="640080"/>
          </a:xfrm>
        </p:spPr>
        <p:txBody>
          <a:bodyPr>
            <a:normAutofit/>
          </a:bodyPr>
          <a:lstStyle>
            <a:lvl1pPr>
              <a:defRPr sz="24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9" y="1435608"/>
            <a:ext cx="4416552" cy="3977640"/>
          </a:xfrm>
        </p:spPr>
        <p:txBody>
          <a:bodyPr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1"/>
          </p:nvPr>
        </p:nvSpPr>
        <p:spPr/>
        <p:txBody>
          <a:bodyPr/>
          <a:lstStyle>
            <a:lvl1pPr>
              <a:defRPr smtClean="0"/>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D3BA31E0-D02B-4C72-92FB-E6211966027E}"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11/29/2021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8" name="Footer Placeholder 4"/>
          <p:cNvSpPr>
            <a:spLocks noGrp="1"/>
          </p:cNvSpPr>
          <p:nvPr>
            <p:ph type="ftr" sz="quarter" idx="12"/>
          </p:nvPr>
        </p:nvSpPr>
        <p:spPr/>
        <p:txBody>
          <a:bodyPr/>
          <a:lstStyle>
            <a:lvl1pPr>
              <a:defRPr smtClean="0"/>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9" name="Slide Number Placeholder 5"/>
          <p:cNvSpPr>
            <a:spLocks noGrp="1"/>
          </p:cNvSpPr>
          <p:nvPr>
            <p:ph type="sldNum" sz="quarter" idx="13"/>
          </p:nvPr>
        </p:nvSpPr>
        <p:spPr>
          <a:xfrm>
            <a:off x="8370888" y="6203950"/>
            <a:ext cx="3276600" cy="365125"/>
          </a:xfrm>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2A99E05D-9AF6-4DBB-8249-15FD60AE4BB7}"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46586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Rectangle 3"/>
          <p:cNvSpPr/>
          <p:nvPr userDrawn="1"/>
        </p:nvSpPr>
        <p:spPr>
          <a:xfrm>
            <a:off x="254000" y="263525"/>
            <a:ext cx="11684000"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5" name="Rectangle 4"/>
          <p:cNvSpPr/>
          <p:nvPr userDrawn="1"/>
        </p:nvSpPr>
        <p:spPr bwMode="blackWhite">
          <a:xfrm>
            <a:off x="254000" y="263525"/>
            <a:ext cx="11684000"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a:xfrm>
            <a:off x="521209" y="1536192"/>
            <a:ext cx="6876288" cy="640080"/>
          </a:xfrm>
        </p:spPr>
        <p:txBody>
          <a:bodyPr>
            <a:normAutofit/>
          </a:bodyPr>
          <a:lstStyle>
            <a:lvl1pPr>
              <a:defRPr sz="2701">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501" y="2560320"/>
            <a:ext cx="9445753" cy="3977640"/>
          </a:xfrm>
        </p:spPr>
        <p:txBody>
          <a:bodyPr rtlCol="0">
            <a:normAutofit/>
          </a:bodyPr>
          <a:lstStyle>
            <a:lvl1pPr>
              <a:defRPr lang="en-US" sz="1200" smtClean="0">
                <a:solidFill>
                  <a:schemeClr val="tx1">
                    <a:lumMod val="75000"/>
                    <a:lumOff val="25000"/>
                  </a:schemeClr>
                </a:solidFill>
                <a:latin typeface="Times New Roman" panose="02020603050405020304" pitchFamily="18" charset="0"/>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4025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930ADF8-94E5-4220-A61F-562A5FFF2652}"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11/29/2021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A0FCC8B3-8AA3-41AC-8D96-758D922C7515}"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8865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54"/>
            <a:ext cx="10363200" cy="1470025"/>
          </a:xfrm>
        </p:spPr>
        <p:txBody>
          <a:bodyPr/>
          <a:lstStyle>
            <a:lvl1pPr>
              <a:defRPr>
                <a:latin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atin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C885028-6C43-4AEC-8A23-5D273E1885A2}"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79579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6" name="Footer Placeholder 1"/>
          <p:cNvSpPr txBox="1">
            <a:spLocks/>
          </p:cNvSpPr>
          <p:nvPr userDrawn="1"/>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endParaRPr>
          </a:p>
        </p:txBody>
      </p:sp>
      <p:pic>
        <p:nvPicPr>
          <p:cNvPr id="7"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E2A845F-9870-47E0-86FF-D5B10359773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57145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9"/>
            <a:ext cx="10363200" cy="1362075"/>
          </a:xfrm>
        </p:spPr>
        <p:txBody>
          <a:bodyPr anchor="t"/>
          <a:lstStyle>
            <a:lvl1pPr algn="l">
              <a:defRPr sz="4000" b="1" cap="all">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F5C626-45A0-46EF-9E58-C3CA54F08697}"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59533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58AB801-7BEA-45FE-9251-E37D29ADF49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78382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6" y="1535113"/>
            <a:ext cx="5389033"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6" y="2174875"/>
            <a:ext cx="5389033"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8"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9322F2-0EB2-4313-997B-CA345170667A}"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92769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85B2490-8E55-4AAA-82F6-A3F7CF418A1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6941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A91D3B4-5A6F-40CA-BA29-7FF68EE686D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5050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a:xfrm>
            <a:off x="4766733" y="273079"/>
            <a:ext cx="6815667" cy="5853113"/>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374517C-903C-43ED-95C3-A2AD809374E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431090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73C90D4-9AED-4A31-BEA7-B4A13D9C0FAC}"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3452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B9408F8-F42D-44CD-8A8D-D9895C7851C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65073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7"/>
            <a:ext cx="2743200" cy="5851525"/>
          </a:xfrm>
        </p:spPr>
        <p:txBody>
          <a:bodyPr vert="eaVert"/>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a:xfrm>
            <a:off x="609600" y="274667"/>
            <a:ext cx="8026400" cy="5851525"/>
          </a:xfrm>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E006642-6D9E-4802-B51E-4A3620ABCF0D}"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9301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rPr>
              <a:t>MEC116– CAE (ỨNG DỤNG PHẦN MỀN THIẾT KẾ 3D)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8B3A981B-C2C6-4DFD-8CB5-5FAE08E7F329}"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46983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3075" name="Title Placeholder 1"/>
          <p:cNvSpPr>
            <a:spLocks noGrp="1" noChangeArrowheads="1"/>
          </p:cNvSpPr>
          <p:nvPr>
            <p:ph type="title"/>
          </p:nvPr>
        </p:nvSpPr>
        <p:spPr bwMode="auto">
          <a:xfrm>
            <a:off x="520700" y="447675"/>
            <a:ext cx="68770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76" name="Text Placeholder 2"/>
          <p:cNvSpPr>
            <a:spLocks noGrp="1" noChangeArrowheads="1"/>
          </p:cNvSpPr>
          <p:nvPr>
            <p:ph type="body" idx="1"/>
          </p:nvPr>
        </p:nvSpPr>
        <p:spPr bwMode="auto">
          <a:xfrm>
            <a:off x="539750" y="1435100"/>
            <a:ext cx="4414838"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539750" y="6203950"/>
            <a:ext cx="3276600" cy="365125"/>
          </a:xfrm>
          <a:prstGeom prst="rect">
            <a:avLst/>
          </a:prstGeom>
        </p:spPr>
        <p:txBody>
          <a:bodyPr vert="horz" wrap="square" lIns="91440" tIns="45720" rIns="91440" bIns="45720" numCol="1" anchor="ctr" anchorCtr="0" compatLnSpc="1">
            <a:prstTxWarp prst="textNoShape">
              <a:avLst/>
            </a:prstTxWarp>
          </a:bodyPr>
          <a:lstStyle>
            <a:lvl1pP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DBFA0E5-0631-4C6D-B27D-BF816283A6E3}"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11/29/2021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5" name="Footer Placeholder 4"/>
          <p:cNvSpPr>
            <a:spLocks noGrp="1"/>
          </p:cNvSpPr>
          <p:nvPr>
            <p:ph type="ftr" sz="quarter" idx="3"/>
          </p:nvPr>
        </p:nvSpPr>
        <p:spPr>
          <a:xfrm>
            <a:off x="4648200" y="62039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6" name="Slide Number Placeholder 5"/>
          <p:cNvSpPr>
            <a:spLocks noGrp="1"/>
          </p:cNvSpPr>
          <p:nvPr>
            <p:ph type="sldNum" sz="quarter" idx="4"/>
          </p:nvPr>
        </p:nvSpPr>
        <p:spPr>
          <a:xfrm>
            <a:off x="8375650" y="6203950"/>
            <a:ext cx="3276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lnSpc>
                <a:spcPct val="80000"/>
              </a:lnSpc>
              <a:spcBef>
                <a:spcPct val="20000"/>
              </a:spcBef>
              <a:buFontTx/>
              <a:buChar char="•"/>
              <a:defRPr sz="800">
                <a:solidFill>
                  <a:srgbClr val="595959"/>
                </a:solidFill>
                <a:latin typeface="Times New Roman" panose="02020603050405020304" pitchFamily="18" charset="0"/>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5289B5E9-CF14-479A-B1BA-9851330519EC}"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cxnSp>
        <p:nvCxnSpPr>
          <p:cNvPr id="8" name="Straight Connector 7"/>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3852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685800" rtl="0" eaLnBrk="0" fontAlgn="base" hangingPunct="0">
        <a:spcBef>
          <a:spcPct val="0"/>
        </a:spcBef>
        <a:spcAft>
          <a:spcPct val="0"/>
        </a:spcAft>
        <a:defRPr sz="2400" kern="1200">
          <a:solidFill>
            <a:schemeClr val="tx1"/>
          </a:solidFill>
          <a:latin typeface="Times New Roman" panose="02020603050405020304" pitchFamily="18" charset="0"/>
          <a:ea typeface="+mj-ea"/>
          <a:cs typeface="+mj-cs"/>
        </a:defRPr>
      </a:lvl1pPr>
      <a:lvl2pPr algn="l" defTabSz="685800" rtl="0" eaLnBrk="0" fontAlgn="base" hangingPunct="0">
        <a:spcBef>
          <a:spcPct val="0"/>
        </a:spcBef>
        <a:spcAft>
          <a:spcPct val="0"/>
        </a:spcAft>
        <a:defRPr sz="2400">
          <a:solidFill>
            <a:schemeClr val="tx1"/>
          </a:solidFill>
          <a:latin typeface="Times New Roman" panose="02020603050405020304" pitchFamily="18" charset="0"/>
        </a:defRPr>
      </a:lvl2pPr>
      <a:lvl3pPr algn="l" defTabSz="685800" rtl="0" eaLnBrk="0" fontAlgn="base" hangingPunct="0">
        <a:spcBef>
          <a:spcPct val="0"/>
        </a:spcBef>
        <a:spcAft>
          <a:spcPct val="0"/>
        </a:spcAft>
        <a:defRPr sz="2400">
          <a:solidFill>
            <a:schemeClr val="tx1"/>
          </a:solidFill>
          <a:latin typeface="Times New Roman" panose="02020603050405020304" pitchFamily="18" charset="0"/>
        </a:defRPr>
      </a:lvl3pPr>
      <a:lvl4pPr algn="l" defTabSz="685800" rtl="0" eaLnBrk="0" fontAlgn="base" hangingPunct="0">
        <a:spcBef>
          <a:spcPct val="0"/>
        </a:spcBef>
        <a:spcAft>
          <a:spcPct val="0"/>
        </a:spcAft>
        <a:defRPr sz="2400">
          <a:solidFill>
            <a:schemeClr val="tx1"/>
          </a:solidFill>
          <a:latin typeface="Times New Roman" panose="02020603050405020304" pitchFamily="18" charset="0"/>
        </a:defRPr>
      </a:lvl4pPr>
      <a:lvl5pPr algn="l" defTabSz="685800" rtl="0" eaLnBrk="0" fontAlgn="base" hangingPunct="0">
        <a:spcBef>
          <a:spcPct val="0"/>
        </a:spcBef>
        <a:spcAft>
          <a:spcPct val="0"/>
        </a:spcAft>
        <a:defRPr sz="2400">
          <a:solidFill>
            <a:schemeClr val="tx1"/>
          </a:solidFill>
          <a:latin typeface="Times New Roman" panose="02020603050405020304" pitchFamily="18" charset="0"/>
        </a:defRPr>
      </a:lvl5pPr>
      <a:lvl6pPr marL="457200" algn="l" defTabSz="685800" rtl="0" fontAlgn="base">
        <a:spcBef>
          <a:spcPct val="0"/>
        </a:spcBef>
        <a:spcAft>
          <a:spcPct val="0"/>
        </a:spcAft>
        <a:defRPr sz="2400">
          <a:solidFill>
            <a:schemeClr val="tx1"/>
          </a:solidFill>
          <a:latin typeface="Segoe UI Light" panose="020B0502040204020203" pitchFamily="34" charset="0"/>
        </a:defRPr>
      </a:lvl6pPr>
      <a:lvl7pPr marL="914400" algn="l" defTabSz="685800" rtl="0" fontAlgn="base">
        <a:spcBef>
          <a:spcPct val="0"/>
        </a:spcBef>
        <a:spcAft>
          <a:spcPct val="0"/>
        </a:spcAft>
        <a:defRPr sz="2400">
          <a:solidFill>
            <a:schemeClr val="tx1"/>
          </a:solidFill>
          <a:latin typeface="Segoe UI Light" panose="020B0502040204020203" pitchFamily="34" charset="0"/>
        </a:defRPr>
      </a:lvl7pPr>
      <a:lvl8pPr marL="1371600" algn="l" defTabSz="685800" rtl="0" fontAlgn="base">
        <a:spcBef>
          <a:spcPct val="0"/>
        </a:spcBef>
        <a:spcAft>
          <a:spcPct val="0"/>
        </a:spcAft>
        <a:defRPr sz="2400">
          <a:solidFill>
            <a:schemeClr val="tx1"/>
          </a:solidFill>
          <a:latin typeface="Segoe UI Light" panose="020B0502040204020203" pitchFamily="34" charset="0"/>
        </a:defRPr>
      </a:lvl8pPr>
      <a:lvl9pPr marL="1828800" algn="l" defTabSz="685800" rtl="0" fontAlgn="base">
        <a:spcBef>
          <a:spcPct val="0"/>
        </a:spcBef>
        <a:spcAft>
          <a:spcPct val="0"/>
        </a:spcAft>
        <a:defRPr sz="2400">
          <a:solidFill>
            <a:schemeClr val="tx1"/>
          </a:solidFill>
          <a:latin typeface="Segoe UI Light" panose="020B0502040204020203" pitchFamily="34" charset="0"/>
        </a:defRPr>
      </a:lvl9pPr>
    </p:titleStyle>
    <p:bodyStyle>
      <a:lvl1pPr marL="342900" indent="-342900" algn="l" defTabSz="685800" rtl="0" eaLnBrk="0" fontAlgn="base" hangingPunct="0">
        <a:lnSpc>
          <a:spcPct val="150000"/>
        </a:lnSpc>
        <a:spcBef>
          <a:spcPts val="750"/>
        </a:spcBef>
        <a:spcAft>
          <a:spcPts val="900"/>
        </a:spcAft>
        <a:defRPr lang="en-US" sz="1200" kern="1200" dirty="0">
          <a:solidFill>
            <a:schemeClr val="tx1"/>
          </a:solidFill>
          <a:latin typeface="Times New Roman" panose="02020603050405020304" pitchFamily="18" charset="0"/>
          <a:ea typeface="+mn-ea"/>
          <a:cs typeface="+mn-cs"/>
        </a:defRPr>
      </a:lvl1pPr>
      <a:lvl2pPr marL="1714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2pPr>
      <a:lvl3pPr marL="5143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3pPr>
      <a:lvl4pPr marL="8572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4pPr>
      <a:lvl5pPr marL="12001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5pPr>
      <a:lvl6pPr marL="154312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6pPr>
      <a:lvl7pPr marL="1886038"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7pPr>
      <a:lvl8pPr marL="222895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8pPr>
      <a:lvl9pPr marL="2571870" indent="-171458" algn="l" defTabSz="685832" rtl="0" eaLnBrk="1" latinLnBrk="0" hangingPunct="1">
        <a:lnSpc>
          <a:spcPct val="90000"/>
        </a:lnSpc>
        <a:spcBef>
          <a:spcPct val="30000"/>
        </a:spcBef>
        <a:buFont typeface="Arial" panose="020B0604020202020204" pitchFamily="34" charset="0"/>
        <a:buNone/>
        <a:defRPr sz="899" kern="1200">
          <a:solidFill>
            <a:schemeClr val="tx1"/>
          </a:solidFill>
          <a:latin typeface="+mn-lt"/>
          <a:ea typeface="+mn-ea"/>
          <a:cs typeface="+mn-cs"/>
        </a:defRPr>
      </a:lvl9pPr>
    </p:bodyStyle>
    <p:otherStyle>
      <a:defPPr>
        <a:defRPr lang="en-US"/>
      </a:defPPr>
      <a:lvl1pPr marL="0" algn="l" defTabSz="685832" rtl="0" eaLnBrk="1" latinLnBrk="0" hangingPunct="1">
        <a:defRPr sz="1349" kern="1200">
          <a:solidFill>
            <a:schemeClr val="tx1"/>
          </a:solidFill>
          <a:latin typeface="+mn-lt"/>
          <a:ea typeface="+mn-ea"/>
          <a:cs typeface="+mn-cs"/>
        </a:defRPr>
      </a:lvl1pPr>
      <a:lvl2pPr marL="342917" algn="l" defTabSz="685832" rtl="0" eaLnBrk="1" latinLnBrk="0" hangingPunct="1">
        <a:defRPr sz="1349" kern="1200">
          <a:solidFill>
            <a:schemeClr val="tx1"/>
          </a:solidFill>
          <a:latin typeface="+mn-lt"/>
          <a:ea typeface="+mn-ea"/>
          <a:cs typeface="+mn-cs"/>
        </a:defRPr>
      </a:lvl2pPr>
      <a:lvl3pPr marL="685832" algn="l" defTabSz="685832" rtl="0" eaLnBrk="1" latinLnBrk="0" hangingPunct="1">
        <a:defRPr sz="1349" kern="1200">
          <a:solidFill>
            <a:schemeClr val="tx1"/>
          </a:solidFill>
          <a:latin typeface="+mn-lt"/>
          <a:ea typeface="+mn-ea"/>
          <a:cs typeface="+mn-cs"/>
        </a:defRPr>
      </a:lvl3pPr>
      <a:lvl4pPr marL="1028749" algn="l" defTabSz="685832" rtl="0" eaLnBrk="1" latinLnBrk="0" hangingPunct="1">
        <a:defRPr sz="1349" kern="1200">
          <a:solidFill>
            <a:schemeClr val="tx1"/>
          </a:solidFill>
          <a:latin typeface="+mn-lt"/>
          <a:ea typeface="+mn-ea"/>
          <a:cs typeface="+mn-cs"/>
        </a:defRPr>
      </a:lvl4pPr>
      <a:lvl5pPr marL="1371663" algn="l" defTabSz="685832" rtl="0" eaLnBrk="1" latinLnBrk="0" hangingPunct="1">
        <a:defRPr sz="1349" kern="1200">
          <a:solidFill>
            <a:schemeClr val="tx1"/>
          </a:solidFill>
          <a:latin typeface="+mn-lt"/>
          <a:ea typeface="+mn-ea"/>
          <a:cs typeface="+mn-cs"/>
        </a:defRPr>
      </a:lvl5pPr>
      <a:lvl6pPr marL="1714580" algn="l" defTabSz="685832" rtl="0" eaLnBrk="1" latinLnBrk="0" hangingPunct="1">
        <a:defRPr sz="1349" kern="1200">
          <a:solidFill>
            <a:schemeClr val="tx1"/>
          </a:solidFill>
          <a:latin typeface="+mn-lt"/>
          <a:ea typeface="+mn-ea"/>
          <a:cs typeface="+mn-cs"/>
        </a:defRPr>
      </a:lvl6pPr>
      <a:lvl7pPr marL="2057496" algn="l" defTabSz="685832" rtl="0" eaLnBrk="1" latinLnBrk="0" hangingPunct="1">
        <a:defRPr sz="1349" kern="1200">
          <a:solidFill>
            <a:schemeClr val="tx1"/>
          </a:solidFill>
          <a:latin typeface="+mn-lt"/>
          <a:ea typeface="+mn-ea"/>
          <a:cs typeface="+mn-cs"/>
        </a:defRPr>
      </a:lvl7pPr>
      <a:lvl8pPr marL="2400413" algn="l" defTabSz="685832" rtl="0" eaLnBrk="1" latinLnBrk="0" hangingPunct="1">
        <a:defRPr sz="1349" kern="1200">
          <a:solidFill>
            <a:schemeClr val="tx1"/>
          </a:solidFill>
          <a:latin typeface="+mn-lt"/>
          <a:ea typeface="+mn-ea"/>
          <a:cs typeface="+mn-cs"/>
        </a:defRPr>
      </a:lvl8pPr>
      <a:lvl9pPr marL="2743328" algn="l" defTabSz="685832" rtl="0" eaLnBrk="1" latinLnBrk="0" hangingPunct="1">
        <a:defRPr sz="134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smtClean="0">
                <a:solidFill>
                  <a:srgbClr val="000000"/>
                </a:solidFill>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smtClean="0">
                <a:solidFill>
                  <a:srgbClr val="000000"/>
                </a:solidFill>
                <a:latin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rgbClr val="000000"/>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9DAAEFA-6D00-4774-9254-65936C3AE482}"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4976780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rtl="0" eaLnBrk="0" fontAlgn="base" hangingPunct="0">
        <a:spcBef>
          <a:spcPct val="0"/>
        </a:spcBef>
        <a:spcAft>
          <a:spcPct val="0"/>
        </a:spcAft>
        <a:defRPr sz="4400">
          <a:solidFill>
            <a:schemeClr val="tx2"/>
          </a:solidFill>
          <a:latin typeface="Times New Roman" panose="02020603050405020304" pitchFamily="18" charset="0"/>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Times New Roman" panose="02020603050405020304" pitchFamily="18" charset="0"/>
        </a:defRPr>
      </a:lvl2pPr>
      <a:lvl3pPr marL="1143000" indent="-228600" algn="l" rtl="0" eaLnBrk="0" fontAlgn="base" hangingPunct="0">
        <a:spcBef>
          <a:spcPct val="20000"/>
        </a:spcBef>
        <a:spcAft>
          <a:spcPct val="0"/>
        </a:spcAft>
        <a:buChar char="•"/>
        <a:defRPr sz="2400">
          <a:solidFill>
            <a:schemeClr val="tx1"/>
          </a:solidFill>
          <a:latin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28.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32.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37.png"/><Relationship Id="rId4" Type="http://schemas.openxmlformats.org/officeDocument/2006/relationships/image" Target="../media/image36.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598613" y="1568450"/>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lang="en-US" altLang="en-US" dirty="0">
                <a:solidFill>
                  <a:prstClr val="white"/>
                </a:solidFill>
                <a:latin typeface="Times New Roman" panose="02020603050405020304" pitchFamily="18" charset="0"/>
                <a:ea typeface="+mj-ea"/>
                <a:cs typeface="Times New Roman" panose="02020603050405020304" pitchFamily="18" charset="0"/>
              </a:rPr>
              <a:t>SYLLABUS</a:t>
            </a:r>
            <a:br>
              <a:rPr lang="en-US" altLang="en-US" dirty="0">
                <a:solidFill>
                  <a:prstClr val="white"/>
                </a:solidFill>
                <a:latin typeface="Times New Roman" panose="02020603050405020304" pitchFamily="18" charset="0"/>
                <a:ea typeface="+mj-ea"/>
                <a:cs typeface="Times New Roman" panose="02020603050405020304" pitchFamily="18" charset="0"/>
              </a:rPr>
            </a:br>
            <a:r>
              <a:rPr lang="en-US" altLang="en-US" sz="4000" dirty="0">
                <a:solidFill>
                  <a:srgbClr val="FFFF00"/>
                </a:solidFill>
                <a:latin typeface="Times New Roman" panose="02020603050405020304" pitchFamily="18" charset="0"/>
                <a:ea typeface="+mj-ea"/>
                <a:cs typeface="Times New Roman" panose="02020603050405020304" pitchFamily="18" charset="0"/>
              </a:rPr>
              <a:t> </a:t>
            </a:r>
            <a:br>
              <a:rPr lang="en-US" altLang="en-US" sz="4000" dirty="0">
                <a:solidFill>
                  <a:srgbClr val="FFFF00"/>
                </a:solidFill>
                <a:latin typeface="Times New Roman" panose="02020603050405020304" pitchFamily="18" charset="0"/>
                <a:ea typeface="+mj-ea"/>
                <a:cs typeface="Times New Roman" panose="02020603050405020304" pitchFamily="18" charset="0"/>
              </a:rPr>
            </a:br>
            <a:r>
              <a:rPr lang="vi-VN" altLang="en-US" sz="4000" dirty="0">
                <a:solidFill>
                  <a:prstClr val="white"/>
                </a:solidFill>
                <a:latin typeface="Times New Roman" panose="02020603050405020304" pitchFamily="18" charset="0"/>
                <a:ea typeface="+mj-ea"/>
                <a:cs typeface="Times New Roman" panose="02020603050405020304" pitchFamily="18" charset="0"/>
              </a:rPr>
              <a:t>PLC </a:t>
            </a:r>
            <a:r>
              <a:rPr lang="en-GB" altLang="en-US" sz="4000" dirty="0">
                <a:solidFill>
                  <a:prstClr val="white"/>
                </a:solidFill>
                <a:latin typeface="Times New Roman" panose="02020603050405020304" pitchFamily="18" charset="0"/>
                <a:ea typeface="+mj-ea"/>
                <a:cs typeface="Times New Roman" panose="02020603050405020304" pitchFamily="18" charset="0"/>
              </a:rPr>
              <a:t>NÂNG CAO</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559" y="3573462"/>
            <a:ext cx="5846108" cy="2879725"/>
          </a:xfrm>
          <a:prstGeom prst="rect">
            <a:avLst/>
          </a:prstGeom>
        </p:spPr>
      </p:pic>
    </p:spTree>
    <p:extLst>
      <p:ext uri="{BB962C8B-B14F-4D97-AF65-F5344CB8AC3E}">
        <p14:creationId xmlns:p14="http://schemas.microsoft.com/office/powerpoint/2010/main" val="130461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3"/>
          <p:cNvSpPr txBox="1">
            <a:spLocks noChangeArrowheads="1"/>
          </p:cNvSpPr>
          <p:nvPr/>
        </p:nvSpPr>
        <p:spPr bwMode="auto">
          <a:xfrm>
            <a:off x="1186544" y="1034256"/>
            <a:ext cx="100345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SAU KHI HỌC XONG MÔN HỌC NÀY, NGƯỜI HỌC CÓ KHẢ NĂNG:</a:t>
            </a:r>
          </a:p>
        </p:txBody>
      </p:sp>
      <p:sp>
        <p:nvSpPr>
          <p:cNvPr id="14" name="Rectangle 2"/>
          <p:cNvSpPr>
            <a:spLocks noChangeArrowheads="1"/>
          </p:cNvSpPr>
          <p:nvPr/>
        </p:nvSpPr>
        <p:spPr bwMode="auto">
          <a:xfrm>
            <a:off x="1140506" y="1731963"/>
            <a:ext cx="10080625"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G1: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dây</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chuyền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tế</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G2: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tiễn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trạm</a:t>
            </a:r>
            <a:r>
              <a:rPr lang="en-US" altLang="en-US" sz="2400" b="0" dirty="0">
                <a:latin typeface="Times New Roman" panose="02020603050405020304" pitchFamily="18" charset="0"/>
                <a:cs typeface="Times New Roman" panose="02020603050405020304" pitchFamily="18" charset="0"/>
              </a:rPr>
              <a:t>/</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bộ</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điều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khiển</a:t>
            </a:r>
            <a:r>
              <a:rPr lang="en-US" altLang="en-US" sz="2400" b="0" dirty="0">
                <a:latin typeface="Times New Roman" panose="02020603050405020304" pitchFamily="18" charset="0"/>
                <a:cs typeface="Times New Roman" panose="02020603050405020304" pitchFamily="18" charset="0"/>
              </a:rPr>
              <a:t> PLC</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G3: </a:t>
            </a:r>
            <a:r>
              <a:rPr lang="en-US" altLang="en-US" sz="2400" b="0" dirty="0" err="1">
                <a:latin typeface="Times New Roman" panose="02020603050405020304" pitchFamily="18" charset="0"/>
                <a:cs typeface="Times New Roman" panose="02020603050405020304" pitchFamily="18" charset="0"/>
              </a:rPr>
              <a:t>Đo</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lường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kiểm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sô</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đặt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PLC.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G4: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ráp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hành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thiết</a:t>
            </a:r>
            <a:r>
              <a:rPr lang="en-US" altLang="en-US" sz="2400" b="0" dirty="0">
                <a:latin typeface="Times New Roman" panose="02020603050405020304" pitchFamily="18" charset="0"/>
                <a:cs typeface="Times New Roman" panose="02020603050405020304" pitchFamily="18" charset="0"/>
              </a:rPr>
              <a:t> bị </a:t>
            </a:r>
            <a:r>
              <a:rPr lang="en-US" altLang="en-US" sz="2400" b="0" dirty="0" err="1">
                <a:latin typeface="Times New Roman" panose="02020603050405020304" pitchFamily="18" charset="0"/>
                <a:cs typeface="Times New Roman" panose="02020603050405020304" pitchFamily="18" charset="0"/>
              </a:rPr>
              <a:t>điện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thể</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đánh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giá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tình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xử</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sự</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cố</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chỉnh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bị</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ngoại</a:t>
            </a:r>
            <a:r>
              <a:rPr lang="en-US" altLang="en-US" sz="2400" b="0" dirty="0">
                <a:latin typeface="Times New Roman" panose="02020603050405020304" pitchFamily="18" charset="0"/>
                <a:cs typeface="Times New Roman" panose="02020603050405020304" pitchFamily="18" charset="0"/>
              </a:rPr>
              <a:t> vi (</a:t>
            </a:r>
            <a:r>
              <a:rPr lang="en-US" altLang="en-US" sz="2400" b="0" dirty="0" err="1">
                <a:latin typeface="Times New Roman" panose="02020603050405020304" pitchFamily="18" charset="0"/>
                <a:cs typeface="Times New Roman" panose="02020603050405020304" pitchFamily="18" charset="0"/>
              </a:rPr>
              <a:t>cảm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tắc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domino, ...).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G5: </a:t>
            </a:r>
            <a:r>
              <a:rPr lang="en-US" altLang="en-US" sz="2400" b="0" dirty="0" err="1">
                <a:latin typeface="Times New Roman" panose="02020603050405020304" pitchFamily="18" charset="0"/>
                <a:cs typeface="Times New Roman" panose="02020603050405020304" pitchFamily="18" charset="0"/>
              </a:rPr>
              <a:t>Rèn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luyện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cẩn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thận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mỉ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toán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chủ</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tổ</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chức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xếp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a:t>
            </a:r>
            <a:r>
              <a:rPr lang="en-US" altLang="en-US" sz="2400" b="0" dirty="0">
                <a:latin typeface="Times New Roman" panose="02020603050405020304" pitchFamily="18" charset="0"/>
                <a:cs typeface="Times New Roman" panose="02020603050405020304" pitchFamily="18" charset="0"/>
              </a:rPr>
              <a:t>. </a:t>
            </a:r>
            <a:endParaRPr lang="en-GB" altLang="en-US" sz="2400" b="0" dirty="0">
              <a:latin typeface="Times New Roman" panose="02020603050405020304" pitchFamily="18" charset="0"/>
              <a:cs typeface="Times New Roman" panose="02020603050405020304" pitchFamily="18" charset="0"/>
            </a:endParaRPr>
          </a:p>
        </p:txBody>
      </p:sp>
      <p:sp>
        <p:nvSpPr>
          <p:cNvPr id="15" name="Title 1"/>
          <p:cNvSpPr txBox="1">
            <a:spLocks/>
          </p:cNvSpPr>
          <p:nvPr/>
        </p:nvSpPr>
        <p:spPr>
          <a:xfrm>
            <a:off x="8086725" y="247650"/>
            <a:ext cx="3648075" cy="487363"/>
          </a:xfrm>
          <a:prstGeom prst="rect">
            <a:avLst/>
          </a:prstGeom>
        </p:spPr>
        <p:txBody>
          <a:bodyPr anchor="ctr"/>
          <a:lstStyle>
            <a:lvl1pPr>
              <a:defRPr sz="2800">
                <a:solidFill>
                  <a:schemeClr val="tx1"/>
                </a:solidFill>
                <a:latin typeface="Calibri" pitchFamily="34" charset="0"/>
              </a:defRPr>
            </a:lvl1pPr>
            <a:lvl2pPr marL="742950" indent="-285750">
              <a:defRPr sz="2400">
                <a:solidFill>
                  <a:schemeClr val="tx1"/>
                </a:solidFill>
                <a:latin typeface="Calibri" pitchFamily="34" charset="0"/>
              </a:defRPr>
            </a:lvl2pPr>
            <a:lvl3pPr>
              <a:defRPr sz="2000">
                <a:solidFill>
                  <a:schemeClr val="tx1"/>
                </a:solidFill>
                <a:latin typeface="Calibri" pitchFamily="34" charset="0"/>
              </a:defRPr>
            </a:lvl3pPr>
            <a:lvl4pPr>
              <a:defRPr>
                <a:solidFill>
                  <a:schemeClr val="tx1"/>
                </a:solidFill>
                <a:latin typeface="Calibri" pitchFamily="34" charset="0"/>
              </a:defRPr>
            </a:lvl4pPr>
            <a:lvl5pPr>
              <a:defRPr>
                <a:solidFill>
                  <a:schemeClr val="tx1"/>
                </a:solidFill>
                <a:latin typeface="Calibri" pitchFamily="34" charset="0"/>
              </a:defRPr>
            </a:lvl5pPr>
            <a:lvl6pPr eaLnBrk="0" fontAlgn="base" hangingPunct="0">
              <a:spcAft>
                <a:spcPct val="0"/>
              </a:spcAft>
              <a:defRPr>
                <a:solidFill>
                  <a:schemeClr val="tx1"/>
                </a:solidFill>
                <a:latin typeface="Calibri" pitchFamily="34" charset="0"/>
              </a:defRPr>
            </a:lvl6pPr>
            <a:lvl7pPr eaLnBrk="0" fontAlgn="base" hangingPunct="0">
              <a:spcAft>
                <a:spcPct val="0"/>
              </a:spcAft>
              <a:defRPr>
                <a:solidFill>
                  <a:schemeClr val="tx1"/>
                </a:solidFill>
                <a:latin typeface="Calibri" pitchFamily="34" charset="0"/>
              </a:defRPr>
            </a:lvl7pPr>
            <a:lvl8pPr eaLnBrk="0" fontAlgn="base" hangingPunct="0">
              <a:spcAft>
                <a:spcPct val="0"/>
              </a:spcAft>
              <a:defRPr>
                <a:solidFill>
                  <a:schemeClr val="tx1"/>
                </a:solidFill>
                <a:latin typeface="Calibri" pitchFamily="34" charset="0"/>
              </a:defRPr>
            </a:lvl8pPr>
            <a:lvl9pPr eaLnBrk="0" fontAlgn="base" hangingPunct="0">
              <a:spcAft>
                <a:spcPct val="0"/>
              </a:spcAft>
              <a:defRPr>
                <a:solidFill>
                  <a:schemeClr val="tx1"/>
                </a:solidFill>
                <a:latin typeface="Calibri" pitchFamily="34" charset="0"/>
              </a:defRPr>
            </a:lvl9pPr>
          </a:lstStyle>
          <a:p>
            <a:pPr algn="r" eaLnBrk="1" hangingPunct="1">
              <a:defRPr/>
            </a:pPr>
            <a:r>
              <a:rPr lang="en-US" sz="2000" dirty="0">
                <a:solidFill>
                  <a:srgbClr val="FF5A33"/>
                </a:solidFill>
                <a:effectLst>
                  <a:outerShdw blurRad="38100" dist="38100" dir="2700000" algn="tl">
                    <a:srgbClr val="C0C0C0"/>
                  </a:outerShdw>
                </a:effectLst>
                <a:latin typeface="Times New Roman" pitchFamily="18" charset="0"/>
                <a:cs typeface="Times New Roman" pitchFamily="18" charset="0"/>
              </a:rPr>
              <a:t>ĐỀ CƯƠNG CHI TIẾT</a:t>
            </a:r>
          </a:p>
        </p:txBody>
      </p:sp>
    </p:spTree>
    <p:extLst>
      <p:ext uri="{BB962C8B-B14F-4D97-AF65-F5344CB8AC3E}">
        <p14:creationId xmlns:p14="http://schemas.microsoft.com/office/powerpoint/2010/main" val="266558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524000" y="1135856"/>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srgbClr val="FFFFFF"/>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 </a:t>
            </a:r>
            <a:r>
              <a:rPr kumimoji="0" lang="en-US" altLang="en-US" sz="2000" b="1" i="0" u="none" strike="noStrike" kern="1200" cap="none" spc="0" normalizeH="0" baseline="0" noProof="0" dirty="0" smtClean="0">
                <a:ln>
                  <a:noFill/>
                </a:ln>
                <a:solidFill>
                  <a:srgbClr val="FFFFFF"/>
                </a:solidFill>
                <a:effectLst/>
                <a:uLnTx/>
                <a:uFillTx/>
                <a:latin typeface="Times New Roman" panose="02020603050405020304" pitchFamily="18" charset="0"/>
                <a:ea typeface="+mn-ea"/>
                <a:cs typeface="Times New Roman" panose="02020603050405020304" pitchFamily="18" charset="0"/>
              </a:rPr>
              <a:t>3:</a:t>
            </a: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
            </a:r>
            <a:b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br>
            <a:r>
              <a:rPr lang="en-US" altLang="en-US" sz="3200" dirty="0">
                <a:solidFill>
                  <a:srgbClr val="FFFFFF"/>
                </a:solidFill>
                <a:latin typeface="Times New Roman" panose="02020603050405020304" pitchFamily="18" charset="0"/>
                <a:cs typeface="Times New Roman" panose="02020603050405020304" pitchFamily="18" charset="0"/>
              </a:rPr>
              <a:t>MỘT SỐ TẬP LỆNH LẬP TRÌNH NÂNG CAO</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2" name="AutoShape 2" descr="SIMATIC SCADA Systems | Automation Software | Siemens Glob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59035" y="3599102"/>
            <a:ext cx="5073930" cy="2854086"/>
          </a:xfrm>
          <a:prstGeom prst="rect">
            <a:avLst/>
          </a:prstGeom>
        </p:spPr>
      </p:pic>
    </p:spTree>
    <p:extLst>
      <p:ext uri="{BB962C8B-B14F-4D97-AF65-F5344CB8AC3E}">
        <p14:creationId xmlns:p14="http://schemas.microsoft.com/office/powerpoint/2010/main" val="3477818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593850" y="1831975"/>
            <a:ext cx="953874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fontAlgn="base">
              <a:lnSpc>
                <a:spcPct val="90000"/>
              </a:lnSpc>
              <a:spcBef>
                <a:spcPts val="600"/>
              </a:spcBef>
              <a:spcAft>
                <a:spcPct val="0"/>
              </a:spcAft>
              <a:defRPr/>
            </a:pP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3.1 </a:t>
            </a:r>
            <a:r>
              <a:rPr lang="en-US" altLang="en-US" sz="2400" dirty="0">
                <a:solidFill>
                  <a:prstClr val="black"/>
                </a:solidFill>
                <a:latin typeface="Times New Roman" panose="02020603050405020304" pitchFamily="18" charset="0"/>
                <a:cs typeface="Times New Roman" panose="02020603050405020304" pitchFamily="18" charset="0"/>
              </a:rPr>
              <a:t>MỘT SỐ TẬP LỆNH XỬ LÝ THỜI GIAN</a:t>
            </a:r>
            <a:endPar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Rectangle 2"/>
          <p:cNvSpPr txBox="1">
            <a:spLocks noChangeArrowheads="1"/>
          </p:cNvSpPr>
          <p:nvPr/>
        </p:nvSpPr>
        <p:spPr bwMode="auto">
          <a:xfrm>
            <a:off x="1558925" y="534988"/>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3:</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en-US" altLang="en-US" sz="3200" dirty="0">
                <a:solidFill>
                  <a:prstClr val="black"/>
                </a:solidFill>
                <a:latin typeface="Times New Roman" panose="02020603050405020304" pitchFamily="18" charset="0"/>
                <a:cs typeface="Times New Roman" panose="02020603050405020304" pitchFamily="18" charset="0"/>
              </a:rPr>
              <a:t>MỘT SỐ TẬP LỆNH LẬP TRÌNH NÂNG CAO</a:t>
            </a:r>
            <a:endPar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24581"/>
          <a:stretch/>
        </p:blipFill>
        <p:spPr>
          <a:xfrm>
            <a:off x="3000651" y="3222593"/>
            <a:ext cx="6717377" cy="2849734"/>
          </a:xfrm>
          <a:prstGeom prst="rect">
            <a:avLst/>
          </a:prstGeom>
        </p:spPr>
      </p:pic>
    </p:spTree>
    <p:extLst>
      <p:ext uri="{BB962C8B-B14F-4D97-AF65-F5344CB8AC3E}">
        <p14:creationId xmlns:p14="http://schemas.microsoft.com/office/powerpoint/2010/main" val="21118521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025"/>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lvl="0" fontAlgn="base">
              <a:spcAft>
                <a:spcPct val="0"/>
              </a:spcAf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tập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lệnh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lý</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thời</a:t>
            </a:r>
            <a:r>
              <a:rPr lang="en-US" sz="2000" dirty="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r>
              <a:rPr lang="en-US" b="1" dirty="0" smtClean="0">
                <a:solidFill>
                  <a:srgbClr val="0F3596"/>
                </a:solidFill>
                <a:latin typeface="Times New Roman" panose="02020603050405020304" pitchFamily="18" charset="0"/>
                <a:cs typeface="Times New Roman" panose="02020603050405020304" pitchFamily="18" charset="0"/>
              </a:rPr>
              <a:t>GIỚI THIỆU TIMER</a:t>
            </a:r>
            <a:endParaRPr lang="en-US" b="1" i="0" dirty="0">
              <a:solidFill>
                <a:srgbClr val="0F3596"/>
              </a:solidFill>
              <a:effectLst/>
              <a:latin typeface="Times New Roman" panose="02020603050405020304" pitchFamily="18" charset="0"/>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lang="en-US" altLang="en-US" sz="1200" dirty="0">
                <a:solidFill>
                  <a:srgbClr val="2D2D8A"/>
                </a:solidFill>
                <a:latin typeface="Times New Roman" panose="02020603050405020304" pitchFamily="18" charset="0"/>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sp>
        <p:nvSpPr>
          <p:cNvPr id="12" name="TextBox 11">
            <a:extLst>
              <a:ext uri="{FF2B5EF4-FFF2-40B4-BE49-F238E27FC236}">
                <a16:creationId xmlns:a16="http://schemas.microsoft.com/office/drawing/2014/main" id="{29DC0FD9-6721-414F-83A8-87DE3F1B4290}"/>
              </a:ext>
            </a:extLst>
          </p:cNvPr>
          <p:cNvSpPr txBox="1"/>
          <p:nvPr/>
        </p:nvSpPr>
        <p:spPr>
          <a:xfrm>
            <a:off x="540078" y="1294062"/>
            <a:ext cx="11498042" cy="1754326"/>
          </a:xfrm>
          <a:prstGeom prst="rect">
            <a:avLst/>
          </a:prstGeom>
          <a:noFill/>
        </p:spPr>
        <p:txBody>
          <a:bodyPr wrap="square">
            <a:spAutoFit/>
          </a:bodyPr>
          <a:lstStyle/>
          <a:p>
            <a:pPr algn="just"/>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Bộ thời gian Timer là bộ tạo thời gian trễ T mong muốn giữa tín hiệu logic ngõ vào và</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tín hiệu logic ngõ ra.</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S7 </a:t>
            </a:r>
            <a:r>
              <a:rPr lang="vi-VN" sz="1800" b="0" i="0" dirty="0">
                <a:solidFill>
                  <a:srgbClr val="000000"/>
                </a:solidFill>
                <a:effectLst/>
                <a:latin typeface="Times New Roman" panose="02020603050405020304" pitchFamily="18" charset="0"/>
                <a:cs typeface="Times New Roman" panose="02020603050405020304" pitchFamily="18" charset="0"/>
              </a:rPr>
              <a:t>300 có 5 loại timer khác nhau</a:t>
            </a:r>
            <a:r>
              <a:rPr lang="vi-VN" sz="1800" b="1"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Tất cả 5 loại Timer này cùng bắt đầu tạo thời gian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trễ tín hiệu kể từ thời điểm</a:t>
            </a:r>
            <a:endParaRPr lang="en-US" sz="1800" b="0" i="0" dirty="0">
              <a:solidFill>
                <a:srgbClr val="000000"/>
              </a:solidFill>
              <a:effectLst/>
              <a:latin typeface="Times New Roman" panose="02020603050405020304" pitchFamily="18" charset="0"/>
              <a:cs typeface="Times New Roman" panose="02020603050405020304" pitchFamily="18" charset="0"/>
            </a:endParaRPr>
          </a:p>
          <a:p>
            <a:pPr algn="just"/>
            <a:r>
              <a:rPr lang="en-US" dirty="0">
                <a:solidFill>
                  <a:srgbClr val="000000"/>
                </a:solidFill>
                <a:latin typeface="Times New Roman" panose="02020603050405020304" pitchFamily="18" charset="0"/>
                <a:cs typeface="Times New Roman" panose="02020603050405020304" pitchFamily="18" charset="0"/>
              </a:rPr>
              <a:t>  </a:t>
            </a:r>
            <a:r>
              <a:rPr lang="en-US" dirty="0" smtClean="0">
                <a:solidFill>
                  <a:srgbClr val="000000"/>
                </a:solidFill>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kích </a:t>
            </a:r>
            <a:r>
              <a:rPr lang="vi-VN" sz="1800" b="0" i="0" dirty="0">
                <a:solidFill>
                  <a:srgbClr val="000000"/>
                </a:solidFill>
                <a:effectLst/>
                <a:latin typeface="Times New Roman" panose="02020603050405020304" pitchFamily="18" charset="0"/>
                <a:cs typeface="Times New Roman" panose="02020603050405020304" pitchFamily="18" charset="0"/>
              </a:rPr>
              <a:t>của tín hiệu đầu vào, tức là khi tín hiệu đầu vào</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chuyển trạng thái, được gọi là thời điểm timer được kích.</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Thời gian trễ T mong muốn được khai báo với timer bằng một word 16 bit bao gồm 2</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thành phần</a:t>
            </a:r>
            <a:r>
              <a:rPr lang="vi-VN" sz="1800" b="0" i="0" dirty="0" smtClean="0">
                <a:solidFill>
                  <a:srgbClr val="000000"/>
                </a:solidFill>
                <a:effectLst/>
                <a:latin typeface="Times New Roman" panose="02020603050405020304" pitchFamily="18" charset="0"/>
                <a:cs typeface="Times New Roman" panose="02020603050405020304" pitchFamily="18" charset="0"/>
              </a:rPr>
              <a:t>:</a:t>
            </a:r>
            <a:endParaRPr lang="en-US" dirty="0">
              <a:solidFill>
                <a:srgbClr val="000000"/>
              </a:solidFill>
              <a:latin typeface="Times New Roman" panose="02020603050405020304" pitchFamily="18" charset="0"/>
              <a:cs typeface="Times New Roman" panose="02020603050405020304" pitchFamily="18" charset="0"/>
            </a:endParaRPr>
          </a:p>
          <a:p>
            <a:pPr algn="just"/>
            <a:r>
              <a:rPr lang="en-US" dirty="0">
                <a:solidFill>
                  <a:srgbClr val="000000"/>
                </a:solidFill>
                <a:latin typeface="Times New Roman" panose="02020603050405020304" pitchFamily="18" charset="0"/>
                <a:cs typeface="Times New Roman" panose="02020603050405020304" pitchFamily="18" charset="0"/>
              </a:rPr>
              <a:t> </a:t>
            </a:r>
            <a:r>
              <a:rPr lang="en-US" dirty="0" smtClean="0">
                <a:solidFill>
                  <a:srgbClr val="000000"/>
                </a:solidFill>
                <a:latin typeface="Times New Roman" panose="02020603050405020304" pitchFamily="18" charset="0"/>
                <a:cs typeface="Times New Roman" panose="02020603050405020304" pitchFamily="18" charset="0"/>
              </a:rPr>
              <a:t>  + </a:t>
            </a:r>
            <a:r>
              <a:rPr lang="vi-VN" sz="1800" b="0" i="0" dirty="0" smtClean="0">
                <a:solidFill>
                  <a:srgbClr val="000000"/>
                </a:solidFill>
                <a:effectLst/>
                <a:latin typeface="Times New Roman" panose="02020603050405020304" pitchFamily="18" charset="0"/>
                <a:cs typeface="Times New Roman" panose="02020603050405020304" pitchFamily="18" charset="0"/>
              </a:rPr>
              <a:t>Độ </a:t>
            </a:r>
            <a:r>
              <a:rPr lang="vi-VN" sz="1800" b="0" i="0" dirty="0">
                <a:solidFill>
                  <a:srgbClr val="000000"/>
                </a:solidFill>
                <a:effectLst/>
                <a:latin typeface="Times New Roman" panose="02020603050405020304" pitchFamily="18" charset="0"/>
                <a:cs typeface="Times New Roman" panose="02020603050405020304" pitchFamily="18" charset="0"/>
              </a:rPr>
              <a:t>phân giải: timer của S7 300 có 4 chế độ phân giải: 10ms, 100ms, 1s và 10s</a:t>
            </a:r>
            <a:r>
              <a:rPr lang="vi-VN" sz="1800" b="0" i="0" dirty="0" smtClean="0">
                <a:solidFill>
                  <a:srgbClr val="000000"/>
                </a:solidFill>
                <a:effectLst/>
                <a:latin typeface="Times New Roman" panose="02020603050405020304" pitchFamily="18" charset="0"/>
                <a:cs typeface="Times New Roman" panose="02020603050405020304" pitchFamily="18" charset="0"/>
              </a:rPr>
              <a:t>.</a:t>
            </a:r>
            <a:endParaRPr lang="en-US" dirty="0">
              <a:solidFill>
                <a:srgbClr val="000000"/>
              </a:solidFill>
              <a:latin typeface="Times New Roman" panose="02020603050405020304" pitchFamily="18" charset="0"/>
              <a:cs typeface="Times New Roman" panose="02020603050405020304" pitchFamily="18" charset="0"/>
            </a:endParaRPr>
          </a:p>
          <a:p>
            <a:pPr algn="just"/>
            <a:r>
              <a:rPr lang="en-US" dirty="0">
                <a:solidFill>
                  <a:srgbClr val="000000"/>
                </a:solidFill>
                <a:latin typeface="Times New Roman" panose="02020603050405020304" pitchFamily="18" charset="0"/>
                <a:cs typeface="Times New Roman" panose="02020603050405020304" pitchFamily="18" charset="0"/>
              </a:rPr>
              <a:t> </a:t>
            </a:r>
            <a:r>
              <a:rPr lang="en-US" dirty="0" smtClean="0">
                <a:solidFill>
                  <a:srgbClr val="000000"/>
                </a:solidFill>
                <a:latin typeface="Times New Roman" panose="02020603050405020304" pitchFamily="18" charset="0"/>
                <a:cs typeface="Times New Roman" panose="02020603050405020304" pitchFamily="18" charset="0"/>
              </a:rPr>
              <a:t>  + </a:t>
            </a:r>
            <a:r>
              <a:rPr lang="vi-VN" sz="1800" b="0" i="0" dirty="0">
                <a:solidFill>
                  <a:srgbClr val="000000"/>
                </a:solidFill>
                <a:effectLst/>
                <a:latin typeface="Times New Roman" panose="02020603050405020304" pitchFamily="18" charset="0"/>
                <a:cs typeface="Times New Roman" panose="02020603050405020304" pitchFamily="18" charset="0"/>
              </a:rPr>
              <a:t>Một số nguyên BCD trong khoảng 0 ÷ 999 được gọi là PV (reset value _ giá trị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đặt trước).</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13" name="Picture 2">
            <a:extLst>
              <a:ext uri="{FF2B5EF4-FFF2-40B4-BE49-F238E27FC236}">
                <a16:creationId xmlns:a16="http://schemas.microsoft.com/office/drawing/2014/main" id="{1BD30A00-3722-4C2F-83D1-A12F218FB8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5713" y="3593752"/>
            <a:ext cx="4588500" cy="284898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a:extLst>
              <a:ext uri="{FF2B5EF4-FFF2-40B4-BE49-F238E27FC236}">
                <a16:creationId xmlns:a16="http://schemas.microsoft.com/office/drawing/2014/main" id="{20B38EC9-92C8-43BE-9664-DD03709987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2532" y="3602386"/>
            <a:ext cx="4161362" cy="1993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92355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15" name="TextBox 14">
            <a:extLst>
              <a:ext uri="{FF2B5EF4-FFF2-40B4-BE49-F238E27FC236}">
                <a16:creationId xmlns:a16="http://schemas.microsoft.com/office/drawing/2014/main" id="{29DC0FD9-6721-414F-83A8-87DE3F1B4290}"/>
              </a:ext>
            </a:extLst>
          </p:cNvPr>
          <p:cNvSpPr txBox="1"/>
          <p:nvPr/>
        </p:nvSpPr>
        <p:spPr>
          <a:xfrm>
            <a:off x="882978" y="1294062"/>
            <a:ext cx="10762922" cy="2031325"/>
          </a:xfrm>
          <a:prstGeom prst="rect">
            <a:avLst/>
          </a:prstGeom>
          <a:noFill/>
        </p:spPr>
        <p:txBody>
          <a:bodyPr wrap="square">
            <a:spAutoFit/>
          </a:bodyPr>
          <a:lstStyle/>
          <a:p>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Bit 14, 15 không sử dụng.</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Bit 13, 12 dùng để đặt độ phân giải.</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Bit 0 đến bit 11 là giá trị PV dưới dạng BCD (0&lt; PV &lt; 999).</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Ngay tại thời điểm kích timer, giá trị PV được chuyển vào thanh ghi 16 bit của</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T_word (gọi là thanh ghi CV, viết </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tắt current value, giá trị tức thời). Timer sẽ ghi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nhớ khoảng thời gian trôi qua kể từ khi được kích bằng cách giảm dần một cách</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tương ứng nội dung thanh ghi CV. Nếu nội dung thanh ghi trở về bằng 0 thì timer</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đã đạt được thời gian trễ mong muốn T và điều này sẽ được báo ra ngoài bằng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cách đổi trạng thái tín hiệu ngõ ra</a:t>
            </a:r>
            <a:r>
              <a:rPr lang="vi-VN" sz="1800" b="0" i="0" dirty="0" smtClean="0">
                <a:solidFill>
                  <a:srgbClr val="000000"/>
                </a:solidFill>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8EAC5C1-6731-4B1B-A536-4BEBED9E99B2}"/>
              </a:ext>
            </a:extLst>
          </p:cNvPr>
          <p:cNvSpPr txBox="1"/>
          <p:nvPr/>
        </p:nvSpPr>
        <p:spPr>
          <a:xfrm>
            <a:off x="882978" y="3597672"/>
            <a:ext cx="11016922" cy="1200329"/>
          </a:xfrm>
          <a:prstGeom prst="rect">
            <a:avLst/>
          </a:prstGeom>
          <a:noFill/>
        </p:spPr>
        <p:txBody>
          <a:bodyPr wrap="square">
            <a:spAutoFit/>
          </a:bodyPr>
          <a:lstStyle/>
          <a:p>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Một </a:t>
            </a:r>
            <a:r>
              <a:rPr lang="vi-VN" sz="1800" b="0" i="0" dirty="0">
                <a:solidFill>
                  <a:srgbClr val="000000"/>
                </a:solidFill>
                <a:effectLst/>
                <a:latin typeface="Times New Roman" panose="02020603050405020304" pitchFamily="18" charset="0"/>
                <a:cs typeface="Times New Roman" panose="02020603050405020304" pitchFamily="18" charset="0"/>
              </a:rPr>
              <a:t>timer được đặt tên là Tx, trong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đó x là số hiệu của timer </a:t>
            </a:r>
            <a:r>
              <a:rPr lang="vi-VN" sz="1800" b="0" i="0" dirty="0" smtClean="0">
                <a:solidFill>
                  <a:srgbClr val="000000"/>
                </a:solidFill>
                <a:effectLst/>
                <a:latin typeface="Times New Roman" panose="02020603050405020304" pitchFamily="18" charset="0"/>
                <a:cs typeface="Times New Roman" panose="02020603050405020304" pitchFamily="18" charset="0"/>
              </a:rPr>
              <a:t>(</a:t>
            </a:r>
            <a:r>
              <a:rPr lang="vi-VN" sz="1800" b="0" i="0" dirty="0">
                <a:solidFill>
                  <a:srgbClr val="000000"/>
                </a:solidFill>
                <a:effectLst/>
                <a:latin typeface="Times New Roman" panose="02020603050405020304" pitchFamily="18" charset="0"/>
                <a:cs typeface="Times New Roman" panose="02020603050405020304" pitchFamily="18" charset="0"/>
              </a:rPr>
              <a:t>0 ≤ x ≤ 127). </a:t>
            </a:r>
            <a:endParaRPr lang="en-US" sz="1800" b="0" i="0" dirty="0" smtClean="0">
              <a:solidFill>
                <a:srgbClr val="000000"/>
              </a:solidFill>
              <a:effectLst/>
              <a:latin typeface="Times New Roman" panose="02020603050405020304" pitchFamily="18" charset="0"/>
              <a:cs typeface="Times New Roman" panose="02020603050405020304" pitchFamily="18" charset="0"/>
            </a:endParaRPr>
          </a:p>
          <a:p>
            <a:r>
              <a:rPr lang="vi-VN" sz="1800" b="0" i="0" dirty="0" smtClean="0">
                <a:solidFill>
                  <a:srgbClr val="000000"/>
                </a:solidFill>
                <a:effectLst/>
                <a:latin typeface="Times New Roman" panose="02020603050405020304" pitchFamily="18" charset="0"/>
                <a:cs typeface="Times New Roman" panose="02020603050405020304" pitchFamily="18" charset="0"/>
              </a:rPr>
              <a:t>Ký </a:t>
            </a:r>
            <a:r>
              <a:rPr lang="vi-VN" sz="1800" b="0" i="0" dirty="0">
                <a:solidFill>
                  <a:srgbClr val="000000"/>
                </a:solidFill>
                <a:effectLst/>
                <a:latin typeface="Times New Roman" panose="02020603050405020304" pitchFamily="18" charset="0"/>
                <a:cs typeface="Times New Roman" panose="02020603050405020304" pitchFamily="18" charset="0"/>
              </a:rPr>
              <a:t>hiệu Tx cũng đồng thời là địa chỉ hình thức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của thanh ghi CV (T- word) và của đầu ra T-bit của timer đó. Tuy chúng có cùng địa</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chỉ hình thức, song T-word và T-bit vẫn được phân biệt với nhau nhờ kiểu lệnh </a:t>
            </a:r>
            <a:r>
              <a:rPr lang="vi-VN" sz="1800" b="0" i="0" dirty="0" smtClean="0">
                <a:solidFill>
                  <a:srgbClr val="000000"/>
                </a:solidFill>
                <a:effectLst/>
                <a:latin typeface="Times New Roman" panose="02020603050405020304" pitchFamily="18" charset="0"/>
                <a:cs typeface="Times New Roman" panose="02020603050405020304" pitchFamily="18" charset="0"/>
              </a:rPr>
              <a:t>sử</a:t>
            </a: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dụng </a:t>
            </a:r>
            <a:r>
              <a:rPr lang="vi-VN" sz="1800" b="0" i="0" dirty="0">
                <a:solidFill>
                  <a:srgbClr val="000000"/>
                </a:solidFill>
                <a:effectLst/>
                <a:latin typeface="Times New Roman" panose="02020603050405020304" pitchFamily="18" charset="0"/>
                <a:cs typeface="Times New Roman" panose="02020603050405020304" pitchFamily="18" charset="0"/>
              </a:rPr>
              <a:t>với toán hạng </a:t>
            </a:r>
            <a:r>
              <a:rPr lang="vi-VN" sz="1800" b="0" i="0" dirty="0" smtClean="0">
                <a:solidFill>
                  <a:srgbClr val="000000"/>
                </a:solidFill>
                <a:effectLst/>
                <a:latin typeface="Times New Roman" panose="02020603050405020304" pitchFamily="18" charset="0"/>
                <a:cs typeface="Times New Roman" panose="02020603050405020304" pitchFamily="18" charset="0"/>
              </a:rPr>
              <a:t>Tx.</a:t>
            </a:r>
            <a:r>
              <a:rPr lang="vi-VN"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4009E01F-57B7-42BC-A073-B1000ECA8D55}"/>
              </a:ext>
            </a:extLst>
          </p:cNvPr>
          <p:cNvSpPr txBox="1"/>
          <p:nvPr/>
        </p:nvSpPr>
        <p:spPr>
          <a:xfrm>
            <a:off x="882978" y="4960204"/>
            <a:ext cx="10762922" cy="1200329"/>
          </a:xfrm>
          <a:prstGeom prst="rect">
            <a:avLst/>
          </a:prstGeom>
          <a:noFill/>
        </p:spPr>
        <p:txBody>
          <a:bodyPr wrap="square">
            <a:spAutoFit/>
          </a:bodyPr>
          <a:lstStyle/>
          <a:p>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Một timer đang trong chế độ làm việc (sau khi được kích) có thể được đưa về chế độ</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chờ khởi động ban đầu, tức là chờ sườn lên của tín hiệu đầu vào. Công việc này gọi là</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reset timer. Tín hiệu reset timer được gọi là tín hiệu xoá và khi tín hiệu xoá có giá trị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bằng 1 timer sẽ không làm việc. Tại thời điểm xuất hiện sườn lên của tín hiệu xoá,</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T_word và T-bit được xoá về 0, tức là thanh ghi CV được đặt về 0 và tín hiệu đầu ra</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có trạng thái 0</a:t>
            </a:r>
            <a:r>
              <a:rPr lang="vi-VN" sz="1800" b="1" i="0" dirty="0">
                <a:solidFill>
                  <a:srgbClr val="000000"/>
                </a:solidFill>
                <a:effectLst/>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67191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1754326"/>
          </a:xfrm>
          <a:prstGeom prst="rect">
            <a:avLst/>
          </a:prstGeom>
          <a:noFill/>
        </p:spPr>
        <p:txBody>
          <a:bodyPr wrap="square">
            <a:spAutoFit/>
          </a:bodyPr>
          <a:lstStyle/>
          <a:p>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Khai báo sử dụng timer gồm có 5 bước:</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o Khai báo tín hiệu enable nếu muốn sử dụng tín hiệu chủ động kích.</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o Khai báo tín hiệu đầu vào.</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o Khai báo tín hiệu trễ mong muốn.</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o Khai báo loại timer được sử dụng.</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o Khai báo tín hiệu xoá timer nếu muốn.</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3F78E09-7A40-4D93-9913-8308F4108488}"/>
              </a:ext>
            </a:extLst>
          </p:cNvPr>
          <p:cNvSpPr txBox="1"/>
          <p:nvPr/>
        </p:nvSpPr>
        <p:spPr>
          <a:xfrm>
            <a:off x="882978" y="3182542"/>
            <a:ext cx="6096000" cy="2031325"/>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 </a:t>
            </a:r>
            <a:r>
              <a:rPr lang="vi-VN" b="1">
                <a:latin typeface="Times New Roman" panose="02020603050405020304" pitchFamily="18" charset="0"/>
                <a:cs typeface="Times New Roman" panose="02020603050405020304" pitchFamily="18" charset="0"/>
              </a:rPr>
              <a:t>Khai báo tín hiệu enable:</a:t>
            </a:r>
          </a:p>
          <a:p>
            <a:r>
              <a:rPr lang="en-US">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Cú pháp </a:t>
            </a:r>
            <a:r>
              <a:rPr lang="en-US">
                <a:latin typeface="Times New Roman" panose="02020603050405020304" pitchFamily="18" charset="0"/>
                <a:cs typeface="Times New Roman" panose="02020603050405020304" pitchFamily="18" charset="0"/>
              </a:rPr>
              <a:t>	 </a:t>
            </a:r>
            <a:r>
              <a:rPr lang="vi-VN" b="1">
                <a:latin typeface="Times New Roman" panose="02020603050405020304" pitchFamily="18" charset="0"/>
                <a:cs typeface="Times New Roman" panose="02020603050405020304" pitchFamily="18" charset="0"/>
              </a:rPr>
              <a:t>A&lt;Địa chỉ bit&gt;</a:t>
            </a:r>
          </a:p>
          <a:p>
            <a:r>
              <a:rPr lang="en-US" b="1">
                <a:latin typeface="Times New Roman" panose="02020603050405020304" pitchFamily="18" charset="0"/>
                <a:cs typeface="Times New Roman" panose="02020603050405020304" pitchFamily="18" charset="0"/>
              </a:rPr>
              <a:t>		 </a:t>
            </a:r>
            <a:r>
              <a:rPr lang="vi-VN" b="1">
                <a:latin typeface="Times New Roman" panose="02020603050405020304" pitchFamily="18" charset="0"/>
                <a:cs typeface="Times New Roman" panose="02020603050405020304" pitchFamily="18" charset="0"/>
              </a:rPr>
              <a:t>FR &lt;Tên timer&gt;</a:t>
            </a:r>
            <a:endParaRPr lang="en-US" b="1">
              <a:latin typeface="Times New Roman" panose="02020603050405020304" pitchFamily="18" charset="0"/>
              <a:cs typeface="Times New Roman" panose="02020603050405020304" pitchFamily="18" charset="0"/>
            </a:endParaRPr>
          </a:p>
          <a:p>
            <a:endParaRPr lang="vi-VN">
              <a:latin typeface="Times New Roman" panose="02020603050405020304" pitchFamily="18" charset="0"/>
              <a:cs typeface="Times New Roman" panose="02020603050405020304" pitchFamily="18" charset="0"/>
            </a:endParaRPr>
          </a:p>
          <a:p>
            <a:r>
              <a:rPr lang="vi-VN">
                <a:latin typeface="Times New Roman" panose="02020603050405020304" pitchFamily="18" charset="0"/>
                <a:cs typeface="Times New Roman" panose="02020603050405020304" pitchFamily="18" charset="0"/>
              </a:rPr>
              <a:t>Toán hạng thứ nhất “Địa chỉ bit” xác định tín hiệu sẽ được sử dụng làm tín hiệu</a:t>
            </a:r>
            <a:r>
              <a:rPr lang="en-US">
                <a:latin typeface="Times New Roman" panose="02020603050405020304" pitchFamily="18" charset="0"/>
                <a:cs typeface="Times New Roman" panose="02020603050405020304" pitchFamily="18" charset="0"/>
              </a:rPr>
              <a:t> </a:t>
            </a:r>
            <a:r>
              <a:rPr lang="vi-VN">
                <a:latin typeface="Times New Roman" panose="02020603050405020304" pitchFamily="18" charset="0"/>
                <a:cs typeface="Times New Roman" panose="02020603050405020304" pitchFamily="18" charset="0"/>
              </a:rPr>
              <a:t>chủ động kích cho timer có tên trong toán hạng thứ hai.</a:t>
            </a:r>
            <a:endParaRPr lang="en-US">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D9C6338-E238-4280-9C9B-6C6F9A1BDD01}"/>
              </a:ext>
            </a:extLst>
          </p:cNvPr>
          <p:cNvSpPr txBox="1"/>
          <p:nvPr/>
        </p:nvSpPr>
        <p:spPr>
          <a:xfrm>
            <a:off x="6978978" y="3182542"/>
            <a:ext cx="4870122" cy="2031325"/>
          </a:xfrm>
          <a:prstGeom prst="rect">
            <a:avLst/>
          </a:prstGeom>
          <a:noFill/>
        </p:spPr>
        <p:txBody>
          <a:bodyPr wrap="square">
            <a:spAutoFit/>
          </a:bodyPr>
          <a:lstStyle/>
          <a:p>
            <a:r>
              <a:rPr lang="en-US" b="1">
                <a:solidFill>
                  <a:srgbClr val="000000"/>
                </a:solidFill>
                <a:latin typeface="Times New Roman" panose="02020603050405020304" pitchFamily="18" charset="0"/>
                <a:cs typeface="Times New Roman" panose="02020603050405020304" pitchFamily="18" charset="0"/>
              </a:rPr>
              <a:t>- </a:t>
            </a:r>
            <a:r>
              <a:rPr lang="en-US" sz="1800" b="1" i="0">
                <a:solidFill>
                  <a:srgbClr val="000000"/>
                </a:solidFill>
                <a:effectLst/>
                <a:latin typeface="Times New Roman" panose="02020603050405020304" pitchFamily="18" charset="0"/>
                <a:cs typeface="Times New Roman" panose="02020603050405020304" pitchFamily="18" charset="0"/>
              </a:rPr>
              <a:t>Khai báo tín hiệu đầu vào</a:t>
            </a:r>
            <a:r>
              <a:rPr lang="en-US" sz="1800" b="0" i="0">
                <a:solidFill>
                  <a:srgbClr val="000000"/>
                </a:solidFill>
                <a:effectLst/>
                <a:latin typeface="Times New Roman" panose="02020603050405020304" pitchFamily="18" charset="0"/>
                <a:cs typeface="Times New Roman" panose="02020603050405020304" pitchFamily="18" charset="0"/>
              </a:rPr>
              <a:t>:</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  Cú pháp </a:t>
            </a:r>
            <a:r>
              <a:rPr lang="en-US" sz="1800" b="1" i="0">
                <a:solidFill>
                  <a:srgbClr val="000000"/>
                </a:solidFill>
                <a:effectLst/>
                <a:latin typeface="Times New Roman" panose="02020603050405020304" pitchFamily="18" charset="0"/>
                <a:cs typeface="Times New Roman" panose="02020603050405020304" pitchFamily="18" charset="0"/>
              </a:rPr>
              <a:t>A &lt;Địa chỉ bit&gt;</a:t>
            </a:r>
          </a:p>
          <a:p>
            <a:r>
              <a:rPr lang="en-US" sz="1800" b="1" i="0">
                <a:solidFill>
                  <a:srgbClr val="000000"/>
                </a:solidFill>
                <a:effectLst/>
                <a:latin typeface="Times New Roman" panose="02020603050405020304" pitchFamily="18" charset="0"/>
                <a:cs typeface="Times New Roman" panose="02020603050405020304" pitchFamily="18" charset="0"/>
              </a:rPr>
              <a:t> </a:t>
            </a:r>
          </a:p>
          <a:p>
            <a:r>
              <a:rPr lang="en-US" sz="1800" b="1" i="0">
                <a:solidFill>
                  <a:srgbClr val="000000"/>
                </a:solidFill>
                <a:effectLst/>
                <a:latin typeface="Times New Roman" panose="02020603050405020304" pitchFamily="18" charset="0"/>
                <a:cs typeface="Times New Roman" panose="02020603050405020304" pitchFamily="18" charset="0"/>
              </a:rPr>
              <a:t/>
            </a:r>
            <a:br>
              <a:rPr lang="en-US" sz="1800" b="1"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“Địa chỉ bit” trong toán hạng xác định tín hiệu </a:t>
            </a:r>
          </a:p>
          <a:p>
            <a:r>
              <a:rPr lang="en-US" sz="1800" b="0" i="0">
                <a:solidFill>
                  <a:srgbClr val="000000"/>
                </a:solidFill>
                <a:effectLst/>
                <a:latin typeface="Times New Roman" panose="02020603050405020304" pitchFamily="18" charset="0"/>
                <a:cs typeface="Times New Roman" panose="02020603050405020304" pitchFamily="18" charset="0"/>
              </a:rPr>
              <a:t>đầu vào cho timer.</a:t>
            </a:r>
            <a:r>
              <a:rPr lang="en-US">
                <a:latin typeface="Times New Roman" panose="02020603050405020304" pitchFamily="18" charset="0"/>
                <a:cs typeface="Times New Roman" panose="02020603050405020304" pitchFamily="18" charset="0"/>
              </a:rPr>
              <a:t> </a:t>
            </a: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DD479B9-836B-4064-9875-4190AC7241F1}"/>
              </a:ext>
            </a:extLst>
          </p:cNvPr>
          <p:cNvSpPr txBox="1"/>
          <p:nvPr/>
        </p:nvSpPr>
        <p:spPr>
          <a:xfrm>
            <a:off x="882978" y="5213867"/>
            <a:ext cx="10578094" cy="1200329"/>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Ví</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dụ</a:t>
            </a:r>
            <a:r>
              <a:rPr lang="en-US" sz="1800" b="1" i="0" dirty="0">
                <a:solidFill>
                  <a:srgbClr val="000000"/>
                </a:solidFill>
                <a:effectLst/>
                <a:latin typeface="Times New Roman" panose="02020603050405020304" pitchFamily="18" charset="0"/>
                <a:cs typeface="Times New Roman" panose="02020603050405020304" pitchFamily="18" charset="0"/>
              </a:rPr>
              <a:t>:</a:t>
            </a:r>
            <a:br>
              <a:rPr lang="en-US" sz="1800" b="1" i="0" dirty="0">
                <a:solidFill>
                  <a:srgbClr val="000000"/>
                </a:solidFill>
                <a:effectLst/>
                <a:latin typeface="Times New Roman" panose="02020603050405020304" pitchFamily="18" charset="0"/>
                <a:cs typeface="Times New Roman" panose="02020603050405020304" pitchFamily="18" charset="0"/>
              </a:rPr>
            </a:b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0" i="0" dirty="0">
                <a:solidFill>
                  <a:srgbClr val="000000"/>
                </a:solidFill>
                <a:effectLst/>
                <a:latin typeface="Times New Roman" panose="02020603050405020304" pitchFamily="18" charset="0"/>
                <a:cs typeface="Times New Roman" panose="02020603050405020304" pitchFamily="18" charset="0"/>
              </a:rPr>
              <a:t>A I2.0</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FR T1</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 </a:t>
            </a:r>
            <a:r>
              <a:rPr lang="en-US" sz="1800" b="0" i="0" dirty="0" smtClean="0">
                <a:solidFill>
                  <a:srgbClr val="000000"/>
                </a:solidFill>
                <a:effectLst/>
                <a:latin typeface="Times New Roman" panose="02020603050405020304" pitchFamily="18" charset="0"/>
                <a:cs typeface="Times New Roman" panose="02020603050405020304" pitchFamily="18" charset="0"/>
              </a:rPr>
              <a:t>I2.1</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5990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2031325"/>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Khai báo thời gian trễ mong muốn:</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Cú pháp </a:t>
            </a:r>
            <a:r>
              <a:rPr lang="vi-VN" sz="1800" b="1" i="0" dirty="0">
                <a:solidFill>
                  <a:srgbClr val="000000"/>
                </a:solidFill>
                <a:effectLst/>
                <a:latin typeface="Times New Roman" panose="02020603050405020304" pitchFamily="18" charset="0"/>
                <a:cs typeface="Times New Roman" panose="02020603050405020304" pitchFamily="18" charset="0"/>
              </a:rPr>
              <a:t>L &lt;hằng số&gt;</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“Hằng số “ trong toán hạng xác định thời gian trễ T đặt trước cho timer. Hằng số</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này có hai dạng:</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smtClean="0">
                <a:solidFill>
                  <a:srgbClr val="000000"/>
                </a:solidFill>
                <a:latin typeface="Times New Roman" panose="02020603050405020304" pitchFamily="18" charset="0"/>
                <a:cs typeface="Times New Roman" panose="02020603050405020304" pitchFamily="18" charset="0"/>
              </a:rPr>
              <a:t>	+ </a:t>
            </a:r>
            <a:r>
              <a:rPr lang="vi-VN" sz="1800" b="0" i="0" dirty="0">
                <a:solidFill>
                  <a:srgbClr val="000000"/>
                </a:solidFill>
                <a:effectLst/>
                <a:latin typeface="Times New Roman" panose="02020603050405020304" pitchFamily="18" charset="0"/>
                <a:cs typeface="Times New Roman" panose="02020603050405020304" pitchFamily="18" charset="0"/>
              </a:rPr>
              <a:t>Dạng dữ liệu thời gian trực tiếp: S5T#h_m_s_ms</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L </a:t>
            </a:r>
            <a:r>
              <a:rPr lang="vi-VN" sz="1800" b="0" i="0" dirty="0">
                <a:solidFill>
                  <a:srgbClr val="000000"/>
                </a:solidFill>
                <a:effectLst/>
                <a:latin typeface="Times New Roman" panose="02020603050405020304" pitchFamily="18" charset="0"/>
                <a:cs typeface="Times New Roman" panose="02020603050405020304" pitchFamily="18" charset="0"/>
              </a:rPr>
              <a:t>S5T#00h05m20s00ms có thời gian trễ là 5 phút 20 giây.</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smtClean="0">
                <a:solidFill>
                  <a:srgbClr val="000000"/>
                </a:solidFill>
                <a:latin typeface="Times New Roman" panose="02020603050405020304" pitchFamily="18" charset="0"/>
                <a:cs typeface="Times New Roman" panose="02020603050405020304" pitchFamily="18" charset="0"/>
              </a:rPr>
              <a:t>	+ </a:t>
            </a:r>
            <a:r>
              <a:rPr lang="vi-VN" sz="1800" b="0" i="0" dirty="0">
                <a:solidFill>
                  <a:srgbClr val="000000"/>
                </a:solidFill>
                <a:effectLst/>
                <a:latin typeface="Times New Roman" panose="02020603050405020304" pitchFamily="18" charset="0"/>
                <a:cs typeface="Times New Roman" panose="02020603050405020304" pitchFamily="18" charset="0"/>
              </a:rPr>
              <a:t>Dạng khai báo theo độ phân giải:</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L </a:t>
            </a:r>
            <a:r>
              <a:rPr lang="vi-VN" sz="1800" b="0" i="0" dirty="0">
                <a:solidFill>
                  <a:srgbClr val="000000"/>
                </a:solidFill>
                <a:effectLst/>
                <a:latin typeface="Times New Roman" panose="02020603050405020304" pitchFamily="18" charset="0"/>
                <a:cs typeface="Times New Roman" panose="02020603050405020304" pitchFamily="18" charset="0"/>
              </a:rPr>
              <a:t>W#16#2127 có thời gian trễ là 127 giây.</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3FD59CD-33DC-4925-847E-CDF2E18CC36D}"/>
              </a:ext>
            </a:extLst>
          </p:cNvPr>
          <p:cNvSpPr txBox="1"/>
          <p:nvPr/>
        </p:nvSpPr>
        <p:spPr>
          <a:xfrm>
            <a:off x="882978" y="3532639"/>
            <a:ext cx="10851822" cy="2585323"/>
          </a:xfrm>
          <a:prstGeom prst="rect">
            <a:avLst/>
          </a:prstGeom>
          <a:noFill/>
        </p:spPr>
        <p:txBody>
          <a:bodyPr wrap="square">
            <a:spAutoFit/>
          </a:bodyPr>
          <a:lstStyle/>
          <a:p>
            <a:r>
              <a:rPr lang="en-US" sz="1800" b="1" i="0" dirty="0" smtClean="0">
                <a:solidFill>
                  <a:srgbClr val="000000"/>
                </a:solidFill>
                <a:effectLst/>
                <a:latin typeface="Times New Roman" panose="02020603050405020304" pitchFamily="18" charset="0"/>
                <a:cs typeface="Times New Roman" panose="02020603050405020304" pitchFamily="18" charset="0"/>
              </a:rPr>
              <a:t>- </a:t>
            </a:r>
            <a:r>
              <a:rPr lang="vi-VN" sz="1800" b="1" i="0" dirty="0" smtClean="0">
                <a:solidFill>
                  <a:srgbClr val="000000"/>
                </a:solidFill>
                <a:effectLst/>
                <a:latin typeface="Times New Roman" panose="02020603050405020304" pitchFamily="18" charset="0"/>
                <a:cs typeface="Times New Roman" panose="02020603050405020304" pitchFamily="18" charset="0"/>
              </a:rPr>
              <a:t>SD</a:t>
            </a:r>
            <a:r>
              <a:rPr lang="vi-VN" sz="1800" b="1" i="0" dirty="0">
                <a:solidFill>
                  <a:srgbClr val="000000"/>
                </a:solidFill>
                <a:effectLst/>
                <a:latin typeface="Times New Roman" panose="02020603050405020304" pitchFamily="18" charset="0"/>
                <a:cs typeface="Times New Roman" panose="02020603050405020304" pitchFamily="18" charset="0"/>
              </a:rPr>
              <a:t>: Timer đóng mạch chậm</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Cú pháp </a:t>
            </a:r>
            <a:r>
              <a:rPr lang="vi-VN" sz="1800" b="1" i="0" dirty="0">
                <a:solidFill>
                  <a:srgbClr val="000000"/>
                </a:solidFill>
                <a:effectLst/>
                <a:latin typeface="Times New Roman" panose="02020603050405020304" pitchFamily="18" charset="0"/>
                <a:cs typeface="Times New Roman" panose="02020603050405020304" pitchFamily="18" charset="0"/>
              </a:rPr>
              <a:t>SD &lt;Tên timer&gt;</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Thời gian giữ trễ được bắt đầu tính từ khi có sườn lên của tín hiệu đầu vào (hoặc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khi có sườn lên của tín hiệu </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enable đồng thời tín hiệu vào bằng 1), tức là ở ngay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thời điểm đó giá trị PV (giá trị đặt trước) được chuyển vào thanh ghi T-word (CV</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giá trị tức thời). Trong khoảng thời gian trễ T-bit có giá trị 0. Khi hết thời gian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trễ, T-bit có giá trị bằng 1. </a:t>
            </a:r>
            <a:endParaRPr lang="en-US" sz="1800" b="0" i="0" dirty="0" smtClean="0">
              <a:solidFill>
                <a:srgbClr val="000000"/>
              </a:solidFill>
              <a:effectLst/>
              <a:latin typeface="Times New Roman" panose="02020603050405020304" pitchFamily="18" charset="0"/>
              <a:cs typeface="Times New Roman" panose="02020603050405020304" pitchFamily="18" charset="0"/>
            </a:endParaRPr>
          </a:p>
          <a:p>
            <a:r>
              <a:rPr lang="vi-VN" sz="1800" b="0" i="0" dirty="0" smtClean="0">
                <a:solidFill>
                  <a:srgbClr val="000000"/>
                </a:solidFill>
                <a:effectLst/>
                <a:latin typeface="Times New Roman" panose="02020603050405020304" pitchFamily="18" charset="0"/>
                <a:cs typeface="Times New Roman" panose="02020603050405020304" pitchFamily="18" charset="0"/>
              </a:rPr>
              <a:t>Như </a:t>
            </a:r>
            <a:r>
              <a:rPr lang="vi-VN" sz="1800" b="0" i="0" dirty="0">
                <a:solidFill>
                  <a:srgbClr val="000000"/>
                </a:solidFill>
                <a:effectLst/>
                <a:latin typeface="Times New Roman" panose="02020603050405020304" pitchFamily="18" charset="0"/>
                <a:cs typeface="Times New Roman" panose="02020603050405020304" pitchFamily="18" charset="0"/>
              </a:rPr>
              <a:t>vậy T-bit có giá trị 1 khi T-word = 0 hay CV = 0.</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Khoảng thời gian trễ chính là khoảng thời gian giữa thời điểm xuất hiện sườn lên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của tín hiệu đầu vào và sườn lên của T-bit.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Khi tín hiệu vào bằng 0, T-bit và T-word cùng nhận giá trị 0.</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32514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2585323"/>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SS: Timer đóng mạch chậm có nhớ</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Cú pháp : </a:t>
            </a:r>
            <a:r>
              <a:rPr lang="vi-VN" sz="1800" b="1" i="0" dirty="0">
                <a:solidFill>
                  <a:srgbClr val="000000"/>
                </a:solidFill>
                <a:effectLst/>
                <a:latin typeface="Times New Roman" panose="02020603050405020304" pitchFamily="18" charset="0"/>
                <a:cs typeface="Times New Roman" panose="02020603050405020304" pitchFamily="18" charset="0"/>
              </a:rPr>
              <a:t>SS &lt;tên timer&gt;</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Thời </a:t>
            </a:r>
            <a:r>
              <a:rPr lang="vi-VN" sz="1800" b="0" i="0" dirty="0">
                <a:solidFill>
                  <a:srgbClr val="000000"/>
                </a:solidFill>
                <a:effectLst/>
                <a:latin typeface="Times New Roman" panose="02020603050405020304" pitchFamily="18" charset="0"/>
                <a:cs typeface="Times New Roman" panose="02020603050405020304" pitchFamily="18" charset="0"/>
              </a:rPr>
              <a:t>gian giữ trễ được bắt đầu tính từ khi có sườn lên của tín hiệu đầu vào (hoặc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khi có sườn lên của tín hiệu enable đồng thời tín hiệu vào bằng 1), tức là ở ngay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thời điểm đó giá trị PV (giá trị đặt trước) được chuyển vào thanh ghi T-word (CV</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giá trị tức thời). Trong khoảng thời gian trễ T-bit có giá trị 0. Khi hết thời gian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trễ, tức là khi T-word = 0, T-bit có giá trị bằng 1.</a:t>
            </a:r>
            <a:r>
              <a:rPr lang="en-US" sz="1800" b="0" i="0" dirty="0">
                <a:solidFill>
                  <a:srgbClr val="000000"/>
                </a:solidFill>
                <a:effectLst/>
                <a:latin typeface="Times New Roman" panose="02020603050405020304" pitchFamily="18" charset="0"/>
                <a:cs typeface="Times New Roman" panose="02020603050405020304" pitchFamily="18" charset="0"/>
              </a:rPr>
              <a:t> </a:t>
            </a:r>
          </a:p>
          <a:p>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Khoảng </a:t>
            </a:r>
            <a:r>
              <a:rPr lang="vi-VN" sz="1800" b="0" i="0" dirty="0">
                <a:solidFill>
                  <a:srgbClr val="000000"/>
                </a:solidFill>
                <a:effectLst/>
                <a:latin typeface="Times New Roman" panose="02020603050405020304" pitchFamily="18" charset="0"/>
                <a:cs typeface="Times New Roman" panose="02020603050405020304" pitchFamily="18" charset="0"/>
              </a:rPr>
              <a:t>thời gian trễ chính là khoảng thời gian giữa thời điểm xuất hiện sườn lên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của tín hiệu đầu vào và sườn lên của </a:t>
            </a:r>
            <a:r>
              <a:rPr lang="vi-VN" sz="1800" b="0" i="0" dirty="0" smtClean="0">
                <a:solidFill>
                  <a:srgbClr val="000000"/>
                </a:solidFill>
                <a:effectLst/>
                <a:latin typeface="Times New Roman" panose="02020603050405020304" pitchFamily="18" charset="0"/>
                <a:cs typeface="Times New Roman" panose="02020603050405020304" pitchFamily="18" charset="0"/>
              </a:rPr>
              <a:t>T-bit.</a:t>
            </a: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Với </a:t>
            </a:r>
            <a:r>
              <a:rPr lang="vi-VN" sz="1800" b="0" i="0" dirty="0">
                <a:solidFill>
                  <a:srgbClr val="000000"/>
                </a:solidFill>
                <a:effectLst/>
                <a:latin typeface="Times New Roman" panose="02020603050405020304" pitchFamily="18" charset="0"/>
                <a:cs typeface="Times New Roman" panose="02020603050405020304" pitchFamily="18" charset="0"/>
              </a:rPr>
              <a:t>bộ timer trễ theo sườn lên có nhớ, thời gian trễ vẫn được tính cho dù lúc đó</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tín hiệu đầu vào đã về 0.</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F19FA1D-0098-4D3C-9AD9-A974876B6E2C}"/>
              </a:ext>
            </a:extLst>
          </p:cNvPr>
          <p:cNvSpPr txBox="1"/>
          <p:nvPr/>
        </p:nvSpPr>
        <p:spPr>
          <a:xfrm>
            <a:off x="882978" y="3959287"/>
            <a:ext cx="10851822" cy="2031325"/>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SP: Timer Xung</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Cú pháp </a:t>
            </a:r>
            <a:r>
              <a:rPr lang="vi-VN" sz="1800" b="1" i="0" dirty="0">
                <a:solidFill>
                  <a:srgbClr val="000000"/>
                </a:solidFill>
                <a:effectLst/>
                <a:latin typeface="Times New Roman" panose="02020603050405020304" pitchFamily="18" charset="0"/>
                <a:cs typeface="Times New Roman" panose="02020603050405020304" pitchFamily="18" charset="0"/>
              </a:rPr>
              <a:t>SP &lt;tên timer&gt;</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Thời </a:t>
            </a:r>
            <a:r>
              <a:rPr lang="vi-VN" sz="1800" b="0" i="0" dirty="0">
                <a:solidFill>
                  <a:srgbClr val="000000"/>
                </a:solidFill>
                <a:effectLst/>
                <a:latin typeface="Times New Roman" panose="02020603050405020304" pitchFamily="18" charset="0"/>
                <a:cs typeface="Times New Roman" panose="02020603050405020304" pitchFamily="18" charset="0"/>
              </a:rPr>
              <a:t>gian giữ trễ được bắt đầu tính từ khi có sườn lên của tín hiệu đầu vào (hoặc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khi có sườn lên của tín hiệu enable đồng thời tín hiệu vào bằng 1), tức là ở ngay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thời điểm đó giá trị PV (giá trị đặt trước) được chuyển vào thanh ghi T-word (CV</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giá trị tức thời). Trong khoảng thời gian trễ ,tức là khi T-word có giá trị ≠ 0, T-bit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có giá trị bằng 1. Ngoài thời gian trễ T-bit có giá trị bằng 0.</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Nếu </a:t>
            </a:r>
            <a:r>
              <a:rPr lang="vi-VN" sz="1800" b="0" i="0" dirty="0">
                <a:solidFill>
                  <a:srgbClr val="000000"/>
                </a:solidFill>
                <a:effectLst/>
                <a:latin typeface="Times New Roman" panose="02020603050405020304" pitchFamily="18" charset="0"/>
                <a:cs typeface="Times New Roman" panose="02020603050405020304" pitchFamily="18" charset="0"/>
              </a:rPr>
              <a:t>chưa hết thời gian trễ mà tín hiệu đầu vào về 0 thì giá trị T-bit và </a:t>
            </a:r>
            <a:r>
              <a:rPr lang="vi-VN" sz="1800" b="0" i="0" dirty="0" smtClean="0">
                <a:solidFill>
                  <a:srgbClr val="000000"/>
                </a:solidFill>
                <a:effectLst/>
                <a:latin typeface="Times New Roman" panose="02020603050405020304" pitchFamily="18" charset="0"/>
                <a:cs typeface="Times New Roman" panose="02020603050405020304" pitchFamily="18" charset="0"/>
              </a:rPr>
              <a:t>t-word</a:t>
            </a: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cũng </a:t>
            </a:r>
            <a:r>
              <a:rPr lang="vi-VN" sz="1800" b="0" i="0" dirty="0">
                <a:solidFill>
                  <a:srgbClr val="000000"/>
                </a:solidFill>
                <a:effectLst/>
                <a:latin typeface="Times New Roman" panose="02020603050405020304" pitchFamily="18" charset="0"/>
                <a:cs typeface="Times New Roman" panose="02020603050405020304" pitchFamily="18" charset="0"/>
              </a:rPr>
              <a:t>về 0.</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02051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2308324"/>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SE: Timer giữ độ rộng xung</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Cú pháp </a:t>
            </a:r>
            <a:r>
              <a:rPr lang="vi-VN" sz="1800" b="1" i="0" dirty="0">
                <a:solidFill>
                  <a:srgbClr val="000000"/>
                </a:solidFill>
                <a:effectLst/>
                <a:latin typeface="Times New Roman" panose="02020603050405020304" pitchFamily="18" charset="0"/>
                <a:cs typeface="Times New Roman" panose="02020603050405020304" pitchFamily="18" charset="0"/>
              </a:rPr>
              <a:t>SE &lt;Tên timer&gt;</a:t>
            </a:r>
            <a:br>
              <a:rPr lang="vi-VN" sz="1800" b="1"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Thời gian giữ trễ được bắt đầu tính từ khi có sườn lên của tín hiệu đầu vào (hoặc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khi có sườn lên của tín hiệu enable đồng thời tín hiệu vào bằng 1), tức là ở ngay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thời điểm đó giá trị PV (giá trị đặt trước) được chuyển vào thanh ghi T-word (CV</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giá trị tức thời). Trong khoảng thời gian trễ, tức là khi T-word có giá trị ≠ 0, T-bit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có giá trị bằng 1. Ngoài thời gian trễ T-bit có giá trị bằng 0.</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Nếu chưa hết thời gian trễ mà tín hiệu đầu vào về 0 thì thời gian trễ vẫn được tính</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tiếp tục, tức là T-bit và T-word không về 0 theo tín hiệu đầu vào.</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4B81D76-23FA-4D3F-9005-6D9E62F350E0}"/>
              </a:ext>
            </a:extLst>
          </p:cNvPr>
          <p:cNvSpPr txBox="1"/>
          <p:nvPr/>
        </p:nvSpPr>
        <p:spPr>
          <a:xfrm>
            <a:off x="882978" y="3859800"/>
            <a:ext cx="10762922" cy="1754326"/>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a:t>
            </a:r>
            <a:r>
              <a:rPr lang="vi-VN" sz="1800" b="1" i="0">
                <a:solidFill>
                  <a:srgbClr val="000000"/>
                </a:solidFill>
                <a:effectLst/>
                <a:latin typeface="Times New Roman" panose="02020603050405020304" pitchFamily="18" charset="0"/>
                <a:cs typeface="Times New Roman" panose="02020603050405020304" pitchFamily="18" charset="0"/>
              </a:rPr>
              <a:t>SF: Timer mở mạch chậm</a:t>
            </a:r>
            <a:br>
              <a:rPr lang="vi-VN" sz="1800" b="1" i="0">
                <a:solidFill>
                  <a:srgbClr val="000000"/>
                </a:solidFill>
                <a:effectLst/>
                <a:latin typeface="Times New Roman" panose="02020603050405020304" pitchFamily="18" charset="0"/>
                <a:cs typeface="Times New Roman" panose="02020603050405020304" pitchFamily="18" charset="0"/>
              </a:rPr>
            </a:br>
            <a:r>
              <a:rPr lang="en-US" sz="1800" b="1"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Cú pháp </a:t>
            </a:r>
            <a:r>
              <a:rPr lang="vi-VN" sz="1800" b="1" i="0">
                <a:solidFill>
                  <a:srgbClr val="000000"/>
                </a:solidFill>
                <a:effectLst/>
                <a:latin typeface="Times New Roman" panose="02020603050405020304" pitchFamily="18" charset="0"/>
                <a:cs typeface="Times New Roman" panose="02020603050405020304" pitchFamily="18" charset="0"/>
              </a:rPr>
              <a:t>SF &lt;Tên timer&gt;</a:t>
            </a:r>
            <a:br>
              <a:rPr lang="vi-VN" sz="1800" b="1" i="0">
                <a:solidFill>
                  <a:srgbClr val="000000"/>
                </a:solidFill>
                <a:effectLst/>
                <a:latin typeface="Times New Roman" panose="02020603050405020304" pitchFamily="18" charset="0"/>
                <a:cs typeface="Times New Roman" panose="02020603050405020304" pitchFamily="18" charset="0"/>
              </a:rPr>
            </a:br>
            <a:r>
              <a:rPr lang="vi-VN" sz="1800" b="0" i="0">
                <a:solidFill>
                  <a:srgbClr val="000000"/>
                </a:solidFill>
                <a:effectLst/>
                <a:latin typeface="Times New Roman" panose="02020603050405020304" pitchFamily="18" charset="0"/>
                <a:cs typeface="Times New Roman" panose="02020603050405020304" pitchFamily="18" charset="0"/>
              </a:rPr>
              <a:t>Thời gian giữ trễ được bắt đầu tính từ khi có sườn lên của tín hiệu đầu vào (hoặc</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khi có sườn lên của tín hiệu enable đồng thời tín hiệu vào bằng 1), tức là ở ngay</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thời điểm đó giá trị PV (giá trị đặt trước) được chuyển vào thanh ghi T-word (CV</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giá trị tức thời). Trong khoảng thời gian trễ, tức là khi T-word có giá trị ≠ 0, T-bit</a:t>
            </a:r>
            <a:br>
              <a:rPr lang="vi-VN" sz="1800" b="0" i="0">
                <a:solidFill>
                  <a:srgbClr val="000000"/>
                </a:solidFill>
                <a:effectLst/>
                <a:latin typeface="Times New Roman" panose="02020603050405020304" pitchFamily="18" charset="0"/>
                <a:cs typeface="Times New Roman" panose="02020603050405020304" pitchFamily="18" charset="0"/>
              </a:rPr>
            </a:br>
            <a:r>
              <a:rPr lang="vi-VN" sz="1800" b="0" i="0">
                <a:solidFill>
                  <a:srgbClr val="000000"/>
                </a:solidFill>
                <a:effectLst/>
                <a:latin typeface="Times New Roman" panose="02020603050405020304" pitchFamily="18" charset="0"/>
                <a:cs typeface="Times New Roman" panose="02020603050405020304" pitchFamily="18" charset="0"/>
              </a:rPr>
              <a:t>có giá trị bằng 1. Ngoài thời gian trễ T-bit có giá trị bằng 0.</a:t>
            </a:r>
            <a:r>
              <a:rPr lang="vi-VN">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9299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2585323"/>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Khai báo tín hiệu xóa (reset)</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Cú pháp </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A &lt;Địa chỉ bit&gt;</a:t>
            </a:r>
            <a:endParaRPr lang="en-US" sz="1800" b="1" i="0" dirty="0">
              <a:solidFill>
                <a:srgbClr val="000000"/>
              </a:solidFill>
              <a:effectLst/>
              <a:latin typeface="Times New Roman" panose="02020603050405020304" pitchFamily="18" charset="0"/>
              <a:cs typeface="Times New Roman" panose="02020603050405020304" pitchFamily="18" charset="0"/>
            </a:endParaRPr>
          </a:p>
          <a:p>
            <a:r>
              <a:rPr lang="en-US" b="1" dirty="0">
                <a:solidFill>
                  <a:srgbClr val="000000"/>
                </a:solidFill>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R &lt;Tên timer&gt;</a:t>
            </a:r>
            <a:endParaRPr lang="en-US" sz="1800" b="1" i="0" dirty="0">
              <a:solidFill>
                <a:srgbClr val="000000"/>
              </a:solidFill>
              <a:effectLst/>
              <a:latin typeface="Times New Roman" panose="02020603050405020304" pitchFamily="18" charset="0"/>
              <a:cs typeface="Times New Roman" panose="02020603050405020304" pitchFamily="18" charset="0"/>
            </a:endParaRPr>
          </a:p>
          <a:p>
            <a:r>
              <a:rPr lang="vi-VN" sz="1800" b="1" i="0" dirty="0">
                <a:solidFill>
                  <a:srgbClr val="000000"/>
                </a:solidFill>
                <a:effectLst/>
                <a:latin typeface="Times New Roman" panose="02020603050405020304" pitchFamily="18" charset="0"/>
                <a:cs typeface="Times New Roman" panose="02020603050405020304" pitchFamily="18" charset="0"/>
              </a:rPr>
              <a:t/>
            </a:r>
            <a:br>
              <a:rPr lang="vi-VN" sz="1800" b="1"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Toán hạng thứ nhất “Địa chỉ bit” xác định tín hiệu sẽ được sử dụng làm tín hiệu</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chủ động xóa cho timer có tên trong toán hạng thứ hai. Khi tín hiệu xóa bằng 1,</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T-word (thanh ghi CV) và T-bit cùng đồng thời được đưa về 0.</a:t>
            </a:r>
            <a:endParaRPr lang="en-US" sz="1800" b="0" i="0" dirty="0">
              <a:solidFill>
                <a:srgbClr val="000000"/>
              </a:solidFill>
              <a:effectLst/>
              <a:latin typeface="Times New Roman" panose="02020603050405020304" pitchFamily="18" charset="0"/>
              <a:cs typeface="Times New Roman" panose="02020603050405020304" pitchFamily="18" charset="0"/>
            </a:endParaRPr>
          </a:p>
          <a:p>
            <a:r>
              <a:rPr lang="vi-VN" sz="1800" b="0" i="0" dirty="0">
                <a:solidFill>
                  <a:srgbClr val="000000"/>
                </a:solidFill>
                <a:effectLst/>
                <a:latin typeface="Times New Roman" panose="02020603050405020304" pitchFamily="18" charset="0"/>
                <a:cs typeface="Times New Roman" panose="02020603050405020304" pitchFamily="18" charset="0"/>
              </a:rPr>
              <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Nếu tín hiệu xóa bằng 0, timer sẽ chờ được kích lại.</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92527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646331"/>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Timer </a:t>
            </a:r>
            <a:r>
              <a:rPr lang="en-US" sz="1800" b="1" i="0" dirty="0" err="1">
                <a:solidFill>
                  <a:srgbClr val="000000"/>
                </a:solidFill>
                <a:effectLst/>
                <a:latin typeface="Times New Roman" panose="02020603050405020304" pitchFamily="18" charset="0"/>
                <a:cs typeface="Times New Roman" panose="02020603050405020304" pitchFamily="18" charset="0"/>
              </a:rPr>
              <a:t>đóng</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mạch</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chậm</a:t>
            </a:r>
            <a:r>
              <a:rPr lang="en-US" sz="1800" b="1" i="0" dirty="0">
                <a:solidFill>
                  <a:srgbClr val="000000"/>
                </a:solidFill>
                <a:effectLst/>
                <a:latin typeface="Times New Roman" panose="02020603050405020304" pitchFamily="18" charset="0"/>
                <a:cs typeface="Times New Roman" panose="02020603050405020304" pitchFamily="18" charset="0"/>
              </a:rPr>
              <a:t> (SD):</a:t>
            </a:r>
            <a:r>
              <a:rPr lang="en-US" dirty="0">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a:solidFill>
                  <a:srgbClr val="000000"/>
                </a:solidFill>
                <a:effectLst/>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id="{FFD834AF-6D94-4CDD-978F-D1FCD985F5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2042" y="1725474"/>
            <a:ext cx="5407917" cy="195635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834533A-9FCD-4C23-AF61-A9AD1EE1F717}"/>
              </a:ext>
            </a:extLst>
          </p:cNvPr>
          <p:cNvSpPr txBox="1"/>
          <p:nvPr/>
        </p:nvSpPr>
        <p:spPr>
          <a:xfrm>
            <a:off x="882978" y="3843333"/>
            <a:ext cx="5034128" cy="369332"/>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Bảng</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khai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báo</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thông</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số</a:t>
            </a:r>
            <a:r>
              <a:rPr lang="en-US" sz="1800" b="1" i="0" dirty="0">
                <a:solidFill>
                  <a:srgbClr val="000000"/>
                </a:solidFill>
                <a:effectLst/>
                <a:latin typeface="Times New Roman" panose="02020603050405020304" pitchFamily="18" charset="0"/>
                <a:cs typeface="Times New Roman" panose="02020603050405020304" pitchFamily="18" charset="0"/>
              </a:rPr>
              <a:t> Timer </a:t>
            </a:r>
            <a:r>
              <a:rPr lang="en-US" sz="1800" b="1" i="0" dirty="0" err="1">
                <a:solidFill>
                  <a:srgbClr val="000000"/>
                </a:solidFill>
                <a:effectLst/>
                <a:latin typeface="Times New Roman" panose="02020603050405020304" pitchFamily="18" charset="0"/>
                <a:cs typeface="Times New Roman" panose="02020603050405020304" pitchFamily="18" charset="0"/>
              </a:rPr>
              <a:t>đóng</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chậm</a:t>
            </a:r>
            <a:r>
              <a:rPr lang="en-US" sz="1800" b="1"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pic>
        <p:nvPicPr>
          <p:cNvPr id="12" name="Picture 4">
            <a:extLst>
              <a:ext uri="{FF2B5EF4-FFF2-40B4-BE49-F238E27FC236}">
                <a16:creationId xmlns:a16="http://schemas.microsoft.com/office/drawing/2014/main" id="{7E8A3B07-4CE4-42A0-9385-4EEFE3BE97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4141" y="4240020"/>
            <a:ext cx="6883718" cy="2232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24552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369332"/>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Giản</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đồ</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thời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gian</a:t>
            </a:r>
            <a:r>
              <a:rPr lang="en-US" sz="1800" b="1" i="0" dirty="0">
                <a:solidFill>
                  <a:srgbClr val="000000"/>
                </a:solidFill>
                <a:effectLst/>
                <a:latin typeface="Times New Roman" panose="02020603050405020304" pitchFamily="18" charset="0"/>
                <a:cs typeface="Times New Roman" panose="02020603050405020304" pitchFamily="18" charset="0"/>
              </a:rPr>
              <a:t> Timer </a:t>
            </a:r>
            <a:r>
              <a:rPr lang="en-US" sz="1800" b="1" i="0" dirty="0" err="1">
                <a:solidFill>
                  <a:srgbClr val="000000"/>
                </a:solidFill>
                <a:effectLst/>
                <a:latin typeface="Times New Roman" panose="02020603050405020304" pitchFamily="18" charset="0"/>
                <a:cs typeface="Times New Roman" panose="02020603050405020304" pitchFamily="18" charset="0"/>
              </a:rPr>
              <a:t>đóng</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chậm</a:t>
            </a:r>
            <a:r>
              <a:rPr lang="en-US" sz="1800" b="1"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pic>
        <p:nvPicPr>
          <p:cNvPr id="9" name="Picture 2">
            <a:extLst>
              <a:ext uri="{FF2B5EF4-FFF2-40B4-BE49-F238E27FC236}">
                <a16:creationId xmlns:a16="http://schemas.microsoft.com/office/drawing/2014/main" id="{6ECF46A3-2C16-447B-A909-A60B431198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2144" y="1663394"/>
            <a:ext cx="4087713" cy="156452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855D118-BF5B-4DB1-9FFF-D9E227E6AA36}"/>
              </a:ext>
            </a:extLst>
          </p:cNvPr>
          <p:cNvSpPr txBox="1"/>
          <p:nvPr/>
        </p:nvSpPr>
        <p:spPr>
          <a:xfrm>
            <a:off x="882978" y="3256566"/>
            <a:ext cx="10597356" cy="646331"/>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Khởi động</a:t>
            </a:r>
            <a:r>
              <a:rPr lang="en-US" sz="1800" b="0" i="0">
                <a:solidFill>
                  <a:srgbClr val="000000"/>
                </a:solidFill>
                <a:effectLst/>
                <a:latin typeface="Times New Roman" panose="02020603050405020304" pitchFamily="18" charset="0"/>
                <a:cs typeface="Times New Roman" panose="02020603050405020304" pitchFamily="18" charset="0"/>
              </a:rPr>
              <a:t>: Timer khởi động khi RLO tại ngõ vào S thay đổi từ 0 lên 1. Timer bắt đầu chạy với giá trị thời gian rõ ràng đặt tại ngõ vào TV miễn là trạng thái ngõ vào S =1.</a:t>
            </a:r>
            <a:r>
              <a:rPr lang="en-US">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4C863B64-5E23-4C96-A190-59E6EA64FD74}"/>
              </a:ext>
            </a:extLst>
          </p:cNvPr>
          <p:cNvSpPr txBox="1"/>
          <p:nvPr/>
        </p:nvSpPr>
        <p:spPr>
          <a:xfrm>
            <a:off x="882978" y="3988978"/>
            <a:ext cx="10762922" cy="646331"/>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Xoá: </a:t>
            </a:r>
            <a:r>
              <a:rPr lang="en-US" sz="1800" b="0" i="0">
                <a:solidFill>
                  <a:srgbClr val="000000"/>
                </a:solidFill>
                <a:effectLst/>
                <a:latin typeface="Times New Roman" panose="02020603050405020304" pitchFamily="18" charset="0"/>
                <a:cs typeface="Times New Roman" panose="02020603050405020304" pitchFamily="18" charset="0"/>
              </a:rPr>
              <a:t>Khi RLO reset ngõ vào “R” là 1, thì giá trị thời gian hiện hành và độ phân giải bị xoá và ngõ ra Q ở trạng thái Reset.</a:t>
            </a:r>
            <a:r>
              <a:rPr lang="en-US">
                <a:latin typeface="Times New Roman" panose="02020603050405020304" pitchFamily="18" charset="0"/>
                <a:cs typeface="Times New Roman" panose="02020603050405020304" pitchFamily="18" charset="0"/>
              </a:rPr>
              <a:t> </a:t>
            </a:r>
          </a:p>
        </p:txBody>
      </p:sp>
      <p:sp>
        <p:nvSpPr>
          <p:cNvPr id="13" name="TextBox 12">
            <a:extLst>
              <a:ext uri="{FF2B5EF4-FFF2-40B4-BE49-F238E27FC236}">
                <a16:creationId xmlns:a16="http://schemas.microsoft.com/office/drawing/2014/main" id="{48468FA7-EC9C-441C-8009-49E4B4A55F45}"/>
              </a:ext>
            </a:extLst>
          </p:cNvPr>
          <p:cNvSpPr txBox="1"/>
          <p:nvPr/>
        </p:nvSpPr>
        <p:spPr>
          <a:xfrm>
            <a:off x="882978" y="4721390"/>
            <a:ext cx="10762922" cy="646331"/>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a:t>
            </a:r>
            <a:r>
              <a:rPr lang="vi-VN" sz="1800" b="1" i="0">
                <a:solidFill>
                  <a:srgbClr val="000000"/>
                </a:solidFill>
                <a:effectLst/>
                <a:latin typeface="Times New Roman" panose="02020603050405020304" pitchFamily="18" charset="0"/>
                <a:cs typeface="Times New Roman" panose="02020603050405020304" pitchFamily="18" charset="0"/>
              </a:rPr>
              <a:t>Ngõ ra digital</a:t>
            </a:r>
            <a:r>
              <a:rPr lang="vi-VN" sz="1800" b="0" i="0">
                <a:solidFill>
                  <a:srgbClr val="000000"/>
                </a:solidFill>
                <a:effectLst/>
                <a:latin typeface="Times New Roman" panose="02020603050405020304" pitchFamily="18" charset="0"/>
                <a:cs typeface="Times New Roman" panose="02020603050405020304" pitchFamily="18" charset="0"/>
              </a:rPr>
              <a:t>: Giá trị thời gian hiện hành có thể đọc như một số nhị phân tạingõ ra BI và BCD. Giá trị thời gian hiện hành là giá trị ban đầu của TV trừ đi giá</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trị thời gian đã hoạt động của timer, tính từ khi timer được khởi động.</a:t>
            </a:r>
            <a:endParaRPr lang="en-US">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7CA91A9C-B816-4403-9210-61F09B7DBA17}"/>
              </a:ext>
            </a:extLst>
          </p:cNvPr>
          <p:cNvSpPr txBox="1"/>
          <p:nvPr/>
        </p:nvSpPr>
        <p:spPr>
          <a:xfrm>
            <a:off x="882978" y="5453802"/>
            <a:ext cx="10851822" cy="1200329"/>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a:t>
            </a:r>
            <a:r>
              <a:rPr lang="vi-VN" sz="1800" b="1" i="0">
                <a:solidFill>
                  <a:srgbClr val="000000"/>
                </a:solidFill>
                <a:effectLst/>
                <a:latin typeface="Times New Roman" panose="02020603050405020304" pitchFamily="18" charset="0"/>
                <a:cs typeface="Times New Roman" panose="02020603050405020304" pitchFamily="18" charset="0"/>
              </a:rPr>
              <a:t>Ngõ ra Binary: </a:t>
            </a:r>
            <a:r>
              <a:rPr lang="vi-VN" sz="1800" b="0" i="0">
                <a:solidFill>
                  <a:srgbClr val="000000"/>
                </a:solidFill>
                <a:effectLst/>
                <a:latin typeface="Times New Roman" panose="02020603050405020304" pitchFamily="18" charset="0"/>
                <a:cs typeface="Times New Roman" panose="02020603050405020304" pitchFamily="18" charset="0"/>
              </a:rPr>
              <a:t>Tín hiệu tại ngõ ra “Q” là “1”, sau khi timer đã chạy hết, không</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có lỗi và ngõ vào “S” có tín hiệu ở trạng thái “1”. Khi timer đang hoạt động, nếu</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tín hiệu ở ngõ vào “S” thay đổi từ “1” xuống “0”, thì timer ngưng hoạt động.</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Trong trường hợp này ngõ ra Q có trạng thái tín hiệu 0.</a:t>
            </a:r>
            <a:r>
              <a:rPr lang="vi-VN">
                <a:latin typeface="Times New Roman" panose="02020603050405020304" pitchFamily="18" charset="0"/>
                <a:cs typeface="Times New Roman" panose="02020603050405020304" pitchFamily="18" charset="0"/>
              </a:rPr>
              <a:t> </a:t>
            </a:r>
            <a:br>
              <a:rPr lang="vi-VN">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07333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Timer đóng mạch chậm có nhớ (SS):</a:t>
            </a:r>
            <a:r>
              <a:rPr lang="en-US">
                <a:latin typeface="Times New Roman" panose="02020603050405020304" pitchFamily="18" charset="0"/>
                <a:cs typeface="Times New Roman" panose="02020603050405020304" pitchFamily="18" charset="0"/>
              </a:rPr>
              <a:t> </a:t>
            </a:r>
          </a:p>
        </p:txBody>
      </p:sp>
      <p:pic>
        <p:nvPicPr>
          <p:cNvPr id="9" name="Picture 8">
            <a:extLst>
              <a:ext uri="{FF2B5EF4-FFF2-40B4-BE49-F238E27FC236}">
                <a16:creationId xmlns:a16="http://schemas.microsoft.com/office/drawing/2014/main" id="{1D648A97-D36C-4862-BA8C-2DFB8CF66B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63296" y="1877183"/>
            <a:ext cx="8665409" cy="3201947"/>
          </a:xfrm>
          <a:prstGeom prst="rect">
            <a:avLst/>
          </a:prstGeom>
        </p:spPr>
      </p:pic>
      <p:sp>
        <p:nvSpPr>
          <p:cNvPr id="10" name="TextBox 9">
            <a:extLst>
              <a:ext uri="{FF2B5EF4-FFF2-40B4-BE49-F238E27FC236}">
                <a16:creationId xmlns:a16="http://schemas.microsoft.com/office/drawing/2014/main" id="{AD0C7128-B151-4A76-B0F6-EBD8ED3E1302}"/>
              </a:ext>
            </a:extLst>
          </p:cNvPr>
          <p:cNvSpPr txBox="1"/>
          <p:nvPr/>
        </p:nvSpPr>
        <p:spPr>
          <a:xfrm>
            <a:off x="660003" y="5289113"/>
            <a:ext cx="10871994" cy="646331"/>
          </a:xfrm>
          <a:prstGeom prst="rect">
            <a:avLst/>
          </a:prstGeom>
          <a:noFill/>
        </p:spPr>
        <p:txBody>
          <a:bodyPr wrap="square">
            <a:spAutoFit/>
          </a:bodyPr>
          <a:lstStyle/>
          <a:p>
            <a:r>
              <a:rPr lang="vi-VN" sz="1800" b="0" i="0">
                <a:solidFill>
                  <a:srgbClr val="000000"/>
                </a:solidFill>
                <a:effectLst/>
                <a:latin typeface="Times New Roman" panose="02020603050405020304" pitchFamily="18" charset="0"/>
                <a:cs typeface="Times New Roman" panose="02020603050405020304" pitchFamily="18" charset="0"/>
              </a:rPr>
              <a:t>Với các thông số, kiểu dữ liệu và toán hạng khai báo giống như dang LAD và</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FBD của timer đóng mạch chậm (SD)</a:t>
            </a:r>
            <a:r>
              <a:rPr lang="vi-VN">
                <a:latin typeface="Times New Roman" panose="02020603050405020304" pitchFamily="18" charset="0"/>
                <a:cs typeface="Times New Roman" panose="02020603050405020304" pitchFamily="18" charset="0"/>
              </a:rPr>
              <a:t> </a:t>
            </a:r>
            <a:br>
              <a:rPr lang="vi-VN">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4540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577049" y="1294062"/>
            <a:ext cx="11068851"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Giản đồ thời gian Timer đóng chậm có nhớ:</a:t>
            </a:r>
            <a:r>
              <a:rPr lang="en-US">
                <a:latin typeface="Times New Roman" panose="02020603050405020304" pitchFamily="18" charset="0"/>
                <a:cs typeface="Times New Roman" panose="02020603050405020304" pitchFamily="18" charset="0"/>
              </a:rPr>
              <a:t> </a:t>
            </a:r>
          </a:p>
        </p:txBody>
      </p:sp>
      <p:pic>
        <p:nvPicPr>
          <p:cNvPr id="9" name="Picture 2">
            <a:extLst>
              <a:ext uri="{FF2B5EF4-FFF2-40B4-BE49-F238E27FC236}">
                <a16:creationId xmlns:a16="http://schemas.microsoft.com/office/drawing/2014/main" id="{D4FB85EF-2897-4E46-8EC9-739A8C40F6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9092" y="1707231"/>
            <a:ext cx="5453817" cy="219808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5A8433C-3CCF-48B3-8FC3-14250A942141}"/>
              </a:ext>
            </a:extLst>
          </p:cNvPr>
          <p:cNvSpPr txBox="1"/>
          <p:nvPr/>
        </p:nvSpPr>
        <p:spPr>
          <a:xfrm>
            <a:off x="734678" y="3929126"/>
            <a:ext cx="11068851" cy="923330"/>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Khởi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động</a:t>
            </a:r>
            <a:r>
              <a:rPr lang="en-US" sz="1800" b="0" i="0" dirty="0">
                <a:solidFill>
                  <a:srgbClr val="000000"/>
                </a:solidFill>
                <a:effectLst/>
                <a:latin typeface="Times New Roman" panose="02020603050405020304" pitchFamily="18" charset="0"/>
                <a:cs typeface="Times New Roman" panose="02020603050405020304" pitchFamily="18" charset="0"/>
              </a:rPr>
              <a:t>: Timer </a:t>
            </a:r>
            <a:r>
              <a:rPr lang="en-US" sz="1800" b="0" i="0" dirty="0" err="1">
                <a:solidFill>
                  <a:srgbClr val="000000"/>
                </a:solidFill>
                <a:effectLst/>
                <a:latin typeface="Times New Roman" panose="02020603050405020304" pitchFamily="18" charset="0"/>
                <a:cs typeface="Times New Roman" panose="02020603050405020304" pitchFamily="18" charset="0"/>
              </a:rPr>
              <a:t>khởi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động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khi</a:t>
            </a:r>
            <a:r>
              <a:rPr lang="en-US" sz="1800" b="0" i="0" dirty="0">
                <a:solidFill>
                  <a:srgbClr val="000000"/>
                </a:solidFill>
                <a:effectLst/>
                <a:latin typeface="Times New Roman" panose="02020603050405020304" pitchFamily="18" charset="0"/>
                <a:cs typeface="Times New Roman" panose="02020603050405020304" pitchFamily="18" charset="0"/>
              </a:rPr>
              <a:t> RLO ở </a:t>
            </a:r>
            <a:r>
              <a:rPr lang="en-US" sz="1800" b="0" i="0" dirty="0" err="1">
                <a:solidFill>
                  <a:srgbClr val="000000"/>
                </a:solidFill>
                <a:effectLst/>
                <a:latin typeface="Times New Roman" panose="02020603050405020304" pitchFamily="18" charset="0"/>
                <a:cs typeface="Times New Roman" panose="02020603050405020304" pitchFamily="18" charset="0"/>
              </a:rPr>
              <a:t>ngõ</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vào</a:t>
            </a:r>
            <a:r>
              <a:rPr lang="en-US" sz="1800" b="0" i="0" dirty="0">
                <a:solidFill>
                  <a:srgbClr val="000000"/>
                </a:solidFill>
                <a:effectLst/>
                <a:latin typeface="Times New Roman" panose="02020603050405020304" pitchFamily="18" charset="0"/>
                <a:cs typeface="Times New Roman" panose="02020603050405020304" pitchFamily="18" charset="0"/>
              </a:rPr>
              <a:t> S </a:t>
            </a:r>
            <a:r>
              <a:rPr lang="en-US" sz="1800" b="0" i="0" dirty="0" err="1">
                <a:solidFill>
                  <a:srgbClr val="000000"/>
                </a:solidFill>
                <a:effectLst/>
                <a:latin typeface="Times New Roman" panose="02020603050405020304" pitchFamily="18" charset="0"/>
                <a:cs typeface="Times New Roman" panose="02020603050405020304" pitchFamily="18" charset="0"/>
              </a:rPr>
              <a:t>thay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từ</a:t>
            </a:r>
            <a:r>
              <a:rPr lang="en-US" sz="1800" b="0" i="0" dirty="0">
                <a:solidFill>
                  <a:srgbClr val="000000"/>
                </a:solidFill>
                <a:effectLst/>
                <a:latin typeface="Times New Roman" panose="02020603050405020304" pitchFamily="18" charset="0"/>
                <a:cs typeface="Times New Roman" panose="02020603050405020304" pitchFamily="18" charset="0"/>
              </a:rPr>
              <a:t> 0 </a:t>
            </a:r>
            <a:r>
              <a:rPr lang="en-US" sz="1800" b="0" i="0" dirty="0" err="1">
                <a:solidFill>
                  <a:srgbClr val="000000"/>
                </a:solidFill>
                <a:effectLst/>
                <a:latin typeface="Times New Roman" panose="02020603050405020304" pitchFamily="18" charset="0"/>
                <a:cs typeface="Times New Roman" panose="02020603050405020304" pitchFamily="18" charset="0"/>
              </a:rPr>
              <a:t>đến</a:t>
            </a:r>
            <a:r>
              <a:rPr lang="en-US" sz="1800" b="0" i="0" dirty="0">
                <a:solidFill>
                  <a:srgbClr val="000000"/>
                </a:solidFill>
                <a:effectLst/>
                <a:latin typeface="Times New Roman" panose="02020603050405020304" pitchFamily="18" charset="0"/>
                <a:cs typeface="Times New Roman" panose="02020603050405020304" pitchFamily="18" charset="0"/>
              </a:rPr>
              <a:t> 1. Timer </a:t>
            </a:r>
            <a:r>
              <a:rPr lang="en-US" sz="1800" b="0" i="0" dirty="0" err="1">
                <a:solidFill>
                  <a:srgbClr val="000000"/>
                </a:solidFill>
                <a:effectLst/>
                <a:latin typeface="Times New Roman" panose="02020603050405020304" pitchFamily="18" charset="0"/>
                <a:cs typeface="Times New Roman" panose="02020603050405020304" pitchFamily="18" charset="0"/>
              </a:rPr>
              <a:t>bắt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đầu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hoạt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động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với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giá</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trị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thời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gian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xác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định</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rõ</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ràng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tại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ngã</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vào</a:t>
            </a:r>
            <a:r>
              <a:rPr lang="en-US" sz="1800" b="0" i="0" dirty="0">
                <a:solidFill>
                  <a:srgbClr val="000000"/>
                </a:solidFill>
                <a:effectLst/>
                <a:latin typeface="Times New Roman" panose="02020603050405020304" pitchFamily="18" charset="0"/>
                <a:cs typeface="Times New Roman" panose="02020603050405020304" pitchFamily="18" charset="0"/>
              </a:rPr>
              <a:t> TV </a:t>
            </a:r>
            <a:r>
              <a:rPr lang="en-US" sz="1800" b="0" i="0" dirty="0" err="1">
                <a:solidFill>
                  <a:srgbClr val="000000"/>
                </a:solidFill>
                <a:effectLst/>
                <a:latin typeface="Times New Roman" panose="02020603050405020304" pitchFamily="18" charset="0"/>
                <a:cs typeface="Times New Roman" panose="02020603050405020304" pitchFamily="18" charset="0"/>
              </a:rPr>
              <a:t>và</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tiếp</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tục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hoạt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động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thậm</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chí</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nếu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tín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hiệu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ngõ</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vào</a:t>
            </a:r>
            <a:r>
              <a:rPr lang="en-US" sz="1800" b="0" i="0" dirty="0">
                <a:solidFill>
                  <a:srgbClr val="000000"/>
                </a:solidFill>
                <a:effectLst/>
                <a:latin typeface="Times New Roman" panose="02020603050405020304" pitchFamily="18" charset="0"/>
                <a:cs typeface="Times New Roman" panose="02020603050405020304" pitchFamily="18" charset="0"/>
              </a:rPr>
              <a:t> S </a:t>
            </a:r>
            <a:r>
              <a:rPr lang="en-US" sz="1800" b="0" i="0" dirty="0" err="1">
                <a:solidFill>
                  <a:srgbClr val="000000"/>
                </a:solidFill>
                <a:effectLst/>
                <a:latin typeface="Times New Roman" panose="02020603050405020304" pitchFamily="18" charset="0"/>
                <a:cs typeface="Times New Roman" panose="02020603050405020304" pitchFamily="18" charset="0"/>
              </a:rPr>
              <a:t>thay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thành</a:t>
            </a:r>
            <a:r>
              <a:rPr lang="en-US" sz="1800" b="0" i="0" dirty="0">
                <a:solidFill>
                  <a:srgbClr val="000000"/>
                </a:solidFill>
                <a:effectLst/>
                <a:latin typeface="Times New Roman" panose="02020603050405020304" pitchFamily="18" charset="0"/>
                <a:cs typeface="Times New Roman" panose="02020603050405020304" pitchFamily="18" charset="0"/>
              </a:rPr>
              <a:t> 0 </a:t>
            </a:r>
            <a:r>
              <a:rPr lang="en-US" sz="1800" b="0" i="0" dirty="0" err="1">
                <a:solidFill>
                  <a:srgbClr val="000000"/>
                </a:solidFill>
                <a:effectLst/>
                <a:latin typeface="Times New Roman" panose="02020603050405020304" pitchFamily="18" charset="0"/>
                <a:cs typeface="Times New Roman" panose="02020603050405020304" pitchFamily="18" charset="0"/>
              </a:rPr>
              <a:t>trong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suốt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thời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gian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đó</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Nếu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tín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hiệu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tại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ngõ</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vào</a:t>
            </a:r>
            <a:r>
              <a:rPr lang="en-US" sz="1800" b="0" i="0" dirty="0">
                <a:solidFill>
                  <a:srgbClr val="000000"/>
                </a:solidFill>
                <a:effectLst/>
                <a:latin typeface="Times New Roman" panose="02020603050405020304" pitchFamily="18" charset="0"/>
                <a:cs typeface="Times New Roman" panose="02020603050405020304" pitchFamily="18" charset="0"/>
              </a:rPr>
              <a:t> S </a:t>
            </a:r>
            <a:r>
              <a:rPr lang="en-US" sz="1800" b="0" i="0" dirty="0" err="1">
                <a:solidFill>
                  <a:srgbClr val="000000"/>
                </a:solidFill>
                <a:effectLst/>
                <a:latin typeface="Times New Roman" panose="02020603050405020304" pitchFamily="18" charset="0"/>
                <a:cs typeface="Times New Roman" panose="02020603050405020304" pitchFamily="18" charset="0"/>
              </a:rPr>
              <a:t>thay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từ</a:t>
            </a:r>
            <a:r>
              <a:rPr lang="en-US" sz="1800" b="0" i="0" dirty="0">
                <a:solidFill>
                  <a:srgbClr val="000000"/>
                </a:solidFill>
                <a:effectLst/>
                <a:latin typeface="Times New Roman" panose="02020603050405020304" pitchFamily="18" charset="0"/>
                <a:cs typeface="Times New Roman" panose="02020603050405020304" pitchFamily="18" charset="0"/>
              </a:rPr>
              <a:t> 0 </a:t>
            </a:r>
            <a:r>
              <a:rPr lang="en-US" sz="1800" b="0" i="0" dirty="0" err="1">
                <a:solidFill>
                  <a:srgbClr val="000000"/>
                </a:solidFill>
                <a:effectLst/>
                <a:latin typeface="Times New Roman" panose="02020603050405020304" pitchFamily="18" charset="0"/>
                <a:cs typeface="Times New Roman" panose="02020603050405020304" pitchFamily="18" charset="0"/>
              </a:rPr>
              <a:t>đến</a:t>
            </a:r>
            <a:r>
              <a:rPr lang="en-US" sz="1800" b="0" i="0" dirty="0">
                <a:solidFill>
                  <a:srgbClr val="000000"/>
                </a:solidFill>
                <a:effectLst/>
                <a:latin typeface="Times New Roman" panose="02020603050405020304" pitchFamily="18" charset="0"/>
                <a:cs typeface="Times New Roman" panose="02020603050405020304" pitchFamily="18" charset="0"/>
              </a:rPr>
              <a:t> 1 </a:t>
            </a:r>
            <a:r>
              <a:rPr lang="en-US" sz="1800" b="0" i="0" dirty="0" err="1">
                <a:solidFill>
                  <a:srgbClr val="000000"/>
                </a:solidFill>
                <a:effectLst/>
                <a:latin typeface="Times New Roman" panose="02020603050405020304" pitchFamily="18" charset="0"/>
                <a:cs typeface="Times New Roman" panose="02020603050405020304" pitchFamily="18" charset="0"/>
              </a:rPr>
              <a:t>trong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khi</a:t>
            </a:r>
            <a:r>
              <a:rPr lang="en-US" sz="1800" b="0" i="0" dirty="0">
                <a:solidFill>
                  <a:srgbClr val="000000"/>
                </a:solidFill>
                <a:effectLst/>
                <a:latin typeface="Times New Roman" panose="02020603050405020304" pitchFamily="18" charset="0"/>
                <a:cs typeface="Times New Roman" panose="02020603050405020304" pitchFamily="18" charset="0"/>
              </a:rPr>
              <a:t> timer </a:t>
            </a:r>
            <a:r>
              <a:rPr lang="en-US" sz="1800" b="0" i="0" dirty="0" err="1">
                <a:solidFill>
                  <a:srgbClr val="000000"/>
                </a:solidFill>
                <a:effectLst/>
                <a:latin typeface="Times New Roman" panose="02020603050405020304" pitchFamily="18" charset="0"/>
                <a:cs typeface="Times New Roman" panose="02020603050405020304" pitchFamily="18" charset="0"/>
              </a:rPr>
              <a:t>đang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hoạt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động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thì</a:t>
            </a:r>
            <a:r>
              <a:rPr lang="en-US" sz="1800" b="0" i="0" dirty="0">
                <a:solidFill>
                  <a:srgbClr val="000000"/>
                </a:solidFill>
                <a:effectLst/>
                <a:latin typeface="Times New Roman" panose="02020603050405020304" pitchFamily="18" charset="0"/>
                <a:cs typeface="Times New Roman" panose="02020603050405020304" pitchFamily="18" charset="0"/>
              </a:rPr>
              <a:t> timer </a:t>
            </a:r>
            <a:r>
              <a:rPr lang="en-US" sz="1800" b="0" i="0" dirty="0" err="1">
                <a:solidFill>
                  <a:srgbClr val="000000"/>
                </a:solidFill>
                <a:effectLst/>
                <a:latin typeface="Times New Roman" panose="02020603050405020304" pitchFamily="18" charset="0"/>
                <a:cs typeface="Times New Roman" panose="02020603050405020304" pitchFamily="18" charset="0"/>
              </a:rPr>
              <a:t>sẽ</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khởi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động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mới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lại</a:t>
            </a:r>
            <a:r>
              <a:rPr lang="en-US" sz="1800"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159D9C98-752B-414D-9DC1-0D482466C794}"/>
              </a:ext>
            </a:extLst>
          </p:cNvPr>
          <p:cNvSpPr txBox="1"/>
          <p:nvPr/>
        </p:nvSpPr>
        <p:spPr>
          <a:xfrm>
            <a:off x="754591" y="5096978"/>
            <a:ext cx="10980210" cy="646331"/>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Reset</a:t>
            </a:r>
            <a:r>
              <a:rPr lang="en-US" sz="1800" b="0" i="0">
                <a:solidFill>
                  <a:srgbClr val="000000"/>
                </a:solidFill>
                <a:effectLst/>
                <a:latin typeface="Times New Roman" panose="02020603050405020304" pitchFamily="18" charset="0"/>
                <a:cs typeface="Times New Roman" panose="02020603050405020304" pitchFamily="18" charset="0"/>
              </a:rPr>
              <a:t>: Khi RLO tại ngõ vào R là 1 thì giá trị thời gian hiện hành và độ phân giải bị xoá và ngõ ra Q ở trạng thái Reset.</a:t>
            </a:r>
            <a:r>
              <a:rPr lang="en-US">
                <a:latin typeface="Times New Roman" panose="02020603050405020304" pitchFamily="18" charset="0"/>
                <a:cs typeface="Times New Roman" panose="02020603050405020304" pitchFamily="18" charset="0"/>
              </a:rPr>
              <a:t> </a:t>
            </a:r>
          </a:p>
        </p:txBody>
      </p:sp>
      <p:sp>
        <p:nvSpPr>
          <p:cNvPr id="13" name="TextBox 12">
            <a:extLst>
              <a:ext uri="{FF2B5EF4-FFF2-40B4-BE49-F238E27FC236}">
                <a16:creationId xmlns:a16="http://schemas.microsoft.com/office/drawing/2014/main" id="{50B0C22D-7DBD-4F9E-AF62-27BCF589EE9D}"/>
              </a:ext>
            </a:extLst>
          </p:cNvPr>
          <p:cNvSpPr txBox="1"/>
          <p:nvPr/>
        </p:nvSpPr>
        <p:spPr>
          <a:xfrm>
            <a:off x="739158" y="5710832"/>
            <a:ext cx="10906741" cy="923330"/>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Ngõ ra nhị phân</a:t>
            </a:r>
            <a:r>
              <a:rPr lang="en-US" sz="1800" b="0" i="0">
                <a:solidFill>
                  <a:srgbClr val="000000"/>
                </a:solidFill>
                <a:effectLst/>
                <a:latin typeface="Times New Roman" panose="02020603050405020304" pitchFamily="18" charset="0"/>
                <a:cs typeface="Times New Roman" panose="02020603050405020304" pitchFamily="18" charset="0"/>
              </a:rPr>
              <a:t>: Trạng thái tín hiệu ngõ ra Q là 1 sau khi timer đã hoạt động không bị lỗi, thì không cần chú ý đến trạng thái tín hiệu ngõ vào S là 1 hay 0.</a:t>
            </a:r>
            <a:r>
              <a:rPr lang="en-US">
                <a:latin typeface="Times New Roman" panose="02020603050405020304" pitchFamily="18" charset="0"/>
                <a:cs typeface="Times New Roman" panose="02020603050405020304" pitchFamily="18" charset="0"/>
              </a:rPr>
              <a:t> </a:t>
            </a: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66527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Timer mở mạch chậm (OFF Delay, SF):</a:t>
            </a:r>
            <a:r>
              <a:rPr lang="en-US">
                <a:latin typeface="Times New Roman" panose="02020603050405020304" pitchFamily="18" charset="0"/>
                <a:cs typeface="Times New Roman" panose="02020603050405020304" pitchFamily="18" charset="0"/>
              </a:rPr>
              <a:t> </a:t>
            </a:r>
          </a:p>
        </p:txBody>
      </p:sp>
      <p:pic>
        <p:nvPicPr>
          <p:cNvPr id="9" name="Picture 2">
            <a:extLst>
              <a:ext uri="{FF2B5EF4-FFF2-40B4-BE49-F238E27FC236}">
                <a16:creationId xmlns:a16="http://schemas.microsoft.com/office/drawing/2014/main" id="{8DFF1E04-0D7A-438B-90CD-1B300AD28F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2989" y="1676403"/>
            <a:ext cx="4746022" cy="203206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EA8C371-E614-449B-BA7E-DEB361D132D3}"/>
              </a:ext>
            </a:extLst>
          </p:cNvPr>
          <p:cNvSpPr txBox="1"/>
          <p:nvPr/>
        </p:nvSpPr>
        <p:spPr>
          <a:xfrm>
            <a:off x="1032669" y="3796818"/>
            <a:ext cx="6096000"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Giản đồ thời gian của Timer mở chậm:</a:t>
            </a:r>
            <a:r>
              <a:rPr lang="en-US">
                <a:latin typeface="Times New Roman" panose="02020603050405020304" pitchFamily="18" charset="0"/>
                <a:cs typeface="Times New Roman" panose="02020603050405020304" pitchFamily="18" charset="0"/>
              </a:rPr>
              <a:t> </a:t>
            </a:r>
          </a:p>
        </p:txBody>
      </p:sp>
      <p:pic>
        <p:nvPicPr>
          <p:cNvPr id="12" name="Picture 2">
            <a:extLst>
              <a:ext uri="{FF2B5EF4-FFF2-40B4-BE49-F238E27FC236}">
                <a16:creationId xmlns:a16="http://schemas.microsoft.com/office/drawing/2014/main" id="{7BAA77FB-D0E2-4FCB-97D6-E12EB3B47E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97660" y="4254504"/>
            <a:ext cx="5596680" cy="2092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88766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473769" y="1267606"/>
            <a:ext cx="10762922" cy="369332"/>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Timer </a:t>
            </a:r>
            <a:r>
              <a:rPr lang="en-US" sz="1800" b="1" i="0" dirty="0" err="1">
                <a:solidFill>
                  <a:srgbClr val="000000"/>
                </a:solidFill>
                <a:effectLst/>
                <a:latin typeface="Times New Roman" panose="02020603050405020304" pitchFamily="18" charset="0"/>
                <a:cs typeface="Times New Roman" panose="02020603050405020304" pitchFamily="18" charset="0"/>
              </a:rPr>
              <a:t>mở</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mạch</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chậm</a:t>
            </a:r>
            <a:r>
              <a:rPr lang="en-US" sz="1800" b="1" i="0" dirty="0">
                <a:solidFill>
                  <a:srgbClr val="000000"/>
                </a:solidFill>
                <a:effectLst/>
                <a:latin typeface="Times New Roman" panose="02020603050405020304" pitchFamily="18" charset="0"/>
                <a:cs typeface="Times New Roman" panose="02020603050405020304" pitchFamily="18" charset="0"/>
              </a:rPr>
              <a:t> (OFF Delay, SF):</a:t>
            </a:r>
            <a:r>
              <a:rPr lang="en-US" dirty="0">
                <a:latin typeface="Times New Roman" panose="02020603050405020304" pitchFamily="18" charset="0"/>
                <a:cs typeface="Times New Roman" panose="02020603050405020304" pitchFamily="18" charset="0"/>
              </a:rPr>
              <a:t> </a:t>
            </a:r>
          </a:p>
        </p:txBody>
      </p:sp>
      <p:sp>
        <p:nvSpPr>
          <p:cNvPr id="9" name="TextBox 8">
            <a:extLst>
              <a:ext uri="{FF2B5EF4-FFF2-40B4-BE49-F238E27FC236}">
                <a16:creationId xmlns:a16="http://schemas.microsoft.com/office/drawing/2014/main" id="{966296FC-DF49-4CDA-8081-A7A39F70DE3C}"/>
              </a:ext>
            </a:extLst>
          </p:cNvPr>
          <p:cNvSpPr txBox="1"/>
          <p:nvPr/>
        </p:nvSpPr>
        <p:spPr>
          <a:xfrm>
            <a:off x="673100" y="1797537"/>
            <a:ext cx="10972800" cy="1200329"/>
          </a:xfrm>
          <a:prstGeom prst="rect">
            <a:avLst/>
          </a:prstGeom>
          <a:noFill/>
        </p:spPr>
        <p:txBody>
          <a:bodyPr wrap="square">
            <a:spAutoFit/>
          </a:bodyPr>
          <a:lstStyle/>
          <a:p>
            <a:r>
              <a:rPr lang="en-US" b="1" dirty="0">
                <a:solidFill>
                  <a:srgbClr val="000000"/>
                </a:solidFill>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Khởi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động</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0" i="0" dirty="0">
                <a:solidFill>
                  <a:srgbClr val="000000"/>
                </a:solidFill>
                <a:effectLst/>
                <a:latin typeface="Times New Roman" panose="02020603050405020304" pitchFamily="18" charset="0"/>
                <a:cs typeface="Times New Roman" panose="02020603050405020304" pitchFamily="18" charset="0"/>
              </a:rPr>
              <a:t>Timer </a:t>
            </a:r>
            <a:r>
              <a:rPr lang="en-US" sz="1800" b="0" i="0" dirty="0" err="1">
                <a:solidFill>
                  <a:srgbClr val="000000"/>
                </a:solidFill>
                <a:effectLst/>
                <a:latin typeface="Times New Roman" panose="02020603050405020304" pitchFamily="18" charset="0"/>
                <a:cs typeface="Times New Roman" panose="02020603050405020304" pitchFamily="18" charset="0"/>
              </a:rPr>
              <a:t>khởi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động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khi</a:t>
            </a:r>
            <a:r>
              <a:rPr lang="en-US" sz="1800" b="0" i="0" dirty="0">
                <a:solidFill>
                  <a:srgbClr val="000000"/>
                </a:solidFill>
                <a:effectLst/>
                <a:latin typeface="Times New Roman" panose="02020603050405020304" pitchFamily="18" charset="0"/>
                <a:cs typeface="Times New Roman" panose="02020603050405020304" pitchFamily="18" charset="0"/>
              </a:rPr>
              <a:t> RLO ở </a:t>
            </a:r>
            <a:r>
              <a:rPr lang="en-US" sz="1800" b="0" i="0" dirty="0" err="1">
                <a:solidFill>
                  <a:srgbClr val="000000"/>
                </a:solidFill>
                <a:effectLst/>
                <a:latin typeface="Times New Roman" panose="02020603050405020304" pitchFamily="18" charset="0"/>
                <a:cs typeface="Times New Roman" panose="02020603050405020304" pitchFamily="18" charset="0"/>
              </a:rPr>
              <a:t>ngõ</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vào</a:t>
            </a:r>
            <a:r>
              <a:rPr lang="en-US" sz="1800" b="0" i="0" dirty="0">
                <a:solidFill>
                  <a:srgbClr val="000000"/>
                </a:solidFill>
                <a:effectLst/>
                <a:latin typeface="Times New Roman" panose="02020603050405020304" pitchFamily="18" charset="0"/>
                <a:cs typeface="Times New Roman" panose="02020603050405020304" pitchFamily="18" charset="0"/>
              </a:rPr>
              <a:t> “S” </a:t>
            </a:r>
            <a:r>
              <a:rPr lang="en-US" sz="1800" b="0" i="0" dirty="0" err="1">
                <a:solidFill>
                  <a:srgbClr val="000000"/>
                </a:solidFill>
                <a:effectLst/>
                <a:latin typeface="Times New Roman" panose="02020603050405020304" pitchFamily="18" charset="0"/>
                <a:cs typeface="Times New Roman" panose="02020603050405020304" pitchFamily="18" charset="0"/>
              </a:rPr>
              <a:t>thay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từ</a:t>
            </a:r>
            <a:r>
              <a:rPr lang="en-US" sz="1800" b="0" i="0" dirty="0">
                <a:solidFill>
                  <a:srgbClr val="000000"/>
                </a:solidFill>
                <a:effectLst/>
                <a:latin typeface="Times New Roman" panose="02020603050405020304" pitchFamily="18" charset="0"/>
                <a:cs typeface="Times New Roman" panose="02020603050405020304" pitchFamily="18" charset="0"/>
              </a:rPr>
              <a:t> “1” </a:t>
            </a:r>
            <a:r>
              <a:rPr lang="en-US" sz="1800" b="0" i="0" dirty="0" err="1">
                <a:solidFill>
                  <a:srgbClr val="000000"/>
                </a:solidFill>
                <a:effectLst/>
                <a:latin typeface="Times New Roman" panose="02020603050405020304" pitchFamily="18" charset="0"/>
                <a:cs typeface="Times New Roman" panose="02020603050405020304" pitchFamily="18" charset="0"/>
              </a:rPr>
              <a:t>đến</a:t>
            </a:r>
            <a:r>
              <a:rPr lang="en-US" sz="1800" b="0" i="0" dirty="0">
                <a:solidFill>
                  <a:srgbClr val="000000"/>
                </a:solidFill>
                <a:effectLst/>
                <a:latin typeface="Times New Roman" panose="02020603050405020304" pitchFamily="18" charset="0"/>
                <a:cs typeface="Times New Roman" panose="02020603050405020304" pitchFamily="18" charset="0"/>
              </a:rPr>
              <a:t> “0”. </a:t>
            </a:r>
            <a:r>
              <a:rPr lang="en-US" sz="1800" b="0" i="0" dirty="0" err="1">
                <a:solidFill>
                  <a:srgbClr val="000000"/>
                </a:solidFill>
                <a:effectLst/>
                <a:latin typeface="Times New Roman" panose="02020603050405020304" pitchFamily="18" charset="0"/>
                <a:cs typeface="Times New Roman" panose="02020603050405020304" pitchFamily="18" charset="0"/>
              </a:rPr>
              <a:t>Sau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khi</a:t>
            </a:r>
            <a:r>
              <a:rPr lang="en-US" sz="1800" b="0" i="0" dirty="0">
                <a:solidFill>
                  <a:srgbClr val="000000"/>
                </a:solidFill>
                <a:effectLst/>
                <a:latin typeface="Times New Roman" panose="02020603050405020304" pitchFamily="18" charset="0"/>
                <a:cs typeface="Times New Roman" panose="02020603050405020304" pitchFamily="18" charset="0"/>
              </a:rPr>
              <a:t> timer </a:t>
            </a:r>
            <a:r>
              <a:rPr lang="en-US" sz="1800" b="0" i="0" dirty="0" err="1">
                <a:solidFill>
                  <a:srgbClr val="000000"/>
                </a:solidFill>
                <a:effectLst/>
                <a:latin typeface="Times New Roman" panose="02020603050405020304" pitchFamily="18" charset="0"/>
                <a:cs typeface="Times New Roman" panose="02020603050405020304" pitchFamily="18" charset="0"/>
              </a:rPr>
              <a:t>đã</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hoạt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động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xong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thì</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ngõ</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ra</a:t>
            </a:r>
            <a:r>
              <a:rPr lang="en-US" sz="1800" b="0" i="0" dirty="0">
                <a:solidFill>
                  <a:srgbClr val="000000"/>
                </a:solidFill>
                <a:effectLst/>
                <a:latin typeface="Times New Roman" panose="02020603050405020304" pitchFamily="18" charset="0"/>
                <a:cs typeface="Times New Roman" panose="02020603050405020304" pitchFamily="18" charset="0"/>
              </a:rPr>
              <a:t> Q </a:t>
            </a:r>
            <a:r>
              <a:rPr lang="en-US" sz="1800" b="0" i="0" dirty="0" err="1">
                <a:solidFill>
                  <a:srgbClr val="000000"/>
                </a:solidFill>
                <a:effectLst/>
                <a:latin typeface="Times New Roman" panose="02020603050405020304" pitchFamily="18" charset="0"/>
                <a:cs typeface="Times New Roman" panose="02020603050405020304" pitchFamily="18" charset="0"/>
              </a:rPr>
              <a:t>sẽ</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chuyển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về</a:t>
            </a:r>
            <a:r>
              <a:rPr lang="en-US" sz="1800" b="0" i="0" dirty="0">
                <a:solidFill>
                  <a:srgbClr val="000000"/>
                </a:solidFill>
                <a:effectLst/>
                <a:latin typeface="Times New Roman" panose="02020603050405020304" pitchFamily="18" charset="0"/>
                <a:cs typeface="Times New Roman" panose="02020603050405020304" pitchFamily="18" charset="0"/>
              </a:rPr>
              <a:t> “0”. </a:t>
            </a:r>
            <a:r>
              <a:rPr lang="en-US" sz="1800" b="0" i="0" dirty="0" err="1">
                <a:solidFill>
                  <a:srgbClr val="000000"/>
                </a:solidFill>
                <a:effectLst/>
                <a:latin typeface="Times New Roman" panose="02020603050405020304" pitchFamily="18" charset="0"/>
                <a:cs typeface="Times New Roman" panose="02020603050405020304" pitchFamily="18" charset="0"/>
              </a:rPr>
              <a:t>Nếu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trạng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thái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tín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hiệu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ngõ</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vào</a:t>
            </a:r>
            <a:r>
              <a:rPr lang="en-US" sz="1800" b="0" i="0" dirty="0">
                <a:solidFill>
                  <a:srgbClr val="000000"/>
                </a:solidFill>
                <a:effectLst/>
                <a:latin typeface="Times New Roman" panose="02020603050405020304" pitchFamily="18" charset="0"/>
                <a:cs typeface="Times New Roman" panose="02020603050405020304" pitchFamily="18" charset="0"/>
              </a:rPr>
              <a:t> “S” </a:t>
            </a:r>
            <a:r>
              <a:rPr lang="en-US" sz="1800" b="0" i="0" dirty="0" err="1">
                <a:solidFill>
                  <a:srgbClr val="000000"/>
                </a:solidFill>
                <a:effectLst/>
                <a:latin typeface="Times New Roman" panose="02020603050405020304" pitchFamily="18" charset="0"/>
                <a:cs typeface="Times New Roman" panose="02020603050405020304" pitchFamily="18" charset="0"/>
              </a:rPr>
              <a:t>thay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từ</a:t>
            </a:r>
            <a:r>
              <a:rPr lang="en-US" sz="1800" b="0" i="0" dirty="0">
                <a:solidFill>
                  <a:srgbClr val="000000"/>
                </a:solidFill>
                <a:effectLst/>
                <a:latin typeface="Times New Roman" panose="02020603050405020304" pitchFamily="18" charset="0"/>
                <a:cs typeface="Times New Roman" panose="02020603050405020304" pitchFamily="18" charset="0"/>
              </a:rPr>
              <a:t> 0 </a:t>
            </a:r>
            <a:r>
              <a:rPr lang="en-US" sz="1800" b="0" i="0" dirty="0" err="1">
                <a:solidFill>
                  <a:srgbClr val="000000"/>
                </a:solidFill>
                <a:effectLst/>
                <a:latin typeface="Times New Roman" panose="02020603050405020304" pitchFamily="18" charset="0"/>
                <a:cs typeface="Times New Roman" panose="02020603050405020304" pitchFamily="18" charset="0"/>
              </a:rPr>
              <a:t>đến</a:t>
            </a:r>
            <a:r>
              <a:rPr lang="en-US" sz="1800" b="0" i="0" dirty="0">
                <a:solidFill>
                  <a:srgbClr val="000000"/>
                </a:solidFill>
                <a:effectLst/>
                <a:latin typeface="Times New Roman" panose="02020603050405020304" pitchFamily="18" charset="0"/>
                <a:cs typeface="Times New Roman" panose="02020603050405020304" pitchFamily="18" charset="0"/>
              </a:rPr>
              <a:t> 1 </a:t>
            </a:r>
            <a:r>
              <a:rPr lang="en-US" sz="1800" b="0" i="0" dirty="0" err="1">
                <a:solidFill>
                  <a:srgbClr val="000000"/>
                </a:solidFill>
                <a:effectLst/>
                <a:latin typeface="Times New Roman" panose="02020603050405020304" pitchFamily="18" charset="0"/>
                <a:cs typeface="Times New Roman" panose="02020603050405020304" pitchFamily="18" charset="0"/>
              </a:rPr>
              <a:t>trong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khi</a:t>
            </a:r>
            <a:r>
              <a:rPr lang="en-US" sz="1800" b="0" i="0" dirty="0">
                <a:solidFill>
                  <a:srgbClr val="000000"/>
                </a:solidFill>
                <a:effectLst/>
                <a:latin typeface="Times New Roman" panose="02020603050405020304" pitchFamily="18" charset="0"/>
                <a:cs typeface="Times New Roman" panose="02020603050405020304" pitchFamily="18" charset="0"/>
              </a:rPr>
              <a:t> timer </a:t>
            </a:r>
            <a:r>
              <a:rPr lang="en-US" sz="1800" b="0" i="0" dirty="0" err="1">
                <a:solidFill>
                  <a:srgbClr val="000000"/>
                </a:solidFill>
                <a:effectLst/>
                <a:latin typeface="Times New Roman" panose="02020603050405020304" pitchFamily="18" charset="0"/>
                <a:cs typeface="Times New Roman" panose="02020603050405020304" pitchFamily="18" charset="0"/>
              </a:rPr>
              <a:t>đang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hoạt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động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thì</a:t>
            </a:r>
            <a:r>
              <a:rPr lang="en-US" sz="1800" b="0" i="0" dirty="0">
                <a:solidFill>
                  <a:srgbClr val="000000"/>
                </a:solidFill>
                <a:effectLst/>
                <a:latin typeface="Times New Roman" panose="02020603050405020304" pitchFamily="18" charset="0"/>
                <a:cs typeface="Times New Roman" panose="02020603050405020304" pitchFamily="18" charset="0"/>
              </a:rPr>
              <a:t> timer </a:t>
            </a:r>
            <a:r>
              <a:rPr lang="en-US" sz="1800" b="0" i="0" dirty="0" err="1">
                <a:solidFill>
                  <a:srgbClr val="000000"/>
                </a:solidFill>
                <a:effectLst/>
                <a:latin typeface="Times New Roman" panose="02020603050405020304" pitchFamily="18" charset="0"/>
                <a:cs typeface="Times New Roman" panose="02020603050405020304" pitchFamily="18" charset="0"/>
              </a:rPr>
              <a:t>sẽ</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dừng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và</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thời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gian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kế</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tiếp</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trạng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thái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tín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hiệu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của</a:t>
            </a:r>
            <a:r>
              <a:rPr lang="en-US" sz="1800" b="0" i="0" dirty="0">
                <a:solidFill>
                  <a:srgbClr val="000000"/>
                </a:solidFill>
                <a:effectLst/>
                <a:latin typeface="Times New Roman" panose="02020603050405020304" pitchFamily="18" charset="0"/>
                <a:cs typeface="Times New Roman" panose="02020603050405020304" pitchFamily="18" charset="0"/>
              </a:rPr>
              <a:t> S </a:t>
            </a:r>
            <a:r>
              <a:rPr lang="en-US" sz="1800" b="0" i="0" dirty="0" err="1">
                <a:solidFill>
                  <a:srgbClr val="000000"/>
                </a:solidFill>
                <a:effectLst/>
                <a:latin typeface="Times New Roman" panose="02020603050405020304" pitchFamily="18" charset="0"/>
                <a:cs typeface="Times New Roman" panose="02020603050405020304" pitchFamily="18" charset="0"/>
              </a:rPr>
              <a:t>thay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từ</a:t>
            </a:r>
            <a:r>
              <a:rPr lang="en-US" sz="1800" b="0" i="0" dirty="0">
                <a:solidFill>
                  <a:srgbClr val="000000"/>
                </a:solidFill>
                <a:effectLst/>
                <a:latin typeface="Times New Roman" panose="02020603050405020304" pitchFamily="18" charset="0"/>
                <a:cs typeface="Times New Roman" panose="02020603050405020304" pitchFamily="18" charset="0"/>
              </a:rPr>
              <a:t> 1 </a:t>
            </a:r>
            <a:r>
              <a:rPr lang="en-US" sz="1800" b="0" i="0" dirty="0" err="1">
                <a:solidFill>
                  <a:srgbClr val="000000"/>
                </a:solidFill>
                <a:effectLst/>
                <a:latin typeface="Times New Roman" panose="02020603050405020304" pitchFamily="18" charset="0"/>
                <a:cs typeface="Times New Roman" panose="02020603050405020304" pitchFamily="18" charset="0"/>
              </a:rPr>
              <a:t>thành</a:t>
            </a:r>
            <a:r>
              <a:rPr lang="en-US" sz="1800" b="0" i="0" dirty="0">
                <a:solidFill>
                  <a:srgbClr val="000000"/>
                </a:solidFill>
                <a:effectLst/>
                <a:latin typeface="Times New Roman" panose="02020603050405020304" pitchFamily="18" charset="0"/>
                <a:cs typeface="Times New Roman" panose="02020603050405020304" pitchFamily="18" charset="0"/>
              </a:rPr>
              <a:t> 0 </a:t>
            </a:r>
            <a:r>
              <a:rPr lang="en-US" sz="1800" b="0" i="0" dirty="0" err="1">
                <a:solidFill>
                  <a:srgbClr val="000000"/>
                </a:solidFill>
                <a:effectLst/>
                <a:latin typeface="Times New Roman" panose="02020603050405020304" pitchFamily="18" charset="0"/>
                <a:cs typeface="Times New Roman" panose="02020603050405020304" pitchFamily="18" charset="0"/>
              </a:rPr>
              <a:t>nó</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sẽ</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bắt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đầu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lại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từ</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đầu</a:t>
            </a:r>
            <a:r>
              <a:rPr lang="en-US" sz="1800"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E21E496-F932-4912-8C73-3D4196176582}"/>
              </a:ext>
            </a:extLst>
          </p:cNvPr>
          <p:cNvSpPr txBox="1"/>
          <p:nvPr/>
        </p:nvSpPr>
        <p:spPr>
          <a:xfrm>
            <a:off x="673100" y="3038664"/>
            <a:ext cx="10851822" cy="923330"/>
          </a:xfrm>
          <a:prstGeom prst="rect">
            <a:avLst/>
          </a:prstGeom>
          <a:noFill/>
        </p:spPr>
        <p:txBody>
          <a:bodyPr wrap="square">
            <a:spAutoFit/>
          </a:bodyPr>
          <a:lstStyle/>
          <a:p>
            <a:r>
              <a:rPr lang="en-US" b="1" dirty="0">
                <a:solidFill>
                  <a:srgbClr val="000000"/>
                </a:solidFill>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Reset : </a:t>
            </a:r>
            <a:r>
              <a:rPr lang="vi-VN" sz="1800" b="0" i="0" dirty="0">
                <a:solidFill>
                  <a:srgbClr val="000000"/>
                </a:solidFill>
                <a:effectLst/>
                <a:latin typeface="Times New Roman" panose="02020603050405020304" pitchFamily="18" charset="0"/>
                <a:cs typeface="Times New Roman" panose="02020603050405020304" pitchFamily="18" charset="0"/>
              </a:rPr>
              <a:t>Khi RLO ngõ vào R là 1 thì giá trị thời gian hiện hành và độ phân giải bị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xoá và ngõ ra Q bị reset. Nếu cả hai ngõ vào (S và R ) có cùng trạng thái tín hiệu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1, thì ngõ ra Q không được set cho đến khi ngõ reset trở về 0.</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3E2B3CA-7C4F-4E48-BC6E-DCDFA999FDCE}"/>
              </a:ext>
            </a:extLst>
          </p:cNvPr>
          <p:cNvSpPr txBox="1"/>
          <p:nvPr/>
        </p:nvSpPr>
        <p:spPr>
          <a:xfrm>
            <a:off x="670089" y="3961994"/>
            <a:ext cx="10851822" cy="646331"/>
          </a:xfrm>
          <a:prstGeom prst="rect">
            <a:avLst/>
          </a:prstGeom>
          <a:noFill/>
        </p:spPr>
        <p:txBody>
          <a:bodyPr wrap="square">
            <a:spAutoFit/>
          </a:bodyPr>
          <a:lstStyle/>
          <a:p>
            <a:r>
              <a:rPr lang="en-US" b="1" dirty="0">
                <a:solidFill>
                  <a:srgbClr val="000000"/>
                </a:solidFill>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Ngõ ra nhị phân: </a:t>
            </a:r>
            <a:r>
              <a:rPr lang="vi-VN" sz="1800" b="0" i="0" dirty="0">
                <a:solidFill>
                  <a:srgbClr val="000000"/>
                </a:solidFill>
                <a:effectLst/>
                <a:latin typeface="Times New Roman" panose="02020603050405020304" pitchFamily="18" charset="0"/>
                <a:cs typeface="Times New Roman" panose="02020603050405020304" pitchFamily="18" charset="0"/>
              </a:rPr>
              <a:t>Ngõ ra Q được kích hoạt khi RLO tại ngõ vào S thay đổi từ 0</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đến</a:t>
            </a:r>
            <a:r>
              <a:rPr lang="vi-VN" sz="1800" b="0" i="0" dirty="0">
                <a:solidFill>
                  <a:srgbClr val="000000"/>
                </a:solidFill>
                <a:effectLst/>
                <a:latin typeface="Times New Roman" panose="02020603050405020304" pitchFamily="18" charset="0"/>
                <a:cs typeface="Times New Roman" panose="02020603050405020304" pitchFamily="18" charset="0"/>
              </a:rPr>
              <a:t> 1.</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9DB58B0-2E3D-415F-BAC5-CB59C8BD81A0}"/>
              </a:ext>
            </a:extLst>
          </p:cNvPr>
          <p:cNvSpPr txBox="1"/>
          <p:nvPr/>
        </p:nvSpPr>
        <p:spPr>
          <a:xfrm>
            <a:off x="673100" y="4691433"/>
            <a:ext cx="10972800" cy="923330"/>
          </a:xfrm>
          <a:prstGeom prst="rect">
            <a:avLst/>
          </a:prstGeom>
          <a:noFill/>
        </p:spPr>
        <p:txBody>
          <a:bodyPr wrap="square">
            <a:spAutoFit/>
          </a:bodyPr>
          <a:lstStyle/>
          <a:p>
            <a:r>
              <a:rPr lang="en-US" dirty="0">
                <a:solidFill>
                  <a:srgbClr val="000000"/>
                </a:solidFill>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Nếu ngõ vào S không được kích hoạt thì ngõ ra Q vẫn có trạng thái tín hiệu 1 cho</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đến khi thời gian lập trình được hoàn thành.</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60010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Timer Xung (Pulse, SP):</a:t>
            </a:r>
            <a:r>
              <a:rPr lang="en-US">
                <a:latin typeface="Times New Roman" panose="02020603050405020304" pitchFamily="18" charset="0"/>
                <a:cs typeface="Times New Roman" panose="02020603050405020304" pitchFamily="18" charset="0"/>
              </a:rPr>
              <a:t> </a:t>
            </a:r>
          </a:p>
        </p:txBody>
      </p:sp>
      <p:pic>
        <p:nvPicPr>
          <p:cNvPr id="9" name="Picture 2">
            <a:extLst>
              <a:ext uri="{FF2B5EF4-FFF2-40B4-BE49-F238E27FC236}">
                <a16:creationId xmlns:a16="http://schemas.microsoft.com/office/drawing/2014/main" id="{074ADCF0-D375-4D6D-B371-A1D6FC7AE4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7203" y="1663395"/>
            <a:ext cx="3537595" cy="139152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E96C092-6ED2-4DAA-933C-AFDF2211E4D5}"/>
              </a:ext>
            </a:extLst>
          </p:cNvPr>
          <p:cNvSpPr txBox="1"/>
          <p:nvPr/>
        </p:nvSpPr>
        <p:spPr>
          <a:xfrm>
            <a:off x="1154907" y="3129230"/>
            <a:ext cx="6096000"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Giản đồ thời gian của Timer xung:</a:t>
            </a:r>
            <a:endParaRPr lang="en-US">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A2960A89-5C5A-482B-B403-835FB3AE28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4907" y="3879105"/>
            <a:ext cx="5521325" cy="2225290"/>
          </a:xfrm>
          <a:prstGeom prst="rect">
            <a:avLst/>
          </a:prstGeom>
        </p:spPr>
      </p:pic>
      <p:sp>
        <p:nvSpPr>
          <p:cNvPr id="13" name="TextBox 12">
            <a:extLst>
              <a:ext uri="{FF2B5EF4-FFF2-40B4-BE49-F238E27FC236}">
                <a16:creationId xmlns:a16="http://schemas.microsoft.com/office/drawing/2014/main" id="{F15A4D41-794A-4342-939E-552CCC1678BB}"/>
              </a:ext>
            </a:extLst>
          </p:cNvPr>
          <p:cNvSpPr txBox="1"/>
          <p:nvPr/>
        </p:nvSpPr>
        <p:spPr>
          <a:xfrm>
            <a:off x="6737996" y="3851194"/>
            <a:ext cx="4907904" cy="646331"/>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Khởi động</a:t>
            </a:r>
            <a:r>
              <a:rPr lang="en-US" sz="1800" b="0" i="0">
                <a:solidFill>
                  <a:srgbClr val="000000"/>
                </a:solidFill>
                <a:effectLst/>
                <a:latin typeface="Times New Roman" panose="02020603050405020304" pitchFamily="18" charset="0"/>
                <a:cs typeface="Times New Roman" panose="02020603050405020304" pitchFamily="18" charset="0"/>
              </a:rPr>
              <a:t>: Timer khởi động khi RLO tại ngõ vào S thay đổi từ 0 đến 1. Ngõ ra Q cũng đặt thành 1.</a:t>
            </a:r>
            <a:r>
              <a:rPr lang="en-US">
                <a:latin typeface="Times New Roman" panose="02020603050405020304" pitchFamily="18" charset="0"/>
                <a:cs typeface="Times New Roman" panose="02020603050405020304" pitchFamily="18" charset="0"/>
              </a:rPr>
              <a:t> </a:t>
            </a:r>
          </a:p>
        </p:txBody>
      </p:sp>
      <p:sp>
        <p:nvSpPr>
          <p:cNvPr id="14" name="TextBox 13">
            <a:extLst>
              <a:ext uri="{FF2B5EF4-FFF2-40B4-BE49-F238E27FC236}">
                <a16:creationId xmlns:a16="http://schemas.microsoft.com/office/drawing/2014/main" id="{E11C297D-0950-4ACC-81A6-6B62BF790ABB}"/>
              </a:ext>
            </a:extLst>
          </p:cNvPr>
          <p:cNvSpPr txBox="1"/>
          <p:nvPr/>
        </p:nvSpPr>
        <p:spPr>
          <a:xfrm>
            <a:off x="6737996" y="4488329"/>
            <a:ext cx="4907904" cy="1200329"/>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Reset: </a:t>
            </a:r>
            <a:r>
              <a:rPr lang="en-US" sz="1800" b="0" i="0">
                <a:solidFill>
                  <a:srgbClr val="000000"/>
                </a:solidFill>
                <a:effectLst/>
                <a:latin typeface="Times New Roman" panose="02020603050405020304" pitchFamily="18" charset="0"/>
                <a:cs typeface="Times New Roman" panose="02020603050405020304" pitchFamily="18" charset="0"/>
              </a:rPr>
              <a:t>Ngõ ra Q bị reset khi:</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	Timer đã hoạt động xong, hoặc</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	Tín hiệu start chuyển đổi từ 1 đến 0, hoặc</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	Ngõ vào reset R có trạng thái tín hiệu 1.</a:t>
            </a:r>
            <a:r>
              <a:rPr lang="en-US">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78893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Timer giữ độ rộng xung (SE):</a:t>
            </a:r>
            <a:r>
              <a:rPr lang="en-US">
                <a:latin typeface="Times New Roman" panose="02020603050405020304" pitchFamily="18" charset="0"/>
                <a:cs typeface="Times New Roman" panose="02020603050405020304" pitchFamily="18" charset="0"/>
              </a:rPr>
              <a:t> </a:t>
            </a:r>
          </a:p>
        </p:txBody>
      </p:sp>
      <p:pic>
        <p:nvPicPr>
          <p:cNvPr id="9" name="Picture 2">
            <a:extLst>
              <a:ext uri="{FF2B5EF4-FFF2-40B4-BE49-F238E27FC236}">
                <a16:creationId xmlns:a16="http://schemas.microsoft.com/office/drawing/2014/main" id="{2DB8C7E5-1BDF-4A74-83B2-0D236C8F06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7037" y="1711988"/>
            <a:ext cx="4581912" cy="181088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9A0E1707-BA76-4ABE-994A-66ACAE6B8E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8069" y="3935589"/>
            <a:ext cx="4555331" cy="149785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A0605BA-FEC9-44C8-848C-49F3F58FC5C2}"/>
              </a:ext>
            </a:extLst>
          </p:cNvPr>
          <p:cNvSpPr txBox="1"/>
          <p:nvPr/>
        </p:nvSpPr>
        <p:spPr>
          <a:xfrm>
            <a:off x="1032669" y="5476825"/>
            <a:ext cx="10702131" cy="923330"/>
          </a:xfrm>
          <a:prstGeom prst="rect">
            <a:avLst/>
          </a:prstGeom>
          <a:noFill/>
        </p:spPr>
        <p:txBody>
          <a:bodyPr wrap="square">
            <a:spAutoFit/>
          </a:bodyPr>
          <a:lstStyle/>
          <a:p>
            <a:r>
              <a:rPr lang="vi-VN" sz="1800" b="1" i="0">
                <a:solidFill>
                  <a:srgbClr val="000000"/>
                </a:solidFill>
                <a:effectLst/>
                <a:latin typeface="Times New Roman" panose="02020603050405020304" pitchFamily="18" charset="0"/>
                <a:cs typeface="Times New Roman" panose="02020603050405020304" pitchFamily="18" charset="0"/>
              </a:rPr>
              <a:t>Khởi động </a:t>
            </a:r>
            <a:r>
              <a:rPr lang="vi-VN" sz="1800" b="0" i="0">
                <a:solidFill>
                  <a:srgbClr val="000000"/>
                </a:solidFill>
                <a:effectLst/>
                <a:latin typeface="Times New Roman" panose="02020603050405020304" pitchFamily="18" charset="0"/>
                <a:cs typeface="Times New Roman" panose="02020603050405020304" pitchFamily="18" charset="0"/>
              </a:rPr>
              <a:t>: Timer hoạt động khi RLO tại ngõ vào S thay đổi từ 0 đến 1. Ngõ ra</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Q cũng được set thành 1. Trạng thái tín hiệu ngõ ra Q cũng vẫn là 1, mặc dù tín</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hiệu ngõ vào S thay đổi thành 0. Nếu tín hiệu ngõ vào start lại thay đổi từ 0 đến 1</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trong khi timer đang hoạt động, thì timer sẽ khởi động lại.</a:t>
            </a:r>
            <a:r>
              <a:rPr lang="vi-VN">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F3543B9-1964-41D0-81BE-045417E9EEA0}"/>
              </a:ext>
            </a:extLst>
          </p:cNvPr>
          <p:cNvSpPr txBox="1"/>
          <p:nvPr/>
        </p:nvSpPr>
        <p:spPr>
          <a:xfrm>
            <a:off x="6096000" y="3944807"/>
            <a:ext cx="5549900" cy="1200329"/>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Reset: </a:t>
            </a:r>
            <a:r>
              <a:rPr lang="en-US" sz="1800" b="0" i="0">
                <a:solidFill>
                  <a:srgbClr val="000000"/>
                </a:solidFill>
                <a:effectLst/>
                <a:latin typeface="Times New Roman" panose="02020603050405020304" pitchFamily="18" charset="0"/>
                <a:cs typeface="Times New Roman" panose="02020603050405020304" pitchFamily="18" charset="0"/>
              </a:rPr>
              <a:t>Ngõ ra Q bị reset khi:</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	Timer đã hoạt động xong, hoặc</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	Ngõ vào reset R có trạng thái tín hiệu 1.</a:t>
            </a:r>
            <a:r>
              <a:rPr lang="en-US">
                <a:latin typeface="Times New Roman" panose="02020603050405020304" pitchFamily="18" charset="0"/>
                <a:cs typeface="Times New Roman" panose="02020603050405020304" pitchFamily="18" charset="0"/>
              </a:rPr>
              <a:t> </a:t>
            </a: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15317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571570"/>
            <a:ext cx="10762922" cy="646331"/>
          </a:xfrm>
          <a:prstGeom prst="rect">
            <a:avLst/>
          </a:prstGeom>
          <a:noFill/>
        </p:spPr>
        <p:txBody>
          <a:bodyPr wrap="square">
            <a:spAutoFit/>
          </a:bodyPr>
          <a:lstStyle/>
          <a:p>
            <a:r>
              <a:rPr lang="vi-VN" sz="1800" b="1" i="0" dirty="0">
                <a:solidFill>
                  <a:srgbClr val="000000"/>
                </a:solidFill>
                <a:effectLst/>
                <a:latin typeface="Times New Roman" panose="02020603050405020304" pitchFamily="18" charset="0"/>
                <a:cs typeface="Times New Roman" panose="02020603050405020304" pitchFamily="18" charset="0"/>
              </a:rPr>
              <a:t>Tất cả những chức năng timer cũng có thể đựơc khởi động với những lệnh bit đơn</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giản. Sự giống nhau và khác nhau giữa phương pháp và những chức năng timer được</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đưa ra như sau:</a:t>
            </a:r>
            <a:r>
              <a:rPr lang="vi-VN" b="1"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6BC6DF8-A975-4782-8599-E65A1E1EEAE2}"/>
              </a:ext>
            </a:extLst>
          </p:cNvPr>
          <p:cNvSpPr txBox="1"/>
          <p:nvPr/>
        </p:nvSpPr>
        <p:spPr>
          <a:xfrm>
            <a:off x="882978" y="2548923"/>
            <a:ext cx="6096000" cy="1754326"/>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 </a:t>
            </a:r>
            <a:r>
              <a:rPr lang="vi-VN" sz="1800" b="1" i="0" dirty="0">
                <a:solidFill>
                  <a:srgbClr val="000000"/>
                </a:solidFill>
                <a:effectLst/>
                <a:latin typeface="Times New Roman" panose="02020603050405020304" pitchFamily="18" charset="0"/>
                <a:cs typeface="Times New Roman" panose="02020603050405020304" pitchFamily="18" charset="0"/>
              </a:rPr>
              <a:t>Giống nhau:</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o </a:t>
            </a:r>
            <a:r>
              <a:rPr lang="vi-VN" sz="1800" b="0" i="0" dirty="0">
                <a:solidFill>
                  <a:srgbClr val="000000"/>
                </a:solidFill>
                <a:effectLst/>
                <a:latin typeface="Times New Roman" panose="02020603050405020304" pitchFamily="18" charset="0"/>
                <a:cs typeface="Times New Roman" panose="02020603050405020304" pitchFamily="18" charset="0"/>
              </a:rPr>
              <a:t>Điều kiện khởi động ngõ vào S.</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o </a:t>
            </a:r>
            <a:r>
              <a:rPr lang="vi-VN" sz="1800" b="0" i="0" dirty="0">
                <a:solidFill>
                  <a:srgbClr val="000000"/>
                </a:solidFill>
                <a:effectLst/>
                <a:latin typeface="Times New Roman" panose="02020603050405020304" pitchFamily="18" charset="0"/>
                <a:cs typeface="Times New Roman" panose="02020603050405020304" pitchFamily="18" charset="0"/>
              </a:rPr>
              <a:t>Đặt trước giá trị thời gian.</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o </a:t>
            </a:r>
            <a:r>
              <a:rPr lang="vi-VN" sz="1800" b="0" i="0" dirty="0">
                <a:solidFill>
                  <a:srgbClr val="000000"/>
                </a:solidFill>
                <a:effectLst/>
                <a:latin typeface="Times New Roman" panose="02020603050405020304" pitchFamily="18" charset="0"/>
                <a:cs typeface="Times New Roman" panose="02020603050405020304" pitchFamily="18" charset="0"/>
              </a:rPr>
              <a:t>Điều kiện reset ngõ vào R .</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o </a:t>
            </a:r>
            <a:r>
              <a:rPr lang="vi-VN" sz="1800" b="0" i="0" dirty="0">
                <a:solidFill>
                  <a:srgbClr val="000000"/>
                </a:solidFill>
                <a:effectLst/>
                <a:latin typeface="Times New Roman" panose="02020603050405020304" pitchFamily="18" charset="0"/>
                <a:cs typeface="Times New Roman" panose="02020603050405020304" pitchFamily="18" charset="0"/>
              </a:rPr>
              <a:t>Đáp ứng tín hiệu tại ngõ ra Q.</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84E08D8-7876-4080-BBBA-26C820ECFD5D}"/>
              </a:ext>
            </a:extLst>
          </p:cNvPr>
          <p:cNvSpPr txBox="1"/>
          <p:nvPr/>
        </p:nvSpPr>
        <p:spPr>
          <a:xfrm>
            <a:off x="882978" y="4394747"/>
            <a:ext cx="8701942" cy="646331"/>
          </a:xfrm>
          <a:prstGeom prst="rect">
            <a:avLst/>
          </a:prstGeom>
          <a:noFill/>
        </p:spPr>
        <p:txBody>
          <a:bodyPr wrap="square">
            <a:spAutoFit/>
          </a:bodyPr>
          <a:lstStyle/>
          <a:p>
            <a:r>
              <a:rPr lang="en-US">
                <a:latin typeface="Times New Roman" panose="02020603050405020304" pitchFamily="18" charset="0"/>
                <a:cs typeface="Times New Roman" panose="02020603050405020304" pitchFamily="18" charset="0"/>
              </a:rPr>
              <a:t>- </a:t>
            </a:r>
            <a:r>
              <a:rPr lang="en-US" b="1">
                <a:latin typeface="Times New Roman" panose="02020603050405020304" pitchFamily="18" charset="0"/>
                <a:cs typeface="Times New Roman" panose="02020603050405020304" pitchFamily="18" charset="0"/>
              </a:rPr>
              <a:t>Khác nhau (trong LAD và FBD):</a:t>
            </a:r>
          </a:p>
          <a:p>
            <a:r>
              <a:rPr lang="en-US">
                <a:latin typeface="Times New Roman" panose="02020603050405020304" pitchFamily="18" charset="0"/>
                <a:cs typeface="Times New Roman" panose="02020603050405020304" pitchFamily="18" charset="0"/>
              </a:rPr>
              <a:t>Không có khả năng kiểm tra giá trị hiện hành, không có ngõ ra BI và BCD.</a:t>
            </a:r>
          </a:p>
        </p:txBody>
      </p:sp>
    </p:spTree>
    <p:extLst>
      <p:ext uri="{BB962C8B-B14F-4D97-AF65-F5344CB8AC3E}">
        <p14:creationId xmlns:p14="http://schemas.microsoft.com/office/powerpoint/2010/main" val="7353812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3.1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xử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lý</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2356414"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GIỚI THIỆU TIMER</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C6B82191-C787-4403-8B7D-4B0D00E833D6}"/>
              </a:ext>
            </a:extLst>
          </p:cNvPr>
          <p:cNvSpPr txBox="1"/>
          <p:nvPr/>
        </p:nvSpPr>
        <p:spPr>
          <a:xfrm>
            <a:off x="882978" y="1294062"/>
            <a:ext cx="10762922" cy="646331"/>
          </a:xfrm>
          <a:prstGeom prst="rect">
            <a:avLst/>
          </a:prstGeom>
          <a:noFill/>
        </p:spPr>
        <p:txBody>
          <a:bodyPr wrap="square">
            <a:spAutoFit/>
          </a:bodyPr>
          <a:lstStyle/>
          <a:p>
            <a:r>
              <a:rPr lang="vi-VN" sz="1800" b="1" i="0">
                <a:solidFill>
                  <a:srgbClr val="000000"/>
                </a:solidFill>
                <a:effectLst/>
                <a:latin typeface="Times New Roman" panose="02020603050405020304" pitchFamily="18" charset="0"/>
                <a:cs typeface="Times New Roman" panose="02020603050405020304" pitchFamily="18" charset="0"/>
              </a:rPr>
              <a:t>Tất cả những chức năng timer cũng có thể đựơc khởi động với những lệnh bit đơn</a:t>
            </a:r>
            <a:r>
              <a:rPr lang="en-US" sz="1800" b="1" i="0">
                <a:solidFill>
                  <a:srgbClr val="000000"/>
                </a:solidFill>
                <a:effectLst/>
                <a:latin typeface="Times New Roman" panose="02020603050405020304" pitchFamily="18" charset="0"/>
                <a:cs typeface="Times New Roman" panose="02020603050405020304" pitchFamily="18" charset="0"/>
              </a:rPr>
              <a:t> </a:t>
            </a:r>
            <a:r>
              <a:rPr lang="vi-VN" sz="1800" b="1" i="0">
                <a:solidFill>
                  <a:srgbClr val="000000"/>
                </a:solidFill>
                <a:effectLst/>
                <a:latin typeface="Times New Roman" panose="02020603050405020304" pitchFamily="18" charset="0"/>
                <a:cs typeface="Times New Roman" panose="02020603050405020304" pitchFamily="18" charset="0"/>
              </a:rPr>
              <a:t>giản. Sự giống nhau và khác nhau giữa phương pháp và những chức năng timer được</a:t>
            </a:r>
            <a:r>
              <a:rPr lang="en-US" sz="1800" b="1" i="0">
                <a:solidFill>
                  <a:srgbClr val="000000"/>
                </a:solidFill>
                <a:effectLst/>
                <a:latin typeface="Times New Roman" panose="02020603050405020304" pitchFamily="18" charset="0"/>
                <a:cs typeface="Times New Roman" panose="02020603050405020304" pitchFamily="18" charset="0"/>
              </a:rPr>
              <a:t> </a:t>
            </a:r>
            <a:r>
              <a:rPr lang="vi-VN" sz="1800" b="1" i="0">
                <a:solidFill>
                  <a:srgbClr val="000000"/>
                </a:solidFill>
                <a:effectLst/>
                <a:latin typeface="Times New Roman" panose="02020603050405020304" pitchFamily="18" charset="0"/>
                <a:cs typeface="Times New Roman" panose="02020603050405020304" pitchFamily="18" charset="0"/>
              </a:rPr>
              <a:t>đưa ra như sau:</a:t>
            </a:r>
            <a:r>
              <a:rPr lang="vi-VN"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C9FDF98-95A0-4B8E-9EC2-166A9CB6499B}"/>
              </a:ext>
            </a:extLst>
          </p:cNvPr>
          <p:cNvSpPr txBox="1"/>
          <p:nvPr/>
        </p:nvSpPr>
        <p:spPr>
          <a:xfrm>
            <a:off x="882978" y="1985647"/>
            <a:ext cx="1085522"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 Ví dụ:</a:t>
            </a:r>
            <a:r>
              <a:rPr lang="en-US">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86F8A4F6-4BBB-4F46-A540-7C0834FD5D98}"/>
              </a:ext>
            </a:extLst>
          </p:cNvPr>
          <p:cNvSpPr txBox="1"/>
          <p:nvPr/>
        </p:nvSpPr>
        <p:spPr>
          <a:xfrm>
            <a:off x="1007269" y="2314775"/>
            <a:ext cx="1583531" cy="369332"/>
          </a:xfrm>
          <a:prstGeom prst="rect">
            <a:avLst/>
          </a:prstGeom>
          <a:noFill/>
        </p:spPr>
        <p:txBody>
          <a:bodyPr wrap="square">
            <a:spAutoFit/>
          </a:bodyPr>
          <a:lstStyle/>
          <a:p>
            <a:r>
              <a:rPr lang="en-US" sz="1800" b="0" i="0">
                <a:solidFill>
                  <a:srgbClr val="000000"/>
                </a:solidFill>
                <a:effectLst/>
                <a:latin typeface="Times New Roman" panose="02020603050405020304" pitchFamily="18" charset="0"/>
                <a:cs typeface="Times New Roman" panose="02020603050405020304" pitchFamily="18" charset="0"/>
              </a:rPr>
              <a:t>Dạng LAD:</a:t>
            </a:r>
            <a:r>
              <a:rPr lang="en-US">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C34F0AA6-D44A-431A-9657-82ADFF238890}"/>
              </a:ext>
            </a:extLst>
          </p:cNvPr>
          <p:cNvPicPr>
            <a:picLocks noChangeAspect="1"/>
          </p:cNvPicPr>
          <p:nvPr/>
        </p:nvPicPr>
        <p:blipFill>
          <a:blip r:embed="rId4"/>
          <a:stretch>
            <a:fillRect/>
          </a:stretch>
        </p:blipFill>
        <p:spPr>
          <a:xfrm>
            <a:off x="1007269" y="2730856"/>
            <a:ext cx="3086100" cy="2886075"/>
          </a:xfrm>
          <a:prstGeom prst="rect">
            <a:avLst/>
          </a:prstGeom>
        </p:spPr>
      </p:pic>
      <p:sp>
        <p:nvSpPr>
          <p:cNvPr id="13" name="TextBox 12">
            <a:extLst>
              <a:ext uri="{FF2B5EF4-FFF2-40B4-BE49-F238E27FC236}">
                <a16:creationId xmlns:a16="http://schemas.microsoft.com/office/drawing/2014/main" id="{3E373357-0F44-41B7-B529-0A64A6F67693}"/>
              </a:ext>
            </a:extLst>
          </p:cNvPr>
          <p:cNvSpPr txBox="1"/>
          <p:nvPr/>
        </p:nvSpPr>
        <p:spPr>
          <a:xfrm>
            <a:off x="4377931" y="2314775"/>
            <a:ext cx="1583531" cy="369332"/>
          </a:xfrm>
          <a:prstGeom prst="rect">
            <a:avLst/>
          </a:prstGeom>
          <a:noFill/>
        </p:spPr>
        <p:txBody>
          <a:bodyPr wrap="square">
            <a:spAutoFit/>
          </a:bodyPr>
          <a:lstStyle/>
          <a:p>
            <a:r>
              <a:rPr lang="en-US" sz="1800" b="0" i="0">
                <a:solidFill>
                  <a:srgbClr val="000000"/>
                </a:solidFill>
                <a:effectLst/>
                <a:latin typeface="Times New Roman" panose="02020603050405020304" pitchFamily="18" charset="0"/>
                <a:cs typeface="Times New Roman" panose="02020603050405020304" pitchFamily="18" charset="0"/>
              </a:rPr>
              <a:t>Dạng </a:t>
            </a:r>
            <a:r>
              <a:rPr lang="en-US">
                <a:solidFill>
                  <a:srgbClr val="000000"/>
                </a:solidFill>
                <a:latin typeface="Times New Roman" panose="02020603050405020304" pitchFamily="18" charset="0"/>
                <a:cs typeface="Times New Roman" panose="02020603050405020304" pitchFamily="18" charset="0"/>
              </a:rPr>
              <a:t>FBD</a:t>
            </a:r>
            <a:r>
              <a:rPr lang="en-US" sz="1800" b="0" i="0">
                <a:solidFill>
                  <a:srgbClr val="000000"/>
                </a:solidFill>
                <a:effectLst/>
                <a:latin typeface="Times New Roman" panose="02020603050405020304" pitchFamily="18" charset="0"/>
                <a:cs typeface="Times New Roman" panose="02020603050405020304" pitchFamily="18" charset="0"/>
              </a:rPr>
              <a:t>:</a:t>
            </a:r>
            <a:r>
              <a:rPr lang="en-US">
                <a:latin typeface="Times New Roman" panose="02020603050405020304" pitchFamily="18" charset="0"/>
                <a:cs typeface="Times New Roman" panose="02020603050405020304" pitchFamily="18" charset="0"/>
              </a:rPr>
              <a:t> </a:t>
            </a:r>
          </a:p>
        </p:txBody>
      </p:sp>
      <p:pic>
        <p:nvPicPr>
          <p:cNvPr id="14" name="Picture 13">
            <a:extLst>
              <a:ext uri="{FF2B5EF4-FFF2-40B4-BE49-F238E27FC236}">
                <a16:creationId xmlns:a16="http://schemas.microsoft.com/office/drawing/2014/main" id="{EA00100C-39DA-4441-8F57-0CFF2062D0FB}"/>
              </a:ext>
            </a:extLst>
          </p:cNvPr>
          <p:cNvPicPr>
            <a:picLocks noChangeAspect="1"/>
          </p:cNvPicPr>
          <p:nvPr/>
        </p:nvPicPr>
        <p:blipFill>
          <a:blip r:embed="rId5"/>
          <a:stretch>
            <a:fillRect/>
          </a:stretch>
        </p:blipFill>
        <p:spPr>
          <a:xfrm>
            <a:off x="4454131" y="2684106"/>
            <a:ext cx="2058403" cy="2879831"/>
          </a:xfrm>
          <a:prstGeom prst="rect">
            <a:avLst/>
          </a:prstGeom>
        </p:spPr>
      </p:pic>
      <p:sp>
        <p:nvSpPr>
          <p:cNvPr id="15" name="TextBox 14">
            <a:extLst>
              <a:ext uri="{FF2B5EF4-FFF2-40B4-BE49-F238E27FC236}">
                <a16:creationId xmlns:a16="http://schemas.microsoft.com/office/drawing/2014/main" id="{9659FEE1-BDFA-4094-AE4B-DF8BF3566DEF}"/>
              </a:ext>
            </a:extLst>
          </p:cNvPr>
          <p:cNvSpPr txBox="1"/>
          <p:nvPr/>
        </p:nvSpPr>
        <p:spPr>
          <a:xfrm>
            <a:off x="6873296" y="2408238"/>
            <a:ext cx="4937704" cy="3970318"/>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Network 1:</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A I0.0</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L S5T#5S</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SD T4</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Netwok 2:</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A T4</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 Q8.0</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Network 3:</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A I0.1</a:t>
            </a:r>
            <a:br>
              <a:rPr lang="vi-VN"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R T4</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1" dirty="0">
                <a:solidFill>
                  <a:srgbClr val="000000"/>
                </a:solidFill>
                <a:effectLst/>
                <a:latin typeface="Times New Roman" panose="02020603050405020304" pitchFamily="18" charset="0"/>
                <a:cs typeface="Times New Roman" panose="02020603050405020304" pitchFamily="18" charset="0"/>
              </a:rPr>
              <a:t>Timer T4 sẽ được kích nếu I0.0 lên mức 1. Sau 5s, </a:t>
            </a:r>
            <a:endParaRPr lang="en-US" sz="1800" b="0" i="1" dirty="0">
              <a:solidFill>
                <a:srgbClr val="000000"/>
              </a:solidFill>
              <a:effectLst/>
              <a:latin typeface="Times New Roman" panose="02020603050405020304" pitchFamily="18" charset="0"/>
              <a:cs typeface="Times New Roman" panose="02020603050405020304" pitchFamily="18" charset="0"/>
            </a:endParaRPr>
          </a:p>
          <a:p>
            <a:r>
              <a:rPr lang="vi-VN" sz="1800" b="0" i="1" dirty="0">
                <a:solidFill>
                  <a:srgbClr val="000000"/>
                </a:solidFill>
                <a:effectLst/>
                <a:latin typeface="Times New Roman" panose="02020603050405020304" pitchFamily="18" charset="0"/>
                <a:cs typeface="Times New Roman" panose="02020603050405020304" pitchFamily="18" charset="0"/>
              </a:rPr>
              <a:t>T4 đóng làm Q8.0 lên mức 1.</a:t>
            </a:r>
            <a:br>
              <a:rPr lang="vi-VN" sz="1800" b="0" i="1" dirty="0">
                <a:solidFill>
                  <a:srgbClr val="000000"/>
                </a:solidFill>
                <a:effectLst/>
                <a:latin typeface="Times New Roman" panose="02020603050405020304" pitchFamily="18" charset="0"/>
                <a:cs typeface="Times New Roman" panose="02020603050405020304" pitchFamily="18" charset="0"/>
              </a:rPr>
            </a:br>
            <a:r>
              <a:rPr lang="vi-VN" sz="1800" b="0" i="1" dirty="0">
                <a:solidFill>
                  <a:srgbClr val="000000"/>
                </a:solidFill>
                <a:effectLst/>
                <a:latin typeface="Times New Roman" panose="02020603050405020304" pitchFamily="18" charset="0"/>
                <a:cs typeface="Times New Roman" panose="02020603050405020304" pitchFamily="18" charset="0"/>
              </a:rPr>
              <a:t>Timer được reset nếu I0.1 lên mức 1</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953F9C8-CE2F-4E54-8C50-AA5E6864FF82}"/>
              </a:ext>
            </a:extLst>
          </p:cNvPr>
          <p:cNvSpPr txBox="1"/>
          <p:nvPr/>
        </p:nvSpPr>
        <p:spPr>
          <a:xfrm>
            <a:off x="6873296" y="2314775"/>
            <a:ext cx="1583531" cy="369332"/>
          </a:xfrm>
          <a:prstGeom prst="rect">
            <a:avLst/>
          </a:prstGeom>
          <a:noFill/>
        </p:spPr>
        <p:txBody>
          <a:bodyPr wrap="square">
            <a:spAutoFit/>
          </a:bodyPr>
          <a:lstStyle/>
          <a:p>
            <a:r>
              <a:rPr lang="en-US" sz="1800" b="0" i="0">
                <a:solidFill>
                  <a:srgbClr val="000000"/>
                </a:solidFill>
                <a:effectLst/>
                <a:latin typeface="Times New Roman" panose="02020603050405020304" pitchFamily="18" charset="0"/>
                <a:cs typeface="Times New Roman" panose="02020603050405020304" pitchFamily="18" charset="0"/>
              </a:rPr>
              <a:t>Dạng STL:</a:t>
            </a:r>
            <a:r>
              <a:rPr lang="en-US">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882332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593850" y="1831975"/>
            <a:ext cx="9538748"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fontAlgn="base">
              <a:lnSpc>
                <a:spcPct val="90000"/>
              </a:lnSpc>
              <a:spcBef>
                <a:spcPts val="600"/>
              </a:spcBef>
              <a:spcAft>
                <a:spcPct val="0"/>
              </a:spcAft>
              <a:defRPr/>
            </a:pPr>
            <a:r>
              <a:rPr kumimoji="0" lang="en-US" altLang="en-US"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altLang="en-US" sz="2400" dirty="0" smtClean="0">
                <a:solidFill>
                  <a:prstClr val="black"/>
                </a:solidFill>
                <a:latin typeface="Times New Roman" panose="02020603050405020304" pitchFamily="18" charset="0"/>
                <a:cs typeface="Times New Roman" panose="02020603050405020304" pitchFamily="18" charset="0"/>
              </a:rPr>
              <a:t>3.2 MỘT SỐ TẬP LỆNH KIỂU DỮ LIỆU CHUỖI VÀ KÝ TỰ</a:t>
            </a:r>
            <a:endParaRPr lang="en-US" altLang="en-US" sz="2400" dirty="0">
              <a:solidFill>
                <a:prstClr val="black"/>
              </a:solidFill>
              <a:latin typeface="Times New Roman" panose="02020603050405020304" pitchFamily="18" charset="0"/>
              <a:cs typeface="Times New Roman" panose="02020603050405020304" pitchFamily="18" charset="0"/>
            </a:endParaRPr>
          </a:p>
        </p:txBody>
      </p:sp>
      <p:sp>
        <p:nvSpPr>
          <p:cNvPr id="9" name="Rectangle 2"/>
          <p:cNvSpPr txBox="1">
            <a:spLocks noChangeArrowheads="1"/>
          </p:cNvSpPr>
          <p:nvPr/>
        </p:nvSpPr>
        <p:spPr bwMode="auto">
          <a:xfrm>
            <a:off x="1558925" y="534988"/>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0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3:</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MỘT SỐ TẬP LỆNH LẬP TRÌNH NÂNG CAO</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24581"/>
          <a:stretch/>
        </p:blipFill>
        <p:spPr>
          <a:xfrm>
            <a:off x="3000651" y="3222593"/>
            <a:ext cx="6717377" cy="2849734"/>
          </a:xfrm>
          <a:prstGeom prst="rect">
            <a:avLst/>
          </a:prstGeom>
        </p:spPr>
      </p:pic>
    </p:spTree>
    <p:extLst>
      <p:ext uri="{BB962C8B-B14F-4D97-AF65-F5344CB8AC3E}">
        <p14:creationId xmlns:p14="http://schemas.microsoft.com/office/powerpoint/2010/main" val="22442249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700"/>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5"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lvl="0" fontAlgn="base">
              <a:spcAft>
                <a:spcPct val="0"/>
              </a:spcAf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kiểu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dữ</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liệu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chuỗi</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và</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ký</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57200" y="845746"/>
            <a:ext cx="1997663" cy="369332"/>
          </a:xfrm>
          <a:prstGeom prst="rect">
            <a:avLst/>
          </a:prstGeom>
        </p:spPr>
        <p:txBody>
          <a:bodyPr wrap="none">
            <a:spAutoFit/>
          </a:bodyPr>
          <a:lstStyle/>
          <a:p>
            <a:pPr lvl="0">
              <a:defRPr/>
            </a:pPr>
            <a:r>
              <a:rPr lang="en-US" b="1" smtClean="0">
                <a:solidFill>
                  <a:srgbClr val="0F3596"/>
                </a:solidFill>
                <a:latin typeface="Times New Roman" panose="02020603050405020304" pitchFamily="18" charset="0"/>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extBox 7">
            <a:extLst>
              <a:ext uri="{FF2B5EF4-FFF2-40B4-BE49-F238E27FC236}">
                <a16:creationId xmlns:a16="http://schemas.microsoft.com/office/drawing/2014/main" id="{883607C4-0CCB-4C65-8D23-1FDE9D8B8105}"/>
              </a:ext>
            </a:extLst>
          </p:cNvPr>
          <p:cNvSpPr txBox="1"/>
          <p:nvPr/>
        </p:nvSpPr>
        <p:spPr>
          <a:xfrm>
            <a:off x="740570" y="1438276"/>
            <a:ext cx="10994228" cy="2031325"/>
          </a:xfrm>
          <a:prstGeom prst="rect">
            <a:avLst/>
          </a:prstGeom>
          <a:noFill/>
        </p:spPr>
        <p:txBody>
          <a:bodyPr wrap="square">
            <a:spAutoFit/>
          </a:bodyPr>
          <a:lstStyle/>
          <a:p>
            <a:r>
              <a:rPr lang="vi-VN" sz="1800" b="1" i="0" dirty="0">
                <a:solidFill>
                  <a:srgbClr val="000000"/>
                </a:solidFill>
                <a:effectLst/>
                <a:latin typeface="Times New Roman" panose="02020603050405020304" pitchFamily="18" charset="0"/>
                <a:cs typeface="Times New Roman" panose="02020603050405020304" pitchFamily="18" charset="0"/>
              </a:rPr>
              <a:t>Kiểu dữ liệu String</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Dữ </a:t>
            </a:r>
            <a:r>
              <a:rPr lang="vi-VN" sz="1800" b="0" i="0" dirty="0">
                <a:solidFill>
                  <a:srgbClr val="000000"/>
                </a:solidFill>
                <a:effectLst/>
                <a:latin typeface="Times New Roman" panose="02020603050405020304" pitchFamily="18" charset="0"/>
                <a:cs typeface="Times New Roman" panose="02020603050405020304" pitchFamily="18" charset="0"/>
              </a:rPr>
              <a:t>liệu String được lưu trữ như một phần đầu có 2 </a:t>
            </a:r>
            <a:r>
              <a:rPr lang="vi-VN" sz="1800" b="0" i="1" dirty="0">
                <a:solidFill>
                  <a:srgbClr val="000000"/>
                </a:solidFill>
                <a:effectLst/>
                <a:latin typeface="Times New Roman" panose="02020603050405020304" pitchFamily="18" charset="0"/>
                <a:cs typeface="Times New Roman" panose="02020603050405020304" pitchFamily="18" charset="0"/>
              </a:rPr>
              <a:t>byte </a:t>
            </a:r>
            <a:r>
              <a:rPr lang="vi-VN" sz="1800" b="0" i="0" dirty="0">
                <a:solidFill>
                  <a:srgbClr val="000000"/>
                </a:solidFill>
                <a:effectLst/>
                <a:latin typeface="Times New Roman" panose="02020603050405020304" pitchFamily="18" charset="0"/>
                <a:cs typeface="Times New Roman" panose="02020603050405020304" pitchFamily="18" charset="0"/>
              </a:rPr>
              <a:t>được theo sau bởi tối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đa 254 </a:t>
            </a:r>
            <a:r>
              <a:rPr lang="vi-VN" sz="1800" b="0" i="1" dirty="0">
                <a:solidFill>
                  <a:srgbClr val="000000"/>
                </a:solidFill>
                <a:effectLst/>
                <a:latin typeface="Times New Roman" panose="02020603050405020304" pitchFamily="18" charset="0"/>
                <a:cs typeface="Times New Roman" panose="02020603050405020304" pitchFamily="18" charset="0"/>
              </a:rPr>
              <a:t>byte </a:t>
            </a:r>
            <a:r>
              <a:rPr lang="vi-VN" sz="1800" b="0" i="0" dirty="0">
                <a:solidFill>
                  <a:srgbClr val="000000"/>
                </a:solidFill>
                <a:effectLst/>
                <a:latin typeface="Times New Roman" panose="02020603050405020304" pitchFamily="18" charset="0"/>
                <a:cs typeface="Times New Roman" panose="02020603050405020304" pitchFamily="18" charset="0"/>
              </a:rPr>
              <a:t>ký tự của các mã ký tự ASCII. Một phần đầu String chứa 2 độ dài. </a:t>
            </a:r>
            <a:r>
              <a:rPr lang="vi-VN" sz="1800" b="0" i="1" dirty="0">
                <a:solidFill>
                  <a:srgbClr val="000000"/>
                </a:solidFill>
                <a:effectLst/>
                <a:latin typeface="Times New Roman" panose="02020603050405020304" pitchFamily="18" charset="0"/>
                <a:cs typeface="Times New Roman" panose="02020603050405020304" pitchFamily="18" charset="0"/>
              </a:rPr>
              <a:t>Byte</a:t>
            </a:r>
            <a:r>
              <a:rPr lang="en-US" sz="1800" b="0" i="1"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đầu tiên là độ dài tối đa được cho trong dấu ngoặc vuông khi khi ta khởi chạy một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chuỗi, hay mặc định bằng 254. </a:t>
            </a:r>
            <a:r>
              <a:rPr lang="vi-VN" sz="1800" b="0" i="1" dirty="0">
                <a:solidFill>
                  <a:srgbClr val="000000"/>
                </a:solidFill>
                <a:effectLst/>
                <a:latin typeface="Times New Roman" panose="02020603050405020304" pitchFamily="18" charset="0"/>
                <a:cs typeface="Times New Roman" panose="02020603050405020304" pitchFamily="18" charset="0"/>
              </a:rPr>
              <a:t>Byte </a:t>
            </a:r>
            <a:r>
              <a:rPr lang="vi-VN" sz="1800" b="0" i="0" dirty="0">
                <a:solidFill>
                  <a:srgbClr val="000000"/>
                </a:solidFill>
                <a:effectLst/>
                <a:latin typeface="Times New Roman" panose="02020603050405020304" pitchFamily="18" charset="0"/>
                <a:cs typeface="Times New Roman" panose="02020603050405020304" pitchFamily="18" charset="0"/>
              </a:rPr>
              <a:t>thứ hai là độ dài hiện tại tức là số lượng của các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ký tự hợp lệ trong chuỗi. Độ dài hiện tại phải nhỏ hơn hoặc bằng độ dài tối đa. Số</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lượng các </a:t>
            </a:r>
            <a:r>
              <a:rPr lang="vi-VN" sz="1800" b="0" i="1" dirty="0">
                <a:solidFill>
                  <a:srgbClr val="000000"/>
                </a:solidFill>
                <a:effectLst/>
                <a:latin typeface="Times New Roman" panose="02020603050405020304" pitchFamily="18" charset="0"/>
                <a:cs typeface="Times New Roman" panose="02020603050405020304" pitchFamily="18" charset="0"/>
              </a:rPr>
              <a:t>byte </a:t>
            </a:r>
            <a:r>
              <a:rPr lang="vi-VN" sz="1800" b="0" i="0" dirty="0">
                <a:solidFill>
                  <a:srgbClr val="000000"/>
                </a:solidFill>
                <a:effectLst/>
                <a:latin typeface="Times New Roman" panose="02020603050405020304" pitchFamily="18" charset="0"/>
                <a:cs typeface="Times New Roman" panose="02020603050405020304" pitchFamily="18" charset="0"/>
              </a:rPr>
              <a:t>được lưu trữ được lấp đầy bởi định dạng String là lớn hơn 2 byte so với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độ dài tối đa.</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0D672C2-75E0-4343-8A42-0F4B69F52480}"/>
              </a:ext>
            </a:extLst>
          </p:cNvPr>
          <p:cNvSpPr txBox="1"/>
          <p:nvPr/>
        </p:nvSpPr>
        <p:spPr>
          <a:xfrm>
            <a:off x="740569" y="3252759"/>
            <a:ext cx="10994231" cy="1200329"/>
          </a:xfrm>
          <a:prstGeom prst="rect">
            <a:avLst/>
          </a:prstGeom>
          <a:noFill/>
        </p:spPr>
        <p:txBody>
          <a:bodyPr wrap="square">
            <a:spAutoFit/>
          </a:bodyPr>
          <a:lstStyle/>
          <a:p>
            <a:r>
              <a:rPr lang="vi-VN" sz="1800" b="1" i="0" dirty="0">
                <a:solidFill>
                  <a:srgbClr val="000000"/>
                </a:solidFill>
                <a:effectLst/>
                <a:latin typeface="Times New Roman" panose="02020603050405020304" pitchFamily="18" charset="0"/>
                <a:cs typeface="Times New Roman" panose="02020603050405020304" pitchFamily="18" charset="0"/>
              </a:rPr>
              <a:t>Khởi chạy dữ liệu String</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Dữ </a:t>
            </a:r>
            <a:r>
              <a:rPr lang="vi-VN" sz="1800" b="0" i="0" dirty="0">
                <a:solidFill>
                  <a:srgbClr val="000000"/>
                </a:solidFill>
                <a:effectLst/>
                <a:latin typeface="Times New Roman" panose="02020603050405020304" pitchFamily="18" charset="0"/>
                <a:cs typeface="Times New Roman" panose="02020603050405020304" pitchFamily="18" charset="0"/>
              </a:rPr>
              <a:t>liệu ngõ vào và ngõ ra String phải được khởi chạy như các chuỗi hợp lệ</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trong bộ nhớ, trước thực thi của bất kỳ các lệnh chuỗi nào.</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9B9AB4D-F9D8-4697-9B85-D76EA0E52607}"/>
              </a:ext>
            </a:extLst>
          </p:cNvPr>
          <p:cNvSpPr txBox="1"/>
          <p:nvPr/>
        </p:nvSpPr>
        <p:spPr>
          <a:xfrm>
            <a:off x="740568" y="4465787"/>
            <a:ext cx="10994230" cy="1200329"/>
          </a:xfrm>
          <a:prstGeom prst="rect">
            <a:avLst/>
          </a:prstGeom>
          <a:noFill/>
        </p:spPr>
        <p:txBody>
          <a:bodyPr wrap="square">
            <a:spAutoFit/>
          </a:bodyPr>
          <a:lstStyle/>
          <a:p>
            <a:r>
              <a:rPr lang="vi-VN" sz="1800" b="1" i="0" dirty="0">
                <a:solidFill>
                  <a:srgbClr val="000000"/>
                </a:solidFill>
                <a:effectLst/>
                <a:latin typeface="Times New Roman" panose="02020603050405020304" pitchFamily="18" charset="0"/>
                <a:cs typeface="Times New Roman" panose="02020603050405020304" pitchFamily="18" charset="0"/>
              </a:rPr>
              <a:t>Dữ liệu String hợp lệ</a:t>
            </a:r>
            <a:br>
              <a:rPr lang="vi-VN" sz="1800" b="1" i="0" dirty="0">
                <a:solidFill>
                  <a:srgbClr val="000000"/>
                </a:solidFill>
                <a:effectLst/>
                <a:latin typeface="Times New Roman" panose="02020603050405020304" pitchFamily="18" charset="0"/>
                <a:cs typeface="Times New Roman" panose="02020603050405020304" pitchFamily="18" charset="0"/>
              </a:rPr>
            </a:br>
            <a:r>
              <a:rPr lang="en-US" sz="1800" b="1"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Chuỗi </a:t>
            </a:r>
            <a:r>
              <a:rPr lang="vi-VN" sz="1800" b="0" i="0" dirty="0">
                <a:solidFill>
                  <a:srgbClr val="000000"/>
                </a:solidFill>
                <a:effectLst/>
                <a:latin typeface="Times New Roman" panose="02020603050405020304" pitchFamily="18" charset="0"/>
                <a:cs typeface="Times New Roman" panose="02020603050405020304" pitchFamily="18" charset="0"/>
              </a:rPr>
              <a:t>hợp lệ có một độ dài tối đa phải lớn hơn 0 nhưng nhỏ hơn 255. Độ dài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hiện tại phải nhỏ hơn hay bằng độ dài tối đa.</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Các chuỗi không thể được gán giá trị đến các vùng nhớ I hay Q.</a:t>
            </a:r>
            <a:r>
              <a:rPr lang="vi-VN" dirty="0">
                <a:latin typeface="Times New Roman" panose="02020603050405020304" pitchFamily="18" charset="0"/>
                <a:cs typeface="Times New Roman" panose="02020603050405020304" pitchFamily="18" charset="0"/>
              </a:rPr>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06263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lvl="0" fontAlgn="base">
              <a:spcAft>
                <a:spcPct val="0"/>
              </a:spcAf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kiểu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dữ</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liệu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chuỗi</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và</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ký</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lvl="0">
              <a:defRPr/>
            </a:pPr>
            <a:r>
              <a:rPr lang="en-US" b="1" smtClean="0">
                <a:solidFill>
                  <a:srgbClr val="0F3596"/>
                </a:solidFill>
                <a:latin typeface="Times New Roman" panose="02020603050405020304" pitchFamily="18" charset="0"/>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B2C7B300-A7A3-458C-BD57-41ABDCF34B80}"/>
              </a:ext>
            </a:extLst>
          </p:cNvPr>
          <p:cNvSpPr txBox="1"/>
          <p:nvPr/>
        </p:nvSpPr>
        <p:spPr>
          <a:xfrm>
            <a:off x="780636" y="1237099"/>
            <a:ext cx="10954164" cy="2585323"/>
          </a:xfrm>
          <a:prstGeom prst="rect">
            <a:avLst/>
          </a:prstGeom>
          <a:noFill/>
        </p:spPr>
        <p:txBody>
          <a:bodyPr wrap="square">
            <a:spAutoFit/>
          </a:bodyPr>
          <a:lstStyle/>
          <a:p>
            <a:r>
              <a:rPr lang="en-US" sz="1800" b="1" i="0" dirty="0" err="1">
                <a:solidFill>
                  <a:srgbClr val="000000"/>
                </a:solidFill>
                <a:effectLst/>
                <a:latin typeface="Times New Roman" panose="02020603050405020304" pitchFamily="18" charset="0"/>
                <a:cs typeface="Times New Roman" panose="02020603050405020304" pitchFamily="18" charset="0"/>
              </a:rPr>
              <a:t>Các</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chuyển</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đổi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chuỗi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thành</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giá</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trị</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và</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giá</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trị</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thành</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chuỗi</a:t>
            </a:r>
            <a:r>
              <a:rPr lang="en-US" sz="1800" b="1" i="0" dirty="0">
                <a:solidFill>
                  <a:srgbClr val="000000"/>
                </a:solidFill>
                <a:effectLst/>
                <a:latin typeface="Times New Roman" panose="02020603050405020304" pitchFamily="18" charset="0"/>
                <a:cs typeface="Times New Roman" panose="02020603050405020304" pitchFamily="18" charset="0"/>
              </a:rPr>
              <a:t/>
            </a:r>
            <a:br>
              <a:rPr lang="en-US" sz="1800" b="1"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Ta </a:t>
            </a:r>
            <a:r>
              <a:rPr lang="en-US" sz="1800" b="0" i="0" dirty="0" err="1">
                <a:solidFill>
                  <a:srgbClr val="000000"/>
                </a:solidFill>
                <a:effectLst/>
                <a:latin typeface="Times New Roman" panose="02020603050405020304" pitchFamily="18" charset="0"/>
                <a:cs typeface="Times New Roman" panose="02020603050405020304" pitchFamily="18" charset="0"/>
              </a:rPr>
              <a:t>có</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thể</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chuyển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chuỗi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ký</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tự</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thành</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các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giá</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trị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hay </a:t>
            </a:r>
            <a:r>
              <a:rPr lang="en-US" sz="1800" b="0" i="0" dirty="0" err="1">
                <a:solidFill>
                  <a:srgbClr val="000000"/>
                </a:solidFill>
                <a:effectLst/>
                <a:latin typeface="Times New Roman" panose="02020603050405020304" pitchFamily="18" charset="0"/>
                <a:cs typeface="Times New Roman" panose="02020603050405020304" pitchFamily="18" charset="0"/>
              </a:rPr>
              <a:t>chuyển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các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giá</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trị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thành</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chuỗi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ký</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tự</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bằng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những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lệnh</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sau</a:t>
            </a:r>
            <a:r>
              <a:rPr lang="en-US" sz="1800" b="0" i="0" dirty="0">
                <a:solidFill>
                  <a:srgbClr val="000000"/>
                </a:solidFill>
                <a:effectLst/>
                <a:latin typeface="Times New Roman" panose="02020603050405020304" pitchFamily="18" charset="0"/>
                <a:cs typeface="Times New Roman" panose="02020603050405020304" pitchFamily="18" charset="0"/>
              </a:rPr>
              <a:t>:</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S_CONV </a:t>
            </a:r>
            <a:r>
              <a:rPr lang="en-US" sz="1800" b="0" i="0" dirty="0" err="1">
                <a:solidFill>
                  <a:srgbClr val="000000"/>
                </a:solidFill>
                <a:effectLst/>
                <a:latin typeface="Times New Roman" panose="02020603050405020304" pitchFamily="18" charset="0"/>
                <a:cs typeface="Times New Roman" panose="02020603050405020304" pitchFamily="18" charset="0"/>
              </a:rPr>
              <a:t>chuyển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chuỗi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sang </a:t>
            </a:r>
            <a:r>
              <a:rPr lang="en-US" sz="1800" b="0" i="0" dirty="0" err="1">
                <a:solidFill>
                  <a:srgbClr val="000000"/>
                </a:solidFill>
                <a:effectLst/>
                <a:latin typeface="Times New Roman" panose="02020603050405020304" pitchFamily="18" charset="0"/>
                <a:cs typeface="Times New Roman" panose="02020603050405020304" pitchFamily="18" charset="0"/>
              </a:rPr>
              <a:t>một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giá</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trị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hay (</a:t>
            </a:r>
            <a:r>
              <a:rPr lang="en-US" sz="1800" b="0" i="0" dirty="0" err="1">
                <a:solidFill>
                  <a:srgbClr val="000000"/>
                </a:solidFill>
                <a:effectLst/>
                <a:latin typeface="Times New Roman" panose="02020603050405020304" pitchFamily="18" charset="0"/>
                <a:cs typeface="Times New Roman" panose="02020603050405020304" pitchFamily="18" charset="0"/>
              </a:rPr>
              <a:t>giá</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trị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sang </a:t>
            </a:r>
            <a:r>
              <a:rPr lang="en-US" sz="1800" b="0" i="0" dirty="0" err="1">
                <a:solidFill>
                  <a:srgbClr val="000000"/>
                </a:solidFill>
                <a:effectLst/>
                <a:latin typeface="Times New Roman" panose="02020603050405020304" pitchFamily="18" charset="0"/>
                <a:cs typeface="Times New Roman" panose="02020603050405020304" pitchFamily="18" charset="0"/>
              </a:rPr>
              <a:t>một</a:t>
            </a:r>
            <a:r>
              <a:rPr lang="en-US" sz="1800" b="0" i="0" dirty="0">
                <a:solidFill>
                  <a:srgbClr val="000000"/>
                </a:solidFill>
                <a:effectLst/>
                <a:latin typeface="Times New Roman" panose="02020603050405020304" pitchFamily="18" charset="0"/>
                <a:cs typeface="Times New Roman" panose="02020603050405020304" pitchFamily="18" charset="0"/>
              </a:rPr>
              <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err="1">
                <a:solidFill>
                  <a:srgbClr val="000000"/>
                </a:solidFill>
                <a:effectLst/>
                <a:latin typeface="Times New Roman" panose="02020603050405020304" pitchFamily="18" charset="0"/>
                <a:cs typeface="Times New Roman" panose="02020603050405020304" pitchFamily="18" charset="0"/>
              </a:rPr>
              <a:t>chuỗi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STRG_VAL </a:t>
            </a:r>
            <a:r>
              <a:rPr lang="en-US" sz="1800" b="0" i="0" dirty="0" err="1">
                <a:solidFill>
                  <a:srgbClr val="000000"/>
                </a:solidFill>
                <a:effectLst/>
                <a:latin typeface="Times New Roman" panose="02020603050405020304" pitchFamily="18" charset="0"/>
                <a:cs typeface="Times New Roman" panose="02020603050405020304" pitchFamily="18" charset="0"/>
              </a:rPr>
              <a:t>chuyển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một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chuỗi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sang </a:t>
            </a:r>
            <a:r>
              <a:rPr lang="en-US" sz="1800" b="0" i="0" dirty="0" err="1">
                <a:solidFill>
                  <a:srgbClr val="000000"/>
                </a:solidFill>
                <a:effectLst/>
                <a:latin typeface="Times New Roman" panose="02020603050405020304" pitchFamily="18" charset="0"/>
                <a:cs typeface="Times New Roman" panose="02020603050405020304" pitchFamily="18" charset="0"/>
              </a:rPr>
              <a:t>một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giá</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trị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với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các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tùy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chọn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định</a:t>
            </a:r>
            <a:r>
              <a:rPr lang="en-US" sz="1800" b="0" i="0" dirty="0">
                <a:solidFill>
                  <a:srgbClr val="000000"/>
                </a:solidFill>
                <a:effectLst/>
                <a:latin typeface="Times New Roman" panose="02020603050405020304" pitchFamily="18" charset="0"/>
                <a:cs typeface="Times New Roman" panose="02020603050405020304" pitchFamily="18" charset="0"/>
              </a:rPr>
              <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err="1">
                <a:solidFill>
                  <a:srgbClr val="000000"/>
                </a:solidFill>
                <a:effectLst/>
                <a:latin typeface="Times New Roman" panose="02020603050405020304" pitchFamily="18" charset="0"/>
                <a:cs typeface="Times New Roman" panose="02020603050405020304" pitchFamily="18" charset="0"/>
              </a:rPr>
              <a:t>dạng</a:t>
            </a:r>
            <a:r>
              <a:rPr lang="en-US" sz="1800" b="0" i="0" dirty="0">
                <a:solidFill>
                  <a:srgbClr val="000000"/>
                </a:solidFill>
                <a:effectLst/>
                <a:latin typeface="Times New Roman" panose="02020603050405020304" pitchFamily="18" charset="0"/>
                <a:cs typeface="Times New Roman" panose="02020603050405020304" pitchFamily="18" charset="0"/>
              </a:rPr>
              <a:t>.</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VAL_STRG </a:t>
            </a:r>
            <a:r>
              <a:rPr lang="en-US" sz="1800" b="0" i="0" dirty="0" err="1">
                <a:solidFill>
                  <a:srgbClr val="000000"/>
                </a:solidFill>
                <a:effectLst/>
                <a:latin typeface="Times New Roman" panose="02020603050405020304" pitchFamily="18" charset="0"/>
                <a:cs typeface="Times New Roman" panose="02020603050405020304" pitchFamily="18" charset="0"/>
              </a:rPr>
              <a:t>chuyển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một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giá</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trị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sang </a:t>
            </a:r>
            <a:r>
              <a:rPr lang="en-US" sz="1800" b="0" i="0" dirty="0" err="1">
                <a:solidFill>
                  <a:srgbClr val="000000"/>
                </a:solidFill>
                <a:effectLst/>
                <a:latin typeface="Times New Roman" panose="02020603050405020304" pitchFamily="18" charset="0"/>
                <a:cs typeface="Times New Roman" panose="02020603050405020304" pitchFamily="18" charset="0"/>
              </a:rPr>
              <a:t>một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chuỗi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số</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với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các</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tùy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chọn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định</a:t>
            </a:r>
            <a:r>
              <a:rPr lang="en-US" sz="1800" b="0" i="0" dirty="0">
                <a:solidFill>
                  <a:srgbClr val="000000"/>
                </a:solidFill>
                <a:effectLst/>
                <a:latin typeface="Times New Roman" panose="02020603050405020304" pitchFamily="18" charset="0"/>
                <a:cs typeface="Times New Roman" panose="02020603050405020304" pitchFamily="18" charset="0"/>
              </a:rPr>
              <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err="1">
                <a:solidFill>
                  <a:srgbClr val="000000"/>
                </a:solidFill>
                <a:effectLst/>
                <a:latin typeface="Times New Roman" panose="02020603050405020304" pitchFamily="18" charset="0"/>
                <a:cs typeface="Times New Roman" panose="02020603050405020304" pitchFamily="18" charset="0"/>
              </a:rPr>
              <a:t>dạng</a:t>
            </a:r>
            <a:r>
              <a:rPr lang="en-US" sz="1800" b="0"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F986757C-3894-4BDF-8C3B-2C26D72FA607}"/>
              </a:ext>
            </a:extLst>
          </p:cNvPr>
          <p:cNvSpPr txBox="1"/>
          <p:nvPr/>
        </p:nvSpPr>
        <p:spPr>
          <a:xfrm>
            <a:off x="780636" y="3847266"/>
            <a:ext cx="7537864" cy="1477328"/>
          </a:xfrm>
          <a:prstGeom prst="rect">
            <a:avLst/>
          </a:prstGeom>
          <a:noFill/>
        </p:spPr>
        <p:txBody>
          <a:bodyPr wrap="square">
            <a:spAutoFit/>
          </a:bodyPr>
          <a:lstStyle/>
          <a:p>
            <a:r>
              <a:rPr lang="vi-VN" sz="1800" b="0" i="0">
                <a:solidFill>
                  <a:srgbClr val="000000"/>
                </a:solidFill>
                <a:effectLst/>
                <a:latin typeface="Times New Roman" panose="02020603050405020304" pitchFamily="18" charset="0"/>
                <a:cs typeface="Times New Roman" panose="02020603050405020304" pitchFamily="18" charset="0"/>
              </a:rPr>
              <a:t>Lệnh S_CONV (</a:t>
            </a:r>
            <a:r>
              <a:rPr lang="vi-VN" sz="1800" b="0" i="1">
                <a:solidFill>
                  <a:srgbClr val="000000"/>
                </a:solidFill>
                <a:effectLst/>
                <a:latin typeface="Times New Roman" panose="02020603050405020304" pitchFamily="18" charset="0"/>
                <a:cs typeface="Times New Roman" panose="02020603050405020304" pitchFamily="18" charset="0"/>
              </a:rPr>
              <a:t>String Convert</a:t>
            </a:r>
            <a:r>
              <a:rPr lang="vi-VN" sz="1800" b="0" i="0">
                <a:solidFill>
                  <a:srgbClr val="000000"/>
                </a:solidFill>
                <a:effectLst/>
                <a:latin typeface="Times New Roman" panose="02020603050405020304" pitchFamily="18" charset="0"/>
                <a:cs typeface="Times New Roman" panose="02020603050405020304" pitchFamily="18" charset="0"/>
              </a:rPr>
              <a:t>) chuyển đổi một chuỗi</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ký tự thành giá trị tương ứng, hay một giá trị thành một</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chuỗi ký tự tương ứng. S_CONV không có các tùy</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chọn định dạng ngõ ra. Điều này làm cho lệnh</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S_CONV đơn giản hơn,</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nhưng kém linh hoạt hơn so</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với các lệnh STRG_VAL và VAL_STRG.</a:t>
            </a:r>
            <a:br>
              <a:rPr lang="vi-VN" sz="1800" b="0" i="0">
                <a:solidFill>
                  <a:srgbClr val="000000"/>
                </a:solidFill>
                <a:effectLst/>
                <a:latin typeface="Times New Roman" panose="02020603050405020304" pitchFamily="18" charset="0"/>
                <a:cs typeface="Times New Roman" panose="02020603050405020304" pitchFamily="18" charset="0"/>
              </a:rPr>
            </a:br>
            <a:r>
              <a:rPr lang="vi-VN" sz="1800" b="0" i="0">
                <a:solidFill>
                  <a:srgbClr val="000000"/>
                </a:solidFill>
                <a:effectLst/>
                <a:latin typeface="Times New Roman" panose="02020603050405020304" pitchFamily="18" charset="0"/>
                <a:cs typeface="Times New Roman" panose="02020603050405020304" pitchFamily="18" charset="0"/>
              </a:rPr>
              <a:t>Lựa chọn các kiểu dữ liệu thông số từ các danh sách thả xuống.</a:t>
            </a:r>
            <a:r>
              <a:rPr lang="vi-VN">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p:txBody>
      </p:sp>
      <p:pic>
        <p:nvPicPr>
          <p:cNvPr id="13" name="Picture 2">
            <a:extLst>
              <a:ext uri="{FF2B5EF4-FFF2-40B4-BE49-F238E27FC236}">
                <a16:creationId xmlns:a16="http://schemas.microsoft.com/office/drawing/2014/main" id="{8DED4D14-98C3-4FB3-9E68-23EE4A637B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1413" y="3760152"/>
            <a:ext cx="2397466" cy="1917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6544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lvl="0" fontAlgn="base">
              <a:spcAft>
                <a:spcPct val="0"/>
              </a:spcAf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kiểu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dữ</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liệu</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chuỗi</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và</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ký</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lvl="0">
              <a:defRPr/>
            </a:pPr>
            <a:r>
              <a:rPr lang="en-US" b="1" dirty="0" smtClean="0">
                <a:solidFill>
                  <a:srgbClr val="0F3596"/>
                </a:solidFill>
                <a:latin typeface="Times New Roman" panose="02020603050405020304" pitchFamily="18" charset="0"/>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S_CONV (</a:t>
            </a:r>
            <a:r>
              <a:rPr lang="en-US" sz="1800" b="1" i="0" dirty="0" err="1">
                <a:solidFill>
                  <a:srgbClr val="000000"/>
                </a:solidFill>
                <a:effectLst/>
                <a:latin typeface="Times New Roman" panose="02020603050405020304" pitchFamily="18" charset="0"/>
                <a:cs typeface="Times New Roman" panose="02020603050405020304" pitchFamily="18" charset="0"/>
              </a:rPr>
              <a:t>chuyển</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đổi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chuỗi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thành</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giá</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trị</a:t>
            </a:r>
            <a:r>
              <a:rPr lang="en-US" sz="1800" b="1"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pic>
        <p:nvPicPr>
          <p:cNvPr id="12" name="Picture 2">
            <a:extLst>
              <a:ext uri="{FF2B5EF4-FFF2-40B4-BE49-F238E27FC236}">
                <a16:creationId xmlns:a16="http://schemas.microsoft.com/office/drawing/2014/main" id="{3EDFD26D-5E84-4FB7-8A96-8A1F6625BF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227" y="1716644"/>
            <a:ext cx="9023547" cy="209815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A22192F-1A97-46A8-ABC9-144F218B00D8}"/>
              </a:ext>
            </a:extLst>
          </p:cNvPr>
          <p:cNvSpPr txBox="1"/>
          <p:nvPr/>
        </p:nvSpPr>
        <p:spPr>
          <a:xfrm>
            <a:off x="673100" y="3908504"/>
            <a:ext cx="11061700" cy="1754326"/>
          </a:xfrm>
          <a:prstGeom prst="rect">
            <a:avLst/>
          </a:prstGeom>
          <a:noFill/>
        </p:spPr>
        <p:txBody>
          <a:bodyPr wrap="square">
            <a:spAutoFit/>
          </a:bodyPr>
          <a:lstStyle/>
          <a:p>
            <a:r>
              <a:rPr lang="vi-VN" sz="1800" b="0" i="0">
                <a:solidFill>
                  <a:srgbClr val="000000"/>
                </a:solidFill>
                <a:effectLst/>
                <a:latin typeface="Times New Roman" panose="02020603050405020304" pitchFamily="18" charset="0"/>
                <a:cs typeface="Times New Roman" panose="02020603050405020304" pitchFamily="18" charset="0"/>
              </a:rPr>
              <a:t>Việc chuyển đổi của thông số chuỗi IN bắt đầu tại ký tự đầu tiên và tiếp tục cho</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đến vị trí cuối cùng của chuỗi, hay đến ký tự đầu tiên được bắt gặp mà không phải là</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từ “0” đến “9”, “+”, “ – ” hay “.”. Giá trị kết quả được cung cấp tại vị trí được xác</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định trong thông số OUT. Nếu giá trị số ngõ ra không nằm vừa trong phạm vi của kiểu</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dữ liệu OUT, thông số OUT sau đó được đặt về 0 và ENO được đặt là FALSE. Nếu</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không, thông số OUT sẽ chứa một kết quả hợp lệ và ENO được đặt là TRUE.</a:t>
            </a:r>
            <a:r>
              <a:rPr lang="vi-VN">
                <a:latin typeface="Times New Roman" panose="02020603050405020304" pitchFamily="18" charset="0"/>
                <a:cs typeface="Times New Roman" panose="02020603050405020304" pitchFamily="18" charset="0"/>
              </a:rPr>
              <a:t> </a:t>
            </a:r>
            <a:br>
              <a:rPr lang="vi-VN">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55601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C2F3AD5F-B400-434C-9FF3-12FAB9FE2E4C}"/>
              </a:ext>
            </a:extLst>
          </p:cNvPr>
          <p:cNvSpPr txBox="1"/>
          <p:nvPr/>
        </p:nvSpPr>
        <p:spPr>
          <a:xfrm>
            <a:off x="673100" y="1635641"/>
            <a:ext cx="11061700" cy="2585323"/>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Các quy tắc định dạng chuỗi ngõ vào:</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Nếu một dấu chấm thập phân được sử dụng trong chuỗi IN, ta phải dùng ký tự</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Các ký tự dấu phẩy “,” được sử dụng như một phân cách hàng ngàn về bên trái</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của dấu chấm thập phân thì được cho phép và được bỏ qua.</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Các khoảng trống cách quãng được bỏ qua.</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Chỉ có sự biểu thị dấu chấm cố định là được hỗ trợ. Các ký tự “e” và “E” không</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được nhận ra là ký hiệu lũy thừa.</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12" name="Picture 2">
            <a:extLst>
              <a:ext uri="{FF2B5EF4-FFF2-40B4-BE49-F238E27FC236}">
                <a16:creationId xmlns:a16="http://schemas.microsoft.com/office/drawing/2014/main" id="{FF2B9B78-4077-4904-9E38-1437432D8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637" y="4030782"/>
            <a:ext cx="10140727" cy="238315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S_CONV (</a:t>
            </a:r>
            <a:r>
              <a:rPr lang="en-US" sz="1800" b="1" i="0" dirty="0" err="1">
                <a:solidFill>
                  <a:srgbClr val="000000"/>
                </a:solidFill>
                <a:effectLst/>
                <a:latin typeface="Times New Roman" panose="02020603050405020304" pitchFamily="18" charset="0"/>
                <a:cs typeface="Times New Roman" panose="02020603050405020304" pitchFamily="18" charset="0"/>
              </a:rPr>
              <a:t>chuyển</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đổi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chuỗi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thành</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giá</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trị</a:t>
            </a:r>
            <a:r>
              <a:rPr lang="en-US" sz="1800" b="1"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504375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650721F7-CD65-41F3-81CB-A23526E72557}"/>
              </a:ext>
            </a:extLst>
          </p:cNvPr>
          <p:cNvSpPr txBox="1"/>
          <p:nvPr/>
        </p:nvSpPr>
        <p:spPr>
          <a:xfrm>
            <a:off x="673100" y="1622942"/>
            <a:ext cx="11061700" cy="2031325"/>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Một giá trị số nguyên, giá trị số nguyên không dấu hay giá trị dấu chấm động</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của IN được chuyển đổi sang chuỗi ký tự tương ứng tại OUT. Thông số OUT phải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tham chiếu một chuỗi hợp lệ trước khi sự chuyển đổi được thực thi. Một chuỗi hợp lệ</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gồm có một độ dài chuỗi cực đại trong </a:t>
            </a:r>
            <a:r>
              <a:rPr lang="vi-VN" sz="1800" b="0" i="1" dirty="0">
                <a:solidFill>
                  <a:srgbClr val="000000"/>
                </a:solidFill>
                <a:effectLst/>
                <a:latin typeface="Times New Roman" panose="02020603050405020304" pitchFamily="18" charset="0"/>
                <a:cs typeface="Times New Roman" panose="02020603050405020304" pitchFamily="18" charset="0"/>
              </a:rPr>
              <a:t>byte </a:t>
            </a:r>
            <a:r>
              <a:rPr lang="vi-VN" sz="1800" b="0" i="0" dirty="0">
                <a:solidFill>
                  <a:srgbClr val="000000"/>
                </a:solidFill>
                <a:effectLst/>
                <a:latin typeface="Times New Roman" panose="02020603050405020304" pitchFamily="18" charset="0"/>
                <a:cs typeface="Times New Roman" panose="02020603050405020304" pitchFamily="18" charset="0"/>
              </a:rPr>
              <a:t>đầu tiên, độ dài chuỗi hiện thời trong </a:t>
            </a:r>
            <a:r>
              <a:rPr lang="vi-VN" sz="1800" b="0" i="1" dirty="0">
                <a:solidFill>
                  <a:srgbClr val="000000"/>
                </a:solidFill>
                <a:effectLst/>
                <a:latin typeface="Times New Roman" panose="02020603050405020304" pitchFamily="18" charset="0"/>
                <a:cs typeface="Times New Roman" panose="02020603050405020304" pitchFamily="18" charset="0"/>
              </a:rPr>
              <a:t>byte</a:t>
            </a:r>
            <a:r>
              <a:rPr lang="en-US" sz="1800" b="0" i="1"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thứ hai và các ký tự chuỗi hiện thời trong các </a:t>
            </a:r>
            <a:r>
              <a:rPr lang="vi-VN" sz="1800" b="0" i="1" dirty="0">
                <a:solidFill>
                  <a:srgbClr val="000000"/>
                </a:solidFill>
                <a:effectLst/>
                <a:latin typeface="Times New Roman" panose="02020603050405020304" pitchFamily="18" charset="0"/>
                <a:cs typeface="Times New Roman" panose="02020603050405020304" pitchFamily="18" charset="0"/>
              </a:rPr>
              <a:t>byte </a:t>
            </a:r>
            <a:r>
              <a:rPr lang="vi-VN" sz="1800" b="0" i="0" dirty="0">
                <a:solidFill>
                  <a:srgbClr val="000000"/>
                </a:solidFill>
                <a:effectLst/>
                <a:latin typeface="Times New Roman" panose="02020603050405020304" pitchFamily="18" charset="0"/>
                <a:cs typeface="Times New Roman" panose="02020603050405020304" pitchFamily="18" charset="0"/>
              </a:rPr>
              <a:t>kế tiếp. </a:t>
            </a:r>
            <a:endParaRPr lang="en-US" sz="1800" b="0" i="0" dirty="0" smtClean="0">
              <a:solidFill>
                <a:srgbClr val="000000"/>
              </a:solidFill>
              <a:effectLst/>
              <a:latin typeface="Times New Roman" panose="02020603050405020304" pitchFamily="18" charset="0"/>
              <a:cs typeface="Times New Roman" panose="02020603050405020304" pitchFamily="18" charset="0"/>
            </a:endParaRPr>
          </a:p>
          <a:p>
            <a:r>
              <a:rPr lang="vi-VN" sz="1800" b="0" i="0" dirty="0" smtClean="0">
                <a:solidFill>
                  <a:srgbClr val="000000"/>
                </a:solidFill>
                <a:effectLst/>
                <a:latin typeface="Times New Roman" panose="02020603050405020304" pitchFamily="18" charset="0"/>
                <a:cs typeface="Times New Roman" panose="02020603050405020304" pitchFamily="18" charset="0"/>
              </a:rPr>
              <a:t>Chuỗi </a:t>
            </a:r>
            <a:r>
              <a:rPr lang="vi-VN" sz="1800" b="0" i="0" dirty="0">
                <a:solidFill>
                  <a:srgbClr val="000000"/>
                </a:solidFill>
                <a:effectLst/>
                <a:latin typeface="Times New Roman" panose="02020603050405020304" pitchFamily="18" charset="0"/>
                <a:cs typeface="Times New Roman" panose="02020603050405020304" pitchFamily="18" charset="0"/>
              </a:rPr>
              <a:t>được chuyển đổi sẽ</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thay thế các ký tự trong chuỗi OUT bắt đầu tại ký tự đầu tiên và điều chỉnh </a:t>
            </a:r>
            <a:r>
              <a:rPr lang="vi-VN" sz="1800" b="0" i="1" dirty="0">
                <a:solidFill>
                  <a:srgbClr val="000000"/>
                </a:solidFill>
                <a:effectLst/>
                <a:latin typeface="Times New Roman" panose="02020603050405020304" pitchFamily="18" charset="0"/>
                <a:cs typeface="Times New Roman" panose="02020603050405020304" pitchFamily="18" charset="0"/>
              </a:rPr>
              <a:t>byte </a:t>
            </a:r>
            <a:r>
              <a:rPr lang="vi-VN" sz="1800" b="0" i="0" dirty="0">
                <a:solidFill>
                  <a:srgbClr val="000000"/>
                </a:solidFill>
                <a:effectLst/>
                <a:latin typeface="Times New Roman" panose="02020603050405020304" pitchFamily="18" charset="0"/>
                <a:cs typeface="Times New Roman" panose="02020603050405020304" pitchFamily="18" charset="0"/>
              </a:rPr>
              <a:t>độ dài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hiện thời của chuỗi OUT. Byte độ dài tối đa của chuỗi OUT thì không bị thay đổi.</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BB67D32-0556-40DE-9A17-4C91B4258AE5}"/>
              </a:ext>
            </a:extLst>
          </p:cNvPr>
          <p:cNvSpPr txBox="1"/>
          <p:nvPr/>
        </p:nvSpPr>
        <p:spPr>
          <a:xfrm>
            <a:off x="673100" y="3785132"/>
            <a:ext cx="11061700" cy="1200329"/>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Có bao nhiêu các ký tự được thay thế là phụ thuộc vào kiểu dữ liệu thông số IN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và giá trị số. Số lượng của các ký tự được thay thế phải nằm vừa trong độ dài chuỗi tại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thông số OUT. </a:t>
            </a:r>
            <a:endParaRPr lang="en-US" sz="1800" b="0" i="0" dirty="0" smtClean="0">
              <a:solidFill>
                <a:srgbClr val="000000"/>
              </a:solidFill>
              <a:effectLst/>
              <a:latin typeface="Times New Roman" panose="02020603050405020304" pitchFamily="18" charset="0"/>
              <a:cs typeface="Times New Roman" panose="02020603050405020304" pitchFamily="18" charset="0"/>
            </a:endParaRPr>
          </a:p>
          <a:p>
            <a:r>
              <a:rPr lang="vi-VN" sz="1800" b="0" i="0" dirty="0" smtClean="0">
                <a:solidFill>
                  <a:srgbClr val="000000"/>
                </a:solidFill>
                <a:effectLst/>
                <a:latin typeface="Times New Roman" panose="02020603050405020304" pitchFamily="18" charset="0"/>
                <a:cs typeface="Times New Roman" panose="02020603050405020304" pitchFamily="18" charset="0"/>
              </a:rPr>
              <a:t>Độ </a:t>
            </a:r>
            <a:r>
              <a:rPr lang="vi-VN" sz="1800" b="0" i="0" dirty="0">
                <a:solidFill>
                  <a:srgbClr val="000000"/>
                </a:solidFill>
                <a:effectLst/>
                <a:latin typeface="Times New Roman" panose="02020603050405020304" pitchFamily="18" charset="0"/>
                <a:cs typeface="Times New Roman" panose="02020603050405020304" pitchFamily="18" charset="0"/>
              </a:rPr>
              <a:t>dài chuỗi tối đa (</a:t>
            </a:r>
            <a:r>
              <a:rPr lang="vi-VN" sz="1800" b="0" i="1" dirty="0">
                <a:solidFill>
                  <a:srgbClr val="000000"/>
                </a:solidFill>
                <a:effectLst/>
                <a:latin typeface="Times New Roman" panose="02020603050405020304" pitchFamily="18" charset="0"/>
                <a:cs typeface="Times New Roman" panose="02020603050405020304" pitchFamily="18" charset="0"/>
              </a:rPr>
              <a:t>byte </a:t>
            </a:r>
            <a:r>
              <a:rPr lang="vi-VN" sz="1800" b="0" i="0" dirty="0">
                <a:solidFill>
                  <a:srgbClr val="000000"/>
                </a:solidFill>
                <a:effectLst/>
                <a:latin typeface="Times New Roman" panose="02020603050405020304" pitchFamily="18" charset="0"/>
                <a:cs typeface="Times New Roman" panose="02020603050405020304" pitchFamily="18" charset="0"/>
              </a:rPr>
              <a:t>đầu tiên) của chuỗi OUT nên lớn hơn hay</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bằng số lượng được mong đợi tối đa của các ký tự được chuyển đổi.</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S_CONV (</a:t>
            </a:r>
            <a:r>
              <a:rPr lang="en-US" sz="1800" b="1" i="0" dirty="0" err="1">
                <a:solidFill>
                  <a:srgbClr val="000000"/>
                </a:solidFill>
                <a:effectLst/>
                <a:latin typeface="Times New Roman" panose="02020603050405020304" pitchFamily="18" charset="0"/>
                <a:cs typeface="Times New Roman" panose="02020603050405020304" pitchFamily="18" charset="0"/>
              </a:rPr>
              <a:t>chuyển</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đổi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chuỗi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thành</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giá</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trị</a:t>
            </a:r>
            <a:r>
              <a:rPr lang="en-US" sz="1800" b="1"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8132073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5987CD5D-3C34-4B93-B767-49B7D2100810}"/>
              </a:ext>
            </a:extLst>
          </p:cNvPr>
          <p:cNvSpPr txBox="1"/>
          <p:nvPr/>
        </p:nvSpPr>
        <p:spPr>
          <a:xfrm>
            <a:off x="673100" y="1649840"/>
            <a:ext cx="11061700" cy="369332"/>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Bảng sau đây thể hiện độ dài chuỗi có thể có tối đa được yêu cầu đối với mỗi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kiểu dữ liệu được hỗ trợ.</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12" name="Picture 2">
            <a:extLst>
              <a:ext uri="{FF2B5EF4-FFF2-40B4-BE49-F238E27FC236}">
                <a16:creationId xmlns:a16="http://schemas.microsoft.com/office/drawing/2014/main" id="{12B6680D-CFFB-42DA-85AE-AE972CFDC4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8054" y="2082067"/>
            <a:ext cx="5815892" cy="271657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86797A8D-9495-44B6-ADDA-DDDE1D39E1EA}"/>
              </a:ext>
            </a:extLst>
          </p:cNvPr>
          <p:cNvSpPr txBox="1"/>
          <p:nvPr/>
        </p:nvSpPr>
        <p:spPr>
          <a:xfrm>
            <a:off x="673100" y="4887010"/>
            <a:ext cx="11061700" cy="1477328"/>
          </a:xfrm>
          <a:prstGeom prst="rect">
            <a:avLst/>
          </a:prstGeom>
          <a:noFill/>
        </p:spPr>
        <p:txBody>
          <a:bodyPr wrap="square">
            <a:spAutoFit/>
          </a:bodyPr>
          <a:lstStyle/>
          <a:p>
            <a:r>
              <a:rPr lang="vi-VN" sz="1800" b="0" i="0">
                <a:solidFill>
                  <a:srgbClr val="000000"/>
                </a:solidFill>
                <a:effectLst/>
                <a:latin typeface="Times New Roman" panose="02020603050405020304" pitchFamily="18" charset="0"/>
                <a:cs typeface="Times New Roman" panose="02020603050405020304" pitchFamily="18" charset="0"/>
              </a:rPr>
              <a:t>Các quy tắc định dạng chuỗi ngõ ra:</a:t>
            </a:r>
            <a:br>
              <a:rPr lang="vi-VN" sz="1800" b="0" i="0">
                <a:solidFill>
                  <a:srgbClr val="000000"/>
                </a:solidFill>
                <a:effectLst/>
                <a:latin typeface="Times New Roman" panose="02020603050405020304" pitchFamily="18" charset="0"/>
                <a:cs typeface="Times New Roman" panose="02020603050405020304" pitchFamily="18" charset="0"/>
              </a:rPr>
            </a:br>
            <a:r>
              <a:rPr lang="vi-VN" sz="1800" b="0" i="0">
                <a:solidFill>
                  <a:srgbClr val="000000"/>
                </a:solidFill>
                <a:effectLst/>
                <a:latin typeface="Times New Roman" panose="02020603050405020304" pitchFamily="18" charset="0"/>
                <a:cs typeface="Times New Roman" panose="02020603050405020304" pitchFamily="18" charset="0"/>
              </a:rPr>
              <a:t>• Các giá trị được ghi đến thông số OUT không sử dụng một dấu “+” cách quãng.</a:t>
            </a:r>
            <a:br>
              <a:rPr lang="vi-VN" sz="1800" b="0" i="0">
                <a:solidFill>
                  <a:srgbClr val="000000"/>
                </a:solidFill>
                <a:effectLst/>
                <a:latin typeface="Times New Roman" panose="02020603050405020304" pitchFamily="18" charset="0"/>
                <a:cs typeface="Times New Roman" panose="02020603050405020304" pitchFamily="18" charset="0"/>
              </a:rPr>
            </a:br>
            <a:r>
              <a:rPr lang="vi-VN" sz="1800" b="0" i="0">
                <a:solidFill>
                  <a:srgbClr val="000000"/>
                </a:solidFill>
                <a:effectLst/>
                <a:latin typeface="Times New Roman" panose="02020603050405020304" pitchFamily="18" charset="0"/>
                <a:cs typeface="Times New Roman" panose="02020603050405020304" pitchFamily="18" charset="0"/>
              </a:rPr>
              <a:t>• Sự biểu thị dấu chấm cố định được sử dụng (không có ký hiệu lũy thừa).</a:t>
            </a:r>
            <a:br>
              <a:rPr lang="vi-VN" sz="1800" b="0" i="0">
                <a:solidFill>
                  <a:srgbClr val="000000"/>
                </a:solidFill>
                <a:effectLst/>
                <a:latin typeface="Times New Roman" panose="02020603050405020304" pitchFamily="18" charset="0"/>
                <a:cs typeface="Times New Roman" panose="02020603050405020304" pitchFamily="18" charset="0"/>
              </a:rPr>
            </a:br>
            <a:r>
              <a:rPr lang="vi-VN" sz="1800" b="0" i="0">
                <a:solidFill>
                  <a:srgbClr val="000000"/>
                </a:solidFill>
                <a:effectLst/>
                <a:latin typeface="Times New Roman" panose="02020603050405020304" pitchFamily="18" charset="0"/>
                <a:cs typeface="Times New Roman" panose="02020603050405020304" pitchFamily="18" charset="0"/>
              </a:rPr>
              <a:t>• Ký tự dấu chấm “.” được sử dụng để biểu thị dấu chấm thập phân khi thông số</a:t>
            </a:r>
            <a:br>
              <a:rPr lang="vi-VN" sz="1800" b="0" i="0">
                <a:solidFill>
                  <a:srgbClr val="000000"/>
                </a:solidFill>
                <a:effectLst/>
                <a:latin typeface="Times New Roman" panose="02020603050405020304" pitchFamily="18" charset="0"/>
                <a:cs typeface="Times New Roman" panose="02020603050405020304" pitchFamily="18" charset="0"/>
              </a:rPr>
            </a:br>
            <a:r>
              <a:rPr lang="vi-VN" sz="1800" b="0" i="0">
                <a:solidFill>
                  <a:srgbClr val="000000"/>
                </a:solidFill>
                <a:effectLst/>
                <a:latin typeface="Times New Roman" panose="02020603050405020304" pitchFamily="18" charset="0"/>
                <a:cs typeface="Times New Roman" panose="02020603050405020304" pitchFamily="18" charset="0"/>
              </a:rPr>
              <a:t>IN là kiểu dữ liệu Real.</a:t>
            </a:r>
            <a:r>
              <a:rPr lang="vi-VN">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dirty="0">
                <a:solidFill>
                  <a:srgbClr val="000000"/>
                </a:solidFill>
                <a:effectLst/>
                <a:latin typeface="Times New Roman" panose="02020603050405020304" pitchFamily="18" charset="0"/>
                <a:cs typeface="Times New Roman" panose="02020603050405020304" pitchFamily="18" charset="0"/>
              </a:rPr>
              <a:t>S_CONV (</a:t>
            </a:r>
            <a:r>
              <a:rPr lang="en-US" sz="1800" b="1" i="0" dirty="0" err="1">
                <a:solidFill>
                  <a:srgbClr val="000000"/>
                </a:solidFill>
                <a:effectLst/>
                <a:latin typeface="Times New Roman" panose="02020603050405020304" pitchFamily="18" charset="0"/>
                <a:cs typeface="Times New Roman" panose="02020603050405020304" pitchFamily="18" charset="0"/>
              </a:rPr>
              <a:t>chuyển</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đổi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chuỗi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thành</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giá</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trị</a:t>
            </a:r>
            <a:r>
              <a:rPr lang="en-US" sz="1800" b="1" i="0" dirty="0">
                <a:solidFill>
                  <a:srgbClr val="000000"/>
                </a:solidFill>
                <a:effectLst/>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410361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dirty="0" err="1">
                <a:solidFill>
                  <a:srgbClr val="000000"/>
                </a:solidFill>
                <a:effectLst/>
                <a:latin typeface="Times New Roman" panose="02020603050405020304" pitchFamily="18" charset="0"/>
                <a:cs typeface="Times New Roman" panose="02020603050405020304" pitchFamily="18" charset="0"/>
              </a:rPr>
              <a:t>Lệnh</a:t>
            </a:r>
            <a:r>
              <a:rPr lang="en-US" sz="1800" b="1" i="0" dirty="0">
                <a:solidFill>
                  <a:srgbClr val="000000"/>
                </a:solidFill>
                <a:effectLst/>
                <a:latin typeface="Times New Roman" panose="02020603050405020304" pitchFamily="18" charset="0"/>
                <a:cs typeface="Times New Roman" panose="02020603050405020304" pitchFamily="18" charset="0"/>
              </a:rPr>
              <a:t> STRG_VAL</a:t>
            </a:r>
            <a:r>
              <a:rPr lang="en-US"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583676CA-25D5-4CE5-8167-7E14CA7E0B58}"/>
              </a:ext>
            </a:extLst>
          </p:cNvPr>
          <p:cNvSpPr txBox="1"/>
          <p:nvPr/>
        </p:nvSpPr>
        <p:spPr>
          <a:xfrm>
            <a:off x="673100" y="1645078"/>
            <a:ext cx="11061700" cy="646331"/>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Lệnh STRG_VAL (</a:t>
            </a:r>
            <a:r>
              <a:rPr lang="vi-VN" sz="1800" b="0" i="1" dirty="0">
                <a:solidFill>
                  <a:srgbClr val="000000"/>
                </a:solidFill>
                <a:effectLst/>
                <a:latin typeface="Times New Roman" panose="02020603050405020304" pitchFamily="18" charset="0"/>
                <a:cs typeface="Times New Roman" panose="02020603050405020304" pitchFamily="18" charset="0"/>
              </a:rPr>
              <a:t>String to Value</a:t>
            </a:r>
            <a:r>
              <a:rPr lang="vi-VN" sz="1800" b="0" i="0" dirty="0">
                <a:solidFill>
                  <a:srgbClr val="000000"/>
                </a:solidFill>
                <a:effectLst/>
                <a:latin typeface="Times New Roman" panose="02020603050405020304" pitchFamily="18" charset="0"/>
                <a:cs typeface="Times New Roman" panose="02020603050405020304" pitchFamily="18" charset="0"/>
              </a:rPr>
              <a:t>) chuyển đổi một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chuỗi ký tự số thành một số nguyên tương ứng hay một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biểu thị dấu chấm động.</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13" name="Picture 2">
            <a:extLst>
              <a:ext uri="{FF2B5EF4-FFF2-40B4-BE49-F238E27FC236}">
                <a16:creationId xmlns:a16="http://schemas.microsoft.com/office/drawing/2014/main" id="{6D01240E-9E06-4B82-86B3-21FBCCDDC7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1462" y="2013893"/>
            <a:ext cx="1704975" cy="10382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7D707763-CECE-45B8-ADFD-446333614E9D}"/>
              </a:ext>
            </a:extLst>
          </p:cNvPr>
          <p:cNvSpPr txBox="1"/>
          <p:nvPr/>
        </p:nvSpPr>
        <p:spPr>
          <a:xfrm>
            <a:off x="673098" y="3036024"/>
            <a:ext cx="11061699" cy="1200329"/>
          </a:xfrm>
          <a:prstGeom prst="rect">
            <a:avLst/>
          </a:prstGeom>
          <a:noFill/>
        </p:spPr>
        <p:txBody>
          <a:bodyPr wrap="square">
            <a:spAutoFit/>
          </a:bodyPr>
          <a:lstStyle/>
          <a:p>
            <a:r>
              <a:rPr lang="vi-VN" sz="1800" b="0" i="0">
                <a:solidFill>
                  <a:srgbClr val="000000"/>
                </a:solidFill>
                <a:effectLst/>
                <a:latin typeface="Times New Roman" panose="02020603050405020304" pitchFamily="18" charset="0"/>
                <a:cs typeface="Times New Roman" panose="02020603050405020304" pitchFamily="18" charset="0"/>
              </a:rPr>
              <a:t>Việc chuyển đổi bắt đầu trong chuỗi IN tại ký tự dịch chỉnh P và tiếp tục cho</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đến vị trí cuối của chuỗi, hay đến ký tự đầu tiên được bắt gặp mà không phải là “+”, “–</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 “.”, “,”, “e”, “E” hay từ “0” đến “9”. Kết quả được đặt tại vị trí được xác định bởi</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thông số OUT.</a:t>
            </a:r>
            <a:r>
              <a:rPr lang="vi-VN">
                <a:latin typeface="Times New Roman" panose="02020603050405020304" pitchFamily="18" charset="0"/>
                <a:cs typeface="Times New Roman" panose="02020603050405020304" pitchFamily="18" charset="0"/>
              </a:rPr>
              <a:t> </a:t>
            </a:r>
            <a:br>
              <a:rPr lang="vi-VN">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2AF87D8D-D2AD-40DC-8A62-2C1829494AC9}"/>
              </a:ext>
            </a:extLst>
          </p:cNvPr>
          <p:cNvSpPr txBox="1"/>
          <p:nvPr/>
        </p:nvSpPr>
        <p:spPr>
          <a:xfrm>
            <a:off x="673098" y="4124958"/>
            <a:ext cx="5422902" cy="1477328"/>
          </a:xfrm>
          <a:prstGeom prst="rect">
            <a:avLst/>
          </a:prstGeom>
          <a:noFill/>
        </p:spPr>
        <p:txBody>
          <a:bodyPr wrap="square">
            <a:spAutoFit/>
          </a:bodyPr>
          <a:lstStyle/>
          <a:p>
            <a:r>
              <a:rPr lang="vi-VN" sz="1800" b="0" i="0">
                <a:solidFill>
                  <a:srgbClr val="000000"/>
                </a:solidFill>
                <a:effectLst/>
                <a:latin typeface="Times New Roman" panose="02020603050405020304" pitchFamily="18" charset="0"/>
                <a:cs typeface="Times New Roman" panose="02020603050405020304" pitchFamily="18" charset="0"/>
              </a:rPr>
              <a:t>Thông số P còn được trả về như một giá trị đếm dịch chỉnh trong chuỗi ban đầu</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tại vị trí mà sự chuyển đổi được chấm dứt. Dữ liệu chuỗi phải được khởi chạy trước sự</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thực thi như một chuỗi hợp lệ trong bộ nhớ.</a:t>
            </a:r>
            <a:r>
              <a:rPr lang="vi-VN">
                <a:latin typeface="Times New Roman" panose="02020603050405020304" pitchFamily="18" charset="0"/>
                <a:cs typeface="Times New Roman" panose="02020603050405020304" pitchFamily="18" charset="0"/>
              </a:rPr>
              <a:t> </a:t>
            </a:r>
            <a:br>
              <a:rPr lang="vi-VN">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pic>
        <p:nvPicPr>
          <p:cNvPr id="16" name="Picture 4">
            <a:extLst>
              <a:ext uri="{FF2B5EF4-FFF2-40B4-BE49-F238E27FC236}">
                <a16:creationId xmlns:a16="http://schemas.microsoft.com/office/drawing/2014/main" id="{2F403751-2A88-4F1D-B08F-A786D24C68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3796720"/>
            <a:ext cx="5638798" cy="2619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5807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2" name="TextBox 11">
            <a:extLst>
              <a:ext uri="{FF2B5EF4-FFF2-40B4-BE49-F238E27FC236}">
                <a16:creationId xmlns:a16="http://schemas.microsoft.com/office/drawing/2014/main" id="{C0D40472-7C5B-4A6E-9A2B-9C9879214A15}"/>
              </a:ext>
            </a:extLst>
          </p:cNvPr>
          <p:cNvSpPr txBox="1"/>
          <p:nvPr/>
        </p:nvSpPr>
        <p:spPr>
          <a:xfrm>
            <a:off x="557689" y="1218935"/>
            <a:ext cx="6096000" cy="369332"/>
          </a:xfrm>
          <a:prstGeom prst="rect">
            <a:avLst/>
          </a:prstGeom>
          <a:noFill/>
        </p:spPr>
        <p:txBody>
          <a:bodyPr wrap="square">
            <a:spAutoFit/>
          </a:bodyPr>
          <a:lstStyle/>
          <a:p>
            <a:r>
              <a:rPr lang="en-US" sz="1800" b="1" i="0" dirty="0" err="1">
                <a:solidFill>
                  <a:srgbClr val="000000"/>
                </a:solidFill>
                <a:effectLst/>
                <a:latin typeface="Times New Roman" panose="02020603050405020304" pitchFamily="18" charset="0"/>
                <a:cs typeface="Times New Roman" panose="02020603050405020304" pitchFamily="18" charset="0"/>
              </a:rPr>
              <a:t>Thông</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số</a:t>
            </a:r>
            <a:r>
              <a:rPr lang="en-US" sz="1800" b="1" i="0" dirty="0">
                <a:solidFill>
                  <a:srgbClr val="000000"/>
                </a:solidFill>
                <a:effectLst/>
                <a:latin typeface="Times New Roman" panose="02020603050405020304" pitchFamily="18" charset="0"/>
                <a:cs typeface="Times New Roman" panose="02020603050405020304" pitchFamily="18" charset="0"/>
              </a:rPr>
              <a:t> FORMAT </a:t>
            </a:r>
            <a:r>
              <a:rPr lang="en-US" sz="1800" b="1" i="0" dirty="0" err="1">
                <a:solidFill>
                  <a:srgbClr val="000000"/>
                </a:solidFill>
                <a:effectLst/>
                <a:latin typeface="Times New Roman" panose="02020603050405020304" pitchFamily="18" charset="0"/>
                <a:cs typeface="Times New Roman" panose="02020603050405020304" pitchFamily="18" charset="0"/>
              </a:rPr>
              <a:t>của</a:t>
            </a:r>
            <a:r>
              <a:rPr lang="en-US" sz="1800" b="1" i="0" dirty="0">
                <a:solidFill>
                  <a:srgbClr val="000000"/>
                </a:solidFill>
                <a:effectLst/>
                <a:latin typeface="Times New Roman" panose="02020603050405020304" pitchFamily="18" charset="0"/>
                <a:cs typeface="Times New Roman" panose="02020603050405020304" pitchFamily="18" charset="0"/>
              </a:rPr>
              <a:t> STRG_VAL</a:t>
            </a:r>
            <a:r>
              <a:rPr lang="en-US" dirty="0">
                <a:latin typeface="Times New Roman" panose="02020603050405020304" pitchFamily="18" charset="0"/>
                <a:cs typeface="Times New Roman" panose="02020603050405020304" pitchFamily="18" charset="0"/>
              </a:rPr>
              <a:t>  </a:t>
            </a:r>
          </a:p>
        </p:txBody>
      </p:sp>
      <p:sp>
        <p:nvSpPr>
          <p:cNvPr id="13" name="TextBox 12">
            <a:extLst>
              <a:ext uri="{FF2B5EF4-FFF2-40B4-BE49-F238E27FC236}">
                <a16:creationId xmlns:a16="http://schemas.microsoft.com/office/drawing/2014/main" id="{583676CA-25D5-4CE5-8167-7E14CA7E0B58}"/>
              </a:ext>
            </a:extLst>
          </p:cNvPr>
          <p:cNvSpPr txBox="1"/>
          <p:nvPr/>
        </p:nvSpPr>
        <p:spPr>
          <a:xfrm>
            <a:off x="673100" y="1645078"/>
            <a:ext cx="11061700" cy="646331"/>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Thông số FORMAT đối với lệnh STRG_VAL được xác định dưới đây. Các vị trí </a:t>
            </a:r>
            <a:r>
              <a:rPr lang="vi-VN" sz="1800" b="0" i="1" dirty="0">
                <a:solidFill>
                  <a:srgbClr val="000000"/>
                </a:solidFill>
                <a:effectLst/>
                <a:latin typeface="Times New Roman" panose="02020603050405020304" pitchFamily="18" charset="0"/>
                <a:cs typeface="Times New Roman" panose="02020603050405020304" pitchFamily="18" charset="0"/>
              </a:rPr>
              <a:t>bit</a:t>
            </a:r>
            <a:r>
              <a:rPr lang="en-US" sz="1800" b="0" i="1"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không được sử dụng phải được đặt về 0.</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14" name="Picture 2">
            <a:extLst>
              <a:ext uri="{FF2B5EF4-FFF2-40B4-BE49-F238E27FC236}">
                <a16:creationId xmlns:a16="http://schemas.microsoft.com/office/drawing/2014/main" id="{31480940-53EB-4EEF-888D-1C6B38D10C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2300" y="2069972"/>
            <a:ext cx="5867400" cy="100965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B2F4895F-8104-4B58-ACF1-3437D9B672DB}"/>
              </a:ext>
            </a:extLst>
          </p:cNvPr>
          <p:cNvSpPr txBox="1"/>
          <p:nvPr/>
        </p:nvSpPr>
        <p:spPr>
          <a:xfrm>
            <a:off x="673100" y="3372511"/>
            <a:ext cx="3278187" cy="2031325"/>
          </a:xfrm>
          <a:prstGeom prst="rect">
            <a:avLst/>
          </a:prstGeom>
          <a:noFill/>
        </p:spPr>
        <p:txBody>
          <a:bodyPr wrap="square">
            <a:spAutoFit/>
          </a:bodyPr>
          <a:lstStyle/>
          <a:p>
            <a:r>
              <a:rPr lang="en-US" sz="1800" b="0" i="0">
                <a:solidFill>
                  <a:srgbClr val="000000"/>
                </a:solidFill>
                <a:effectLst/>
                <a:latin typeface="Times New Roman" panose="02020603050405020304" pitchFamily="18" charset="0"/>
                <a:cs typeface="Times New Roman" panose="02020603050405020304" pitchFamily="18" charset="0"/>
              </a:rPr>
              <a:t>f = định dạng ký hiệu:</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1 = ký hiệu lũy thừa</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0 = ký hiệu dấu chấm cố định</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r = định dạng chấm thập phân:</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1 = “,” (ký tự dấu phẩy)</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0 = “.” (ký tự dấu chấm)</a:t>
            </a:r>
            <a:r>
              <a:rPr lang="en-US">
                <a:latin typeface="Times New Roman" panose="02020603050405020304" pitchFamily="18" charset="0"/>
                <a:cs typeface="Times New Roman" panose="02020603050405020304" pitchFamily="18" charset="0"/>
              </a:rPr>
              <a:t> </a:t>
            </a: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58C32318-8F17-4165-BBB4-FA0B42F012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1100" y="3268145"/>
            <a:ext cx="7810612" cy="3043749"/>
          </a:xfrm>
          <a:prstGeom prst="rect">
            <a:avLst/>
          </a:prstGeom>
        </p:spPr>
      </p:pic>
    </p:spTree>
    <p:extLst>
      <p:ext uri="{BB962C8B-B14F-4D97-AF65-F5344CB8AC3E}">
        <p14:creationId xmlns:p14="http://schemas.microsoft.com/office/powerpoint/2010/main" val="223669977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Các quy tắc đối với chuyển đổi STRG_VAL:</a:t>
            </a:r>
            <a:r>
              <a:rPr lang="en-US" b="1">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12BCF703-BE9C-4B9F-BDAC-65A5EBBB7EE6}"/>
              </a:ext>
            </a:extLst>
          </p:cNvPr>
          <p:cNvSpPr txBox="1"/>
          <p:nvPr/>
        </p:nvSpPr>
        <p:spPr>
          <a:xfrm>
            <a:off x="1112668" y="1881609"/>
            <a:ext cx="10312400" cy="923330"/>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Nếu ký tự dấu chấm “.” được sử dụng cho dấu chấm thập phân, khi đó các dấu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phẩy “,” về bên trái của chấm thập phân được diễn dịch như là các ký tự phân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cách phần ngàn. Các ký tự dấu phẩy được cho phép và được bỏ qua.</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895B6EB-A398-4683-B818-27EDBB38943D}"/>
              </a:ext>
            </a:extLst>
          </p:cNvPr>
          <p:cNvSpPr txBox="1"/>
          <p:nvPr/>
        </p:nvSpPr>
        <p:spPr>
          <a:xfrm>
            <a:off x="1112668" y="3052064"/>
            <a:ext cx="10312400" cy="923330"/>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Nếu ký tự dấu phẩy “,” được sử dụng cho dấu chấm thập phân, khi đó các dấu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chấm “.” về bên trái của chấm thập phân được diễn dịch như là các ký tự phân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cách phần ngàn. Các ký tự dấu chấm được cho phép và được bỏ qua.</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3054303-BEC5-453E-ACCD-999355F580AA}"/>
              </a:ext>
            </a:extLst>
          </p:cNvPr>
          <p:cNvSpPr txBox="1"/>
          <p:nvPr/>
        </p:nvSpPr>
        <p:spPr>
          <a:xfrm>
            <a:off x="1112668" y="4260669"/>
            <a:ext cx="6096000" cy="646331"/>
          </a:xfrm>
          <a:prstGeom prst="rect">
            <a:avLst/>
          </a:prstGeom>
          <a:noFill/>
        </p:spPr>
        <p:txBody>
          <a:bodyPr wrap="square">
            <a:spAutoFit/>
          </a:bodyPr>
          <a:lstStyle/>
          <a:p>
            <a:r>
              <a:rPr lang="vi-VN" sz="1800" b="0" i="0">
                <a:solidFill>
                  <a:srgbClr val="000000"/>
                </a:solidFill>
                <a:effectLst/>
                <a:latin typeface="Times New Roman" panose="02020603050405020304" pitchFamily="18" charset="0"/>
                <a:cs typeface="Times New Roman" panose="02020603050405020304" pitchFamily="18" charset="0"/>
              </a:rPr>
              <a:t>Các khoảng trống cách quãng được bỏ qua.</a:t>
            </a:r>
            <a:r>
              <a:rPr lang="vi-VN">
                <a:latin typeface="Times New Roman" panose="02020603050405020304" pitchFamily="18" charset="0"/>
                <a:cs typeface="Times New Roman" panose="02020603050405020304" pitchFamily="18" charset="0"/>
              </a:rPr>
              <a:t> </a:t>
            </a:r>
            <a:br>
              <a:rPr lang="vi-VN">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835855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ACFF97A6-5E1E-46A1-84EB-A7DD7F9B2F4E}"/>
              </a:ext>
            </a:extLst>
          </p:cNvPr>
          <p:cNvSpPr txBox="1"/>
          <p:nvPr/>
        </p:nvSpPr>
        <p:spPr>
          <a:xfrm>
            <a:off x="1058069" y="1627744"/>
            <a:ext cx="7476331" cy="1477328"/>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Lệnh VAL_ STRG </a:t>
            </a:r>
            <a:r>
              <a:rPr lang="vi-VN" sz="1800" b="0" i="1" dirty="0">
                <a:solidFill>
                  <a:srgbClr val="000000"/>
                </a:solidFill>
                <a:effectLst/>
                <a:latin typeface="Times New Roman" panose="02020603050405020304" pitchFamily="18" charset="0"/>
                <a:cs typeface="Times New Roman" panose="02020603050405020304" pitchFamily="18" charset="0"/>
              </a:rPr>
              <a:t>(Value to String) </a:t>
            </a:r>
            <a:r>
              <a:rPr lang="vi-VN" sz="1800" b="0" i="0" dirty="0">
                <a:solidFill>
                  <a:srgbClr val="000000"/>
                </a:solidFill>
                <a:effectLst/>
                <a:latin typeface="Times New Roman" panose="02020603050405020304" pitchFamily="18" charset="0"/>
                <a:cs typeface="Times New Roman" panose="02020603050405020304" pitchFamily="18" charset="0"/>
              </a:rPr>
              <a:t>chuyển đổi một số</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nguyên, một số nguyên không dấu, hay một giá trị dấu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chấm động thành một biểu diễn chuỗi ký tự tương ứng.</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Giá trị được biểu diễn bởi thông số IN được chuyển đổi</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thành một chuỗi được tham chiếu bởi thông số OUT.</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12" name="Picture 2">
            <a:extLst>
              <a:ext uri="{FF2B5EF4-FFF2-40B4-BE49-F238E27FC236}">
                <a16:creationId xmlns:a16="http://schemas.microsoft.com/office/drawing/2014/main" id="{D0C35175-BD39-463C-966F-86C3DBF87D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4551" y="1534042"/>
            <a:ext cx="1913586" cy="147732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709F0089-B117-41C4-BF87-ABCE80FB0CDE}"/>
              </a:ext>
            </a:extLst>
          </p:cNvPr>
          <p:cNvSpPr txBox="1"/>
          <p:nvPr/>
        </p:nvSpPr>
        <p:spPr>
          <a:xfrm>
            <a:off x="1058069" y="3352792"/>
            <a:ext cx="5289523" cy="2862322"/>
          </a:xfrm>
          <a:prstGeom prst="rect">
            <a:avLst/>
          </a:prstGeom>
          <a:noFill/>
        </p:spPr>
        <p:txBody>
          <a:bodyPr wrap="square">
            <a:spAutoFit/>
          </a:bodyPr>
          <a:lstStyle/>
          <a:p>
            <a:r>
              <a:rPr lang="vi-VN" sz="1800" b="0" i="0">
                <a:solidFill>
                  <a:srgbClr val="000000"/>
                </a:solidFill>
                <a:effectLst/>
                <a:latin typeface="Times New Roman" panose="02020603050405020304" pitchFamily="18" charset="0"/>
                <a:cs typeface="Times New Roman" panose="02020603050405020304" pitchFamily="18" charset="0"/>
              </a:rPr>
              <a:t>Thông số OUT phải là một chuỗi hợp lệ trước khi sự chuyển đổi được thực thi. Chuỗi</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được chuyển đổi sẽ thay thế các ký tự trong chuỗi OUT bắt đầu tại giá trị đếm độ dịch</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chỉnh ký tự P đến số lượng các ký tự được xác định bởi thông số SIZE. Số lượng các</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ký tự trong SIZE phải nằm vừa trong độ dài chuỗi OUT, tính từ vị trí ký tự P. Lệnh</a:t>
            </a:r>
            <a:br>
              <a:rPr lang="vi-VN" sz="1800" b="0" i="0">
                <a:solidFill>
                  <a:srgbClr val="000000"/>
                </a:solidFill>
                <a:effectLst/>
                <a:latin typeface="Times New Roman" panose="02020603050405020304" pitchFamily="18" charset="0"/>
                <a:cs typeface="Times New Roman" panose="02020603050405020304" pitchFamily="18" charset="0"/>
              </a:rPr>
            </a:br>
            <a:r>
              <a:rPr lang="vi-VN" sz="1800" b="0" i="0">
                <a:solidFill>
                  <a:srgbClr val="000000"/>
                </a:solidFill>
                <a:effectLst/>
                <a:latin typeface="Times New Roman" panose="02020603050405020304" pitchFamily="18" charset="0"/>
                <a:cs typeface="Times New Roman" panose="02020603050405020304" pitchFamily="18" charset="0"/>
              </a:rPr>
              <a:t>này hữu dụng cho việc nhúng vào các ký tự số vào trong một chuỗi văn bản. Ví dụ, ta</a:t>
            </a:r>
            <a:r>
              <a:rPr lang="en-US" sz="1800" b="0" i="0">
                <a:solidFill>
                  <a:srgbClr val="000000"/>
                </a:solidFill>
                <a:effectLst/>
                <a:latin typeface="Times New Roman" panose="02020603050405020304" pitchFamily="18" charset="0"/>
                <a:cs typeface="Times New Roman" panose="02020603050405020304" pitchFamily="18" charset="0"/>
              </a:rPr>
              <a:t> </a:t>
            </a:r>
            <a:r>
              <a:rPr lang="vi-VN" sz="1800" b="0" i="0">
                <a:solidFill>
                  <a:srgbClr val="000000"/>
                </a:solidFill>
                <a:effectLst/>
                <a:latin typeface="Times New Roman" panose="02020603050405020304" pitchFamily="18" charset="0"/>
                <a:cs typeface="Times New Roman" panose="02020603050405020304" pitchFamily="18" charset="0"/>
              </a:rPr>
              <a:t>có thể đặt số “120” vào trong chuỗi “Pump pressure = 120 psi”.</a:t>
            </a:r>
            <a:r>
              <a:rPr lang="vi-VN">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p:txBody>
      </p:sp>
      <p:pic>
        <p:nvPicPr>
          <p:cNvPr id="14" name="Picture 4">
            <a:extLst>
              <a:ext uri="{FF2B5EF4-FFF2-40B4-BE49-F238E27FC236}">
                <a16:creationId xmlns:a16="http://schemas.microsoft.com/office/drawing/2014/main" id="{6851DEAB-F79C-4F62-9C0F-F8910E118C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47592" y="3011370"/>
            <a:ext cx="5143553" cy="336790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dirty="0" err="1">
                <a:solidFill>
                  <a:srgbClr val="000000"/>
                </a:solidFill>
                <a:effectLst/>
                <a:latin typeface="Times New Roman" panose="02020603050405020304" pitchFamily="18" charset="0"/>
                <a:cs typeface="Times New Roman" panose="02020603050405020304" pitchFamily="18" charset="0"/>
              </a:rPr>
              <a:t>Lệnh</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b="1" dirty="0" smtClean="0">
                <a:solidFill>
                  <a:srgbClr val="000000"/>
                </a:solidFill>
                <a:latin typeface="Times New Roman" panose="02020603050405020304" pitchFamily="18" charset="0"/>
                <a:cs typeface="Times New Roman" panose="02020603050405020304" pitchFamily="18" charset="0"/>
              </a:rPr>
              <a:t>VAL</a:t>
            </a:r>
            <a:r>
              <a:rPr lang="en-US" sz="1800" b="1" i="0" dirty="0" smtClean="0">
                <a:solidFill>
                  <a:srgbClr val="000000"/>
                </a:solidFill>
                <a:effectLst/>
                <a:latin typeface="Times New Roman" panose="02020603050405020304" pitchFamily="18" charset="0"/>
                <a:cs typeface="Times New Roman" panose="02020603050405020304" pitchFamily="18" charset="0"/>
              </a:rPr>
              <a:t>_STRG</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9286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dirty="0" err="1">
                <a:solidFill>
                  <a:srgbClr val="000000"/>
                </a:solidFill>
                <a:effectLst/>
                <a:latin typeface="Times New Roman" panose="02020603050405020304" pitchFamily="18" charset="0"/>
                <a:cs typeface="Times New Roman" panose="02020603050405020304" pitchFamily="18" charset="0"/>
              </a:rPr>
              <a:t>Thông</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số</a:t>
            </a:r>
            <a:r>
              <a:rPr lang="en-US" sz="1800" b="1" i="0" dirty="0">
                <a:solidFill>
                  <a:srgbClr val="000000"/>
                </a:solidFill>
                <a:effectLst/>
                <a:latin typeface="Times New Roman" panose="02020603050405020304" pitchFamily="18" charset="0"/>
                <a:cs typeface="Times New Roman" panose="02020603050405020304" pitchFamily="18" charset="0"/>
              </a:rPr>
              <a:t> FORMAT </a:t>
            </a:r>
            <a:r>
              <a:rPr lang="en-US" sz="1800" b="1" i="0" dirty="0" err="1">
                <a:solidFill>
                  <a:srgbClr val="000000"/>
                </a:solidFill>
                <a:effectLst/>
                <a:latin typeface="Times New Roman" panose="02020603050405020304" pitchFamily="18" charset="0"/>
                <a:cs typeface="Times New Roman" panose="02020603050405020304" pitchFamily="18" charset="0"/>
              </a:rPr>
              <a:t>của</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lệnh</a:t>
            </a:r>
            <a:r>
              <a:rPr lang="en-US" sz="1800" b="1" i="0" dirty="0">
                <a:solidFill>
                  <a:srgbClr val="000000"/>
                </a:solidFill>
                <a:effectLst/>
                <a:latin typeface="Times New Roman" panose="02020603050405020304" pitchFamily="18" charset="0"/>
                <a:cs typeface="Times New Roman" panose="02020603050405020304" pitchFamily="18" charset="0"/>
              </a:rPr>
              <a:t> VAL_STRG</a:t>
            </a:r>
            <a:r>
              <a:rPr lang="en-US"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2168B9D3-5E5B-471B-B45F-24DE32B7FB1D}"/>
              </a:ext>
            </a:extLst>
          </p:cNvPr>
          <p:cNvSpPr txBox="1"/>
          <p:nvPr/>
        </p:nvSpPr>
        <p:spPr>
          <a:xfrm>
            <a:off x="673100" y="1675241"/>
            <a:ext cx="11061700" cy="923330"/>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Thông số FORMAT đối với lệnh VAL_ STRG được xác định dưới đây. Các vị</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trí </a:t>
            </a:r>
            <a:r>
              <a:rPr lang="vi-VN" sz="1800" b="0" i="1" dirty="0">
                <a:solidFill>
                  <a:srgbClr val="000000"/>
                </a:solidFill>
                <a:effectLst/>
                <a:latin typeface="Times New Roman" panose="02020603050405020304" pitchFamily="18" charset="0"/>
                <a:cs typeface="Times New Roman" panose="02020603050405020304" pitchFamily="18" charset="0"/>
              </a:rPr>
              <a:t>bit </a:t>
            </a:r>
            <a:r>
              <a:rPr lang="vi-VN" sz="1800" b="0" i="0" dirty="0">
                <a:solidFill>
                  <a:srgbClr val="000000"/>
                </a:solidFill>
                <a:effectLst/>
                <a:latin typeface="Times New Roman" panose="02020603050405020304" pitchFamily="18" charset="0"/>
                <a:cs typeface="Times New Roman" panose="02020603050405020304" pitchFamily="18" charset="0"/>
              </a:rPr>
              <a:t>không được sử dụng phải được đặt về 0.</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13" name="Picture 2">
            <a:extLst>
              <a:ext uri="{FF2B5EF4-FFF2-40B4-BE49-F238E27FC236}">
                <a16:creationId xmlns:a16="http://schemas.microsoft.com/office/drawing/2014/main" id="{231C88EA-6BBE-4845-929A-D026E191C5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2775" y="2136906"/>
            <a:ext cx="5886450" cy="10001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3226C01-B25A-4831-9433-BCF2C76AA4F2}"/>
              </a:ext>
            </a:extLst>
          </p:cNvPr>
          <p:cNvSpPr txBox="1"/>
          <p:nvPr/>
        </p:nvSpPr>
        <p:spPr>
          <a:xfrm>
            <a:off x="673100" y="3205102"/>
            <a:ext cx="4279901" cy="2862322"/>
          </a:xfrm>
          <a:prstGeom prst="rect">
            <a:avLst/>
          </a:prstGeom>
          <a:noFill/>
        </p:spPr>
        <p:txBody>
          <a:bodyPr wrap="square">
            <a:spAutoFit/>
          </a:bodyPr>
          <a:lstStyle/>
          <a:p>
            <a:r>
              <a:rPr lang="en-US" sz="1800" b="0" i="0">
                <a:solidFill>
                  <a:srgbClr val="000000"/>
                </a:solidFill>
                <a:effectLst/>
                <a:latin typeface="Times New Roman" panose="02020603050405020304" pitchFamily="18" charset="0"/>
                <a:cs typeface="Times New Roman" panose="02020603050405020304" pitchFamily="18" charset="0"/>
              </a:rPr>
              <a:t>s = ký tự dấu của số:</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1 = sử dụng ký tự dấu “+” và “ – ”</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0 = chỉ sử dụng ký tự dấu “ – ”</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f = định dạng ký hiệu:</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1 = ký hiệu lũy thừa</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0 = ký hiệu dấu chấm cố định</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r = định dạng chấm thập phân:</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1 = “,” (ký tự dấu phẩy)</a:t>
            </a:r>
            <a:br>
              <a:rPr lang="en-US" sz="1800" b="0" i="0">
                <a:solidFill>
                  <a:srgbClr val="000000"/>
                </a:solidFill>
                <a:effectLst/>
                <a:latin typeface="Times New Roman" panose="02020603050405020304" pitchFamily="18" charset="0"/>
                <a:cs typeface="Times New Roman" panose="02020603050405020304" pitchFamily="18" charset="0"/>
              </a:rPr>
            </a:br>
            <a:r>
              <a:rPr lang="en-US" sz="1800" b="0" i="0">
                <a:solidFill>
                  <a:srgbClr val="000000"/>
                </a:solidFill>
                <a:effectLst/>
                <a:latin typeface="Times New Roman" panose="02020603050405020304" pitchFamily="18" charset="0"/>
                <a:cs typeface="Times New Roman" panose="02020603050405020304" pitchFamily="18" charset="0"/>
              </a:rPr>
              <a:t>0 = “.” (ký tự dấu chấm)</a:t>
            </a:r>
            <a:r>
              <a:rPr lang="en-US">
                <a:latin typeface="Times New Roman" panose="02020603050405020304" pitchFamily="18" charset="0"/>
                <a:cs typeface="Times New Roman" panose="02020603050405020304" pitchFamily="18" charset="0"/>
              </a:rPr>
              <a:t> </a:t>
            </a:r>
            <a:br>
              <a:rPr lang="en-US">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pic>
        <p:nvPicPr>
          <p:cNvPr id="15" name="Picture 4">
            <a:extLst>
              <a:ext uri="{FF2B5EF4-FFF2-40B4-BE49-F238E27FC236}">
                <a16:creationId xmlns:a16="http://schemas.microsoft.com/office/drawing/2014/main" id="{AB349ECD-B163-4EC9-812C-026D746299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3905" y="3190452"/>
            <a:ext cx="4818061" cy="3243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176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dirty="0" err="1">
                <a:solidFill>
                  <a:srgbClr val="000000"/>
                </a:solidFill>
                <a:effectLst/>
                <a:latin typeface="Times New Roman" panose="02020603050405020304" pitchFamily="18" charset="0"/>
                <a:cs typeface="Times New Roman" panose="02020603050405020304" pitchFamily="18" charset="0"/>
              </a:rPr>
              <a:t>Thông</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số</a:t>
            </a:r>
            <a:r>
              <a:rPr lang="en-US" sz="1800" b="1" i="0" dirty="0">
                <a:solidFill>
                  <a:srgbClr val="000000"/>
                </a:solidFill>
                <a:effectLst/>
                <a:latin typeface="Times New Roman" panose="02020603050405020304" pitchFamily="18" charset="0"/>
                <a:cs typeface="Times New Roman" panose="02020603050405020304" pitchFamily="18" charset="0"/>
              </a:rPr>
              <a:t> FORMAT </a:t>
            </a:r>
            <a:r>
              <a:rPr lang="en-US" sz="1800" b="1" i="0" dirty="0" err="1">
                <a:solidFill>
                  <a:srgbClr val="000000"/>
                </a:solidFill>
                <a:effectLst/>
                <a:latin typeface="Times New Roman" panose="02020603050405020304" pitchFamily="18" charset="0"/>
                <a:cs typeface="Times New Roman" panose="02020603050405020304" pitchFamily="18" charset="0"/>
              </a:rPr>
              <a:t>của</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lệnh</a:t>
            </a:r>
            <a:r>
              <a:rPr lang="en-US" sz="1800" b="1" i="0" dirty="0">
                <a:solidFill>
                  <a:srgbClr val="000000"/>
                </a:solidFill>
                <a:effectLst/>
                <a:latin typeface="Times New Roman" panose="02020603050405020304" pitchFamily="18" charset="0"/>
                <a:cs typeface="Times New Roman" panose="02020603050405020304" pitchFamily="18" charset="0"/>
              </a:rPr>
              <a:t> VAL_STRG</a:t>
            </a:r>
            <a:r>
              <a:rPr lang="en-US"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7815D07-884E-4FD7-8D3A-F2A0711BA440}"/>
              </a:ext>
            </a:extLst>
          </p:cNvPr>
          <p:cNvSpPr txBox="1"/>
          <p:nvPr/>
        </p:nvSpPr>
        <p:spPr>
          <a:xfrm>
            <a:off x="673100" y="1648341"/>
            <a:ext cx="11061700" cy="4478149"/>
          </a:xfrm>
          <a:prstGeom prst="rect">
            <a:avLst/>
          </a:prstGeom>
          <a:noFill/>
        </p:spPr>
        <p:txBody>
          <a:bodyPr wrap="square">
            <a:spAutoFit/>
          </a:bodyPr>
          <a:lstStyle/>
          <a:p>
            <a:pPr>
              <a:lnSpc>
                <a:spcPct val="150000"/>
              </a:lnSpc>
            </a:pPr>
            <a:r>
              <a:rPr lang="vi-VN" sz="1800" b="0" i="0" dirty="0">
                <a:solidFill>
                  <a:srgbClr val="000000"/>
                </a:solidFill>
                <a:effectLst/>
                <a:latin typeface="Times New Roman" panose="02020603050405020304" pitchFamily="18" charset="0"/>
                <a:cs typeface="Times New Roman" panose="02020603050405020304" pitchFamily="18" charset="0"/>
              </a:rPr>
              <a:t>Các quy tắc định dạng chuỗi thông số OUT:</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Các ký tự khoảng trắng cách quãng được cộng vào phần ngoài cùng bên trái của</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chuỗi khi chuỗi được chuyển đổi nhỏ hơn kích thước được xác định.</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Khi </a:t>
            </a:r>
            <a:r>
              <a:rPr lang="vi-VN" sz="1800" b="0" i="1" dirty="0">
                <a:solidFill>
                  <a:srgbClr val="000000"/>
                </a:solidFill>
                <a:effectLst/>
                <a:latin typeface="Times New Roman" panose="02020603050405020304" pitchFamily="18" charset="0"/>
                <a:cs typeface="Times New Roman" panose="02020603050405020304" pitchFamily="18" charset="0"/>
              </a:rPr>
              <a:t>bit </a:t>
            </a:r>
            <a:r>
              <a:rPr lang="vi-VN" sz="1800" b="0" i="0" dirty="0">
                <a:solidFill>
                  <a:srgbClr val="000000"/>
                </a:solidFill>
                <a:effectLst/>
                <a:latin typeface="Times New Roman" panose="02020603050405020304" pitchFamily="18" charset="0"/>
                <a:cs typeface="Times New Roman" panose="02020603050405020304" pitchFamily="18" charset="0"/>
              </a:rPr>
              <a:t>dấu của thông số FORMAT là FALSE, các giá trị kiểu dữ liệu số</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nguyên không dấu và có dấu được ghi đến bộ đệm ngõ ra mà không có dấu “+”</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cách quãng. Dấu “ – ” được sử dụng nếu cần</a:t>
            </a:r>
            <a:r>
              <a:rPr lang="vi-VN" sz="1800" b="0" i="0" dirty="0" smtClean="0">
                <a:solidFill>
                  <a:srgbClr val="000000"/>
                </a:solidFill>
                <a:effectLst/>
                <a:latin typeface="Times New Roman" panose="02020603050405020304" pitchFamily="18" charset="0"/>
                <a:cs typeface="Times New Roman" panose="02020603050405020304" pitchFamily="18" charset="0"/>
              </a:rPr>
              <a:t>.</a:t>
            </a:r>
            <a:endParaRPr lang="en-US" sz="1800" b="0" i="0" dirty="0" smtClean="0">
              <a:solidFill>
                <a:srgbClr val="000000"/>
              </a:solidFill>
              <a:effectLst/>
              <a:latin typeface="Times New Roman" panose="02020603050405020304" pitchFamily="18" charset="0"/>
              <a:cs typeface="Times New Roman" panose="02020603050405020304" pitchFamily="18" charset="0"/>
            </a:endParaRPr>
          </a:p>
          <a:p>
            <a:pPr algn="ctr">
              <a:lnSpc>
                <a:spcPct val="150000"/>
              </a:lnSpc>
            </a:pPr>
            <a:r>
              <a:rPr lang="vi-VN" sz="1400" b="0" i="0" dirty="0" smtClean="0">
                <a:solidFill>
                  <a:srgbClr val="000000"/>
                </a:solidFill>
                <a:effectLst/>
                <a:latin typeface="Times New Roman" panose="02020603050405020304" pitchFamily="18" charset="0"/>
                <a:cs typeface="Times New Roman" panose="02020603050405020304" pitchFamily="18" charset="0"/>
              </a:rPr>
              <a:t>&lt;</a:t>
            </a:r>
            <a:r>
              <a:rPr lang="vi-VN" sz="1400" b="0" i="0" dirty="0">
                <a:solidFill>
                  <a:srgbClr val="000000"/>
                </a:solidFill>
                <a:effectLst/>
                <a:latin typeface="Times New Roman" panose="02020603050405020304" pitchFamily="18" charset="0"/>
                <a:cs typeface="Times New Roman" panose="02020603050405020304" pitchFamily="18" charset="0"/>
              </a:rPr>
              <a:t>Các khoảng trống cách quãng&gt; &lt;các con số không có số 0 cách quãng&gt; „.‟ &lt;Các con số PREC</a:t>
            </a:r>
            <a:r>
              <a:rPr lang="vi-VN" sz="1400" b="0" i="0" dirty="0" smtClean="0">
                <a:solidFill>
                  <a:srgbClr val="000000"/>
                </a:solidFill>
                <a:effectLst/>
                <a:latin typeface="Times New Roman" panose="02020603050405020304" pitchFamily="18" charset="0"/>
                <a:cs typeface="Times New Roman" panose="02020603050405020304" pitchFamily="18" charset="0"/>
              </a:rPr>
              <a:t>&gt;</a:t>
            </a:r>
            <a:endParaRPr lang="en-US" sz="1400" b="0" i="0" dirty="0" smtClean="0">
              <a:solidFill>
                <a:srgbClr val="000000"/>
              </a:solidFill>
              <a:effectLst/>
              <a:latin typeface="Times New Roman" panose="02020603050405020304" pitchFamily="18" charset="0"/>
              <a:cs typeface="Times New Roman" panose="02020603050405020304" pitchFamily="18" charset="0"/>
            </a:endParaRPr>
          </a:p>
          <a:p>
            <a:pPr>
              <a:lnSpc>
                <a:spcPct val="150000"/>
              </a:lnSpc>
            </a:pPr>
            <a:r>
              <a:rPr lang="vi-VN"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Khi bit dấu là TRUE, các giá trị kiểu dữ liệu số nguyên không dấu và có dấu</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được ghi đến bộ đệm ngõ ra luôn luôn có một ký tự dấu cách quãng</a:t>
            </a:r>
            <a:r>
              <a:rPr lang="vi-VN" sz="1800" b="0" i="0" dirty="0" smtClean="0">
                <a:solidFill>
                  <a:srgbClr val="000000"/>
                </a:solidFill>
                <a:effectLst/>
                <a:latin typeface="Times New Roman" panose="02020603050405020304" pitchFamily="18" charset="0"/>
                <a:cs typeface="Times New Roman" panose="02020603050405020304" pitchFamily="18" charset="0"/>
              </a:rPr>
              <a:t>.</a:t>
            </a:r>
            <a:endParaRPr lang="en-US" sz="1800" b="0" i="0" dirty="0" smtClean="0">
              <a:solidFill>
                <a:srgbClr val="000000"/>
              </a:solidFill>
              <a:effectLst/>
              <a:latin typeface="Times New Roman" panose="02020603050405020304" pitchFamily="18" charset="0"/>
              <a:cs typeface="Times New Roman" panose="02020603050405020304" pitchFamily="18" charset="0"/>
            </a:endParaRPr>
          </a:p>
          <a:p>
            <a:pPr algn="ctr">
              <a:lnSpc>
                <a:spcPct val="150000"/>
              </a:lnSpc>
            </a:pPr>
            <a:r>
              <a:rPr lang="vi-VN" sz="1400" b="0" i="0" dirty="0" smtClean="0">
                <a:solidFill>
                  <a:srgbClr val="000000"/>
                </a:solidFill>
                <a:effectLst/>
                <a:latin typeface="Times New Roman" panose="02020603050405020304" pitchFamily="18" charset="0"/>
                <a:cs typeface="Times New Roman" panose="02020603050405020304" pitchFamily="18" charset="0"/>
              </a:rPr>
              <a:t>&lt;</a:t>
            </a:r>
            <a:r>
              <a:rPr lang="vi-VN" sz="1400" b="0" i="0" dirty="0">
                <a:solidFill>
                  <a:srgbClr val="000000"/>
                </a:solidFill>
                <a:effectLst/>
                <a:latin typeface="Times New Roman" panose="02020603050405020304" pitchFamily="18" charset="0"/>
                <a:cs typeface="Times New Roman" panose="02020603050405020304" pitchFamily="18" charset="0"/>
              </a:rPr>
              <a:t>Các khoảng trống cách quãng&gt; &lt;dấu&gt; &lt;các con số không có số 0 cách quãng&gt; „.‟ &lt;Các con </a:t>
            </a:r>
            <a:r>
              <a:rPr lang="vi-VN" sz="1400" b="0" i="0" dirty="0" smtClean="0">
                <a:solidFill>
                  <a:srgbClr val="000000"/>
                </a:solidFill>
                <a:effectLst/>
                <a:latin typeface="Times New Roman" panose="02020603050405020304" pitchFamily="18" charset="0"/>
                <a:cs typeface="Times New Roman" panose="02020603050405020304" pitchFamily="18" charset="0"/>
              </a:rPr>
              <a:t>số</a:t>
            </a:r>
            <a:r>
              <a:rPr lang="en-US" sz="1400" b="0" i="0" dirty="0" smtClean="0">
                <a:solidFill>
                  <a:srgbClr val="000000"/>
                </a:solidFill>
                <a:effectLst/>
                <a:latin typeface="Times New Roman" panose="02020603050405020304" pitchFamily="18" charset="0"/>
                <a:cs typeface="Times New Roman" panose="02020603050405020304" pitchFamily="18" charset="0"/>
              </a:rPr>
              <a:t> </a:t>
            </a:r>
            <a:r>
              <a:rPr lang="vi-VN" sz="1400" b="0" i="0" dirty="0" smtClean="0">
                <a:solidFill>
                  <a:srgbClr val="000000"/>
                </a:solidFill>
                <a:effectLst/>
                <a:latin typeface="Times New Roman" panose="02020603050405020304" pitchFamily="18" charset="0"/>
                <a:cs typeface="Times New Roman" panose="02020603050405020304" pitchFamily="18" charset="0"/>
              </a:rPr>
              <a:t>PREC&gt;</a:t>
            </a:r>
            <a:endParaRPr lang="en-US" sz="1400" b="0" i="0" dirty="0" smtClean="0">
              <a:solidFill>
                <a:srgbClr val="000000"/>
              </a:solidFill>
              <a:effectLst/>
              <a:latin typeface="Times New Roman" panose="02020603050405020304" pitchFamily="18" charset="0"/>
              <a:cs typeface="Times New Roman" panose="02020603050405020304" pitchFamily="18" charset="0"/>
            </a:endParaRPr>
          </a:p>
          <a:p>
            <a:pPr>
              <a:lnSpc>
                <a:spcPct val="150000"/>
              </a:lnSpc>
            </a:pPr>
            <a:r>
              <a:rPr lang="vi-VN"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Khi FORMAT được thiết lập để biểu thị lũy thừa, các giá trị kiểu dữ liệu Real</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được ghi đến bộ đệm ngõ ra như sau</a:t>
            </a:r>
            <a:r>
              <a:rPr lang="vi-VN" sz="1800" b="0" i="0" dirty="0" smtClean="0">
                <a:solidFill>
                  <a:srgbClr val="000000"/>
                </a:solidFill>
                <a:effectLst/>
                <a:latin typeface="Times New Roman" panose="02020603050405020304" pitchFamily="18" charset="0"/>
                <a:cs typeface="Times New Roman" panose="02020603050405020304" pitchFamily="18" charset="0"/>
              </a:rPr>
              <a:t>:</a:t>
            </a:r>
            <a:endParaRPr lang="en-US" sz="1800" b="0" i="0" dirty="0" smtClean="0">
              <a:solidFill>
                <a:srgbClr val="000000"/>
              </a:solidFill>
              <a:effectLst/>
              <a:latin typeface="Times New Roman" panose="02020603050405020304" pitchFamily="18" charset="0"/>
              <a:cs typeface="Times New Roman" panose="02020603050405020304" pitchFamily="18" charset="0"/>
            </a:endParaRPr>
          </a:p>
          <a:p>
            <a:pPr algn="ctr">
              <a:lnSpc>
                <a:spcPct val="150000"/>
              </a:lnSpc>
            </a:pPr>
            <a:r>
              <a:rPr lang="vi-VN" sz="1400" b="0" i="0" dirty="0" smtClean="0">
                <a:solidFill>
                  <a:srgbClr val="000000"/>
                </a:solidFill>
                <a:effectLst/>
                <a:latin typeface="Times New Roman" panose="02020603050405020304" pitchFamily="18" charset="0"/>
                <a:cs typeface="Times New Roman" panose="02020603050405020304" pitchFamily="18" charset="0"/>
              </a:rPr>
              <a:t>&lt;</a:t>
            </a:r>
            <a:r>
              <a:rPr lang="vi-VN" sz="1400" b="0" i="0" dirty="0">
                <a:solidFill>
                  <a:srgbClr val="000000"/>
                </a:solidFill>
                <a:effectLst/>
                <a:latin typeface="Times New Roman" panose="02020603050405020304" pitchFamily="18" charset="0"/>
                <a:cs typeface="Times New Roman" panose="02020603050405020304" pitchFamily="18" charset="0"/>
              </a:rPr>
              <a:t>Các khoảng trống cách quãng&gt; &lt;dấu&gt; &lt; con số&gt; „.‟ &lt;Các con số PREC&gt; „E‟ &lt;dấu&gt; &lt;các con </a:t>
            </a:r>
            <a:r>
              <a:rPr lang="vi-VN" sz="1400" b="0" i="0" dirty="0" smtClean="0">
                <a:solidFill>
                  <a:srgbClr val="000000"/>
                </a:solidFill>
                <a:effectLst/>
                <a:latin typeface="Times New Roman" panose="02020603050405020304" pitchFamily="18" charset="0"/>
                <a:cs typeface="Times New Roman" panose="02020603050405020304" pitchFamily="18" charset="0"/>
              </a:rPr>
              <a:t>số</a:t>
            </a:r>
            <a:r>
              <a:rPr lang="en-US" sz="1400" b="0" i="0" dirty="0" smtClean="0">
                <a:solidFill>
                  <a:srgbClr val="000000"/>
                </a:solidFill>
                <a:effectLst/>
                <a:latin typeface="Times New Roman" panose="02020603050405020304" pitchFamily="18" charset="0"/>
                <a:cs typeface="Times New Roman" panose="02020603050405020304" pitchFamily="18" charset="0"/>
              </a:rPr>
              <a:t> </a:t>
            </a:r>
            <a:r>
              <a:rPr lang="vi-VN" sz="1400" b="0" i="0" dirty="0" smtClean="0">
                <a:solidFill>
                  <a:srgbClr val="000000"/>
                </a:solidFill>
                <a:effectLst/>
                <a:latin typeface="Times New Roman" panose="02020603050405020304" pitchFamily="18" charset="0"/>
                <a:cs typeface="Times New Roman" panose="02020603050405020304" pitchFamily="18" charset="0"/>
              </a:rPr>
              <a:t>không </a:t>
            </a:r>
            <a:r>
              <a:rPr lang="vi-VN" sz="1400" b="0" i="0" dirty="0">
                <a:solidFill>
                  <a:srgbClr val="000000"/>
                </a:solidFill>
                <a:effectLst/>
                <a:latin typeface="Times New Roman" panose="02020603050405020304" pitchFamily="18" charset="0"/>
                <a:cs typeface="Times New Roman" panose="02020603050405020304" pitchFamily="18" charset="0"/>
              </a:rPr>
              <a:t>có số 0 cách quãng&gt;</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02101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Thông số FORMAT của lệnh VAL_STRG</a:t>
            </a:r>
            <a:r>
              <a:rPr lang="en-US">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D25D815-DA13-4E80-831C-B35D46C1C8FF}"/>
              </a:ext>
            </a:extLst>
          </p:cNvPr>
          <p:cNvSpPr txBox="1"/>
          <p:nvPr/>
        </p:nvSpPr>
        <p:spPr>
          <a:xfrm>
            <a:off x="673100" y="1642556"/>
            <a:ext cx="11239500" cy="3366563"/>
          </a:xfrm>
          <a:prstGeom prst="rect">
            <a:avLst/>
          </a:prstGeom>
          <a:noFill/>
        </p:spPr>
        <p:txBody>
          <a:bodyPr wrap="square">
            <a:spAutoFit/>
          </a:bodyPr>
          <a:lstStyle/>
          <a:p>
            <a:pPr>
              <a:lnSpc>
                <a:spcPct val="150000"/>
              </a:lnSpc>
            </a:pPr>
            <a:r>
              <a:rPr lang="vi-VN" sz="1800" b="0" i="0" dirty="0">
                <a:solidFill>
                  <a:srgbClr val="000000"/>
                </a:solidFill>
                <a:effectLst/>
                <a:latin typeface="Times New Roman" panose="02020603050405020304" pitchFamily="18" charset="0"/>
                <a:cs typeface="Times New Roman" panose="02020603050405020304" pitchFamily="18" charset="0"/>
              </a:rPr>
              <a:t>• Khi FORMAT được thiết lập để biểu thị dấu chấm cố định, các giá trị kiểu dữ</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liệu số nguyên không dấu, số nguyên có dấu và số thực được ghi đến bộ đệm</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ngõ ra như sau</a:t>
            </a:r>
            <a:r>
              <a:rPr lang="vi-VN" sz="1800" b="0" i="0" dirty="0" smtClean="0">
                <a:solidFill>
                  <a:srgbClr val="000000"/>
                </a:solidFill>
                <a:effectLst/>
                <a:latin typeface="Times New Roman" panose="02020603050405020304" pitchFamily="18" charset="0"/>
                <a:cs typeface="Times New Roman" panose="02020603050405020304" pitchFamily="18" charset="0"/>
              </a:rPr>
              <a:t>:</a:t>
            </a:r>
            <a:endParaRPr lang="en-US" sz="1800" b="0" i="0" dirty="0" smtClean="0">
              <a:solidFill>
                <a:srgbClr val="000000"/>
              </a:solidFill>
              <a:effectLst/>
              <a:latin typeface="Times New Roman" panose="02020603050405020304" pitchFamily="18" charset="0"/>
              <a:cs typeface="Times New Roman" panose="02020603050405020304" pitchFamily="18" charset="0"/>
            </a:endParaRPr>
          </a:p>
          <a:p>
            <a:pPr algn="ctr">
              <a:lnSpc>
                <a:spcPct val="150000"/>
              </a:lnSpc>
            </a:pPr>
            <a:r>
              <a:rPr lang="vi-VN" sz="1400" b="0" i="0" dirty="0" smtClean="0">
                <a:solidFill>
                  <a:srgbClr val="000000"/>
                </a:solidFill>
                <a:effectLst/>
                <a:latin typeface="Times New Roman" panose="02020603050405020304" pitchFamily="18" charset="0"/>
                <a:cs typeface="Times New Roman" panose="02020603050405020304" pitchFamily="18" charset="0"/>
              </a:rPr>
              <a:t>&lt;</a:t>
            </a:r>
            <a:r>
              <a:rPr lang="vi-VN" sz="1400" b="0" i="0" dirty="0">
                <a:solidFill>
                  <a:srgbClr val="000000"/>
                </a:solidFill>
                <a:effectLst/>
                <a:latin typeface="Times New Roman" panose="02020603050405020304" pitchFamily="18" charset="0"/>
                <a:cs typeface="Times New Roman" panose="02020603050405020304" pitchFamily="18" charset="0"/>
              </a:rPr>
              <a:t>Các khoảng trống cách quãng&gt; &lt;dấu&gt; &lt;các con số không có số 0 cách quãng&gt; „.‟ &lt;Các con </a:t>
            </a:r>
            <a:r>
              <a:rPr lang="vi-VN" sz="1400" b="0" i="0" dirty="0" smtClean="0">
                <a:solidFill>
                  <a:srgbClr val="000000"/>
                </a:solidFill>
                <a:effectLst/>
                <a:latin typeface="Times New Roman" panose="02020603050405020304" pitchFamily="18" charset="0"/>
                <a:cs typeface="Times New Roman" panose="02020603050405020304" pitchFamily="18" charset="0"/>
              </a:rPr>
              <a:t>số</a:t>
            </a:r>
            <a:r>
              <a:rPr lang="en-US" sz="1400" b="0" i="0" dirty="0" smtClean="0">
                <a:solidFill>
                  <a:srgbClr val="000000"/>
                </a:solidFill>
                <a:effectLst/>
                <a:latin typeface="Times New Roman" panose="02020603050405020304" pitchFamily="18" charset="0"/>
                <a:cs typeface="Times New Roman" panose="02020603050405020304" pitchFamily="18" charset="0"/>
              </a:rPr>
              <a:t> </a:t>
            </a:r>
            <a:r>
              <a:rPr lang="vi-VN" sz="1400" b="0" i="0" dirty="0" smtClean="0">
                <a:solidFill>
                  <a:srgbClr val="000000"/>
                </a:solidFill>
                <a:effectLst/>
                <a:latin typeface="Times New Roman" panose="02020603050405020304" pitchFamily="18" charset="0"/>
                <a:cs typeface="Times New Roman" panose="02020603050405020304" pitchFamily="18" charset="0"/>
              </a:rPr>
              <a:t>PREC&gt;</a:t>
            </a:r>
            <a:endParaRPr lang="en-US" sz="1400" b="0" i="0" dirty="0" smtClean="0">
              <a:solidFill>
                <a:srgbClr val="000000"/>
              </a:solidFill>
              <a:effectLst/>
              <a:latin typeface="Times New Roman" panose="02020603050405020304" pitchFamily="18" charset="0"/>
              <a:cs typeface="Times New Roman" panose="02020603050405020304" pitchFamily="18" charset="0"/>
            </a:endParaRPr>
          </a:p>
          <a:p>
            <a:pPr>
              <a:lnSpc>
                <a:spcPct val="150000"/>
              </a:lnSpc>
            </a:pPr>
            <a:r>
              <a:rPr lang="vi-VN"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Các số 0 cách quãng nằm bên trái của chấm thập phân (ngoại trừ con số kế cận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với chấm thập phân) bị xóa bỏ.</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Các giá trị nằm bên phải của chấm thập phân được làm tròn để nằm vừa </a:t>
            </a:r>
            <a:r>
              <a:rPr lang="vi-VN" sz="1800" b="0" i="0" dirty="0" smtClean="0">
                <a:solidFill>
                  <a:srgbClr val="000000"/>
                </a:solidFill>
                <a:effectLst/>
                <a:latin typeface="Times New Roman" panose="02020603050405020304" pitchFamily="18" charset="0"/>
                <a:cs typeface="Times New Roman" panose="02020603050405020304" pitchFamily="18" charset="0"/>
              </a:rPr>
              <a:t>trong</a:t>
            </a:r>
            <a:r>
              <a:rPr lang="en-US" sz="1800" b="0" i="0" dirty="0" smtClean="0">
                <a:solidFill>
                  <a:srgbClr val="000000"/>
                </a:solidFill>
                <a:effectLst/>
                <a:latin typeface="Times New Roman" panose="02020603050405020304" pitchFamily="18" charset="0"/>
                <a:cs typeface="Times New Roman" panose="02020603050405020304" pitchFamily="18" charset="0"/>
              </a:rPr>
              <a:t> </a:t>
            </a:r>
            <a:r>
              <a:rPr lang="vi-VN" sz="1800" b="0" i="0" dirty="0" smtClean="0">
                <a:solidFill>
                  <a:srgbClr val="000000"/>
                </a:solidFill>
                <a:effectLst/>
                <a:latin typeface="Times New Roman" panose="02020603050405020304" pitchFamily="18" charset="0"/>
                <a:cs typeface="Times New Roman" panose="02020603050405020304" pitchFamily="18" charset="0"/>
              </a:rPr>
              <a:t>số </a:t>
            </a:r>
            <a:r>
              <a:rPr lang="vi-VN" sz="1800" b="0" i="0" dirty="0">
                <a:solidFill>
                  <a:srgbClr val="000000"/>
                </a:solidFill>
                <a:effectLst/>
                <a:latin typeface="Times New Roman" panose="02020603050405020304" pitchFamily="18" charset="0"/>
                <a:cs typeface="Times New Roman" panose="02020603050405020304" pitchFamily="18" charset="0"/>
              </a:rPr>
              <a:t>lượng các con số bên phải chấm thập phân được xác định bởi thông số</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PREC.</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Kích thước của chuỗi ngõ ra phải ít nhất lớn hơn 3 byte so với số lượng các con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số nằm bên phải của chấm thập phân.</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Các giá trị được căn chỉnh bên phải trong chuỗi ngõ ra.</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38982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dirty="0" err="1">
                <a:solidFill>
                  <a:srgbClr val="000000"/>
                </a:solidFill>
                <a:effectLst/>
                <a:latin typeface="Times New Roman" panose="02020603050405020304" pitchFamily="18" charset="0"/>
                <a:cs typeface="Times New Roman" panose="02020603050405020304" pitchFamily="18" charset="0"/>
              </a:rPr>
              <a:t>Các</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điều</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kiện</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được</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thuật</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lại</a:t>
            </a:r>
            <a:r>
              <a:rPr lang="en-US" sz="1800" b="1" i="0" dirty="0">
                <a:solidFill>
                  <a:srgbClr val="000000"/>
                </a:solidFill>
                <a:effectLst/>
                <a:latin typeface="Times New Roman" panose="02020603050405020304" pitchFamily="18" charset="0"/>
                <a:cs typeface="Times New Roman" panose="02020603050405020304" pitchFamily="18" charset="0"/>
              </a:rPr>
              <a:t> </a:t>
            </a:r>
            <a:r>
              <a:rPr lang="en-US" sz="1800" b="1" i="0" dirty="0" err="1">
                <a:solidFill>
                  <a:srgbClr val="000000"/>
                </a:solidFill>
                <a:effectLst/>
                <a:latin typeface="Times New Roman" panose="02020603050405020304" pitchFamily="18" charset="0"/>
                <a:cs typeface="Times New Roman" panose="02020603050405020304" pitchFamily="18" charset="0"/>
              </a:rPr>
              <a:t>bởi</a:t>
            </a:r>
            <a:r>
              <a:rPr lang="en-US" sz="1800" b="1" i="0" dirty="0">
                <a:solidFill>
                  <a:srgbClr val="000000"/>
                </a:solidFill>
                <a:effectLst/>
                <a:latin typeface="Times New Roman" panose="02020603050405020304" pitchFamily="18" charset="0"/>
                <a:cs typeface="Times New Roman" panose="02020603050405020304" pitchFamily="18" charset="0"/>
              </a:rPr>
              <a:t> ENO</a:t>
            </a:r>
            <a:r>
              <a:rPr lang="en-US"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1F896230-C7D4-418C-A562-44493236A179}"/>
              </a:ext>
            </a:extLst>
          </p:cNvPr>
          <p:cNvSpPr txBox="1"/>
          <p:nvPr/>
        </p:nvSpPr>
        <p:spPr>
          <a:xfrm>
            <a:off x="673100" y="1645543"/>
            <a:ext cx="11061700" cy="1477328"/>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Khi một lỗi bị bắt gặp trong suốt hoạt động chuyển đổi, các kết quả sau đây sẽ</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được trả về:</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ENO được đặt về 0.</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OUT được đặt về 0, hay như được thể hiện trong các ví dụ về việc chuyển đổi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chuỗi sang giá trị.</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 OUT không bị thay đổi, hay như được thể hiện trong các ví dụ khi OUT là một</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chuỗi.</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13" name="Picture 2">
            <a:extLst>
              <a:ext uri="{FF2B5EF4-FFF2-40B4-BE49-F238E27FC236}">
                <a16:creationId xmlns:a16="http://schemas.microsoft.com/office/drawing/2014/main" id="{536E489D-716E-40D4-A8DD-B2A67EC09C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0900" y="2846519"/>
            <a:ext cx="5410200" cy="3657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33065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Các ví dụ về chuyển đổi chuỗi thành giá trị S_CONV</a:t>
            </a:r>
            <a:r>
              <a:rPr lang="en-US">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9762765C-73F7-4DD6-A06F-EAEDEFDB83CA}"/>
              </a:ext>
            </a:extLst>
          </p:cNvPr>
          <p:cNvGrpSpPr/>
          <p:nvPr/>
        </p:nvGrpSpPr>
        <p:grpSpPr>
          <a:xfrm>
            <a:off x="529816" y="1678504"/>
            <a:ext cx="11132368" cy="3349065"/>
            <a:chOff x="335732" y="2336315"/>
            <a:chExt cx="11132368" cy="3349065"/>
          </a:xfrm>
        </p:grpSpPr>
        <p:pic>
          <p:nvPicPr>
            <p:cNvPr id="13" name="Picture 12">
              <a:extLst>
                <a:ext uri="{FF2B5EF4-FFF2-40B4-BE49-F238E27FC236}">
                  <a16:creationId xmlns:a16="http://schemas.microsoft.com/office/drawing/2014/main" id="{0E32BDF8-F6F5-41B7-B604-60C7011E138F}"/>
                </a:ext>
              </a:extLst>
            </p:cNvPr>
            <p:cNvPicPr>
              <a:picLocks noChangeAspect="1"/>
            </p:cNvPicPr>
            <p:nvPr/>
          </p:nvPicPr>
          <p:blipFill>
            <a:blip r:embed="rId4"/>
            <a:stretch>
              <a:fillRect/>
            </a:stretch>
          </p:blipFill>
          <p:spPr>
            <a:xfrm>
              <a:off x="335732" y="2336315"/>
              <a:ext cx="5224750" cy="3334216"/>
            </a:xfrm>
            <a:prstGeom prst="rect">
              <a:avLst/>
            </a:prstGeom>
          </p:spPr>
        </p:pic>
        <p:pic>
          <p:nvPicPr>
            <p:cNvPr id="14" name="Picture 13">
              <a:extLst>
                <a:ext uri="{FF2B5EF4-FFF2-40B4-BE49-F238E27FC236}">
                  <a16:creationId xmlns:a16="http://schemas.microsoft.com/office/drawing/2014/main" id="{CED39881-9620-445D-BE67-D8518C8F088D}"/>
                </a:ext>
              </a:extLst>
            </p:cNvPr>
            <p:cNvPicPr>
              <a:picLocks noChangeAspect="1"/>
            </p:cNvPicPr>
            <p:nvPr/>
          </p:nvPicPr>
          <p:blipFill>
            <a:blip r:embed="rId5"/>
            <a:stretch>
              <a:fillRect/>
            </a:stretch>
          </p:blipFill>
          <p:spPr>
            <a:xfrm>
              <a:off x="5676092" y="2351165"/>
              <a:ext cx="5792008" cy="3334215"/>
            </a:xfrm>
            <a:prstGeom prst="rect">
              <a:avLst/>
            </a:prstGeom>
          </p:spPr>
        </p:pic>
      </p:grpSp>
    </p:spTree>
    <p:extLst>
      <p:ext uri="{BB962C8B-B14F-4D97-AF65-F5344CB8AC3E}">
        <p14:creationId xmlns:p14="http://schemas.microsoft.com/office/powerpoint/2010/main" val="136280952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Các ví dụ về chuyển đổi STRG_VAL</a:t>
            </a:r>
            <a:r>
              <a:rPr lang="en-US">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140E5A69-DEC8-424D-85B3-A1684F6238D7}"/>
              </a:ext>
            </a:extLst>
          </p:cNvPr>
          <p:cNvGrpSpPr>
            <a:grpSpLocks noChangeAspect="1"/>
          </p:cNvGrpSpPr>
          <p:nvPr/>
        </p:nvGrpSpPr>
        <p:grpSpPr>
          <a:xfrm>
            <a:off x="674500" y="1716644"/>
            <a:ext cx="10843000" cy="2659800"/>
            <a:chOff x="790196" y="1992396"/>
            <a:chExt cx="11262228" cy="2762637"/>
          </a:xfrm>
        </p:grpSpPr>
        <p:pic>
          <p:nvPicPr>
            <p:cNvPr id="13" name="Picture 12">
              <a:extLst>
                <a:ext uri="{FF2B5EF4-FFF2-40B4-BE49-F238E27FC236}">
                  <a16:creationId xmlns:a16="http://schemas.microsoft.com/office/drawing/2014/main" id="{C59A7ED7-610C-4CBB-A2AD-DC8308D33780}"/>
                </a:ext>
              </a:extLst>
            </p:cNvPr>
            <p:cNvPicPr>
              <a:picLocks noChangeAspect="1"/>
            </p:cNvPicPr>
            <p:nvPr/>
          </p:nvPicPr>
          <p:blipFill>
            <a:blip r:embed="rId4"/>
            <a:stretch>
              <a:fillRect/>
            </a:stretch>
          </p:blipFill>
          <p:spPr>
            <a:xfrm>
              <a:off x="790196" y="1992397"/>
              <a:ext cx="5439534" cy="2762636"/>
            </a:xfrm>
            <a:prstGeom prst="rect">
              <a:avLst/>
            </a:prstGeom>
          </p:spPr>
        </p:pic>
        <p:pic>
          <p:nvPicPr>
            <p:cNvPr id="14" name="Picture 13">
              <a:extLst>
                <a:ext uri="{FF2B5EF4-FFF2-40B4-BE49-F238E27FC236}">
                  <a16:creationId xmlns:a16="http://schemas.microsoft.com/office/drawing/2014/main" id="{A0C88FE5-5644-491D-961F-1DDF895D491F}"/>
                </a:ext>
              </a:extLst>
            </p:cNvPr>
            <p:cNvPicPr>
              <a:picLocks noChangeAspect="1"/>
            </p:cNvPicPr>
            <p:nvPr/>
          </p:nvPicPr>
          <p:blipFill>
            <a:blip r:embed="rId5"/>
            <a:stretch>
              <a:fillRect/>
            </a:stretch>
          </p:blipFill>
          <p:spPr>
            <a:xfrm>
              <a:off x="6295266" y="1992396"/>
              <a:ext cx="5757158" cy="2762629"/>
            </a:xfrm>
            <a:prstGeom prst="rect">
              <a:avLst/>
            </a:prstGeom>
          </p:spPr>
        </p:pic>
      </p:grpSp>
    </p:spTree>
    <p:extLst>
      <p:ext uri="{BB962C8B-B14F-4D97-AF65-F5344CB8AC3E}">
        <p14:creationId xmlns:p14="http://schemas.microsoft.com/office/powerpoint/2010/main" val="419005914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
            <a:extLst>
              <a:ext uri="{FF2B5EF4-FFF2-40B4-BE49-F238E27FC236}">
                <a16:creationId xmlns:a16="http://schemas.microsoft.com/office/drawing/2014/main" id="{4BDC7C6F-94B9-4BDC-A6E8-C86AA907B9F2}"/>
              </a:ext>
            </a:extLst>
          </p:cNvPr>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3.2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Một</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số</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tập</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lệnh</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kiểu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dữ</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liệu</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chuỗi</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và</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ký</a:t>
            </a:r>
            <a:r>
              <a:rPr kumimoji="0" lang="en-US" sz="2000" b="1" i="0" u="none" strike="noStrike" kern="1200" cap="small" spc="0" normalizeH="0" baseline="0" noProof="0" dirty="0"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smtClean="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tự</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457200" y="845746"/>
            <a:ext cx="1997663"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0F3596"/>
                </a:solidFill>
                <a:effectLst/>
                <a:uLnTx/>
                <a:uFillTx/>
                <a:latin typeface="Times New Roman" panose="02020603050405020304" pitchFamily="18" charset="0"/>
                <a:ea typeface="+mn-ea"/>
                <a:cs typeface="Times New Roman" panose="02020603050405020304" pitchFamily="18" charset="0"/>
              </a:rPr>
              <a:t>CHUỖI DỮ LIỆU</a:t>
            </a:r>
            <a:endParaRPr kumimoji="0" lang="en-US" sz="1800" b="1" i="0" u="none" strike="noStrike" kern="1200" cap="none" spc="0" normalizeH="0" baseline="0" noProof="0" dirty="0">
              <a:ln>
                <a:noFill/>
              </a:ln>
              <a:solidFill>
                <a:srgbClr val="0F3596"/>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C0D40472-7C5B-4A6E-9A2B-9C9879214A15}"/>
              </a:ext>
            </a:extLst>
          </p:cNvPr>
          <p:cNvSpPr txBox="1"/>
          <p:nvPr/>
        </p:nvSpPr>
        <p:spPr>
          <a:xfrm>
            <a:off x="673100" y="1253610"/>
            <a:ext cx="6096000" cy="369332"/>
          </a:xfrm>
          <a:prstGeom prst="rect">
            <a:avLst/>
          </a:prstGeom>
          <a:noFill/>
        </p:spPr>
        <p:txBody>
          <a:bodyPr wrap="square">
            <a:spAutoFit/>
          </a:bodyPr>
          <a:lstStyle/>
          <a:p>
            <a:r>
              <a:rPr lang="en-US" sz="1800" b="1" i="0">
                <a:solidFill>
                  <a:srgbClr val="000000"/>
                </a:solidFill>
                <a:effectLst/>
                <a:latin typeface="Times New Roman" panose="02020603050405020304" pitchFamily="18" charset="0"/>
                <a:cs typeface="Times New Roman" panose="02020603050405020304" pitchFamily="18" charset="0"/>
              </a:rPr>
              <a:t>Các ví dụ về chuyển đổi VAL_STRG</a:t>
            </a:r>
            <a:r>
              <a:rPr lang="en-US">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7C1C6A6-A30D-4FD6-89F1-B098F2158E26}"/>
              </a:ext>
            </a:extLst>
          </p:cNvPr>
          <p:cNvSpPr txBox="1"/>
          <p:nvPr/>
        </p:nvSpPr>
        <p:spPr>
          <a:xfrm>
            <a:off x="673100" y="1678504"/>
            <a:ext cx="11061700" cy="1200329"/>
          </a:xfrm>
          <a:prstGeom prst="rect">
            <a:avLst/>
          </a:prstGeom>
          <a:noFill/>
        </p:spPr>
        <p:txBody>
          <a:bodyPr wrap="square">
            <a:spAutoFit/>
          </a:bodyPr>
          <a:lstStyle/>
          <a:p>
            <a:r>
              <a:rPr lang="vi-VN" sz="1800" b="0" i="0" dirty="0">
                <a:solidFill>
                  <a:srgbClr val="000000"/>
                </a:solidFill>
                <a:effectLst/>
                <a:latin typeface="Times New Roman" panose="02020603050405020304" pitchFamily="18" charset="0"/>
                <a:cs typeface="Times New Roman" panose="02020603050405020304" pitchFamily="18" charset="0"/>
              </a:rPr>
              <a:t>Các ví dụ dựa trên một chuỗi OUT được khởi chạy như sau:</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“Current Temp = xxxxxxxxxx C”</a:t>
            </a:r>
            <a:br>
              <a:rPr lang="vi-VN" sz="1800" b="0" i="0" dirty="0">
                <a:solidFill>
                  <a:srgbClr val="000000"/>
                </a:solidFill>
                <a:effectLst/>
                <a:latin typeface="Times New Roman" panose="02020603050405020304" pitchFamily="18" charset="0"/>
                <a:cs typeface="Times New Roman" panose="02020603050405020304" pitchFamily="18" charset="0"/>
              </a:rPr>
            </a:br>
            <a:r>
              <a:rPr lang="vi-VN" sz="1800" b="0" i="0" dirty="0">
                <a:solidFill>
                  <a:srgbClr val="000000"/>
                </a:solidFill>
                <a:effectLst/>
                <a:latin typeface="Times New Roman" panose="02020603050405020304" pitchFamily="18" charset="0"/>
                <a:cs typeface="Times New Roman" panose="02020603050405020304" pitchFamily="18" charset="0"/>
              </a:rPr>
              <a:t>Ký tự “x” biểu thị các ký tự khoảng cách được phân bổ cho giá trị được chuyển đổi.</a:t>
            </a:r>
            <a:r>
              <a:rPr lang="vi-VN" dirty="0">
                <a:latin typeface="Times New Roman" panose="02020603050405020304" pitchFamily="18" charset="0"/>
                <a:cs typeface="Times New Roman" panose="02020603050405020304" pitchFamily="18" charset="0"/>
              </a:rPr>
              <a:t> </a:t>
            </a:r>
            <a:br>
              <a:rPr lang="vi-VN"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17" name="Picture 2">
            <a:extLst>
              <a:ext uri="{FF2B5EF4-FFF2-40B4-BE49-F238E27FC236}">
                <a16:creationId xmlns:a16="http://schemas.microsoft.com/office/drawing/2014/main" id="{D70D70FA-18F6-429F-BF1F-9A10242252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8744" y="2629932"/>
            <a:ext cx="6954512" cy="3736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431889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E7E3D4"/>
        </a:solidFill>
        <a:effectLst/>
      </p:bgPr>
    </p:bg>
    <p:spTree>
      <p:nvGrpSpPr>
        <p:cNvPr id="1" name=""/>
        <p:cNvGrpSpPr/>
        <p:nvPr/>
      </p:nvGrpSpPr>
      <p:grpSpPr>
        <a:xfrm>
          <a:off x="0" y="0"/>
          <a:ext cx="0" cy="0"/>
          <a:chOff x="0" y="0"/>
          <a:chExt cx="0" cy="0"/>
        </a:xfrm>
      </p:grpSpPr>
      <p:pic>
        <p:nvPicPr>
          <p:cNvPr id="22425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0"/>
            <a:ext cx="9132887"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612550"/>
      </p:ext>
    </p:extLst>
  </p:cSld>
  <p:clrMapOvr>
    <a:masterClrMapping/>
  </p:clrMapOvr>
  <p:timing>
    <p:tnLst>
      <p:par>
        <p:cTn id="1" dur="indefinite" restart="never" nodeType="tmRoot"/>
      </p:par>
    </p:tnLst>
  </p:timing>
</p:sld>
</file>

<file path=ppt/theme/theme1.xml><?xml version="1.0" encoding="utf-8"?>
<a:theme xmlns:a="http://schemas.openxmlformats.org/drawingml/2006/main" name="4_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elcome to Powerpoint 2016_CLR_v2" id="{CAB9082A-965C-42BE-8170-C940D3319B60}" vid="{82B84162-888A-4FD2-BEC9-B29B6DB2C73F}"/>
    </a:ext>
  </a:extLst>
</a:theme>
</file>

<file path=ppt/theme/theme3.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587</TotalTime>
  <Words>3313</Words>
  <Application>Microsoft Office PowerPoint</Application>
  <PresentationFormat>Widescreen</PresentationFormat>
  <Paragraphs>297</Paragraphs>
  <Slides>40</Slides>
  <Notes>35</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40</vt:i4>
      </vt:variant>
    </vt:vector>
  </HeadingPairs>
  <TitlesOfParts>
    <vt:vector size="48" baseType="lpstr">
      <vt:lpstr>Arial</vt:lpstr>
      <vt:lpstr>Calibri</vt:lpstr>
      <vt:lpstr>Calibri Light</vt:lpstr>
      <vt:lpstr>Segoe UI Light</vt:lpstr>
      <vt:lpstr>Times New Roman</vt:lpstr>
      <vt:lpstr>4_Default Design</vt:lpstr>
      <vt:lpstr>WelcomeDoc</vt:lpstr>
      <vt:lpstr>5_Default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THIẾT BỊ ĐIỀU KHIỂN LẬP TRÌNH S7-1200  1.4 XỬ LÝ CHƯƠNG TRÌNH  1.5 KẾT NỐI DÂY GIỮA PLC VÀ CÁC THIẾT BỊ NGOẠI VI  1.6 KIỂM TRA VIỆC KẾT NỐI DÂY BẰNG PHẦN MỀM</dc:title>
  <dc:creator>ngha14051997@gmail.com</dc:creator>
  <cp:lastModifiedBy>Nguyen Bao Chau</cp:lastModifiedBy>
  <cp:revision>110</cp:revision>
  <dcterms:created xsi:type="dcterms:W3CDTF">2021-07-02T09:40:39Z</dcterms:created>
  <dcterms:modified xsi:type="dcterms:W3CDTF">2021-11-29T16:03:50Z</dcterms:modified>
</cp:coreProperties>
</file>