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naming the problem, not the syllabus. Every machine in the room is a control system. By the end of this lesson they should be able to say why a PLC replaced relay panels, and to trace one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once, briefly. Do not dwell — they are a promise, and the lesson keeps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all five before showing any PLC. Ask the room for the five blocks of a washing machine — it lands better than defining them abstractly.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two block diagrams on the board rather than reading the list. The point to leave them with: closed loop is not automatically better — feedback buys accuracy and costs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four is the whole lesson. Everything before it is identical engineering; after it, one project needs a screwdriver and the other needs a download 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emotional centre of the lesson. Say the closing line slowly and let it sit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of these and give a real example from a Vietnamese factory. Six abstract advantages are forgettable; one concrete story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every one of the 1968 requirements still describes the unit on the bench. That is unusual for a 1968 specification and worth a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real S7-1200 while showing this and point to each block on the physical unit. The diagram is abstract; the hardware in your hand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area a tag value lives in versus where the compiled logic lives. It exposes whether they have really separated program from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live: force an output, show the Q LED change, then disconnect the field wire and show the LED still lit while the machine does nothing. That single demo teaches more than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Ask what happens to a 5 ms push-button pulse when the scan takes 12 ms. Let them work it out before you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students screenshot. Give them a moment before revealing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same AND rung in all three on the board. Seeing one piece of logic in three notations is the moment the standard stops being trivia.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technical content here, then move straight to the review questions while attention is still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these as the homework. Question 5 is the one that separates students who have understood diagnostics from those who have memorised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what comes next, and tell them to install TIA Portal before that session — the download is 10 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29184"/>
            <a:ext cx="1709928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508760" cy="3840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508760"/>
            <a:ext cx="182880" cy="182880"/>
          </a:xfrm>
          <a:prstGeom prst="ellipse">
            <a:avLst/>
          </a:prstGeom>
          <a:solidFill>
            <a:srgbClr val="1A7F45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1508760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Shape 3"/>
          <p:cNvSpPr/>
          <p:nvPr/>
        </p:nvSpPr>
        <p:spPr>
          <a:xfrm>
            <a:off x="1051560" y="1508760"/>
            <a:ext cx="182880" cy="18288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Programmable Control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 versus programmable control · PLC architecture · the scan cycle · IEC 61131-3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25296"/>
            <a:ext cx="310896" cy="310896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188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control system 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open-loop, closed-loop, computerised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25296"/>
            <a:ext cx="310896" cy="310896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225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02352" y="1188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hardwired with programmable control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02352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justify when each is appropriate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310896" cy="310896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3225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of a PLC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7066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function of every internal block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59152"/>
            <a:ext cx="310896" cy="310896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02352" y="23225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S7-1200 memory areas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02352" y="27066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 the CPU status LEDs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310896" cy="310896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four phases of the scan cycle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840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predict how they change behaviour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493008"/>
            <a:ext cx="310896" cy="310896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6344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02352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IEC 61131-3 languages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102352" y="3840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industry that favours each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Control System Is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elements appear in every control system, from a thermostat to a plant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elements of any control system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72768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810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21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target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13716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13432" y="1572768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13432" y="1810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313432" y="2121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reality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5072" y="1572768"/>
            <a:ext cx="155448" cy="1554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05072" y="1810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05072" y="2121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error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32120" y="13716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6712" y="1572768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1810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96712" y="2121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action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23760" y="1371600"/>
            <a:ext cx="1481328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8352" y="1572768"/>
            <a:ext cx="155448" cy="155448"/>
          </a:xfrm>
          <a:prstGeom prst="ellipse">
            <a:avLst/>
          </a:prstGeom>
          <a:solidFill>
            <a:srgbClr val="1A7F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88352" y="1810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2121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the world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PLC program you will ever write is one of these blocks, or the logic that ties them together.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429000"/>
            <a:ext cx="822960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input — the setpoint that starts the system: a temperature, a pressure, a level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variable — the quantity actually regulated at the output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Disturbance — anything that perturbs the signal, from inside or outside the system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Loop, Closed Loop, Computerised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street lamp, wired two different ways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installation, two control philosophies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89888"/>
            <a:ext cx="155448" cy="1554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Timer switch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84832"/>
            <a:ext cx="365760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does not affect the system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Lamps switch at a fixed hour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never checks the sky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design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depends on calibration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instability — ever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5192" y="1389888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57800" y="13167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 sensor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2084832"/>
            <a:ext cx="365760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feeds back and decides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Lamps follow actual brightness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becomes irrelevant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to design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accurate; rejects disturbance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 becomes possible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Hardwired versus Programmable Control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one, the logic lives in the wiring. In the other, in memory.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workflows that diverge at step four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33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36192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636776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618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technology requirements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203704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1854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control schematic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770632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27523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circuit elements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BEBE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3337560"/>
            <a:ext cx="274320" cy="2743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3319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and bond the elements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3904488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3886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and circuit test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1133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1536192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55464" y="1636776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55464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1618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technology requirements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09160" y="2103120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2203704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55464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39512" y="21854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algorithm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09160" y="2670048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5464" y="2770632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55464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239512" y="27523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program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09160" y="3236976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E6F5F5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55464" y="3337560"/>
            <a:ext cx="274320" cy="27432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85546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239512" y="3319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program into memory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3803904"/>
            <a:ext cx="3977640" cy="475488"/>
          </a:xfrm>
          <a:prstGeom prst="roundRect">
            <a:avLst>
              <a:gd name="adj" fmla="val 1153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55464" y="3904488"/>
            <a:ext cx="274320" cy="274320"/>
          </a:xfrm>
          <a:prstGeom prst="ellipse">
            <a:avLst/>
          </a:prstGeom>
          <a:solidFill>
            <a:srgbClr val="C3CCD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855464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239512" y="3886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and circuit test</a:t>
            </a:r>
            <a:endParaRPr lang="en-US" sz="125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Industry Switched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motors, one changed requirement, two very different bills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requirement changes: "also stop in sequence"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938528"/>
          </a:xfrm>
          <a:prstGeom prst="roundRect">
            <a:avLst>
              <a:gd name="adj" fmla="val 2830"/>
            </a:avLst>
          </a:prstGeom>
          <a:solidFill>
            <a:srgbClr val="FBEBE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155448" cy="1554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344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 panel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00784"/>
            <a:ext cx="3657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grows markedly more complex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power devices required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must be physically rewired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stopped for the duration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938528"/>
          </a:xfrm>
          <a:prstGeom prst="roundRect">
            <a:avLst>
              <a:gd name="adj" fmla="val 2830"/>
            </a:avLst>
          </a:prstGeom>
          <a:solidFill>
            <a:srgbClr val="E6F5F5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417320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30368" y="1344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1700784"/>
            <a:ext cx="3657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wiring untouched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program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behaviour in service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015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learning a programming language.</a:t>
            </a:r>
            <a:endParaRPr lang="en-US" sz="19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learning a way to make behaviour cheap to change.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that buys, in practice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53896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659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cabinet of relays becomes one compact unit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65576" y="1453896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5576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19659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touch software, not wiring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71616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453896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2784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19659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fault finding and forcing for commissioning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072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026664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35387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networked, or a node in a distributed system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64408" y="28072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3026664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65576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use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65576" y="35387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LOGO-class units for lighting, ventilation, pumps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71616" y="2807208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3026664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72784" y="3264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353872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Lifts, production lines, robots, production data collection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PLC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NEMA, and the 1968 specification that started 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definition worth memorising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digitally operating electronic apparatus which uses a programmable memory for the internal storage of instructions — implementing functions such as logic, sequencing, timing, counting and arithmetic — to control machines and processes through digital or analogue input and output modules.”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78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Electrical Manufacturers Association (NEMA)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17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1968 — General Motors wrote the specification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481328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34747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program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3383280"/>
            <a:ext cx="1481328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76856" y="34747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rewiring to change function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383280"/>
            <a:ext cx="1481328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34747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and cheaper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3383280"/>
            <a:ext cx="1481328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0136" y="34747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3383280"/>
            <a:ext cx="1481328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51776" y="3474720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construction, low maintenance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a PLC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purpose-built computer, block by block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housing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26464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module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568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· buttons · sensors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3008" y="1426464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93008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module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19568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+ memory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426464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7648" y="1664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module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95681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lamps · contactors · motors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7044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761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system   ·   address bus selects locations   ·   data bus carries values   ·   control bus synchronises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602736"/>
            <a:ext cx="155448" cy="1554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408" y="3529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block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37856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24 VDC. Some units run from 220 VAC; some have no power module and are supplied externally.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and Status Indicators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program lives, and how the CPU tells you what it is doing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is divided by purpose, not just by address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area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of your program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26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50008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2167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area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4414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station addresses, configuration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295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write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18688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8408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33101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constants, buffers — bit, byte, word, double word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862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holds the user program and is lost on power-down  ·  ROM holds the system program and survives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CPU status LEDs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B326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fault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1A7F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3736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7373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the program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28600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860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halted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1A7F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Ix.x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8346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one input point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658368" cy="384048"/>
          </a:xfrm>
          <a:prstGeom prst="roundRect">
            <a:avLst>
              <a:gd name="adj" fmla="val 11905"/>
            </a:avLst>
          </a:prstGeom>
          <a:solidFill>
            <a:srgbClr val="1A7F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3832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Qx.x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832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one output point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8E6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7822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 and Q LEDs show what the terminal actually sees — not what your program believes. Comparing the physical LED against the monitored tag separates a wiring fault from a logic fault in seconds.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 Cycle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beginner mistake traces back to this slide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phases, repeating forever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193852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08176"/>
            <a:ext cx="384048" cy="3840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945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every DI and AI into the process image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40864" y="18470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78608" y="1207008"/>
            <a:ext cx="193852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9776" y="1408176"/>
            <a:ext cx="384048" cy="3840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7977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program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79776" y="21945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OB1 top to bottom against that image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62272" y="18470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00016" y="1207008"/>
            <a:ext cx="193852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40817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01184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21945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 and diagnostics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8470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21424" y="1207008"/>
            <a:ext cx="1938528" cy="1691640"/>
          </a:xfrm>
          <a:prstGeom prst="roundRect">
            <a:avLst>
              <a:gd name="adj" fmla="val 324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22592" y="1408176"/>
            <a:ext cx="384048" cy="384048"/>
          </a:xfrm>
          <a:prstGeom prst="ellipse">
            <a:avLst/>
          </a:prstGeom>
          <a:solidFill>
            <a:srgbClr val="1A7F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22592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outputs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219456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output image to the terminals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999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 the cycle repeats, and each pass is one scan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346704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logic reads a snapshot — never a terminal changing mid-scan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that changes twice within one scan is seen once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output written twice in one scan takes the value written last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I/O instructions bypass the image and suspend other work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time is not fixed — and that has consequences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BEBEA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444752"/>
            <a:ext cx="155448" cy="15544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33502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 grows with program length and with the work done in a given pass.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8249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PLC is therefore unsuitable for control demanding hard microsecond determinism. Those tasks go to a dedicated high-speed counter, a PTO channel, or an FPGA — not to OB1.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706624"/>
            <a:ext cx="329184" cy="329184"/>
          </a:xfrm>
          <a:prstGeom prst="ellipse">
            <a:avLst/>
          </a:prstGeom>
          <a:solidFill>
            <a:srgbClr val="5C68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151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is pressed for 5 ms. The scan time is 12 ms. Does the program see it?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6F5F5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602736"/>
            <a:ext cx="329184" cy="329184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51129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reliably. The press may fall entirely between two input-read phases. This is what hardware interrupts and high-speed counters exist for.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1284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and Program Structure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127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A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notations for the same logic, and what runs when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IEC 61131-3: same logic, three traditions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89888"/>
            <a:ext cx="786384" cy="365760"/>
          </a:xfrm>
          <a:prstGeom prst="roundRect">
            <a:avLst>
              <a:gd name="adj" fmla="val 12500"/>
            </a:avLst>
          </a:prstGeom>
          <a:solidFill>
            <a:srgbClr val="1A3A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38988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6537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Ladder Diagram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1284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Rungs and contacts, drawn like a relay schematic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Favoured by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electrical engineering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1887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1389888"/>
            <a:ext cx="786384" cy="365760"/>
          </a:xfrm>
          <a:prstGeom prst="roundRect">
            <a:avLst>
              <a:gd name="adj" fmla="val 12500"/>
            </a:avLst>
          </a:prstGeom>
          <a:solidFill>
            <a:srgbClr val="0099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65576" y="138988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186537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Block Diagram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65576" y="221284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logic blocks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465576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Favoured by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465576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71616" y="11887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389888"/>
            <a:ext cx="786384" cy="36576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2784" y="138988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186537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List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212848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mnemonics, like assembly language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Favoured by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3090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more correct than the others. TIA Portal will show much of your program in whichever you choose.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runs, and when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27048"/>
            <a:ext cx="155448" cy="155448"/>
          </a:xfrm>
          <a:prstGeom prst="ellipse">
            <a:avLst/>
          </a:prstGeom>
          <a:solidFill>
            <a:srgbClr val="0099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24128" y="1335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every scan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terminates with 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459736"/>
            <a:ext cx="155448" cy="15544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24128" y="2267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Subprogram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560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from the main program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957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terminates with RET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8229600" cy="804672"/>
          </a:xfrm>
          <a:prstGeom prst="roundRect">
            <a:avLst>
              <a:gd name="adj" fmla="val 681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392424"/>
            <a:ext cx="155448" cy="1554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4128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routine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493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an event demands attention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3284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terminates with RETI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1330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S7-1200 I/O expands to the right of the CPU as a chain of SM, SB and CM modules  ·  the engineering software is TIA Portal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yourself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25296"/>
            <a:ext cx="292608" cy="29260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1704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elements of a control system, with a physical example of each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92224"/>
            <a:ext cx="292608" cy="29260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73736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street lamp switches on at 18:00 by timer. Open or closed loop — and what would make it the other?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292608" cy="29260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3042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physically changes when "start in sequence" becomes "start and stop in sequence" — for a relay panel, and for a PLC?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92608" cy="29260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7121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memory area survives a power cycle, and which does not?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292608" cy="29260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3438144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LED is green but the motor does not start. What can the CPU LEDs tell you before you open the program?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59936"/>
            <a:ext cx="292608" cy="292608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00507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four scan phases in order, and explain why a short input pulse may be missed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E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572768"/>
            <a:ext cx="182880" cy="182880"/>
          </a:xfrm>
          <a:prstGeom prst="ellipse">
            <a:avLst/>
          </a:prstGeom>
          <a:solidFill>
            <a:srgbClr val="1A7F45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1572768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572768"/>
            <a:ext cx="182880" cy="18288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31136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02 — S7-1200 Hardware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TIA Portal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015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family · program processing · field wiring · installing and using TIA Portal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77456" y="329184"/>
            <a:ext cx="166420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411480"/>
            <a:ext cx="146304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4718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INS3150 · PLC Programming · Lesson 01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4718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01 — Programmable Control Fundamentals</dc:title>
  <dc:subject>PptxGenJS Presentation</dc:subject>
  <dc:creator>International School, VNU Hanoi</dc:creator>
  <cp:lastModifiedBy>International School, VNU Hanoi</cp:lastModifiedBy>
  <cp:revision>1</cp:revision>
  <dcterms:created xsi:type="dcterms:W3CDTF">2026-09-01T06:49:41Z</dcterms:created>
  <dcterms:modified xsi:type="dcterms:W3CDTF">2026-09-01T06:49:41Z</dcterms:modified>
</cp:coreProperties>
</file>