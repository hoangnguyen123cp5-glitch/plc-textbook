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77" r:id="rId3"/>
  </p:sldMasterIdLst>
  <p:notesMasterIdLst>
    <p:notesMasterId r:id="rId30"/>
  </p:notesMasterIdLst>
  <p:sldIdLst>
    <p:sldId id="257" r:id="rId4"/>
    <p:sldId id="341" r:id="rId5"/>
    <p:sldId id="339" r:id="rId6"/>
    <p:sldId id="353" r:id="rId7"/>
    <p:sldId id="354" r:id="rId8"/>
    <p:sldId id="355" r:id="rId9"/>
    <p:sldId id="356" r:id="rId10"/>
    <p:sldId id="357" r:id="rId11"/>
    <p:sldId id="358" r:id="rId12"/>
    <p:sldId id="370" r:id="rId13"/>
    <p:sldId id="371" r:id="rId14"/>
    <p:sldId id="372" r:id="rId15"/>
    <p:sldId id="373" r:id="rId16"/>
    <p:sldId id="374" r:id="rId17"/>
    <p:sldId id="375" r:id="rId18"/>
    <p:sldId id="376" r:id="rId19"/>
    <p:sldId id="377" r:id="rId20"/>
    <p:sldId id="378" r:id="rId21"/>
    <p:sldId id="379" r:id="rId22"/>
    <p:sldId id="380" r:id="rId23"/>
    <p:sldId id="381" r:id="rId24"/>
    <p:sldId id="382" r:id="rId25"/>
    <p:sldId id="383" r:id="rId26"/>
    <p:sldId id="384" r:id="rId27"/>
    <p:sldId id="385" r:id="rId28"/>
    <p:sldId id="30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2897" autoAdjust="0"/>
  </p:normalViewPr>
  <p:slideViewPr>
    <p:cSldViewPr snapToGrid="0">
      <p:cViewPr varScale="1">
        <p:scale>
          <a:sx n="74" d="100"/>
          <a:sy n="74" d="100"/>
        </p:scale>
        <p:origin x="376"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EF37C-3239-4CC1-9458-1F4F89E202E7}" type="datetimeFigureOut">
              <a:rPr lang="en-US" smtClean="0"/>
              <a:t>3/12/2021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567F6F-AC6B-4134-8A12-A6DFC3D5752F}" type="slidenum">
              <a:rPr lang="en-US" smtClean="0"/>
              <a:t>‹#›</a:t>
            </a:fld>
            <a:endParaRPr lang="en-US"/>
          </a:p>
        </p:txBody>
      </p:sp>
    </p:spTree>
    <p:extLst>
      <p:ext uri="{BB962C8B-B14F-4D97-AF65-F5344CB8AC3E}">
        <p14:creationId xmlns:p14="http://schemas.microsoft.com/office/powerpoint/2010/main" val="1287825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05148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13716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06416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08355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189196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3690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511313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46868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56925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837394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541231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930019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030590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433038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18828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28143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351752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815457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672459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0955572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993132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Slide Image Placeholder 1"/>
          <p:cNvSpPr>
            <a:spLocks noGrp="1" noRot="1" noChangeAspect="1" noTextEdit="1"/>
          </p:cNvSpPr>
          <p:nvPr>
            <p:ph type="sldImg"/>
          </p:nvPr>
        </p:nvSpPr>
        <p:spPr>
          <a:ln/>
        </p:spPr>
      </p:sp>
      <p:sp>
        <p:nvSpPr>
          <p:cNvPr id="3461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461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93E0FCE-8BAB-41A6-9695-3E5F75C21E84}" type="slidenum">
              <a:rPr kumimoji="0" lang="en-US"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38824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5054E70C-47C2-4482-8988-74AF4DA451C8}"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67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C3DC5AC-A2C3-434D-9582-E0EC0F6FAA16}"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18420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9D51F59-BE09-49EF-946D-237576B9685B}"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9169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67DB86A-4D3F-4176-86D2-120FC381B7C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07339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A8AA00D-68EE-4067-BF52-4AAB8CCFAC3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254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4A71BA5-2B67-4F9A-91BC-1DB91DB7E825}"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5072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0E06C07-1723-4142-A5DC-829C5D45E06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50065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7370940-1979-4244-9AD8-282EE740D23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8703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3E4EF4D-25D8-42A0-896B-A7FD1DB7D984}"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4538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4F2807B-369F-4B8A-9F9F-3093857B5C9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651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2EAAE3A-2ACC-48DC-A270-F0C60EC6FDA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65451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p:cNvSpPr/>
          <p:nvPr userDrawn="1"/>
        </p:nvSpPr>
        <p:spPr bwMode="blackWhite">
          <a:xfrm>
            <a:off x="254000" y="263525"/>
            <a:ext cx="11684000"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27392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ectangle 4"/>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cxnSp>
        <p:nvCxnSpPr>
          <p:cNvPr id="6" name="Straight Connector 5"/>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11" y="448056"/>
            <a:ext cx="6877120" cy="640080"/>
          </a:xfrm>
        </p:spPr>
        <p:txBody>
          <a:bodyPr>
            <a:normAutofit/>
          </a:bodyPr>
          <a:lstStyle>
            <a:lvl1pPr>
              <a:defRPr sz="24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9" y="1435608"/>
            <a:ext cx="4416552" cy="3977640"/>
          </a:xfrm>
        </p:spPr>
        <p:txBody>
          <a:bodyPr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1"/>
          </p:nvPr>
        </p:nvSpPr>
        <p:spPr/>
        <p:txBody>
          <a:bodyPr/>
          <a:lstStyle>
            <a:lvl1pPr>
              <a:defRPr smtClean="0"/>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D3BA31E0-D02B-4C72-92FB-E6211966027E}"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3/12/2021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8" name="Footer Placeholder 4"/>
          <p:cNvSpPr>
            <a:spLocks noGrp="1"/>
          </p:cNvSpPr>
          <p:nvPr>
            <p:ph type="ftr" sz="quarter" idx="12"/>
          </p:nvPr>
        </p:nvSpPr>
        <p:spPr/>
        <p:txBody>
          <a:bodyPr/>
          <a:lstStyle>
            <a:lvl1pPr>
              <a:defRPr smtClean="0"/>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9" name="Slide Number Placeholder 5"/>
          <p:cNvSpPr>
            <a:spLocks noGrp="1"/>
          </p:cNvSpPr>
          <p:nvPr>
            <p:ph type="sldNum" sz="quarter" idx="13"/>
          </p:nvPr>
        </p:nvSpPr>
        <p:spPr>
          <a:xfrm>
            <a:off x="8370888" y="6203950"/>
            <a:ext cx="3276600" cy="365125"/>
          </a:xfrm>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2A99E05D-9AF6-4DBB-8249-15FD60AE4BB7}"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46586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Rectangle 3"/>
          <p:cNvSpPr/>
          <p:nvPr userDrawn="1"/>
        </p:nvSpPr>
        <p:spPr>
          <a:xfrm>
            <a:off x="254000" y="263525"/>
            <a:ext cx="11684000"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5" name="Rectangle 4"/>
          <p:cNvSpPr/>
          <p:nvPr userDrawn="1"/>
        </p:nvSpPr>
        <p:spPr bwMode="blackWhite">
          <a:xfrm>
            <a:off x="254000" y="263525"/>
            <a:ext cx="11684000"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a:xfrm>
            <a:off x="521209" y="1536192"/>
            <a:ext cx="6876288" cy="640080"/>
          </a:xfrm>
        </p:spPr>
        <p:txBody>
          <a:bodyPr>
            <a:normAutofit/>
          </a:bodyPr>
          <a:lstStyle>
            <a:lvl1pPr>
              <a:defRPr sz="2701">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501" y="2560320"/>
            <a:ext cx="9445753" cy="3977640"/>
          </a:xfrm>
        </p:spPr>
        <p:txBody>
          <a:bodyPr rtlCol="0">
            <a:normAutofit/>
          </a:bodyPr>
          <a:lstStyle>
            <a:lvl1pPr>
              <a:defRPr lang="en-US" sz="1200" smtClean="0">
                <a:solidFill>
                  <a:schemeClr val="tx1">
                    <a:lumMod val="75000"/>
                    <a:lumOff val="25000"/>
                  </a:schemeClr>
                </a:solidFill>
                <a:latin typeface="Times New Roman" panose="02020603050405020304" pitchFamily="18" charset="0"/>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4025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930ADF8-94E5-4220-A61F-562A5FFF2652}"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3/12/2021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A0FCC8B3-8AA3-41AC-8D96-758D922C7515}"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28865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54"/>
            <a:ext cx="10363200" cy="1470025"/>
          </a:xfrm>
        </p:spPr>
        <p:txBody>
          <a:bodyPr/>
          <a:lstStyle>
            <a:lvl1pPr>
              <a:defRPr>
                <a:latin typeface="Times New Roman" panose="02020603050405020304" pitchFamily="18" charset="0"/>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atin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C885028-6C43-4AEC-8A23-5D273E1885A2}"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79579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6" name="Footer Placeholder 1"/>
          <p:cNvSpPr txBox="1">
            <a:spLocks/>
          </p:cNvSpPr>
          <p:nvPr userDrawn="1"/>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endParaRPr>
          </a:p>
        </p:txBody>
      </p:sp>
      <p:pic>
        <p:nvPicPr>
          <p:cNvPr id="7"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E2A845F-9870-47E0-86FF-D5B10359773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57145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9"/>
            <a:ext cx="10363200" cy="1362075"/>
          </a:xfrm>
        </p:spPr>
        <p:txBody>
          <a:bodyPr anchor="t"/>
          <a:lstStyle>
            <a:lvl1pPr algn="l">
              <a:defRPr sz="4000" b="1" cap="all">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F5C626-45A0-46EF-9E58-C3CA54F08697}"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59533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58AB801-7BEA-45FE-9251-E37D29ADF49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78382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6" y="1535113"/>
            <a:ext cx="5389033"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6" y="2174875"/>
            <a:ext cx="5389033"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8"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29322F2-0EB2-4313-997B-CA345170667A}"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92769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85B2490-8E55-4AAA-82F6-A3F7CF418A1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56941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A91D3B4-5A6F-40CA-BA29-7FF68EE686D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35050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a:xfrm>
            <a:off x="4766733" y="273079"/>
            <a:ext cx="6815667" cy="5853113"/>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374517C-903C-43ED-95C3-A2AD809374E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431090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73C90D4-9AED-4A31-BEA7-B4A13D9C0FAC}"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33452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B9408F8-F42D-44CD-8A8D-D9895C7851C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650731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67"/>
            <a:ext cx="2743200" cy="5851525"/>
          </a:xfrm>
        </p:spPr>
        <p:txBody>
          <a:bodyPr vert="eaVert"/>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a:xfrm>
            <a:off x="609600" y="274667"/>
            <a:ext cx="8026400" cy="5851525"/>
          </a:xfrm>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E006642-6D9E-4802-B51E-4A3620ABCF0D}"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9301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rPr>
              <a:t>MEC116– CAE (ỨNG DỤNG PHẦN MỀN THIẾT KẾ 3D)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8B3A981B-C2C6-4DFD-8CB5-5FAE08E7F329}"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469831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3075" name="Title Placeholder 1"/>
          <p:cNvSpPr>
            <a:spLocks noGrp="1" noChangeArrowheads="1"/>
          </p:cNvSpPr>
          <p:nvPr>
            <p:ph type="title"/>
          </p:nvPr>
        </p:nvSpPr>
        <p:spPr bwMode="auto">
          <a:xfrm>
            <a:off x="520700" y="447675"/>
            <a:ext cx="68770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76" name="Text Placeholder 2"/>
          <p:cNvSpPr>
            <a:spLocks noGrp="1" noChangeArrowheads="1"/>
          </p:cNvSpPr>
          <p:nvPr>
            <p:ph type="body" idx="1"/>
          </p:nvPr>
        </p:nvSpPr>
        <p:spPr bwMode="auto">
          <a:xfrm>
            <a:off x="539750" y="1435100"/>
            <a:ext cx="4414838"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539750" y="6203950"/>
            <a:ext cx="3276600" cy="365125"/>
          </a:xfrm>
          <a:prstGeom prst="rect">
            <a:avLst/>
          </a:prstGeom>
        </p:spPr>
        <p:txBody>
          <a:bodyPr vert="horz" wrap="square" lIns="91440" tIns="45720" rIns="91440" bIns="45720" numCol="1" anchor="ctr" anchorCtr="0" compatLnSpc="1">
            <a:prstTxWarp prst="textNoShape">
              <a:avLst/>
            </a:prstTxWarp>
          </a:bodyPr>
          <a:lstStyle>
            <a:lvl1pP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DBFA0E5-0631-4C6D-B27D-BF816283A6E3}"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3/12/2021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5" name="Footer Placeholder 4"/>
          <p:cNvSpPr>
            <a:spLocks noGrp="1"/>
          </p:cNvSpPr>
          <p:nvPr>
            <p:ph type="ftr" sz="quarter" idx="3"/>
          </p:nvPr>
        </p:nvSpPr>
        <p:spPr>
          <a:xfrm>
            <a:off x="4648200" y="62039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6" name="Slide Number Placeholder 5"/>
          <p:cNvSpPr>
            <a:spLocks noGrp="1"/>
          </p:cNvSpPr>
          <p:nvPr>
            <p:ph type="sldNum" sz="quarter" idx="4"/>
          </p:nvPr>
        </p:nvSpPr>
        <p:spPr>
          <a:xfrm>
            <a:off x="8375650" y="6203950"/>
            <a:ext cx="3276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lnSpc>
                <a:spcPct val="80000"/>
              </a:lnSpc>
              <a:spcBef>
                <a:spcPct val="20000"/>
              </a:spcBef>
              <a:buFontTx/>
              <a:buChar char="•"/>
              <a:defRPr sz="800">
                <a:solidFill>
                  <a:srgbClr val="595959"/>
                </a:solidFill>
                <a:latin typeface="Times New Roman" panose="02020603050405020304" pitchFamily="18" charset="0"/>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5289B5E9-CF14-479A-B1BA-9851330519EC}"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cxnSp>
        <p:nvCxnSpPr>
          <p:cNvPr id="8" name="Straight Connector 7"/>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3852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685800" rtl="0" eaLnBrk="0" fontAlgn="base" hangingPunct="0">
        <a:spcBef>
          <a:spcPct val="0"/>
        </a:spcBef>
        <a:spcAft>
          <a:spcPct val="0"/>
        </a:spcAft>
        <a:defRPr sz="2400" kern="1200">
          <a:solidFill>
            <a:schemeClr val="tx1"/>
          </a:solidFill>
          <a:latin typeface="Times New Roman" panose="02020603050405020304" pitchFamily="18" charset="0"/>
          <a:ea typeface="+mj-ea"/>
          <a:cs typeface="+mj-cs"/>
        </a:defRPr>
      </a:lvl1pPr>
      <a:lvl2pPr algn="l" defTabSz="685800" rtl="0" eaLnBrk="0" fontAlgn="base" hangingPunct="0">
        <a:spcBef>
          <a:spcPct val="0"/>
        </a:spcBef>
        <a:spcAft>
          <a:spcPct val="0"/>
        </a:spcAft>
        <a:defRPr sz="2400">
          <a:solidFill>
            <a:schemeClr val="tx1"/>
          </a:solidFill>
          <a:latin typeface="Times New Roman" panose="02020603050405020304" pitchFamily="18" charset="0"/>
        </a:defRPr>
      </a:lvl2pPr>
      <a:lvl3pPr algn="l" defTabSz="685800" rtl="0" eaLnBrk="0" fontAlgn="base" hangingPunct="0">
        <a:spcBef>
          <a:spcPct val="0"/>
        </a:spcBef>
        <a:spcAft>
          <a:spcPct val="0"/>
        </a:spcAft>
        <a:defRPr sz="2400">
          <a:solidFill>
            <a:schemeClr val="tx1"/>
          </a:solidFill>
          <a:latin typeface="Times New Roman" panose="02020603050405020304" pitchFamily="18" charset="0"/>
        </a:defRPr>
      </a:lvl3pPr>
      <a:lvl4pPr algn="l" defTabSz="685800" rtl="0" eaLnBrk="0" fontAlgn="base" hangingPunct="0">
        <a:spcBef>
          <a:spcPct val="0"/>
        </a:spcBef>
        <a:spcAft>
          <a:spcPct val="0"/>
        </a:spcAft>
        <a:defRPr sz="2400">
          <a:solidFill>
            <a:schemeClr val="tx1"/>
          </a:solidFill>
          <a:latin typeface="Times New Roman" panose="02020603050405020304" pitchFamily="18" charset="0"/>
        </a:defRPr>
      </a:lvl4pPr>
      <a:lvl5pPr algn="l" defTabSz="685800" rtl="0" eaLnBrk="0" fontAlgn="base" hangingPunct="0">
        <a:spcBef>
          <a:spcPct val="0"/>
        </a:spcBef>
        <a:spcAft>
          <a:spcPct val="0"/>
        </a:spcAft>
        <a:defRPr sz="2400">
          <a:solidFill>
            <a:schemeClr val="tx1"/>
          </a:solidFill>
          <a:latin typeface="Times New Roman" panose="02020603050405020304" pitchFamily="18" charset="0"/>
        </a:defRPr>
      </a:lvl5pPr>
      <a:lvl6pPr marL="457200" algn="l" defTabSz="685800" rtl="0" fontAlgn="base">
        <a:spcBef>
          <a:spcPct val="0"/>
        </a:spcBef>
        <a:spcAft>
          <a:spcPct val="0"/>
        </a:spcAft>
        <a:defRPr sz="2400">
          <a:solidFill>
            <a:schemeClr val="tx1"/>
          </a:solidFill>
          <a:latin typeface="Segoe UI Light" panose="020B0502040204020203" pitchFamily="34" charset="0"/>
        </a:defRPr>
      </a:lvl6pPr>
      <a:lvl7pPr marL="914400" algn="l" defTabSz="685800" rtl="0" fontAlgn="base">
        <a:spcBef>
          <a:spcPct val="0"/>
        </a:spcBef>
        <a:spcAft>
          <a:spcPct val="0"/>
        </a:spcAft>
        <a:defRPr sz="2400">
          <a:solidFill>
            <a:schemeClr val="tx1"/>
          </a:solidFill>
          <a:latin typeface="Segoe UI Light" panose="020B0502040204020203" pitchFamily="34" charset="0"/>
        </a:defRPr>
      </a:lvl7pPr>
      <a:lvl8pPr marL="1371600" algn="l" defTabSz="685800" rtl="0" fontAlgn="base">
        <a:spcBef>
          <a:spcPct val="0"/>
        </a:spcBef>
        <a:spcAft>
          <a:spcPct val="0"/>
        </a:spcAft>
        <a:defRPr sz="2400">
          <a:solidFill>
            <a:schemeClr val="tx1"/>
          </a:solidFill>
          <a:latin typeface="Segoe UI Light" panose="020B0502040204020203" pitchFamily="34" charset="0"/>
        </a:defRPr>
      </a:lvl8pPr>
      <a:lvl9pPr marL="1828800" algn="l" defTabSz="685800" rtl="0" fontAlgn="base">
        <a:spcBef>
          <a:spcPct val="0"/>
        </a:spcBef>
        <a:spcAft>
          <a:spcPct val="0"/>
        </a:spcAft>
        <a:defRPr sz="2400">
          <a:solidFill>
            <a:schemeClr val="tx1"/>
          </a:solidFill>
          <a:latin typeface="Segoe UI Light" panose="020B0502040204020203" pitchFamily="34" charset="0"/>
        </a:defRPr>
      </a:lvl9pPr>
    </p:titleStyle>
    <p:bodyStyle>
      <a:lvl1pPr marL="342900" indent="-342900" algn="l" defTabSz="685800" rtl="0" eaLnBrk="0" fontAlgn="base" hangingPunct="0">
        <a:lnSpc>
          <a:spcPct val="150000"/>
        </a:lnSpc>
        <a:spcBef>
          <a:spcPts val="750"/>
        </a:spcBef>
        <a:spcAft>
          <a:spcPts val="900"/>
        </a:spcAft>
        <a:defRPr lang="en-US" sz="1200" kern="1200" dirty="0">
          <a:solidFill>
            <a:schemeClr val="tx1"/>
          </a:solidFill>
          <a:latin typeface="Times New Roman" panose="02020603050405020304" pitchFamily="18" charset="0"/>
          <a:ea typeface="+mn-ea"/>
          <a:cs typeface="+mn-cs"/>
        </a:defRPr>
      </a:lvl1pPr>
      <a:lvl2pPr marL="1714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2pPr>
      <a:lvl3pPr marL="5143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3pPr>
      <a:lvl4pPr marL="8572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4pPr>
      <a:lvl5pPr marL="12001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5pPr>
      <a:lvl6pPr marL="154312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6pPr>
      <a:lvl7pPr marL="1886038"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7pPr>
      <a:lvl8pPr marL="222895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8pPr>
      <a:lvl9pPr marL="2571870" indent="-171458" algn="l" defTabSz="685832" rtl="0" eaLnBrk="1" latinLnBrk="0" hangingPunct="1">
        <a:lnSpc>
          <a:spcPct val="90000"/>
        </a:lnSpc>
        <a:spcBef>
          <a:spcPct val="30000"/>
        </a:spcBef>
        <a:buFont typeface="Arial" panose="020B0604020202020204" pitchFamily="34" charset="0"/>
        <a:buNone/>
        <a:defRPr sz="899" kern="1200">
          <a:solidFill>
            <a:schemeClr val="tx1"/>
          </a:solidFill>
          <a:latin typeface="+mn-lt"/>
          <a:ea typeface="+mn-ea"/>
          <a:cs typeface="+mn-cs"/>
        </a:defRPr>
      </a:lvl9pPr>
    </p:bodyStyle>
    <p:otherStyle>
      <a:defPPr>
        <a:defRPr lang="en-US"/>
      </a:defPPr>
      <a:lvl1pPr marL="0" algn="l" defTabSz="685832" rtl="0" eaLnBrk="1" latinLnBrk="0" hangingPunct="1">
        <a:defRPr sz="1349" kern="1200">
          <a:solidFill>
            <a:schemeClr val="tx1"/>
          </a:solidFill>
          <a:latin typeface="+mn-lt"/>
          <a:ea typeface="+mn-ea"/>
          <a:cs typeface="+mn-cs"/>
        </a:defRPr>
      </a:lvl1pPr>
      <a:lvl2pPr marL="342917" algn="l" defTabSz="685832" rtl="0" eaLnBrk="1" latinLnBrk="0" hangingPunct="1">
        <a:defRPr sz="1349" kern="1200">
          <a:solidFill>
            <a:schemeClr val="tx1"/>
          </a:solidFill>
          <a:latin typeface="+mn-lt"/>
          <a:ea typeface="+mn-ea"/>
          <a:cs typeface="+mn-cs"/>
        </a:defRPr>
      </a:lvl2pPr>
      <a:lvl3pPr marL="685832" algn="l" defTabSz="685832" rtl="0" eaLnBrk="1" latinLnBrk="0" hangingPunct="1">
        <a:defRPr sz="1349" kern="1200">
          <a:solidFill>
            <a:schemeClr val="tx1"/>
          </a:solidFill>
          <a:latin typeface="+mn-lt"/>
          <a:ea typeface="+mn-ea"/>
          <a:cs typeface="+mn-cs"/>
        </a:defRPr>
      </a:lvl3pPr>
      <a:lvl4pPr marL="1028749" algn="l" defTabSz="685832" rtl="0" eaLnBrk="1" latinLnBrk="0" hangingPunct="1">
        <a:defRPr sz="1349" kern="1200">
          <a:solidFill>
            <a:schemeClr val="tx1"/>
          </a:solidFill>
          <a:latin typeface="+mn-lt"/>
          <a:ea typeface="+mn-ea"/>
          <a:cs typeface="+mn-cs"/>
        </a:defRPr>
      </a:lvl4pPr>
      <a:lvl5pPr marL="1371663" algn="l" defTabSz="685832" rtl="0" eaLnBrk="1" latinLnBrk="0" hangingPunct="1">
        <a:defRPr sz="1349" kern="1200">
          <a:solidFill>
            <a:schemeClr val="tx1"/>
          </a:solidFill>
          <a:latin typeface="+mn-lt"/>
          <a:ea typeface="+mn-ea"/>
          <a:cs typeface="+mn-cs"/>
        </a:defRPr>
      </a:lvl5pPr>
      <a:lvl6pPr marL="1714580" algn="l" defTabSz="685832" rtl="0" eaLnBrk="1" latinLnBrk="0" hangingPunct="1">
        <a:defRPr sz="1349" kern="1200">
          <a:solidFill>
            <a:schemeClr val="tx1"/>
          </a:solidFill>
          <a:latin typeface="+mn-lt"/>
          <a:ea typeface="+mn-ea"/>
          <a:cs typeface="+mn-cs"/>
        </a:defRPr>
      </a:lvl6pPr>
      <a:lvl7pPr marL="2057496" algn="l" defTabSz="685832" rtl="0" eaLnBrk="1" latinLnBrk="0" hangingPunct="1">
        <a:defRPr sz="1349" kern="1200">
          <a:solidFill>
            <a:schemeClr val="tx1"/>
          </a:solidFill>
          <a:latin typeface="+mn-lt"/>
          <a:ea typeface="+mn-ea"/>
          <a:cs typeface="+mn-cs"/>
        </a:defRPr>
      </a:lvl7pPr>
      <a:lvl8pPr marL="2400413" algn="l" defTabSz="685832" rtl="0" eaLnBrk="1" latinLnBrk="0" hangingPunct="1">
        <a:defRPr sz="1349" kern="1200">
          <a:solidFill>
            <a:schemeClr val="tx1"/>
          </a:solidFill>
          <a:latin typeface="+mn-lt"/>
          <a:ea typeface="+mn-ea"/>
          <a:cs typeface="+mn-cs"/>
        </a:defRPr>
      </a:lvl8pPr>
      <a:lvl9pPr marL="2743328" algn="l" defTabSz="685832" rtl="0" eaLnBrk="1" latinLnBrk="0" hangingPunct="1">
        <a:defRPr sz="134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smtClean="0">
                <a:solidFill>
                  <a:srgbClr val="000000"/>
                </a:solidFill>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smtClean="0">
                <a:solidFill>
                  <a:srgbClr val="000000"/>
                </a:solidFill>
                <a:latin typeface="Times New Roman"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rgbClr val="000000"/>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9DAAEFA-6D00-4774-9254-65936C3AE482}"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4976780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rtl="0" eaLnBrk="0" fontAlgn="base" hangingPunct="0">
        <a:spcBef>
          <a:spcPct val="0"/>
        </a:spcBef>
        <a:spcAft>
          <a:spcPct val="0"/>
        </a:spcAft>
        <a:defRPr sz="4400">
          <a:solidFill>
            <a:schemeClr val="tx2"/>
          </a:solidFill>
          <a:latin typeface="Times New Roman" panose="02020603050405020304" pitchFamily="18" charset="0"/>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Times New Roman" panose="02020603050405020304" pitchFamily="18" charset="0"/>
        </a:defRPr>
      </a:lvl2pPr>
      <a:lvl3pPr marL="1143000" indent="-228600" algn="l" rtl="0" eaLnBrk="0" fontAlgn="base" hangingPunct="0">
        <a:spcBef>
          <a:spcPct val="20000"/>
        </a:spcBef>
        <a:spcAft>
          <a:spcPct val="0"/>
        </a:spcAft>
        <a:buChar char="•"/>
        <a:defRPr sz="2400">
          <a:solidFill>
            <a:schemeClr val="tx1"/>
          </a:solidFill>
          <a:latin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598613" y="1568450"/>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lang="en-US" altLang="en-US" dirty="0">
                <a:solidFill>
                  <a:prstClr val="white"/>
                </a:solidFill>
                <a:latin typeface="Times New Roman" panose="02020603050405020304" pitchFamily="18" charset="0"/>
                <a:ea typeface="+mj-ea"/>
                <a:cs typeface="Times New Roman" panose="02020603050405020304" pitchFamily="18" charset="0"/>
              </a:rPr>
              <a:t>SYLLABUS</a:t>
            </a:r>
            <a:br>
              <a:rPr lang="en-US" altLang="en-US" dirty="0">
                <a:solidFill>
                  <a:prstClr val="white"/>
                </a:solidFill>
                <a:latin typeface="Times New Roman" panose="02020603050405020304" pitchFamily="18" charset="0"/>
                <a:ea typeface="+mj-ea"/>
                <a:cs typeface="Times New Roman" panose="02020603050405020304" pitchFamily="18" charset="0"/>
              </a:rPr>
            </a:br>
            <a:r>
              <a:rPr lang="en-US" altLang="en-US" sz="4000" dirty="0">
                <a:solidFill>
                  <a:srgbClr val="FFFF00"/>
                </a:solidFill>
                <a:latin typeface="Times New Roman" panose="02020603050405020304" pitchFamily="18" charset="0"/>
                <a:ea typeface="+mj-ea"/>
                <a:cs typeface="Times New Roman" panose="02020603050405020304" pitchFamily="18" charset="0"/>
              </a:rPr>
              <a:t> </a:t>
            </a:r>
            <a:br>
              <a:rPr lang="en-US" altLang="en-US" sz="4000" dirty="0">
                <a:solidFill>
                  <a:srgbClr val="FFFF00"/>
                </a:solidFill>
                <a:latin typeface="Times New Roman" panose="02020603050405020304" pitchFamily="18" charset="0"/>
                <a:ea typeface="+mj-ea"/>
                <a:cs typeface="Times New Roman" panose="02020603050405020304" pitchFamily="18" charset="0"/>
              </a:rPr>
            </a:br>
            <a:r>
              <a:rPr lang="vi-VN" altLang="en-US" sz="4000" dirty="0">
                <a:solidFill>
                  <a:prstClr val="white"/>
                </a:solidFill>
                <a:latin typeface="Times New Roman" panose="02020603050405020304" pitchFamily="18" charset="0"/>
                <a:ea typeface="+mj-ea"/>
                <a:cs typeface="Times New Roman" panose="02020603050405020304" pitchFamily="18" charset="0"/>
              </a:rPr>
              <a:t>PLC </a:t>
            </a:r>
            <a:r>
              <a:rPr lang="en-GB" altLang="en-US" sz="4000" dirty="0">
                <a:solidFill>
                  <a:prstClr val="white"/>
                </a:solidFill>
                <a:latin typeface="Times New Roman" panose="02020603050405020304" pitchFamily="18" charset="0"/>
                <a:ea typeface="+mj-ea"/>
                <a:cs typeface="Times New Roman" panose="02020603050405020304" pitchFamily="18" charset="0"/>
              </a:rPr>
              <a:t>NÂNG CAO</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7559" y="3573462"/>
            <a:ext cx="5846108" cy="2879725"/>
          </a:xfrm>
          <a:prstGeom prst="rect">
            <a:avLst/>
          </a:prstGeom>
        </p:spPr>
      </p:pic>
    </p:spTree>
    <p:extLst>
      <p:ext uri="{BB962C8B-B14F-4D97-AF65-F5344CB8AC3E}">
        <p14:creationId xmlns:p14="http://schemas.microsoft.com/office/powerpoint/2010/main" val="130461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 </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3"/>
          <p:cNvSpPr txBox="1">
            <a:spLocks noChangeArrowheads="1"/>
          </p:cNvSpPr>
          <p:nvPr/>
        </p:nvSpPr>
        <p:spPr bwMode="auto">
          <a:xfrm>
            <a:off x="1186544" y="1034256"/>
            <a:ext cx="100345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dirty="0">
                <a:latin typeface="Times New Roman" panose="02020603050405020304" pitchFamily="18" charset="0"/>
                <a:cs typeface="Times New Roman" panose="02020603050405020304" pitchFamily="18" charset="0"/>
              </a:rPr>
              <a:t>SAU KHI HỌC XONG MÔN HỌC NÀY, NGƯỜI HỌC CÓ KHẢ NĂNG:</a:t>
            </a:r>
          </a:p>
        </p:txBody>
      </p:sp>
      <p:sp>
        <p:nvSpPr>
          <p:cNvPr id="14" name="Rectangle 2"/>
          <p:cNvSpPr>
            <a:spLocks noChangeArrowheads="1"/>
          </p:cNvSpPr>
          <p:nvPr/>
        </p:nvSpPr>
        <p:spPr bwMode="auto">
          <a:xfrm>
            <a:off x="1140506" y="1731963"/>
            <a:ext cx="10080625"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G1: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dây</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chuyền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tế</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G2: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tiễn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trạm</a:t>
            </a:r>
            <a:r>
              <a:rPr lang="en-US" altLang="en-US" sz="2400" b="0" dirty="0">
                <a:latin typeface="Times New Roman" panose="02020603050405020304" pitchFamily="18" charset="0"/>
                <a:cs typeface="Times New Roman" panose="02020603050405020304" pitchFamily="18" charset="0"/>
              </a:rPr>
              <a:t>/</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bộ</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điều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khiển</a:t>
            </a:r>
            <a:r>
              <a:rPr lang="en-US" altLang="en-US" sz="2400" b="0" dirty="0">
                <a:latin typeface="Times New Roman" panose="02020603050405020304" pitchFamily="18" charset="0"/>
                <a:cs typeface="Times New Roman" panose="02020603050405020304" pitchFamily="18" charset="0"/>
              </a:rPr>
              <a:t> PLC</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G3: </a:t>
            </a:r>
            <a:r>
              <a:rPr lang="en-US" altLang="en-US" sz="2400" b="0" dirty="0" err="1">
                <a:latin typeface="Times New Roman" panose="02020603050405020304" pitchFamily="18" charset="0"/>
                <a:cs typeface="Times New Roman" panose="02020603050405020304" pitchFamily="18" charset="0"/>
              </a:rPr>
              <a:t>Đo</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lường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kiểm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sô</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đặt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PLC.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G4: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ráp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hành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thiết</a:t>
            </a:r>
            <a:r>
              <a:rPr lang="en-US" altLang="en-US" sz="2400" b="0" dirty="0">
                <a:latin typeface="Times New Roman" panose="02020603050405020304" pitchFamily="18" charset="0"/>
                <a:cs typeface="Times New Roman" panose="02020603050405020304" pitchFamily="18" charset="0"/>
              </a:rPr>
              <a:t> bị </a:t>
            </a:r>
            <a:r>
              <a:rPr lang="en-US" altLang="en-US" sz="2400" b="0" dirty="0" err="1">
                <a:latin typeface="Times New Roman" panose="02020603050405020304" pitchFamily="18" charset="0"/>
                <a:cs typeface="Times New Roman" panose="02020603050405020304" pitchFamily="18" charset="0"/>
              </a:rPr>
              <a:t>điện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thể</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đánh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giá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tình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xử</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sự</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cố</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chỉnh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bị</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ngoại</a:t>
            </a:r>
            <a:r>
              <a:rPr lang="en-US" altLang="en-US" sz="2400" b="0" dirty="0">
                <a:latin typeface="Times New Roman" panose="02020603050405020304" pitchFamily="18" charset="0"/>
                <a:cs typeface="Times New Roman" panose="02020603050405020304" pitchFamily="18" charset="0"/>
              </a:rPr>
              <a:t> vi (</a:t>
            </a:r>
            <a:r>
              <a:rPr lang="en-US" altLang="en-US" sz="2400" b="0" dirty="0" err="1">
                <a:latin typeface="Times New Roman" panose="02020603050405020304" pitchFamily="18" charset="0"/>
                <a:cs typeface="Times New Roman" panose="02020603050405020304" pitchFamily="18" charset="0"/>
              </a:rPr>
              <a:t>cảm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tắc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domino, ...).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G5: </a:t>
            </a:r>
            <a:r>
              <a:rPr lang="en-US" altLang="en-US" sz="2400" b="0" dirty="0" err="1">
                <a:latin typeface="Times New Roman" panose="02020603050405020304" pitchFamily="18" charset="0"/>
                <a:cs typeface="Times New Roman" panose="02020603050405020304" pitchFamily="18" charset="0"/>
              </a:rPr>
              <a:t>Rèn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luyện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cẩn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thận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mỉ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toán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chủ</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tổ</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chức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xếp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a:t>
            </a:r>
            <a:r>
              <a:rPr lang="en-US" altLang="en-US" sz="2400" b="0" dirty="0">
                <a:latin typeface="Times New Roman" panose="02020603050405020304" pitchFamily="18" charset="0"/>
                <a:cs typeface="Times New Roman" panose="02020603050405020304" pitchFamily="18" charset="0"/>
              </a:rPr>
              <a:t>. </a:t>
            </a:r>
            <a:endParaRPr lang="en-GB" altLang="en-US" sz="2400" b="0" dirty="0">
              <a:latin typeface="Times New Roman" panose="02020603050405020304" pitchFamily="18" charset="0"/>
              <a:cs typeface="Times New Roman" panose="02020603050405020304" pitchFamily="18" charset="0"/>
            </a:endParaRPr>
          </a:p>
        </p:txBody>
      </p:sp>
      <p:sp>
        <p:nvSpPr>
          <p:cNvPr id="15" name="Title 1"/>
          <p:cNvSpPr txBox="1">
            <a:spLocks/>
          </p:cNvSpPr>
          <p:nvPr/>
        </p:nvSpPr>
        <p:spPr>
          <a:xfrm>
            <a:off x="8086725" y="247650"/>
            <a:ext cx="3648075" cy="487363"/>
          </a:xfrm>
          <a:prstGeom prst="rect">
            <a:avLst/>
          </a:prstGeom>
        </p:spPr>
        <p:txBody>
          <a:bodyPr anchor="ctr"/>
          <a:lstStyle>
            <a:lvl1pPr>
              <a:defRPr sz="2800">
                <a:solidFill>
                  <a:schemeClr val="tx1"/>
                </a:solidFill>
                <a:latin typeface="Calibri" pitchFamily="34" charset="0"/>
              </a:defRPr>
            </a:lvl1pPr>
            <a:lvl2pPr marL="742950" indent="-285750">
              <a:defRPr sz="2400">
                <a:solidFill>
                  <a:schemeClr val="tx1"/>
                </a:solidFill>
                <a:latin typeface="Calibri" pitchFamily="34" charset="0"/>
              </a:defRPr>
            </a:lvl2pPr>
            <a:lvl3pPr>
              <a:defRPr sz="2000">
                <a:solidFill>
                  <a:schemeClr val="tx1"/>
                </a:solidFill>
                <a:latin typeface="Calibri" pitchFamily="34" charset="0"/>
              </a:defRPr>
            </a:lvl3pPr>
            <a:lvl4pPr>
              <a:defRPr>
                <a:solidFill>
                  <a:schemeClr val="tx1"/>
                </a:solidFill>
                <a:latin typeface="Calibri" pitchFamily="34" charset="0"/>
              </a:defRPr>
            </a:lvl4pPr>
            <a:lvl5pPr>
              <a:defRPr>
                <a:solidFill>
                  <a:schemeClr val="tx1"/>
                </a:solidFill>
                <a:latin typeface="Calibri" pitchFamily="34" charset="0"/>
              </a:defRPr>
            </a:lvl5pPr>
            <a:lvl6pPr eaLnBrk="0" fontAlgn="base" hangingPunct="0">
              <a:spcAft>
                <a:spcPct val="0"/>
              </a:spcAft>
              <a:defRPr>
                <a:solidFill>
                  <a:schemeClr val="tx1"/>
                </a:solidFill>
                <a:latin typeface="Calibri" pitchFamily="34" charset="0"/>
              </a:defRPr>
            </a:lvl6pPr>
            <a:lvl7pPr eaLnBrk="0" fontAlgn="base" hangingPunct="0">
              <a:spcAft>
                <a:spcPct val="0"/>
              </a:spcAft>
              <a:defRPr>
                <a:solidFill>
                  <a:schemeClr val="tx1"/>
                </a:solidFill>
                <a:latin typeface="Calibri" pitchFamily="34" charset="0"/>
              </a:defRPr>
            </a:lvl7pPr>
            <a:lvl8pPr eaLnBrk="0" fontAlgn="base" hangingPunct="0">
              <a:spcAft>
                <a:spcPct val="0"/>
              </a:spcAft>
              <a:defRPr>
                <a:solidFill>
                  <a:schemeClr val="tx1"/>
                </a:solidFill>
                <a:latin typeface="Calibri" pitchFamily="34" charset="0"/>
              </a:defRPr>
            </a:lvl8pPr>
            <a:lvl9pPr eaLnBrk="0" fontAlgn="base" hangingPunct="0">
              <a:spcAft>
                <a:spcPct val="0"/>
              </a:spcAft>
              <a:defRPr>
                <a:solidFill>
                  <a:schemeClr val="tx1"/>
                </a:solidFill>
                <a:latin typeface="Calibri" pitchFamily="34" charset="0"/>
              </a:defRPr>
            </a:lvl9pPr>
          </a:lstStyle>
          <a:p>
            <a:pPr algn="r" eaLnBrk="1" hangingPunct="1">
              <a:defRPr/>
            </a:pPr>
            <a:r>
              <a:rPr lang="en-US" sz="2000" dirty="0">
                <a:solidFill>
                  <a:srgbClr val="FF5A33"/>
                </a:solidFill>
                <a:effectLst>
                  <a:outerShdw blurRad="38100" dist="38100" dir="2700000" algn="tl">
                    <a:srgbClr val="C0C0C0"/>
                  </a:outerShdw>
                </a:effectLst>
                <a:latin typeface="Times New Roman" pitchFamily="18" charset="0"/>
                <a:cs typeface="Times New Roman" pitchFamily="18" charset="0"/>
              </a:rPr>
              <a:t>ĐỀ CƯƠNG CHI TIẾT</a:t>
            </a:r>
          </a:p>
        </p:txBody>
      </p:sp>
    </p:spTree>
    <p:extLst>
      <p:ext uri="{BB962C8B-B14F-4D97-AF65-F5344CB8AC3E}">
        <p14:creationId xmlns:p14="http://schemas.microsoft.com/office/powerpoint/2010/main" val="266558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216240" y="1135856"/>
            <a:ext cx="9759518"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srgbClr val="FFFFFF"/>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 9:</a:t>
            </a:r>
            <a:b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br>
            <a:r>
              <a:rPr lang="en-US" altLang="en-US" sz="3200" dirty="0">
                <a:solidFill>
                  <a:srgbClr val="FFFFFF"/>
                </a:solidFill>
                <a:latin typeface="Times New Roman" panose="02020603050405020304" pitchFamily="18" charset="0"/>
                <a:cs typeface="Times New Roman" panose="02020603050405020304" pitchFamily="18" charset="0"/>
              </a:rPr>
              <a:t>GIẢI PHÁP NÂNG CẤP HỆ THỐNG PLC</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2" name="AutoShape 2" descr="SIMATIC SCADA Systems | Automation Software | Siemens Glob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6325" y="3573463"/>
            <a:ext cx="5280734" cy="2858197"/>
          </a:xfrm>
          <a:prstGeom prst="rect">
            <a:avLst/>
          </a:prstGeom>
        </p:spPr>
      </p:pic>
    </p:spTree>
    <p:extLst>
      <p:ext uri="{BB962C8B-B14F-4D97-AF65-F5344CB8AC3E}">
        <p14:creationId xmlns:p14="http://schemas.microsoft.com/office/powerpoint/2010/main" val="3477818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047565" y="534988"/>
            <a:ext cx="10156054"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9:</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en-US" altLang="en-US" sz="3200" dirty="0">
                <a:solidFill>
                  <a:prstClr val="black"/>
                </a:solidFill>
                <a:latin typeface="Times New Roman" panose="02020603050405020304" pitchFamily="18" charset="0"/>
                <a:cs typeface="Times New Roman" panose="02020603050405020304" pitchFamily="18" charset="0"/>
              </a:rPr>
              <a:t>GIẢI PHÁP NÂNG CẤP HỆ THỐNG PLC</a:t>
            </a:r>
            <a:endPar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p:cNvSpPr/>
          <p:nvPr/>
        </p:nvSpPr>
        <p:spPr>
          <a:xfrm>
            <a:off x="1047565" y="1883638"/>
            <a:ext cx="10156054" cy="369332"/>
          </a:xfrm>
          <a:prstGeom prst="rect">
            <a:avLst/>
          </a:prstGeom>
        </p:spPr>
        <p:txBody>
          <a:bodyPr wrap="square">
            <a:spAutoFit/>
          </a:bodyPr>
          <a:lstStyle/>
          <a:p>
            <a:pPr algn="ctr"/>
            <a:r>
              <a:rPr lang="en-US" b="1" dirty="0">
                <a:latin typeface="Times New Roman" panose="02020603050405020304" pitchFamily="18" charset="0"/>
                <a:cs typeface="Times New Roman" panose="02020603050405020304" pitchFamily="18" charset="0"/>
              </a:rPr>
              <a:t>9.1. </a:t>
            </a:r>
            <a:r>
              <a:rPr lang="en-US" b="1" dirty="0" err="1">
                <a:latin typeface="Times New Roman" panose="02020603050405020304" pitchFamily="18" charset="0"/>
                <a:cs typeface="Times New Roman" panose="02020603050405020304" pitchFamily="18" charset="0"/>
              </a:rPr>
              <a:t>Chuyển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đổi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hệ</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thống</a:t>
            </a:r>
            <a:r>
              <a:rPr lang="en-US" b="1" dirty="0">
                <a:latin typeface="Times New Roman" panose="02020603050405020304" pitchFamily="18" charset="0"/>
                <a:cs typeface="Times New Roman" panose="02020603050405020304" pitchFamily="18" charset="0"/>
              </a:rPr>
              <a:t> PLC S7-200 </a:t>
            </a:r>
            <a:r>
              <a:rPr lang="en-US" b="1" dirty="0" err="1">
                <a:latin typeface="Times New Roman" panose="02020603050405020304" pitchFamily="18" charset="0"/>
                <a:cs typeface="Times New Roman" panose="02020603050405020304" pitchFamily="18" charset="0"/>
              </a:rPr>
              <a:t>lên</a:t>
            </a:r>
            <a:r>
              <a:rPr lang="en-US" b="1" dirty="0">
                <a:latin typeface="Times New Roman" panose="02020603050405020304" pitchFamily="18" charset="0"/>
                <a:cs typeface="Times New Roman" panose="02020603050405020304" pitchFamily="18" charset="0"/>
              </a:rPr>
              <a:t> S7-1200</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77196" y="3266982"/>
            <a:ext cx="4663736" cy="2623352"/>
          </a:xfrm>
          <a:prstGeom prst="rect">
            <a:avLst/>
          </a:prstGeom>
        </p:spPr>
      </p:pic>
    </p:spTree>
    <p:extLst>
      <p:ext uri="{BB962C8B-B14F-4D97-AF65-F5344CB8AC3E}">
        <p14:creationId xmlns:p14="http://schemas.microsoft.com/office/powerpoint/2010/main" val="21118521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2000" dirty="0">
                <a:latin typeface="Times New Roman" panose="02020603050405020304" pitchFamily="18" charset="0"/>
                <a:cs typeface="Times New Roman" panose="02020603050405020304" pitchFamily="18" charset="0"/>
              </a:rPr>
              <a:t>9.1. </a:t>
            </a:r>
            <a:r>
              <a:rPr lang="en-US" sz="2000" dirty="0" err="1">
                <a:latin typeface="Times New Roman" panose="02020603050405020304" pitchFamily="18" charset="0"/>
                <a:cs typeface="Times New Roman" panose="02020603050405020304" pitchFamily="18" charset="0"/>
              </a:rPr>
              <a:t>Chuyển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đổi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hệ</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thống</a:t>
            </a:r>
            <a:r>
              <a:rPr lang="en-US" sz="2000" dirty="0">
                <a:latin typeface="Times New Roman" panose="02020603050405020304" pitchFamily="18" charset="0"/>
                <a:cs typeface="Times New Roman" panose="02020603050405020304" pitchFamily="18" charset="0"/>
              </a:rPr>
              <a:t> PLC S7-200 </a:t>
            </a:r>
            <a:r>
              <a:rPr lang="en-US" sz="2000" dirty="0" err="1">
                <a:latin typeface="Times New Roman" panose="02020603050405020304" pitchFamily="18" charset="0"/>
                <a:cs typeface="Times New Roman" panose="02020603050405020304" pitchFamily="18" charset="0"/>
              </a:rPr>
              <a:t>lên</a:t>
            </a:r>
            <a:r>
              <a:rPr lang="en-US" sz="2000" dirty="0">
                <a:latin typeface="Times New Roman" panose="02020603050405020304" pitchFamily="18" charset="0"/>
                <a:cs typeface="Times New Roman" panose="02020603050405020304" pitchFamily="18" charset="0"/>
              </a:rPr>
              <a:t> S7-1200</a:t>
            </a:r>
          </a:p>
        </p:txBody>
      </p:sp>
      <p:sp>
        <p:nvSpPr>
          <p:cNvPr id="8" name="TextBox 7"/>
          <p:cNvSpPr txBox="1"/>
          <p:nvPr/>
        </p:nvSpPr>
        <p:spPr>
          <a:xfrm>
            <a:off x="457200" y="1368608"/>
            <a:ext cx="11277600" cy="2169825"/>
          </a:xfrm>
          <a:prstGeom prst="rect">
            <a:avLst/>
          </a:prstGeom>
          <a:noFill/>
        </p:spPr>
        <p:txBody>
          <a:bodyPr wrap="square" rtlCol="0">
            <a:spAutoFit/>
          </a:bodyPr>
          <a:lstStyle/>
          <a:p>
            <a:pPr marL="214313" indent="-214313" defTabSz="685800" eaLnBrk="0" fontAlgn="base" hangingPunct="0">
              <a:lnSpc>
                <a:spcPct val="150000"/>
              </a:lnSpc>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Nâng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chương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hệ</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thống</a:t>
            </a:r>
            <a:r>
              <a:rPr lang="en-US" dirty="0">
                <a:solidFill>
                  <a:prstClr val="black"/>
                </a:solidFill>
                <a:latin typeface="Times New Roman" panose="02020603050405020304" pitchFamily="18" charset="0"/>
                <a:cs typeface="Times New Roman" panose="02020603050405020304" pitchFamily="18" charset="0"/>
              </a:rPr>
              <a:t>: PLC, HMI, SCADA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đấu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nối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lại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hệ</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thống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điện</a:t>
            </a:r>
            <a:r>
              <a:rPr lang="en-US" dirty="0">
                <a:solidFill>
                  <a:prstClr val="black"/>
                </a:solidFill>
                <a:latin typeface="Times New Roman" panose="02020603050405020304" pitchFamily="18" charset="0"/>
                <a:cs typeface="Times New Roman" panose="02020603050405020304" pitchFamily="18" charset="0"/>
              </a:rPr>
              <a:t>.</a:t>
            </a:r>
          </a:p>
          <a:p>
            <a:pPr marL="214313" indent="-214313" defTabSz="685800" eaLnBrk="0" fontAlgn="base" hangingPunct="0">
              <a:lnSpc>
                <a:spcPct val="150000"/>
              </a:lnSpc>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Nâng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điều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khiển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nâng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cơ</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khí</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hiện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a:t>
            </a:r>
          </a:p>
          <a:p>
            <a:pPr marL="214313" indent="-214313" defTabSz="685800" eaLnBrk="0" fontAlgn="base" hangingPunct="0">
              <a:lnSpc>
                <a:spcPct val="150000"/>
              </a:lnSpc>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Chỉnh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sửa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lại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chương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điều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khiển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máy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theo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yêu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cầu</a:t>
            </a:r>
            <a:r>
              <a:rPr lang="en-US" dirty="0">
                <a:solidFill>
                  <a:prstClr val="black"/>
                </a:solidFill>
                <a:latin typeface="Times New Roman" panose="02020603050405020304" pitchFamily="18" charset="0"/>
                <a:cs typeface="Times New Roman" panose="02020603050405020304" pitchFamily="18" charset="0"/>
              </a:rPr>
              <a:t>.</a:t>
            </a:r>
          </a:p>
          <a:p>
            <a:pPr marL="214313" indent="-214313" defTabSz="685800" eaLnBrk="0" fontAlgn="base" hangingPunct="0">
              <a:lnSpc>
                <a:spcPct val="150000"/>
              </a:lnSpc>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Tối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ưu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hóa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chương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điều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khiển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để</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phù</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hợp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hơn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cầu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sử</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dụng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hoặc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tiết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kiệm</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năng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lượng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hơn</a:t>
            </a:r>
            <a:r>
              <a:rPr lang="en-US" dirty="0">
                <a:solidFill>
                  <a:prstClr val="black"/>
                </a:solidFill>
                <a:latin typeface="Times New Roman" panose="02020603050405020304" pitchFamily="18" charset="0"/>
                <a:cs typeface="Times New Roman" panose="02020603050405020304" pitchFamily="18" charset="0"/>
              </a:rPr>
              <a:t>.</a:t>
            </a:r>
          </a:p>
          <a:p>
            <a:pPr marL="214313" indent="-214313" defTabSz="685800" eaLnBrk="0" fontAlgn="base" hangingPunct="0">
              <a:lnSpc>
                <a:spcPct val="150000"/>
              </a:lnSpc>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Nâng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thiết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bị</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ngưng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sản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xất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bằng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nhưng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dòng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sản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phẩm</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mới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như</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biến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tần</a:t>
            </a:r>
            <a:r>
              <a:rPr lang="en-US" dirty="0">
                <a:solidFill>
                  <a:prstClr val="black"/>
                </a:solidFill>
                <a:latin typeface="Times New Roman" panose="02020603050405020304" pitchFamily="18" charset="0"/>
                <a:cs typeface="Times New Roman" panose="02020603050405020304" pitchFamily="18" charset="0"/>
              </a:rPr>
              <a:t> AC Servo, PLC, HMI,…</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3149" y="3532084"/>
            <a:ext cx="6625701" cy="2940155"/>
          </a:xfrm>
          <a:prstGeom prst="rect">
            <a:avLst/>
          </a:prstGeom>
        </p:spPr>
      </p:pic>
    </p:spTree>
    <p:extLst>
      <p:ext uri="{BB962C8B-B14F-4D97-AF65-F5344CB8AC3E}">
        <p14:creationId xmlns:p14="http://schemas.microsoft.com/office/powerpoint/2010/main" val="63923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9" name="TextBox 8"/>
          <p:cNvSpPr txBox="1"/>
          <p:nvPr/>
        </p:nvSpPr>
        <p:spPr>
          <a:xfrm>
            <a:off x="467916" y="1267713"/>
            <a:ext cx="11266884" cy="4662815"/>
          </a:xfrm>
          <a:prstGeom prst="rect">
            <a:avLst/>
          </a:prstGeom>
          <a:noFill/>
        </p:spPr>
        <p:txBody>
          <a:bodyPr wrap="square" rtlCol="0">
            <a:spAutoFit/>
          </a:bodyPr>
          <a:lstStyle/>
          <a:p>
            <a:pPr algn="just" defTabSz="685800" eaLnBrk="0" fontAlgn="base" hangingPunct="0">
              <a:lnSpc>
                <a:spcPct val="150000"/>
              </a:lnSpc>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B1 </a:t>
            </a:r>
            <a:r>
              <a:rPr lang="en-US" dirty="0" err="1">
                <a:solidFill>
                  <a:prstClr val="black"/>
                </a:solidFill>
                <a:latin typeface="Times New Roman" panose="02020603050405020304" pitchFamily="18" charset="0"/>
                <a:cs typeface="Times New Roman" panose="02020603050405020304" pitchFamily="18" charset="0"/>
              </a:rPr>
              <a:t>Tổng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quan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về</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sản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phẩm</a:t>
            </a:r>
            <a:r>
              <a:rPr lang="en-US" dirty="0">
                <a:solidFill>
                  <a:prstClr val="black"/>
                </a:solidFill>
                <a:latin typeface="Times New Roman" panose="02020603050405020304" pitchFamily="18" charset="0"/>
                <a:cs typeface="Times New Roman" panose="02020603050405020304" pitchFamily="18" charset="0"/>
              </a:rPr>
              <a:t> S7-200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S7-1200</a:t>
            </a:r>
          </a:p>
          <a:p>
            <a:pPr marL="214313" indent="-214313" algn="just" defTabSz="685800" eaLnBrk="0" fontAlgn="base" hangingPunct="0">
              <a:lnSpc>
                <a:spcPct val="150000"/>
              </a:lnSpc>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S7-1200 </a:t>
            </a:r>
            <a:r>
              <a:rPr lang="en-US" dirty="0" err="1">
                <a:solidFill>
                  <a:prstClr val="black"/>
                </a:solidFill>
                <a:latin typeface="Times New Roman" panose="02020603050405020304" pitchFamily="18" charset="0"/>
                <a:cs typeface="Times New Roman" panose="02020603050405020304" pitchFamily="18" charset="0"/>
              </a:rPr>
              <a:t>dùng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để</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thay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thế</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cho</a:t>
            </a:r>
            <a:r>
              <a:rPr lang="en-US" dirty="0">
                <a:solidFill>
                  <a:prstClr val="black"/>
                </a:solidFill>
                <a:latin typeface="Times New Roman" panose="02020603050405020304" pitchFamily="18" charset="0"/>
                <a:cs typeface="Times New Roman" panose="02020603050405020304" pitchFamily="18" charset="0"/>
              </a:rPr>
              <a:t> S7-200</a:t>
            </a:r>
          </a:p>
          <a:p>
            <a:pPr marL="214313" indent="-214313" algn="just" defTabSz="685800" eaLnBrk="0" fontAlgn="base" hangingPunct="0">
              <a:lnSpc>
                <a:spcPct val="150000"/>
              </a:lnSpc>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S7-1200 </a:t>
            </a: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những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tính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năng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nỏi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trội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hơn</a:t>
            </a:r>
            <a:r>
              <a:rPr lang="en-US" dirty="0">
                <a:solidFill>
                  <a:prstClr val="black"/>
                </a:solidFill>
                <a:latin typeface="Times New Roman" panose="02020603050405020304" pitchFamily="18" charset="0"/>
                <a:cs typeface="Times New Roman" panose="02020603050405020304" pitchFamily="18" charset="0"/>
              </a:rPr>
              <a:t>.</a:t>
            </a:r>
          </a:p>
          <a:p>
            <a:pPr marL="214313" indent="-214313" algn="just" defTabSz="685800" eaLnBrk="0" fontAlgn="base" hangingPunct="0">
              <a:lnSpc>
                <a:spcPct val="150000"/>
              </a:lnSpc>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Bộ</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điều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khiển</a:t>
            </a:r>
            <a:r>
              <a:rPr lang="en-US" dirty="0">
                <a:solidFill>
                  <a:prstClr val="black"/>
                </a:solidFill>
                <a:latin typeface="Times New Roman" panose="02020603050405020304" pitchFamily="18" charset="0"/>
                <a:cs typeface="Times New Roman" panose="02020603050405020304" pitchFamily="18" charset="0"/>
              </a:rPr>
              <a:t> SIMATIC S7-1200 </a:t>
            </a:r>
            <a:r>
              <a:rPr lang="en-US" dirty="0" err="1">
                <a:solidFill>
                  <a:prstClr val="black"/>
                </a:solidFill>
                <a:latin typeface="Times New Roman" panose="02020603050405020304" pitchFamily="18" charset="0"/>
                <a:cs typeface="Times New Roman" panose="02020603050405020304" pitchFamily="18" charset="0"/>
              </a:rPr>
              <a:t>đáp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ứng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cầu</a:t>
            </a:r>
            <a:r>
              <a:rPr lang="en-US" dirty="0">
                <a:solidFill>
                  <a:prstClr val="black"/>
                </a:solidFill>
                <a:latin typeface="Times New Roman" panose="02020603050405020304" pitchFamily="18" charset="0"/>
                <a:cs typeface="Times New Roman" panose="02020603050405020304" pitchFamily="18" charset="0"/>
              </a:rPr>
              <a:t> ở </a:t>
            </a:r>
            <a:r>
              <a:rPr lang="en-US" dirty="0" err="1">
                <a:solidFill>
                  <a:prstClr val="black"/>
                </a:solidFill>
                <a:latin typeface="Times New Roman" panose="02020603050405020304" pitchFamily="18" charset="0"/>
                <a:cs typeface="Times New Roman" panose="02020603050405020304" pitchFamily="18" charset="0"/>
              </a:rPr>
              <a:t>nhiều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khía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cạnh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cung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sự</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linh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hoạt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của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loại</a:t>
            </a:r>
            <a:r>
              <a:rPr lang="en-US" dirty="0">
                <a:solidFill>
                  <a:prstClr val="black"/>
                </a:solidFill>
                <a:latin typeface="Times New Roman" panose="02020603050405020304" pitchFamily="18" charset="0"/>
                <a:cs typeface="Times New Roman" panose="02020603050405020304" pitchFamily="18" charset="0"/>
              </a:rPr>
              <a:t> PLC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thiết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kế</a:t>
            </a:r>
            <a:r>
              <a:rPr lang="en-US" dirty="0">
                <a:solidFill>
                  <a:prstClr val="black"/>
                </a:solidFill>
                <a:latin typeface="Times New Roman" panose="02020603050405020304" pitchFamily="18" charset="0"/>
                <a:cs typeface="Times New Roman" panose="02020603050405020304" pitchFamily="18" charset="0"/>
              </a:rPr>
              <a:t> module </a:t>
            </a: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thể</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mổ</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rộng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input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output </a:t>
            </a:r>
            <a:r>
              <a:rPr lang="en-US" dirty="0" err="1">
                <a:solidFill>
                  <a:prstClr val="black"/>
                </a:solidFill>
                <a:latin typeface="Times New Roman" panose="02020603050405020304" pitchFamily="18" charset="0"/>
                <a:cs typeface="Times New Roman" panose="02020603050405020304" pitchFamily="18" charset="0"/>
              </a:rPr>
              <a:t>bổ</a:t>
            </a:r>
            <a:r>
              <a:rPr lang="en-US" dirty="0">
                <a:solidFill>
                  <a:prstClr val="black"/>
                </a:solidFill>
                <a:latin typeface="Times New Roman" panose="02020603050405020304" pitchFamily="18" charset="0"/>
                <a:cs typeface="Times New Roman" panose="02020603050405020304" pitchFamily="18" charset="0"/>
              </a:rPr>
              <a:t> sung.</a:t>
            </a:r>
          </a:p>
          <a:p>
            <a:pPr algn="just" defTabSz="685800" eaLnBrk="0" fontAlgn="base" hangingPunct="0">
              <a:lnSpc>
                <a:spcPct val="150000"/>
              </a:lnSpc>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B2 </a:t>
            </a:r>
            <a:r>
              <a:rPr lang="en-US" dirty="0" err="1">
                <a:solidFill>
                  <a:prstClr val="black"/>
                </a:solidFill>
                <a:latin typeface="Times New Roman" panose="02020603050405020304" pitchFamily="18" charset="0"/>
                <a:cs typeface="Times New Roman" panose="02020603050405020304" pitchFamily="18" charset="0"/>
              </a:rPr>
              <a:t>Nhiều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tùy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chọn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giao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tiếp</a:t>
            </a:r>
            <a:endParaRPr lang="en-US" dirty="0">
              <a:solidFill>
                <a:prstClr val="black"/>
              </a:solidFill>
              <a:latin typeface="Times New Roman" panose="02020603050405020304" pitchFamily="18" charset="0"/>
              <a:cs typeface="Times New Roman" panose="02020603050405020304" pitchFamily="18" charset="0"/>
            </a:endParaRPr>
          </a:p>
          <a:p>
            <a:pPr marL="214313" indent="-214313" algn="just" defTabSz="685800" eaLnBrk="0" fontAlgn="base" hangingPunct="0">
              <a:lnSpc>
                <a:spcPct val="150000"/>
              </a:lnSpc>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S7-1200 </a:t>
            </a:r>
            <a:r>
              <a:rPr lang="en-US" dirty="0" err="1">
                <a:solidFill>
                  <a:prstClr val="black"/>
                </a:solidFill>
                <a:latin typeface="Times New Roman" panose="02020603050405020304" pitchFamily="18" charset="0"/>
                <a:cs typeface="Times New Roman" panose="02020603050405020304" pitchFamily="18" charset="0"/>
              </a:rPr>
              <a:t>cung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tùy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chọn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giao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tiếp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phong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phú</a:t>
            </a:r>
            <a:endParaRPr lang="en-US" dirty="0">
              <a:solidFill>
                <a:prstClr val="black"/>
              </a:solidFill>
              <a:latin typeface="Times New Roman" panose="02020603050405020304" pitchFamily="18" charset="0"/>
              <a:cs typeface="Times New Roman" panose="02020603050405020304" pitchFamily="18" charset="0"/>
            </a:endParaRPr>
          </a:p>
          <a:p>
            <a:pPr marL="214313" indent="-214313" algn="just" defTabSz="685800" eaLnBrk="0" fontAlgn="base" hangingPunct="0">
              <a:lnSpc>
                <a:spcPct val="150000"/>
              </a:lnSpc>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Giao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diện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Profiner</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tích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hợp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tiêu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chuẩn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trong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tất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CPU</a:t>
            </a:r>
          </a:p>
          <a:p>
            <a:pPr marL="214313" indent="-214313" algn="just" defTabSz="685800" eaLnBrk="0" fontAlgn="base" hangingPunct="0">
              <a:lnSpc>
                <a:spcPct val="150000"/>
              </a:lnSpc>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Module GPRS </a:t>
            </a:r>
            <a:r>
              <a:rPr lang="en-US" dirty="0" err="1">
                <a:solidFill>
                  <a:prstClr val="black"/>
                </a:solidFill>
                <a:latin typeface="Times New Roman" panose="02020603050405020304" pitchFamily="18" charset="0"/>
                <a:cs typeface="Times New Roman" panose="02020603050405020304" pitchFamily="18" charset="0"/>
              </a:rPr>
              <a:t>hỗ</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truy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cập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từ</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xa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hầu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hết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vị</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trí</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trong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máy</a:t>
            </a:r>
            <a:endParaRPr lang="en-US" dirty="0">
              <a:solidFill>
                <a:prstClr val="black"/>
              </a:solidFill>
              <a:latin typeface="Times New Roman" panose="02020603050405020304" pitchFamily="18" charset="0"/>
              <a:cs typeface="Times New Roman" panose="02020603050405020304" pitchFamily="18" charset="0"/>
            </a:endParaRPr>
          </a:p>
          <a:p>
            <a:pPr marL="214313" indent="-214313" algn="just" defTabSz="685800" eaLnBrk="0" fontAlgn="base" hangingPunct="0">
              <a:lnSpc>
                <a:spcPct val="150000"/>
              </a:lnSpc>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Máy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chủ</a:t>
            </a:r>
            <a:r>
              <a:rPr lang="en-US" dirty="0">
                <a:solidFill>
                  <a:prstClr val="black"/>
                </a:solidFill>
                <a:latin typeface="Times New Roman" panose="02020603050405020304" pitchFamily="18" charset="0"/>
                <a:cs typeface="Times New Roman" panose="02020603050405020304" pitchFamily="18" charset="0"/>
              </a:rPr>
              <a:t> Web </a:t>
            </a:r>
            <a:r>
              <a:rPr lang="en-US" dirty="0" err="1">
                <a:solidFill>
                  <a:prstClr val="black"/>
                </a:solidFill>
                <a:latin typeface="Times New Roman" panose="02020603050405020304" pitchFamily="18" charset="0"/>
                <a:cs typeface="Times New Roman" panose="02020603050405020304" pitchFamily="18" charset="0"/>
              </a:rPr>
              <a:t>tích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hợp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của</a:t>
            </a:r>
            <a:r>
              <a:rPr lang="en-US" dirty="0">
                <a:solidFill>
                  <a:prstClr val="black"/>
                </a:solidFill>
                <a:latin typeface="Times New Roman" panose="02020603050405020304" pitchFamily="18" charset="0"/>
                <a:cs typeface="Times New Roman" panose="02020603050405020304" pitchFamily="18" charset="0"/>
              </a:rPr>
              <a:t> S7-1200 </a:t>
            </a:r>
            <a:r>
              <a:rPr lang="en-US" dirty="0" err="1">
                <a:solidFill>
                  <a:prstClr val="black"/>
                </a:solidFill>
                <a:latin typeface="Times New Roman" panose="02020603050405020304" pitchFamily="18" charset="0"/>
                <a:cs typeface="Times New Roman" panose="02020603050405020304" pitchFamily="18" charset="0"/>
              </a:rPr>
              <a:t>cung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người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dùng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truy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cập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hệ</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thống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xử</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lý</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cũng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như</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chuẩn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đoán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hệ</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thống</a:t>
            </a: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0669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2200462"/>
            <a:ext cx="4886325" cy="3371850"/>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29475" y="3556431"/>
            <a:ext cx="4505325" cy="2781300"/>
          </a:xfrm>
          <a:prstGeom prst="rect">
            <a:avLst/>
          </a:prstGeom>
        </p:spPr>
      </p:pic>
      <p:pic>
        <p:nvPicPr>
          <p:cNvPr id="4" name="Picture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20688" y="1406527"/>
            <a:ext cx="2322898" cy="1821152"/>
          </a:xfrm>
          <a:prstGeom prst="rect">
            <a:avLst/>
          </a:prstGeom>
        </p:spPr>
      </p:pic>
      <p:sp>
        <p:nvSpPr>
          <p:cNvPr id="5" name="Right Arrow 4"/>
          <p:cNvSpPr/>
          <p:nvPr/>
        </p:nvSpPr>
        <p:spPr>
          <a:xfrm>
            <a:off x="5557420" y="2200462"/>
            <a:ext cx="1672055" cy="5161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5557419" y="4479571"/>
            <a:ext cx="1672055" cy="5161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57200" y="1272173"/>
            <a:ext cx="2242922" cy="507831"/>
          </a:xfrm>
          <a:prstGeom prst="rect">
            <a:avLst/>
          </a:prstGeom>
        </p:spPr>
        <p:txBody>
          <a:bodyPr wrap="none">
            <a:spAutoFit/>
          </a:bodyPr>
          <a:lstStyle/>
          <a:p>
            <a:pPr algn="just" defTabSz="685800" eaLnBrk="0" fontAlgn="base" hangingPunct="0">
              <a:lnSpc>
                <a:spcPct val="150000"/>
              </a:lnSpc>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B3 </a:t>
            </a:r>
            <a:r>
              <a:rPr lang="en-US" dirty="0" err="1">
                <a:solidFill>
                  <a:prstClr val="black"/>
                </a:solidFill>
                <a:latin typeface="Times New Roman" panose="02020603050405020304" pitchFamily="18" charset="0"/>
                <a:cs typeface="Times New Roman" panose="02020603050405020304" pitchFamily="18" charset="0"/>
              </a:rPr>
              <a:t>Khả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năng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mở</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rộng</a:t>
            </a: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4445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8" name="TextBox 7"/>
          <p:cNvSpPr txBox="1"/>
          <p:nvPr/>
        </p:nvSpPr>
        <p:spPr>
          <a:xfrm>
            <a:off x="457200" y="1438276"/>
            <a:ext cx="11277600" cy="923330"/>
          </a:xfrm>
          <a:prstGeom prst="rect">
            <a:avLst/>
          </a:prstGeom>
          <a:noFill/>
        </p:spPr>
        <p:txBody>
          <a:bodyPr wrap="square" rtlCol="0">
            <a:spAutoFit/>
          </a:bodyPr>
          <a:lstStyle/>
          <a:p>
            <a:pP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B4 </a:t>
            </a:r>
            <a:r>
              <a:rPr lang="en-US" dirty="0" err="1">
                <a:solidFill>
                  <a:prstClr val="black"/>
                </a:solidFill>
                <a:latin typeface="Times New Roman" panose="02020603050405020304" pitchFamily="18" charset="0"/>
                <a:cs typeface="Times New Roman" panose="02020603050405020304" pitchFamily="18" charset="0"/>
              </a:rPr>
              <a:t>Tín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hiệu</a:t>
            </a:r>
            <a:r>
              <a:rPr lang="en-US" dirty="0">
                <a:solidFill>
                  <a:prstClr val="black"/>
                </a:solidFill>
                <a:latin typeface="Times New Roman" panose="02020603050405020304" pitchFamily="18" charset="0"/>
                <a:cs typeface="Times New Roman" panose="02020603050405020304" pitchFamily="18" charset="0"/>
              </a:rPr>
              <a:t> I/O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tín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hiệu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trên</a:t>
            </a:r>
            <a:r>
              <a:rPr lang="en-US" dirty="0">
                <a:solidFill>
                  <a:prstClr val="black"/>
                </a:solidFill>
                <a:latin typeface="Times New Roman" panose="02020603050405020304" pitchFamily="18" charset="0"/>
                <a:cs typeface="Times New Roman" panose="02020603050405020304" pitchFamily="18" charset="0"/>
              </a:rPr>
              <a:t> PLC:</a:t>
            </a:r>
          </a:p>
          <a:p>
            <a:pPr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a:p>
            <a:pPr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531362" y="4834532"/>
            <a:ext cx="11203438" cy="923330"/>
          </a:xfrm>
          <a:prstGeom prst="rect">
            <a:avLst/>
          </a:prstGeom>
          <a:noFill/>
        </p:spPr>
        <p:txBody>
          <a:bodyPr wrap="square" rtlCol="0">
            <a:spAutoFit/>
          </a:bodyPr>
          <a:lstStyle/>
          <a:p>
            <a:pPr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B5 </a:t>
            </a:r>
            <a:r>
              <a:rPr lang="en-US" dirty="0" err="1">
                <a:solidFill>
                  <a:prstClr val="black"/>
                </a:solidFill>
                <a:latin typeface="Times New Roman" panose="02020603050405020304" pitchFamily="18" charset="0"/>
                <a:cs typeface="Times New Roman" panose="02020603050405020304" pitchFamily="18" charset="0"/>
              </a:rPr>
              <a:t>Cấu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cứng</a:t>
            </a:r>
            <a:endParaRPr lang="en-US" dirty="0">
              <a:solidFill>
                <a:prstClr val="black"/>
              </a:solidFill>
              <a:latin typeface="Times New Roman" panose="02020603050405020304" pitchFamily="18" charset="0"/>
              <a:cs typeface="Times New Roman" panose="02020603050405020304" pitchFamily="18" charset="0"/>
            </a:endParaRPr>
          </a:p>
          <a:p>
            <a:pPr marL="2143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Đối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S7-200 </a:t>
            </a:r>
            <a:r>
              <a:rPr lang="en-US" dirty="0" err="1">
                <a:solidFill>
                  <a:prstClr val="black"/>
                </a:solidFill>
                <a:latin typeface="Times New Roman" panose="02020603050405020304" pitchFamily="18" charset="0"/>
                <a:cs typeface="Times New Roman" panose="02020603050405020304" pitchFamily="18" charset="0"/>
              </a:rPr>
              <a:t>không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thể</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thay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được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vùng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địa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chỉ</a:t>
            </a:r>
            <a:r>
              <a:rPr lang="en-US" dirty="0">
                <a:solidFill>
                  <a:prstClr val="black"/>
                </a:solidFill>
                <a:latin typeface="Times New Roman" panose="02020603050405020304" pitchFamily="18" charset="0"/>
                <a:cs typeface="Times New Roman" panose="02020603050405020304" pitchFamily="18" charset="0"/>
              </a:rPr>
              <a:t> I/O </a:t>
            </a:r>
            <a:r>
              <a:rPr lang="en-US" dirty="0" err="1">
                <a:solidFill>
                  <a:prstClr val="black"/>
                </a:solidFill>
                <a:latin typeface="Times New Roman" panose="02020603050405020304" pitchFamily="18" charset="0"/>
                <a:cs typeface="Times New Roman" panose="02020603050405020304" pitchFamily="18" charset="0"/>
              </a:rPr>
              <a:t>mà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tự</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động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nhận</a:t>
            </a:r>
            <a:endParaRPr lang="en-US" dirty="0">
              <a:solidFill>
                <a:prstClr val="black"/>
              </a:solidFill>
              <a:latin typeface="Times New Roman" panose="02020603050405020304" pitchFamily="18" charset="0"/>
              <a:cs typeface="Times New Roman" panose="02020603050405020304" pitchFamily="18" charset="0"/>
            </a:endParaRPr>
          </a:p>
          <a:p>
            <a:pPr marL="2143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Đối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S7-1200 </a:t>
            </a: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thể</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thay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thế</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được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vùng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địa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chỉ</a:t>
            </a:r>
            <a:r>
              <a:rPr lang="en-US" dirty="0">
                <a:solidFill>
                  <a:prstClr val="black"/>
                </a:solidFill>
                <a:latin typeface="Times New Roman" panose="02020603050405020304" pitchFamily="18" charset="0"/>
                <a:cs typeface="Times New Roman" panose="02020603050405020304" pitchFamily="18" charset="0"/>
              </a:rPr>
              <a:t> I/O </a:t>
            </a:r>
            <a:r>
              <a:rPr lang="en-US" dirty="0" err="1">
                <a:solidFill>
                  <a:prstClr val="black"/>
                </a:solidFill>
                <a:latin typeface="Times New Roman" panose="02020603050405020304" pitchFamily="18" charset="0"/>
                <a:cs typeface="Times New Roman" panose="02020603050405020304" pitchFamily="18" charset="0"/>
              </a:rPr>
              <a:t>tùy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theo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người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sử</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dụng</a:t>
            </a:r>
            <a:r>
              <a:rPr lang="en-US" dirty="0">
                <a:solidFill>
                  <a:prstClr val="black"/>
                </a:solidFill>
                <a:latin typeface="Times New Roman" panose="02020603050405020304" pitchFamily="18" charset="0"/>
                <a:cs typeface="Times New Roman" panose="02020603050405020304" pitchFamily="18" charset="0"/>
              </a:rPr>
              <a:t>.</a:t>
            </a:r>
          </a:p>
        </p:txBody>
      </p:sp>
      <p:grpSp>
        <p:nvGrpSpPr>
          <p:cNvPr id="2" name="Group 1"/>
          <p:cNvGrpSpPr/>
          <p:nvPr/>
        </p:nvGrpSpPr>
        <p:grpSpPr>
          <a:xfrm>
            <a:off x="3394075" y="2087836"/>
            <a:ext cx="5048587" cy="2523331"/>
            <a:chOff x="3571706" y="1899941"/>
            <a:chExt cx="5048587" cy="2523331"/>
          </a:xfrm>
        </p:grpSpPr>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1706" y="1899941"/>
              <a:ext cx="5048587" cy="2204435"/>
            </a:xfrm>
            <a:prstGeom prst="rect">
              <a:avLst/>
            </a:prstGeom>
          </p:spPr>
        </p:pic>
        <p:sp>
          <p:nvSpPr>
            <p:cNvPr id="13" name="TextBox 12"/>
            <p:cNvSpPr txBox="1"/>
            <p:nvPr/>
          </p:nvSpPr>
          <p:spPr>
            <a:xfrm>
              <a:off x="3960908" y="4053940"/>
              <a:ext cx="4270181" cy="369332"/>
            </a:xfrm>
            <a:prstGeom prst="rect">
              <a:avLst/>
            </a:prstGeom>
            <a:noFill/>
          </p:spPr>
          <p:txBody>
            <a:bodyPr wrap="square" rtlCol="0">
              <a:spAutoFit/>
            </a:bodyPr>
            <a:lstStyle/>
            <a:p>
              <a:pPr defTabSz="685800" eaLnBrk="0" fontAlgn="base" hangingPunct="0">
                <a:spcBef>
                  <a:spcPct val="0"/>
                </a:spcBef>
                <a:spcAft>
                  <a:spcPct val="0"/>
                </a:spcAft>
              </a:pPr>
              <a:r>
                <a:rPr lang="en-US" dirty="0" err="1">
                  <a:solidFill>
                    <a:prstClr val="black"/>
                  </a:solidFill>
                  <a:latin typeface="Times New Roman" panose="02020603050405020304" pitchFamily="18" charset="0"/>
                  <a:cs typeface="Times New Roman" panose="02020603050405020304" pitchFamily="18" charset="0"/>
                </a:rPr>
                <a:t>Bảng</a:t>
              </a:r>
              <a:r>
                <a:rPr lang="en-US" dirty="0">
                  <a:solidFill>
                    <a:prstClr val="black"/>
                  </a:solidFill>
                  <a:latin typeface="Times New Roman" panose="02020603050405020304" pitchFamily="18" charset="0"/>
                  <a:cs typeface="Times New Roman" panose="02020603050405020304" pitchFamily="18" charset="0"/>
                </a:rPr>
                <a:t> so </a:t>
              </a:r>
              <a:r>
                <a:rPr lang="en-US" dirty="0" err="1">
                  <a:solidFill>
                    <a:prstClr val="black"/>
                  </a:solidFill>
                  <a:latin typeface="Times New Roman" panose="02020603050405020304" pitchFamily="18" charset="0"/>
                  <a:cs typeface="Times New Roman" panose="02020603050405020304" pitchFamily="18" charset="0"/>
                </a:rPr>
                <a:t>sánh</a:t>
              </a:r>
              <a:r>
                <a:rPr lang="en-US" dirty="0">
                  <a:solidFill>
                    <a:prstClr val="black"/>
                  </a:solidFill>
                  <a:latin typeface="Times New Roman" panose="02020603050405020304" pitchFamily="18" charset="0"/>
                  <a:cs typeface="Times New Roman" panose="02020603050405020304" pitchFamily="18" charset="0"/>
                </a:rPr>
                <a:t> CPU S7-200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CPU S7-1200</a:t>
              </a:r>
            </a:p>
          </p:txBody>
        </p:sp>
      </p:grpSp>
    </p:spTree>
    <p:extLst>
      <p:ext uri="{BB962C8B-B14F-4D97-AF65-F5344CB8AC3E}">
        <p14:creationId xmlns:p14="http://schemas.microsoft.com/office/powerpoint/2010/main" val="2399294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8" name="TextBox 7"/>
          <p:cNvSpPr txBox="1"/>
          <p:nvPr/>
        </p:nvSpPr>
        <p:spPr>
          <a:xfrm>
            <a:off x="457200" y="1455722"/>
            <a:ext cx="8208169" cy="369332"/>
          </a:xfrm>
          <a:prstGeom prst="rect">
            <a:avLst/>
          </a:prstGeom>
          <a:noFill/>
        </p:spPr>
        <p:txBody>
          <a:bodyPr wrap="square" rtlCol="0">
            <a:spAutoFit/>
          </a:bodyPr>
          <a:lstStyle/>
          <a:p>
            <a:pP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B6 </a:t>
            </a:r>
            <a:r>
              <a:rPr lang="en-US" dirty="0" err="1">
                <a:solidFill>
                  <a:prstClr val="black"/>
                </a:solidFill>
                <a:latin typeface="Times New Roman" panose="02020603050405020304" pitchFamily="18" charset="0"/>
                <a:cs typeface="Times New Roman" panose="02020603050405020304" pitchFamily="18" charset="0"/>
              </a:rPr>
              <a:t>Vùng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nhớ</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vùng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làm</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việc</a:t>
            </a:r>
            <a:endParaRPr lang="en-US" dirty="0">
              <a:solidFill>
                <a:prstClr val="black"/>
              </a:solidFill>
              <a:latin typeface="Times New Roman" panose="02020603050405020304" pitchFamily="18" charset="0"/>
              <a:cs typeface="Times New Roman" panose="02020603050405020304" pitchFamily="18" charset="0"/>
            </a:endParaRPr>
          </a:p>
        </p:txBody>
      </p:sp>
      <p:grpSp>
        <p:nvGrpSpPr>
          <p:cNvPr id="3" name="Group 2"/>
          <p:cNvGrpSpPr/>
          <p:nvPr/>
        </p:nvGrpSpPr>
        <p:grpSpPr>
          <a:xfrm>
            <a:off x="663974" y="2248774"/>
            <a:ext cx="4982224" cy="3690481"/>
            <a:chOff x="663974" y="2248774"/>
            <a:chExt cx="4982224" cy="3690481"/>
          </a:xfrm>
        </p:grpSpPr>
        <p:pic>
          <p:nvPicPr>
            <p:cNvPr id="9" name="Picture 8"/>
            <p:cNvPicPr>
              <a:picLocks noChangeAspect="1"/>
            </p:cNvPicPr>
            <p:nvPr/>
          </p:nvPicPr>
          <p:blipFill rotWithShape="1">
            <a:blip r:embed="rId4">
              <a:extLst>
                <a:ext uri="{28A0092B-C50C-407E-A947-70E740481C1C}">
                  <a14:useLocalDpi xmlns:a14="http://schemas.microsoft.com/office/drawing/2010/main" val="0"/>
                </a:ext>
              </a:extLst>
            </a:blip>
            <a:srcRect t="6431" r="4148"/>
            <a:stretch/>
          </p:blipFill>
          <p:spPr>
            <a:xfrm>
              <a:off x="663974" y="2248774"/>
              <a:ext cx="4982224" cy="3177873"/>
            </a:xfrm>
            <a:prstGeom prst="rect">
              <a:avLst/>
            </a:prstGeom>
          </p:spPr>
        </p:pic>
        <p:sp>
          <p:nvSpPr>
            <p:cNvPr id="13" name="TextBox 12"/>
            <p:cNvSpPr txBox="1"/>
            <p:nvPr/>
          </p:nvSpPr>
          <p:spPr>
            <a:xfrm>
              <a:off x="1681207" y="5569923"/>
              <a:ext cx="3131601" cy="369332"/>
            </a:xfrm>
            <a:prstGeom prst="rect">
              <a:avLst/>
            </a:prstGeom>
            <a:noFill/>
          </p:spPr>
          <p:txBody>
            <a:bodyPr wrap="square" rtlCol="0">
              <a:spAutoFit/>
            </a:bodyPr>
            <a:lstStyle/>
            <a:p>
              <a:pPr algn="ctr" defTabSz="685800" eaLnBrk="0" fontAlgn="base" hangingPunct="0">
                <a:spcBef>
                  <a:spcPct val="0"/>
                </a:spcBef>
                <a:spcAft>
                  <a:spcPct val="0"/>
                </a:spcAft>
              </a:pPr>
              <a:r>
                <a:rPr lang="en-US" dirty="0" err="1">
                  <a:solidFill>
                    <a:prstClr val="black"/>
                  </a:solidFill>
                  <a:latin typeface="Times New Roman" panose="02020603050405020304" pitchFamily="18" charset="0"/>
                  <a:cs typeface="Times New Roman" panose="02020603050405020304" pitchFamily="18" charset="0"/>
                </a:rPr>
                <a:t>Bộ</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nhớ</a:t>
              </a:r>
              <a:r>
                <a:rPr lang="en-US" dirty="0">
                  <a:solidFill>
                    <a:prstClr val="black"/>
                  </a:solidFill>
                  <a:latin typeface="Times New Roman" panose="02020603050405020304" pitchFamily="18" charset="0"/>
                  <a:cs typeface="Times New Roman" panose="02020603050405020304" pitchFamily="18" charset="0"/>
                </a:rPr>
                <a:t> </a:t>
              </a:r>
            </a:p>
          </p:txBody>
        </p:sp>
      </p:grpSp>
      <p:grpSp>
        <p:nvGrpSpPr>
          <p:cNvPr id="2" name="Group 1"/>
          <p:cNvGrpSpPr/>
          <p:nvPr/>
        </p:nvGrpSpPr>
        <p:grpSpPr>
          <a:xfrm>
            <a:off x="6096000" y="2135895"/>
            <a:ext cx="4823534" cy="3803360"/>
            <a:chOff x="5663641" y="1567724"/>
            <a:chExt cx="4823534" cy="3803360"/>
          </a:xfrm>
        </p:grpSpPr>
        <p:pic>
          <p:nvPicPr>
            <p:cNvPr id="10" name="Picture 9"/>
            <p:cNvPicPr>
              <a:picLocks noChangeAspect="1"/>
            </p:cNvPicPr>
            <p:nvPr/>
          </p:nvPicPr>
          <p:blipFill rotWithShape="1">
            <a:blip r:embed="rId5">
              <a:extLst>
                <a:ext uri="{28A0092B-C50C-407E-A947-70E740481C1C}">
                  <a14:useLocalDpi xmlns:a14="http://schemas.microsoft.com/office/drawing/2010/main" val="0"/>
                </a:ext>
              </a:extLst>
            </a:blip>
            <a:srcRect l="16340"/>
            <a:stretch/>
          </p:blipFill>
          <p:spPr>
            <a:xfrm>
              <a:off x="5663641" y="1567724"/>
              <a:ext cx="4823534" cy="3434028"/>
            </a:xfrm>
            <a:prstGeom prst="rect">
              <a:avLst/>
            </a:prstGeom>
          </p:spPr>
        </p:pic>
        <p:sp>
          <p:nvSpPr>
            <p:cNvPr id="14" name="TextBox 13"/>
            <p:cNvSpPr txBox="1"/>
            <p:nvPr/>
          </p:nvSpPr>
          <p:spPr>
            <a:xfrm>
              <a:off x="5941260" y="5001752"/>
              <a:ext cx="4268296" cy="369332"/>
            </a:xfrm>
            <a:prstGeom prst="rect">
              <a:avLst/>
            </a:prstGeom>
            <a:noFill/>
          </p:spPr>
          <p:txBody>
            <a:bodyPr wrap="square" rtlCol="0">
              <a:spAutoFit/>
            </a:bodyPr>
            <a:lstStyle/>
            <a:p>
              <a:pPr algn="ct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So </a:t>
              </a:r>
              <a:r>
                <a:rPr lang="en-US" dirty="0" err="1">
                  <a:solidFill>
                    <a:prstClr val="black"/>
                  </a:solidFill>
                  <a:latin typeface="Times New Roman" panose="02020603050405020304" pitchFamily="18" charset="0"/>
                  <a:cs typeface="Times New Roman" panose="02020603050405020304" pitchFamily="18" charset="0"/>
                </a:rPr>
                <a:t>sánh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bộ</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nhớ</a:t>
              </a:r>
              <a:r>
                <a:rPr lang="en-US" dirty="0">
                  <a:solidFill>
                    <a:prstClr val="black"/>
                  </a:solidFill>
                  <a:latin typeface="Times New Roman" panose="02020603050405020304" pitchFamily="18" charset="0"/>
                  <a:cs typeface="Times New Roman" panose="02020603050405020304" pitchFamily="18" charset="0"/>
                </a:rPr>
                <a:t> S7-200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S7-1200</a:t>
              </a:r>
            </a:p>
          </p:txBody>
        </p:sp>
      </p:grpSp>
    </p:spTree>
    <p:extLst>
      <p:ext uri="{BB962C8B-B14F-4D97-AF65-F5344CB8AC3E}">
        <p14:creationId xmlns:p14="http://schemas.microsoft.com/office/powerpoint/2010/main" val="440497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15" name="TextBox 14"/>
          <p:cNvSpPr txBox="1"/>
          <p:nvPr/>
        </p:nvSpPr>
        <p:spPr>
          <a:xfrm>
            <a:off x="457200" y="1471326"/>
            <a:ext cx="11266884" cy="3970318"/>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Điều</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kiện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tiên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quyết</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và</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cài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đặt</a:t>
            </a:r>
            <a:endParaRPr lang="en-US" b="1" dirty="0">
              <a:solidFill>
                <a:prstClr val="black"/>
              </a:solidFill>
              <a:latin typeface="Times New Roman" panose="02020603050405020304" pitchFamily="18" charset="0"/>
              <a:cs typeface="Times New Roman" panose="02020603050405020304" pitchFamily="18" charset="0"/>
            </a:endParaRPr>
          </a:p>
          <a:p>
            <a:pPr marL="214313" indent="-214313" algn="just" defTabSz="685800" eaLnBrk="0" fontAlgn="base" hangingPunct="0">
              <a:spcBef>
                <a:spcPct val="0"/>
              </a:spcBef>
              <a:spcAft>
                <a:spcPct val="0"/>
              </a:spcAft>
              <a:buFont typeface="Wingdings" panose="05000000000000000000" pitchFamily="2" charset="2"/>
              <a:buChar char="v"/>
            </a:pPr>
            <a:r>
              <a:rPr lang="en-US" dirty="0" err="1">
                <a:solidFill>
                  <a:prstClr val="black"/>
                </a:solidFill>
                <a:latin typeface="Times New Roman" panose="02020603050405020304" pitchFamily="18" charset="0"/>
                <a:cs typeface="Times New Roman" panose="02020603050405020304" pitchFamily="18" charset="0"/>
              </a:rPr>
              <a:t>Điều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kiện</a:t>
            </a:r>
            <a:endParaRPr lang="en-US"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mềm</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sau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phải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được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cài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đặt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trong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máy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tính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hoặc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thiết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bị</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lập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a:t>
            </a:r>
          </a:p>
          <a:p>
            <a:pPr marL="214313" indent="-214313" algn="just" defTabSz="685800" eaLnBrk="0" fontAlgn="base" hangingPunct="0">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SIMATIC STEP 7-Micro/WIN V4.0 SP6 (</a:t>
            </a:r>
            <a:r>
              <a:rPr lang="en-US" dirty="0" err="1">
                <a:solidFill>
                  <a:prstClr val="black"/>
                </a:solidFill>
                <a:latin typeface="Times New Roman" panose="02020603050405020304" pitchFamily="18" charset="0"/>
                <a:cs typeface="Times New Roman" panose="02020603050405020304" pitchFamily="18" charset="0"/>
              </a:rPr>
              <a:t>hoặc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bản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phát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hành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sau</a:t>
            </a:r>
            <a:r>
              <a:rPr lang="en-US" dirty="0">
                <a:solidFill>
                  <a:prstClr val="black"/>
                </a:solidFill>
                <a:latin typeface="Times New Roman" panose="02020603050405020304" pitchFamily="18" charset="0"/>
                <a:cs typeface="Times New Roman" panose="02020603050405020304" pitchFamily="18" charset="0"/>
              </a:rPr>
              <a:t>)</a:t>
            </a:r>
          </a:p>
          <a:p>
            <a:pPr marL="2143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Công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cụ</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mềm</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từ</a:t>
            </a:r>
            <a:r>
              <a:rPr lang="en-US" dirty="0">
                <a:solidFill>
                  <a:prstClr val="black"/>
                </a:solidFill>
                <a:latin typeface="Times New Roman" panose="02020603050405020304" pitchFamily="18" charset="0"/>
                <a:cs typeface="Times New Roman" panose="02020603050405020304" pitchFamily="18" charset="0"/>
              </a:rPr>
              <a:t> SIMATIC S7-200 sang S7-1200</a:t>
            </a:r>
          </a:p>
          <a:p>
            <a:pPr marL="214313" indent="-214313" algn="just" defTabSz="685800" eaLnBrk="0" fontAlgn="base" hangingPunct="0">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SIMATIC STEP 7 Basic V10.5 SP2 </a:t>
            </a:r>
            <a:r>
              <a:rPr lang="en-US" dirty="0" err="1">
                <a:solidFill>
                  <a:prstClr val="black"/>
                </a:solidFill>
                <a:latin typeface="Times New Roman" panose="02020603050405020304" pitchFamily="18" charset="0"/>
                <a:cs typeface="Times New Roman" panose="02020603050405020304" pitchFamily="18" charset="0"/>
              </a:rPr>
              <a:t>hoặc</a:t>
            </a:r>
            <a:r>
              <a:rPr lang="en-US" dirty="0">
                <a:solidFill>
                  <a:prstClr val="black"/>
                </a:solidFill>
                <a:latin typeface="Times New Roman" panose="02020603050405020304" pitchFamily="18" charset="0"/>
                <a:cs typeface="Times New Roman" panose="02020603050405020304" pitchFamily="18" charset="0"/>
              </a:rPr>
              <a:t> SIMATIC STEP 7 (Basic </a:t>
            </a:r>
            <a:r>
              <a:rPr lang="en-US" dirty="0" err="1">
                <a:solidFill>
                  <a:prstClr val="black"/>
                </a:solidFill>
                <a:latin typeface="Times New Roman" panose="02020603050405020304" pitchFamily="18" charset="0"/>
                <a:cs typeface="Times New Roman" panose="02020603050405020304" pitchFamily="18" charset="0"/>
              </a:rPr>
              <a:t>hoặc</a:t>
            </a:r>
            <a:r>
              <a:rPr lang="en-US" dirty="0">
                <a:solidFill>
                  <a:prstClr val="black"/>
                </a:solidFill>
                <a:latin typeface="Times New Roman" panose="02020603050405020304" pitchFamily="18" charset="0"/>
                <a:cs typeface="Times New Roman" panose="02020603050405020304" pitchFamily="18" charset="0"/>
              </a:rPr>
              <a:t> Professional) V11SP2 (</a:t>
            </a:r>
            <a:r>
              <a:rPr lang="en-US" dirty="0" err="1">
                <a:solidFill>
                  <a:prstClr val="black"/>
                </a:solidFill>
                <a:latin typeface="Times New Roman" panose="02020603050405020304" pitchFamily="18" charset="0"/>
                <a:cs typeface="Times New Roman" panose="02020603050405020304" pitchFamily="18" charset="0"/>
              </a:rPr>
              <a:t>hoặc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bản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phát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hành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sau</a:t>
            </a:r>
            <a:r>
              <a:rPr lang="en-US" dirty="0">
                <a:solidFill>
                  <a:prstClr val="black"/>
                </a:solidFill>
                <a:latin typeface="Times New Roman" panose="02020603050405020304" pitchFamily="18" charset="0"/>
                <a:cs typeface="Times New Roman" panose="02020603050405020304" pitchFamily="18" charset="0"/>
              </a:rPr>
              <a:t>)</a:t>
            </a:r>
          </a:p>
          <a:p>
            <a:pPr algn="just" defTabSz="685800" eaLnBrk="0" fontAlgn="base" hangingPunct="0">
              <a:spcBef>
                <a:spcPct val="0"/>
              </a:spcBef>
              <a:spcAft>
                <a:spcPct val="0"/>
              </a:spcAft>
            </a:pPr>
            <a:r>
              <a:rPr lang="en-US" dirty="0" err="1">
                <a:solidFill>
                  <a:prstClr val="black"/>
                </a:solidFill>
                <a:latin typeface="Times New Roman" panose="02020603050405020304" pitchFamily="18" charset="0"/>
                <a:cs typeface="Times New Roman" panose="02020603050405020304" pitchFamily="18" charset="0"/>
              </a:rPr>
              <a:t>Muốn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mềm</a:t>
            </a:r>
            <a:r>
              <a:rPr lang="en-US" dirty="0">
                <a:solidFill>
                  <a:prstClr val="black"/>
                </a:solidFill>
                <a:latin typeface="Times New Roman" panose="02020603050405020304" pitchFamily="18" charset="0"/>
                <a:cs typeface="Times New Roman" panose="02020603050405020304" pitchFamily="18" charset="0"/>
              </a:rPr>
              <a:t> STEP 7-Micro/WIN </a:t>
            </a:r>
            <a:r>
              <a:rPr lang="en-US" dirty="0" err="1">
                <a:solidFill>
                  <a:prstClr val="black"/>
                </a:solidFill>
                <a:latin typeface="Times New Roman" panose="02020603050405020304" pitchFamily="18" charset="0"/>
                <a:cs typeface="Times New Roman" panose="02020603050405020304" pitchFamily="18" charset="0"/>
              </a:rPr>
              <a:t>thì</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yếu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cầu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sau</a:t>
            </a:r>
            <a:r>
              <a:rPr lang="en-US" dirty="0">
                <a:solidFill>
                  <a:prstClr val="black"/>
                </a:solidFill>
                <a:latin typeface="Times New Roman" panose="02020603050405020304" pitchFamily="18" charset="0"/>
                <a:cs typeface="Times New Roman" panose="02020603050405020304" pitchFamily="18" charset="0"/>
              </a:rPr>
              <a:t>:</a:t>
            </a:r>
          </a:p>
          <a:p>
            <a:pPr marL="2143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tạo</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bằng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chế</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độ</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lập</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SIMATIC. </a:t>
            </a:r>
            <a:r>
              <a:rPr lang="en-US" dirty="0" err="1">
                <a:solidFill>
                  <a:prstClr val="black"/>
                </a:solidFill>
                <a:latin typeface="Times New Roman" panose="02020603050405020304" pitchFamily="18" charset="0"/>
                <a:ea typeface="DengXian"/>
                <a:cs typeface="Times New Roman" panose="02020603050405020304" pitchFamily="18" charset="0"/>
              </a:rPr>
              <a:t>Chế</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độ</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lập</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IEC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hỗ</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trợ</a:t>
            </a:r>
            <a:r>
              <a:rPr lang="en-US" dirty="0">
                <a:solidFill>
                  <a:prstClr val="black"/>
                </a:solidFill>
                <a:latin typeface="Times New Roman" panose="02020603050405020304" pitchFamily="18" charset="0"/>
                <a:ea typeface="DengXian"/>
                <a:cs typeface="Times New Roman" panose="02020603050405020304" pitchFamily="18" charset="0"/>
              </a:rPr>
              <a:t>.</a:t>
            </a:r>
          </a:p>
          <a:p>
            <a:pPr marL="2143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lưu</a:t>
            </a:r>
            <a:r>
              <a:rPr lang="en-US" dirty="0">
                <a:solidFill>
                  <a:prstClr val="black"/>
                </a:solidFill>
                <a:latin typeface="Times New Roman" panose="02020603050405020304" pitchFamily="18" charset="0"/>
                <a:ea typeface="DengXian"/>
                <a:cs typeface="Times New Roman" panose="02020603050405020304" pitchFamily="18" charset="0"/>
              </a:rPr>
              <a:t> ở </a:t>
            </a:r>
            <a:r>
              <a:rPr lang="en-US" dirty="0" err="1">
                <a:solidFill>
                  <a:prstClr val="black"/>
                </a:solidFill>
                <a:latin typeface="Times New Roman" panose="02020603050405020304" pitchFamily="18" charset="0"/>
                <a:ea typeface="DengXian"/>
                <a:cs typeface="Times New Roman" panose="02020603050405020304" pitchFamily="18" charset="0"/>
              </a:rPr>
              <a:t>định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dạng</a:t>
            </a:r>
            <a:r>
              <a:rPr lang="en-US" dirty="0">
                <a:solidFill>
                  <a:prstClr val="black"/>
                </a:solidFill>
                <a:latin typeface="Times New Roman" panose="02020603050405020304" pitchFamily="18" charset="0"/>
                <a:ea typeface="DengXian"/>
                <a:cs typeface="Times New Roman" panose="02020603050405020304" pitchFamily="18" charset="0"/>
              </a:rPr>
              <a:t> LAD (</a:t>
            </a:r>
            <a:r>
              <a:rPr lang="en-US" dirty="0" err="1">
                <a:solidFill>
                  <a:prstClr val="black"/>
                </a:solidFill>
                <a:latin typeface="Times New Roman" panose="02020603050405020304" pitchFamily="18" charset="0"/>
                <a:ea typeface="DengXian"/>
                <a:cs typeface="Times New Roman" panose="02020603050405020304" pitchFamily="18" charset="0"/>
              </a:rPr>
              <a:t>sơ</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đồ</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bậc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thanh</a:t>
            </a:r>
            <a:r>
              <a:rPr lang="en-US" dirty="0">
                <a:solidFill>
                  <a:prstClr val="black"/>
                </a:solidFill>
                <a:latin typeface="Times New Roman" panose="02020603050405020304" pitchFamily="18" charset="0"/>
                <a:ea typeface="DengXian"/>
                <a:cs typeface="Times New Roman" panose="02020603050405020304" pitchFamily="18" charset="0"/>
              </a:rPr>
              <a:t>)</a:t>
            </a:r>
          </a:p>
          <a:p>
            <a:pPr marL="2143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biên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dịch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có</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lỗi</a:t>
            </a:r>
            <a:r>
              <a:rPr lang="en-US" dirty="0">
                <a:solidFill>
                  <a:prstClr val="black"/>
                </a:solidFill>
                <a:latin typeface="Times New Roman" panose="02020603050405020304" pitchFamily="18" charset="0"/>
                <a:ea typeface="DengXian"/>
                <a:cs typeface="Times New Roman" panose="02020603050405020304" pitchFamily="18" charset="0"/>
              </a:rPr>
              <a:t>.</a:t>
            </a:r>
          </a:p>
          <a:p>
            <a:pPr marL="214313" indent="-214313" algn="just" defTabSz="685800" eaLnBrk="0" fontAlgn="base" hangingPunct="0">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Tất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bảo</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vệ</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bằng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mật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khẩu</a:t>
            </a:r>
            <a:r>
              <a:rPr lang="en-US" dirty="0">
                <a:solidFill>
                  <a:prstClr val="black"/>
                </a:solidFill>
                <a:latin typeface="Times New Roman" panose="02020603050405020304" pitchFamily="18" charset="0"/>
                <a:ea typeface="DengXian"/>
                <a:cs typeface="Times New Roman" panose="02020603050405020304" pitchFamily="18" charset="0"/>
              </a:rPr>
              <a:t> do </a:t>
            </a:r>
            <a:r>
              <a:rPr lang="en-US" dirty="0" err="1">
                <a:solidFill>
                  <a:prstClr val="black"/>
                </a:solidFill>
                <a:latin typeface="Times New Roman" panose="02020603050405020304" pitchFamily="18" charset="0"/>
                <a:ea typeface="DengXian"/>
                <a:cs typeface="Times New Roman" panose="02020603050405020304" pitchFamily="18" charset="0"/>
              </a:rPr>
              <a:t>người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dùng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tạo</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cần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loại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bỏ</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khỏi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STEP 7-Micro/WIN. </a:t>
            </a:r>
            <a:r>
              <a:rPr lang="en-US" dirty="0" err="1">
                <a:solidFill>
                  <a:prstClr val="black"/>
                </a:solidFill>
                <a:latin typeface="Times New Roman" panose="02020603050405020304" pitchFamily="18" charset="0"/>
                <a:ea typeface="DengXian"/>
                <a:cs typeface="Times New Roman" panose="02020603050405020304" pitchFamily="18" charset="0"/>
              </a:rPr>
              <a:t>Loại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bỏ</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tất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mật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khẩu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ra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khỏi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chính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con,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ngắt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tất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dữ</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dữ</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Bất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kì</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nào</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có</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mật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khẩu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bảo</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vệ</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endParaRPr lang="en-US" dirty="0">
              <a:solidFill>
                <a:prstClr val="black"/>
              </a:solidFill>
              <a:latin typeface="Times New Roman" panose="02020603050405020304" pitchFamily="18" charset="0"/>
              <a:ea typeface="DengXian"/>
              <a:cs typeface="Times New Roman" panose="02020603050405020304" pitchFamily="18" charset="0"/>
            </a:endParaRPr>
          </a:p>
        </p:txBody>
      </p:sp>
    </p:spTree>
    <p:extLst>
      <p:ext uri="{BB962C8B-B14F-4D97-AF65-F5344CB8AC3E}">
        <p14:creationId xmlns:p14="http://schemas.microsoft.com/office/powerpoint/2010/main" val="3435035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8" name="Rectangle 7"/>
          <p:cNvSpPr/>
          <p:nvPr/>
        </p:nvSpPr>
        <p:spPr>
          <a:xfrm>
            <a:off x="457200" y="1578063"/>
            <a:ext cx="11277600" cy="2308324"/>
          </a:xfrm>
          <a:prstGeom prst="rect">
            <a:avLst/>
          </a:prstGeom>
        </p:spPr>
        <p:txBody>
          <a:bodyPr wrap="square">
            <a:spAutoFit/>
          </a:bodyPr>
          <a:lstStyle/>
          <a:p>
            <a:pPr lvl="0"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Điều</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kiện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tiên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quyết</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và</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cài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đặt</a:t>
            </a:r>
            <a:endParaRPr lang="en-US" b="1" dirty="0">
              <a:solidFill>
                <a:prstClr val="black"/>
              </a:solidFill>
              <a:latin typeface="Times New Roman" panose="02020603050405020304" pitchFamily="18" charset="0"/>
              <a:cs typeface="Times New Roman" panose="02020603050405020304" pitchFamily="18" charset="0"/>
            </a:endParaRPr>
          </a:p>
          <a:p>
            <a:pPr marL="214313" indent="-214313" algn="just" defTabSz="685800" eaLnBrk="0" fontAlgn="base" hangingPunct="0">
              <a:spcBef>
                <a:spcPct val="0"/>
              </a:spcBef>
              <a:spcAft>
                <a:spcPct val="0"/>
              </a:spcAft>
              <a:buFont typeface="Wingdings" panose="05000000000000000000" pitchFamily="2" charset="2"/>
              <a:buChar char="v"/>
            </a:pP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mềm</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endParaRPr lang="en-US" dirty="0">
              <a:solidFill>
                <a:prstClr val="black"/>
              </a:solidFill>
              <a:latin typeface="Times New Roman" panose="02020603050405020304" pitchFamily="18" charset="0"/>
              <a:cs typeface="Times New Roman" panose="02020603050405020304" pitchFamily="18" charset="0"/>
            </a:endParaRPr>
          </a:p>
          <a:p>
            <a:pPr marL="257175" indent="-257175" algn="just" defTabSz="685800" eaLnBrk="0" fontAlgn="base" hangingPunct="0">
              <a:spcBef>
                <a:spcPct val="0"/>
              </a:spcBef>
              <a:spcAft>
                <a:spcPct val="0"/>
              </a:spcAft>
              <a:buFont typeface="+mj-lt"/>
              <a:buAutoNum type="arabicPeriod"/>
            </a:pPr>
            <a:r>
              <a:rPr lang="en-US" dirty="0">
                <a:solidFill>
                  <a:prstClr val="black"/>
                </a:solidFill>
                <a:latin typeface="Times New Roman" panose="02020603050405020304" pitchFamily="18" charset="0"/>
                <a:ea typeface="DengXian"/>
                <a:cs typeface="Times New Roman" panose="02020603050405020304" pitchFamily="18" charset="0"/>
              </a:rPr>
              <a:t>STEP 7 (V10.5 SP2 </a:t>
            </a:r>
            <a:r>
              <a:rPr lang="en-US" dirty="0" err="1">
                <a:solidFill>
                  <a:prstClr val="black"/>
                </a:solidFill>
                <a:latin typeface="Times New Roman" panose="02020603050405020304" pitchFamily="18" charset="0"/>
                <a:ea typeface="DengXian"/>
                <a:cs typeface="Times New Roman" panose="02020603050405020304" pitchFamily="18" charset="0"/>
              </a:rPr>
              <a:t>hoặc</a:t>
            </a:r>
            <a:r>
              <a:rPr lang="en-US" dirty="0">
                <a:solidFill>
                  <a:prstClr val="black"/>
                </a:solidFill>
                <a:latin typeface="Times New Roman" panose="02020603050405020304" pitchFamily="18" charset="0"/>
                <a:ea typeface="DengXian"/>
                <a:cs typeface="Times New Roman" panose="02020603050405020304" pitchFamily="18" charset="0"/>
              </a:rPr>
              <a:t> V11)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STEP 7-Micro/WIN V4.0 SP6 (</a:t>
            </a:r>
            <a:r>
              <a:rPr lang="en-US" dirty="0" err="1">
                <a:solidFill>
                  <a:prstClr val="black"/>
                </a:solidFill>
                <a:latin typeface="Times New Roman" panose="02020603050405020304" pitchFamily="18" charset="0"/>
                <a:ea typeface="DengXian"/>
                <a:cs typeface="Times New Roman" panose="02020603050405020304" pitchFamily="18" charset="0"/>
              </a:rPr>
              <a:t>hoặc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bản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phát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hành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sau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cài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đặt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trên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máy</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tính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thiết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bị</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bạn</a:t>
            </a:r>
            <a:endParaRPr lang="en-US" dirty="0">
              <a:solidFill>
                <a:prstClr val="black"/>
              </a:solidFill>
              <a:latin typeface="Times New Roman" panose="02020603050405020304" pitchFamily="18" charset="0"/>
              <a:ea typeface="DengXian"/>
              <a:cs typeface="Times New Roman" panose="02020603050405020304" pitchFamily="18" charset="0"/>
            </a:endParaRPr>
          </a:p>
          <a:p>
            <a:pPr marL="257175" indent="-257175" algn="just" defTabSz="685800" eaLnBrk="0" fontAlgn="base" hangingPunct="0">
              <a:spcBef>
                <a:spcPct val="0"/>
              </a:spcBef>
              <a:spcAft>
                <a:spcPct val="0"/>
              </a:spcAft>
              <a:buFont typeface="+mj-lt"/>
              <a:buAutoNum type="arabicPeriod"/>
            </a:pPr>
            <a:r>
              <a:rPr lang="en-US" dirty="0" err="1">
                <a:solidFill>
                  <a:prstClr val="black"/>
                </a:solidFill>
                <a:latin typeface="Times New Roman" panose="02020603050405020304" pitchFamily="18" charset="0"/>
                <a:ea typeface="DengXian"/>
                <a:cs typeface="Times New Roman" panose="02020603050405020304" pitchFamily="18" charset="0"/>
              </a:rPr>
              <a:t>Gỡ</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cài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đặt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tất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cụ</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phần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mềm</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từ</a:t>
            </a:r>
            <a:r>
              <a:rPr lang="en-US" dirty="0">
                <a:solidFill>
                  <a:prstClr val="black"/>
                </a:solidFill>
                <a:latin typeface="Times New Roman" panose="02020603050405020304" pitchFamily="18" charset="0"/>
                <a:ea typeface="DengXian"/>
                <a:cs typeface="Times New Roman" panose="02020603050405020304" pitchFamily="18" charset="0"/>
              </a:rPr>
              <a:t> SIMATIC S7-200 sang SIMATIC S7-1200 </a:t>
            </a:r>
            <a:r>
              <a:rPr lang="en-US" dirty="0" err="1">
                <a:solidFill>
                  <a:prstClr val="black"/>
                </a:solidFill>
                <a:latin typeface="Times New Roman" panose="02020603050405020304" pitchFamily="18" charset="0"/>
                <a:ea typeface="DengXian"/>
                <a:cs typeface="Times New Roman" panose="02020603050405020304" pitchFamily="18" charset="0"/>
              </a:rPr>
              <a:t>đả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cài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đặt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trước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đó</a:t>
            </a:r>
            <a:endParaRPr lang="en-US" dirty="0">
              <a:solidFill>
                <a:prstClr val="black"/>
              </a:solidFill>
              <a:latin typeface="Times New Roman" panose="02020603050405020304" pitchFamily="18" charset="0"/>
              <a:ea typeface="DengXian"/>
              <a:cs typeface="Times New Roman" panose="02020603050405020304" pitchFamily="18" charset="0"/>
            </a:endParaRPr>
          </a:p>
          <a:p>
            <a:pPr marL="257175" indent="-257175" algn="just" defTabSz="685800" eaLnBrk="0" fontAlgn="base" hangingPunct="0">
              <a:spcBef>
                <a:spcPct val="0"/>
              </a:spcBef>
              <a:spcAft>
                <a:spcPct val="0"/>
              </a:spcAft>
              <a:buFont typeface="+mj-lt"/>
              <a:buAutoNum type="arabicPeriod"/>
            </a:pPr>
            <a:r>
              <a:rPr lang="en-US" dirty="0" err="1">
                <a:solidFill>
                  <a:prstClr val="black"/>
                </a:solidFill>
                <a:latin typeface="Times New Roman" panose="02020603050405020304" pitchFamily="18" charset="0"/>
                <a:ea typeface="DengXian"/>
                <a:cs typeface="Times New Roman" panose="02020603050405020304" pitchFamily="18" charset="0"/>
              </a:rPr>
              <a:t>Nhấn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đúp</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vào</a:t>
            </a:r>
            <a:r>
              <a:rPr lang="en-US" dirty="0">
                <a:solidFill>
                  <a:prstClr val="black"/>
                </a:solidFill>
                <a:latin typeface="Times New Roman" panose="02020603050405020304" pitchFamily="18" charset="0"/>
                <a:ea typeface="DengXian"/>
                <a:cs typeface="Times New Roman" panose="02020603050405020304" pitchFamily="18" charset="0"/>
              </a:rPr>
              <a:t> file setup.exe </a:t>
            </a:r>
            <a:r>
              <a:rPr lang="en-US" dirty="0" err="1">
                <a:solidFill>
                  <a:prstClr val="black"/>
                </a:solidFill>
                <a:latin typeface="Times New Roman" panose="02020603050405020304" pitchFamily="18" charset="0"/>
                <a:ea typeface="DengXian"/>
                <a:cs typeface="Times New Roman" panose="02020603050405020304" pitchFamily="18" charset="0"/>
              </a:rPr>
              <a:t>để</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cài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đặt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cụ</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phần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mềm</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từ</a:t>
            </a:r>
            <a:r>
              <a:rPr lang="en-US" dirty="0">
                <a:solidFill>
                  <a:prstClr val="black"/>
                </a:solidFill>
                <a:latin typeface="Times New Roman" panose="02020603050405020304" pitchFamily="18" charset="0"/>
                <a:ea typeface="DengXian"/>
                <a:cs typeface="Times New Roman" panose="02020603050405020304" pitchFamily="18" charset="0"/>
              </a:rPr>
              <a:t> SIMATIC S7-200 sang SIMATIC S7-1200. </a:t>
            </a:r>
            <a:r>
              <a:rPr lang="en-US" dirty="0" err="1">
                <a:solidFill>
                  <a:prstClr val="black"/>
                </a:solidFill>
                <a:latin typeface="Times New Roman" panose="02020603050405020304" pitchFamily="18" charset="0"/>
                <a:ea typeface="DengXian"/>
                <a:cs typeface="Times New Roman" panose="02020603050405020304" pitchFamily="18" charset="0"/>
              </a:rPr>
              <a:t>Bạn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có</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thể</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chạy</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tệp</a:t>
            </a:r>
            <a:r>
              <a:rPr lang="en-US" dirty="0">
                <a:solidFill>
                  <a:prstClr val="black"/>
                </a:solidFill>
                <a:latin typeface="Times New Roman" panose="02020603050405020304" pitchFamily="18" charset="0"/>
                <a:ea typeface="DengXian"/>
                <a:cs typeface="Times New Roman" panose="02020603050405020304" pitchFamily="18" charset="0"/>
              </a:rPr>
              <a:t> setup.exe </a:t>
            </a:r>
            <a:r>
              <a:rPr lang="en-US" dirty="0" err="1">
                <a:solidFill>
                  <a:prstClr val="black"/>
                </a:solidFill>
                <a:latin typeface="Times New Roman" panose="02020603050405020304" pitchFamily="18" charset="0"/>
                <a:ea typeface="DengXian"/>
                <a:cs typeface="Times New Roman" panose="02020603050405020304" pitchFamily="18" charset="0"/>
              </a:rPr>
              <a:t>từ</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bất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kì</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thư</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mục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nào</a:t>
            </a:r>
            <a:r>
              <a:rPr lang="en-US" dirty="0">
                <a:solidFill>
                  <a:prstClr val="black"/>
                </a:solidFill>
                <a:latin typeface="Times New Roman" panose="02020603050405020304" pitchFamily="18" charset="0"/>
                <a:ea typeface="DengXian"/>
                <a:cs typeface="Times New Roman" panose="02020603050405020304" pitchFamily="18" charset="0"/>
              </a:rPr>
              <a:t>.</a:t>
            </a:r>
          </a:p>
          <a:p>
            <a:pPr algn="just" defTabSz="685800" eaLnBrk="0" fontAlgn="base" hangingPunct="0">
              <a:spcBef>
                <a:spcPct val="0"/>
              </a:spcBef>
              <a:spcAft>
                <a:spcPct val="0"/>
              </a:spcAft>
            </a:pPr>
            <a:r>
              <a:rPr lang="en-US" dirty="0" err="1">
                <a:solidFill>
                  <a:prstClr val="black"/>
                </a:solidFill>
                <a:latin typeface="Times New Roman" panose="02020603050405020304" pitchFamily="18" charset="0"/>
                <a:ea typeface="DengXian"/>
                <a:cs typeface="Times New Roman" panose="02020603050405020304" pitchFamily="18" charset="0"/>
              </a:rPr>
              <a:t>Khởi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động</a:t>
            </a:r>
            <a:r>
              <a:rPr lang="en-US" dirty="0">
                <a:solidFill>
                  <a:prstClr val="black"/>
                </a:solidFill>
                <a:latin typeface="Times New Roman" panose="02020603050405020304" pitchFamily="18" charset="0"/>
                <a:ea typeface="DengXian"/>
                <a:cs typeface="Times New Roman" panose="02020603050405020304" pitchFamily="18" charset="0"/>
              </a:rPr>
              <a:t> STEP 7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mở</a:t>
            </a:r>
            <a:r>
              <a:rPr lang="en-US" dirty="0">
                <a:solidFill>
                  <a:prstClr val="black"/>
                </a:solidFill>
                <a:latin typeface="Times New Roman" panose="02020603050405020304" pitchFamily="18" charset="0"/>
                <a:ea typeface="DengXian"/>
                <a:cs typeface="Times New Roman" panose="02020603050405020304" pitchFamily="18" charset="0"/>
              </a:rPr>
              <a:t> menu “Project” </a:t>
            </a:r>
            <a:r>
              <a:rPr lang="en-US" dirty="0" err="1">
                <a:solidFill>
                  <a:prstClr val="black"/>
                </a:solidFill>
                <a:latin typeface="Times New Roman" panose="02020603050405020304" pitchFamily="18" charset="0"/>
                <a:ea typeface="DengXian"/>
                <a:cs typeface="Times New Roman" panose="02020603050405020304" pitchFamily="18" charset="0"/>
              </a:rPr>
              <a:t>sẽ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thấy</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lệnh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mới</a:t>
            </a:r>
            <a:r>
              <a:rPr lang="en-US" dirty="0">
                <a:solidFill>
                  <a:prstClr val="black"/>
                </a:solidFill>
                <a:latin typeface="Times New Roman" panose="02020603050405020304" pitchFamily="18" charset="0"/>
                <a:ea typeface="DengXian"/>
                <a:cs typeface="Times New Roman" panose="02020603050405020304" pitchFamily="18" charset="0"/>
              </a:rPr>
              <a:t> “Convert S7-200 Project”.</a:t>
            </a: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0431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2" name="Rectangle 1"/>
          <p:cNvSpPr/>
          <p:nvPr/>
        </p:nvSpPr>
        <p:spPr>
          <a:xfrm>
            <a:off x="457200" y="1380155"/>
            <a:ext cx="11277600" cy="4247317"/>
          </a:xfrm>
          <a:prstGeom prst="rect">
            <a:avLst/>
          </a:prstGeom>
        </p:spPr>
        <p:txBody>
          <a:bodyPr wrap="square">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Quy</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trình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chuyển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đổi</a:t>
            </a:r>
            <a:endParaRPr lang="en-US" b="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endParaRPr lang="en-US" b="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b="1" i="1" dirty="0" err="1">
                <a:solidFill>
                  <a:prstClr val="black"/>
                </a:solidFill>
                <a:latin typeface="Times New Roman" panose="02020603050405020304" pitchFamily="18" charset="0"/>
                <a:cs typeface="Times New Roman" panose="02020603050405020304" pitchFamily="18" charset="0"/>
              </a:rPr>
              <a:t>Các</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bước</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chuyển</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đổi</a:t>
            </a:r>
            <a:endParaRPr lang="en-US" b="1" i="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ea typeface="DengXian"/>
              </a:rPr>
              <a:t>B1: </a:t>
            </a:r>
            <a:r>
              <a:rPr lang="en-US" dirty="0" err="1">
                <a:solidFill>
                  <a:prstClr val="black"/>
                </a:solidFill>
                <a:latin typeface="Times New Roman" panose="02020603050405020304" pitchFamily="18" charset="0"/>
                <a:ea typeface="DengXian"/>
              </a:rPr>
              <a:t>Xác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định</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cấu</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hình</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và</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cài</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đặt</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phần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cứng</a:t>
            </a:r>
            <a:r>
              <a:rPr lang="en-US" dirty="0">
                <a:solidFill>
                  <a:prstClr val="black"/>
                </a:solidFill>
                <a:latin typeface="Times New Roman" panose="02020603050405020304" pitchFamily="18" charset="0"/>
                <a:ea typeface="DengXian"/>
              </a:rPr>
              <a:t> S7-200 </a:t>
            </a:r>
            <a:r>
              <a:rPr lang="en-US" dirty="0" err="1">
                <a:solidFill>
                  <a:prstClr val="black"/>
                </a:solidFill>
                <a:latin typeface="Times New Roman" panose="02020603050405020304" pitchFamily="18" charset="0"/>
                <a:ea typeface="DengXian"/>
              </a:rPr>
              <a:t>cho</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các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mô-đun</a:t>
            </a:r>
            <a:r>
              <a:rPr lang="en-US" dirty="0">
                <a:solidFill>
                  <a:prstClr val="black"/>
                </a:solidFill>
                <a:latin typeface="Times New Roman" panose="02020603050405020304" pitchFamily="18" charset="0"/>
                <a:ea typeface="DengXian"/>
              </a:rPr>
              <a:t> (VD: </a:t>
            </a:r>
            <a:r>
              <a:rPr lang="en-US" dirty="0" err="1">
                <a:solidFill>
                  <a:prstClr val="black"/>
                </a:solidFill>
                <a:latin typeface="Times New Roman" panose="02020603050405020304" pitchFamily="18" charset="0"/>
                <a:ea typeface="DengXian"/>
              </a:rPr>
              <a:t>mức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điện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áp</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tại</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ngõ</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vào</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tín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hiệu</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tương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tự</a:t>
            </a:r>
            <a:r>
              <a:rPr lang="en-US" dirty="0">
                <a:solidFill>
                  <a:prstClr val="black"/>
                </a:solidFill>
                <a:latin typeface="Times New Roman" panose="02020603050405020304" pitchFamily="18" charset="0"/>
                <a:ea typeface="DengXian"/>
              </a:rPr>
              <a:t>)</a:t>
            </a:r>
            <a:endParaRPr lang="en-US" dirty="0">
              <a:solidFill>
                <a:prstClr val="black"/>
              </a:solidFill>
              <a:latin typeface="Arial" panose="020B0604020202020204" pitchFamily="34" charset="0"/>
            </a:endParaRP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B2: </a:t>
            </a:r>
            <a:r>
              <a:rPr lang="en-US" dirty="0" err="1">
                <a:solidFill>
                  <a:prstClr val="black"/>
                </a:solidFill>
                <a:latin typeface="Times New Roman" panose="02020603050405020304" pitchFamily="18" charset="0"/>
                <a:cs typeface="Times New Roman" panose="02020603050405020304" pitchFamily="18" charset="0"/>
              </a:rPr>
              <a:t>Xác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định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biến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giá</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trị</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lưu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lại</a:t>
            </a:r>
            <a:endParaRPr lang="en-US"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B3: </a:t>
            </a:r>
            <a:r>
              <a:rPr lang="en-US" dirty="0" err="1">
                <a:solidFill>
                  <a:prstClr val="black"/>
                </a:solidFill>
                <a:latin typeface="Times New Roman" panose="02020603050405020304" pitchFamily="18" charset="0"/>
                <a:cs typeface="Times New Roman" panose="02020603050405020304" pitchFamily="18" charset="0"/>
              </a:rPr>
              <a:t>Xác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định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phiên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bản</a:t>
            </a:r>
            <a:r>
              <a:rPr lang="en-US" dirty="0">
                <a:solidFill>
                  <a:prstClr val="black"/>
                </a:solidFill>
                <a:latin typeface="Times New Roman" panose="02020603050405020304" pitchFamily="18" charset="0"/>
                <a:cs typeface="Times New Roman" panose="02020603050405020304" pitchFamily="18" charset="0"/>
              </a:rPr>
              <a:t> S7-1200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HMI </a:t>
            </a:r>
            <a:r>
              <a:rPr lang="en-US" dirty="0" err="1">
                <a:solidFill>
                  <a:prstClr val="black"/>
                </a:solidFill>
                <a:latin typeface="Times New Roman" panose="02020603050405020304" pitchFamily="18" charset="0"/>
                <a:cs typeface="Times New Roman" panose="02020603050405020304" pitchFamily="18" charset="0"/>
              </a:rPr>
              <a:t>sẽ</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sử</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dụng</a:t>
            </a:r>
            <a:endParaRPr lang="en-US"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ea typeface="DengXian"/>
              </a:rPr>
              <a:t>B4: </a:t>
            </a:r>
            <a:r>
              <a:rPr lang="en-US" dirty="0" err="1">
                <a:solidFill>
                  <a:prstClr val="black"/>
                </a:solidFill>
                <a:latin typeface="Times New Roman" panose="02020603050405020304" pitchFamily="18" charset="0"/>
                <a:ea typeface="DengXian"/>
              </a:rPr>
              <a:t>Mở</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chương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trình</a:t>
            </a:r>
            <a:r>
              <a:rPr lang="en-US" dirty="0">
                <a:solidFill>
                  <a:prstClr val="black"/>
                </a:solidFill>
                <a:latin typeface="Times New Roman" panose="02020603050405020304" pitchFamily="18" charset="0"/>
                <a:ea typeface="DengXian"/>
              </a:rPr>
              <a:t> Micro/Win </a:t>
            </a:r>
            <a:r>
              <a:rPr lang="en-US" dirty="0" err="1">
                <a:solidFill>
                  <a:prstClr val="black"/>
                </a:solidFill>
                <a:latin typeface="Times New Roman" panose="02020603050405020304" pitchFamily="18" charset="0"/>
                <a:ea typeface="DengXian"/>
              </a:rPr>
              <a:t>bằng</a:t>
            </a:r>
            <a:r>
              <a:rPr lang="en-US" dirty="0">
                <a:solidFill>
                  <a:prstClr val="black"/>
                </a:solidFill>
                <a:latin typeface="Times New Roman" panose="02020603050405020304" pitchFamily="18" charset="0"/>
                <a:ea typeface="DengXian"/>
              </a:rPr>
              <a:t> STEP 7-Micro/WIN V4.0 SP6 </a:t>
            </a:r>
            <a:r>
              <a:rPr lang="en-US" dirty="0" err="1">
                <a:solidFill>
                  <a:prstClr val="black"/>
                </a:solidFill>
                <a:latin typeface="Times New Roman" panose="02020603050405020304" pitchFamily="18" charset="0"/>
                <a:ea typeface="DengXian"/>
              </a:rPr>
              <a:t>hoặc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các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phiên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bản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cao</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hơn</a:t>
            </a:r>
            <a:r>
              <a:rPr lang="en-US" dirty="0">
                <a:solidFill>
                  <a:prstClr val="black"/>
                </a:solidFill>
                <a:latin typeface="Times New Roman" panose="02020603050405020304" pitchFamily="18" charset="0"/>
                <a:ea typeface="DengXian"/>
              </a:rPr>
              <a:t> , </a:t>
            </a:r>
            <a:r>
              <a:rPr lang="en-US" dirty="0" err="1">
                <a:solidFill>
                  <a:prstClr val="black"/>
                </a:solidFill>
                <a:latin typeface="Times New Roman" panose="02020603050405020304" pitchFamily="18" charset="0"/>
                <a:ea typeface="DengXian"/>
              </a:rPr>
              <a:t>mở</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khóa</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tất</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cả</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chương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trình</a:t>
            </a:r>
            <a:r>
              <a:rPr lang="en-US" dirty="0">
                <a:solidFill>
                  <a:prstClr val="black"/>
                </a:solidFill>
                <a:latin typeface="Times New Roman" panose="02020603050405020304" pitchFamily="18" charset="0"/>
                <a:ea typeface="DengXian"/>
              </a:rPr>
              <a:t> con </a:t>
            </a:r>
            <a:r>
              <a:rPr lang="en-US" dirty="0" err="1">
                <a:solidFill>
                  <a:prstClr val="black"/>
                </a:solidFill>
                <a:latin typeface="Times New Roman" panose="02020603050405020304" pitchFamily="18" charset="0"/>
                <a:ea typeface="DengXian"/>
              </a:rPr>
              <a:t>và</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trang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khối</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dữ</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liệu</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mà</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bạn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muốn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chuyển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đổi</a:t>
            </a:r>
            <a:r>
              <a:rPr lang="en-US" dirty="0">
                <a:solidFill>
                  <a:prstClr val="black"/>
                </a:solidFill>
                <a:latin typeface="Times New Roman" panose="02020603050405020304" pitchFamily="18" charset="0"/>
                <a:ea typeface="DengXian"/>
              </a:rPr>
              <a:t>. </a:t>
            </a: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rPr>
              <a:t>B5: </a:t>
            </a:r>
            <a:r>
              <a:rPr lang="en-US" dirty="0" err="1">
                <a:solidFill>
                  <a:prstClr val="black"/>
                </a:solidFill>
                <a:latin typeface="Times New Roman" panose="02020603050405020304" pitchFamily="18" charset="0"/>
              </a:rPr>
              <a:t>Tìm</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hiểu</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các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sự</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cố</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về</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bộ</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nhớ</a:t>
            </a:r>
            <a:r>
              <a:rPr lang="en-US" dirty="0">
                <a:solidFill>
                  <a:prstClr val="black"/>
                </a:solidFill>
                <a:latin typeface="Times New Roman" panose="02020603050405020304" pitchFamily="18" charset="0"/>
              </a:rPr>
              <a:t> V </a:t>
            </a:r>
            <a:r>
              <a:rPr lang="en-US" dirty="0" err="1">
                <a:solidFill>
                  <a:prstClr val="black"/>
                </a:solidFill>
                <a:latin typeface="Times New Roman" panose="02020603050405020304" pitchFamily="18" charset="0"/>
              </a:rPr>
              <a:t>phổ</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biến</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có</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thể</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khác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phục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trước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khi</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chuyển</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đổi</a:t>
            </a:r>
            <a:endParaRPr lang="en-US" dirty="0">
              <a:solidFill>
                <a:prstClr val="black"/>
              </a:solidFill>
              <a:latin typeface="Times New Roman" panose="02020603050405020304" pitchFamily="18" charset="0"/>
            </a:endParaRP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rPr>
              <a:t>B6: </a:t>
            </a:r>
            <a:r>
              <a:rPr lang="en-US" dirty="0" err="1">
                <a:solidFill>
                  <a:prstClr val="black"/>
                </a:solidFill>
                <a:latin typeface="Times New Roman" panose="02020603050405020304" pitchFamily="18" charset="0"/>
              </a:rPr>
              <a:t>Khởi</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động</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công</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cụ</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chuyển</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đổi</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để</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tạo</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chương</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trình</a:t>
            </a:r>
            <a:r>
              <a:rPr lang="en-US" dirty="0">
                <a:solidFill>
                  <a:prstClr val="black"/>
                </a:solidFill>
                <a:latin typeface="Times New Roman" panose="02020603050405020304" pitchFamily="18" charset="0"/>
              </a:rPr>
              <a:t> S7-1200 </a:t>
            </a:r>
            <a:r>
              <a:rPr lang="en-US" dirty="0" err="1">
                <a:solidFill>
                  <a:prstClr val="black"/>
                </a:solidFill>
                <a:latin typeface="Times New Roman" panose="02020603050405020304" pitchFamily="18" charset="0"/>
              </a:rPr>
              <a:t>với</a:t>
            </a:r>
            <a:r>
              <a:rPr lang="en-US" dirty="0">
                <a:solidFill>
                  <a:prstClr val="black"/>
                </a:solidFill>
                <a:latin typeface="Times New Roman" panose="02020603050405020304" pitchFamily="18" charset="0"/>
              </a:rPr>
              <a:t> CPU </a:t>
            </a:r>
            <a:r>
              <a:rPr lang="en-US" dirty="0" err="1">
                <a:solidFill>
                  <a:prstClr val="black"/>
                </a:solidFill>
                <a:latin typeface="Times New Roman" panose="02020603050405020304" pitchFamily="18" charset="0"/>
              </a:rPr>
              <a:t>không</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xác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định</a:t>
            </a:r>
            <a:r>
              <a:rPr lang="en-US" dirty="0">
                <a:solidFill>
                  <a:prstClr val="black"/>
                </a:solidFill>
                <a:latin typeface="Times New Roman" panose="02020603050405020304" pitchFamily="18" charset="0"/>
              </a:rPr>
              <a:t>.</a:t>
            </a: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rPr>
              <a:t>B7: </a:t>
            </a:r>
            <a:r>
              <a:rPr lang="en-US" dirty="0" err="1">
                <a:solidFill>
                  <a:prstClr val="black"/>
                </a:solidFill>
                <a:latin typeface="Times New Roman" panose="02020603050405020304" pitchFamily="18" charset="0"/>
              </a:rPr>
              <a:t>Xây</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dựng</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lại</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tất</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cả</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các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khối</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và</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liện</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kết</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giữa</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các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khối</a:t>
            </a:r>
            <a:endParaRPr lang="en-US" dirty="0">
              <a:solidFill>
                <a:prstClr val="black"/>
              </a:solidFill>
              <a:latin typeface="Times New Roman" panose="02020603050405020304" pitchFamily="18" charset="0"/>
            </a:endParaRP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rPr>
              <a:t>B8: </a:t>
            </a:r>
            <a:r>
              <a:rPr lang="en-US" dirty="0" err="1">
                <a:solidFill>
                  <a:prstClr val="black"/>
                </a:solidFill>
                <a:latin typeface="Times New Roman" panose="02020603050405020304" pitchFamily="18" charset="0"/>
              </a:rPr>
              <a:t>Biết</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các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sự</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cố</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phổ</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biến</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về</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bộ</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nhớ</a:t>
            </a:r>
            <a:r>
              <a:rPr lang="en-US" dirty="0">
                <a:solidFill>
                  <a:prstClr val="black"/>
                </a:solidFill>
                <a:latin typeface="Times New Roman" panose="02020603050405020304" pitchFamily="18" charset="0"/>
              </a:rPr>
              <a:t> V </a:t>
            </a:r>
            <a:r>
              <a:rPr lang="en-US" dirty="0" err="1">
                <a:solidFill>
                  <a:prstClr val="black"/>
                </a:solidFill>
                <a:latin typeface="Times New Roman" panose="02020603050405020304" pitchFamily="18" charset="0"/>
              </a:rPr>
              <a:t>mà</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bạn</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có</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thể</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khắc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phục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sau</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khi</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chuyển</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đổi</a:t>
            </a:r>
            <a:endParaRPr lang="en-US" dirty="0">
              <a:solidFill>
                <a:prstClr val="black"/>
              </a:solidFill>
              <a:latin typeface="Times New Roman" panose="02020603050405020304" pitchFamily="18" charset="0"/>
            </a:endParaRP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rPr>
              <a:t>B9: </a:t>
            </a:r>
            <a:r>
              <a:rPr lang="en-US" dirty="0" err="1">
                <a:solidFill>
                  <a:prstClr val="black"/>
                </a:solidFill>
                <a:latin typeface="Times New Roman" panose="02020603050405020304" pitchFamily="18" charset="0"/>
              </a:rPr>
              <a:t>Xây</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dựng</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cấu</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hình</a:t>
            </a:r>
            <a:r>
              <a:rPr lang="en-US" dirty="0">
                <a:solidFill>
                  <a:prstClr val="black"/>
                </a:solidFill>
                <a:latin typeface="Times New Roman" panose="02020603050405020304" pitchFamily="18" charset="0"/>
              </a:rPr>
              <a:t> CPU</a:t>
            </a: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rPr>
              <a:t>B10: So </a:t>
            </a:r>
            <a:r>
              <a:rPr lang="en-US" dirty="0" err="1">
                <a:solidFill>
                  <a:prstClr val="black"/>
                </a:solidFill>
                <a:latin typeface="Times New Roman" panose="02020603050405020304" pitchFamily="18" charset="0"/>
              </a:rPr>
              <a:t>sánh</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chương</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trình</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gốc</a:t>
            </a:r>
            <a:r>
              <a:rPr lang="en-US" dirty="0">
                <a:solidFill>
                  <a:prstClr val="black"/>
                </a:solidFill>
                <a:latin typeface="Times New Roman" panose="02020603050405020304" pitchFamily="18" charset="0"/>
              </a:rPr>
              <a:t> (S7-200) </a:t>
            </a:r>
            <a:r>
              <a:rPr lang="en-US" dirty="0" err="1">
                <a:solidFill>
                  <a:prstClr val="black"/>
                </a:solidFill>
                <a:latin typeface="Times New Roman" panose="02020603050405020304" pitchFamily="18" charset="0"/>
              </a:rPr>
              <a:t>với</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chương</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trình</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đã</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chuyển</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đổi</a:t>
            </a:r>
            <a:r>
              <a:rPr lang="en-US" dirty="0">
                <a:solidFill>
                  <a:prstClr val="black"/>
                </a:solidFill>
                <a:latin typeface="Times New Roman" panose="02020603050405020304" pitchFamily="18" charset="0"/>
              </a:rPr>
              <a:t> (S7-1200)</a:t>
            </a: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rPr>
              <a:t>B11: </a:t>
            </a:r>
            <a:r>
              <a:rPr lang="en-US" dirty="0" err="1">
                <a:solidFill>
                  <a:prstClr val="black"/>
                </a:solidFill>
                <a:latin typeface="Times New Roman" panose="02020603050405020304" pitchFamily="18" charset="0"/>
              </a:rPr>
              <a:t>Hoàn</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thành</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chương</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trình</a:t>
            </a:r>
            <a:r>
              <a:rPr lang="en-US" dirty="0">
                <a:solidFill>
                  <a:prstClr val="black"/>
                </a:solidFill>
                <a:latin typeface="Times New Roman" panose="02020603050405020304" pitchFamily="18" charset="0"/>
              </a:rPr>
              <a:t> S7-12000 </a:t>
            </a:r>
            <a:r>
              <a:rPr lang="en-US" dirty="0" err="1">
                <a:solidFill>
                  <a:prstClr val="black"/>
                </a:solidFill>
                <a:latin typeface="Times New Roman" panose="02020603050405020304" pitchFamily="18" charset="0"/>
              </a:rPr>
              <a:t>đã</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chuyển</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đổi</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và</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xác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định</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độ</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chính</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xác</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khi</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chạy</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thời</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gian</a:t>
            </a:r>
            <a:r>
              <a:rPr lang="en-US" dirty="0">
                <a:solidFill>
                  <a:prstClr val="black"/>
                </a:solidFill>
                <a:latin typeface="Times New Roman" panose="02020603050405020304" pitchFamily="18" charset="0"/>
              </a:rPr>
              <a:t> </a:t>
            </a:r>
            <a:r>
              <a:rPr lang="en-US" dirty="0" err="1">
                <a:solidFill>
                  <a:prstClr val="black"/>
                </a:solidFill>
                <a:latin typeface="Times New Roman" panose="02020603050405020304" pitchFamily="18" charset="0"/>
              </a:rPr>
              <a:t>thực</a:t>
            </a:r>
            <a:endParaRPr lang="en-US" dirty="0">
              <a:solidFill>
                <a:prstClr val="black"/>
              </a:solidFill>
              <a:latin typeface="Arial" panose="020B0604020202020204" pitchFamily="34" charset="0"/>
            </a:endParaRPr>
          </a:p>
        </p:txBody>
      </p:sp>
    </p:spTree>
    <p:extLst>
      <p:ext uri="{BB962C8B-B14F-4D97-AF65-F5344CB8AC3E}">
        <p14:creationId xmlns:p14="http://schemas.microsoft.com/office/powerpoint/2010/main" val="793652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8" name="Rectangle 7"/>
          <p:cNvSpPr/>
          <p:nvPr/>
        </p:nvSpPr>
        <p:spPr>
          <a:xfrm>
            <a:off x="457200" y="1380155"/>
            <a:ext cx="11277600" cy="4524315"/>
          </a:xfrm>
          <a:prstGeom prst="rect">
            <a:avLst/>
          </a:prstGeom>
        </p:spPr>
        <p:txBody>
          <a:bodyPr wrap="square">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Quy</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trình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chuyển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đổi</a:t>
            </a:r>
            <a:endParaRPr lang="en-US" b="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endParaRPr lang="en-US" b="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vi-VN" b="1" i="1" dirty="0">
                <a:solidFill>
                  <a:prstClr val="black"/>
                </a:solidFill>
                <a:latin typeface="Times New Roman" panose="02020603050405020304" pitchFamily="18" charset="0"/>
                <a:cs typeface="Times New Roman" panose="02020603050405020304" pitchFamily="18" charset="0"/>
              </a:rPr>
              <a:t>Nguyên nhân và cách khắc phục sự cố chuyển đổi bộ nhớ V</a:t>
            </a:r>
            <a:endParaRPr lang="en-US" b="1" i="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endParaRPr lang="vi-VN" b="1" i="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a:t>
            </a:r>
            <a:r>
              <a:rPr lang="vi-VN" u="sng" dirty="0">
                <a:solidFill>
                  <a:prstClr val="black"/>
                </a:solidFill>
                <a:latin typeface="Times New Roman" panose="02020603050405020304" pitchFamily="18" charset="0"/>
                <a:cs typeface="Times New Roman" panose="02020603050405020304" pitchFamily="18" charset="0"/>
              </a:rPr>
              <a:t>Vấn đề phổ biến của bộ nhớ V cần khắc phục trước khi chuyển đổi</a:t>
            </a: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a:t>
            </a:r>
            <a:r>
              <a:rPr lang="vi-VN" dirty="0">
                <a:solidFill>
                  <a:prstClr val="black"/>
                </a:solidFill>
                <a:latin typeface="Times New Roman" panose="02020603050405020304" pitchFamily="18" charset="0"/>
                <a:cs typeface="Times New Roman" panose="02020603050405020304" pitchFamily="18" charset="0"/>
              </a:rPr>
              <a:t>Nếu chuyển trình Micro/WIN không có lỗi, thì công cụ chuyển đổi sẽ chuyển đổi chương trình đó. Tuy nhiên có các dịnh nghĩa tượng trưng được phép trong Micro/WIN nhưng không được phép trong STEP 7. Các thành phần của chương trình không được phép sẽ không được chyển đổi. Nó phải được sửa lại sau trong chương trình STEP7.</a:t>
            </a:r>
          </a:p>
          <a:p>
            <a:pPr algn="just" defTabSz="685800" eaLnBrk="0" fontAlgn="base" hangingPunct="0">
              <a:spcBef>
                <a:spcPct val="0"/>
              </a:spcBef>
              <a:spcAft>
                <a:spcPct val="0"/>
              </a:spcAft>
            </a:pPr>
            <a:r>
              <a:rPr lang="vi-VN" dirty="0">
                <a:solidFill>
                  <a:prstClr val="black"/>
                </a:solidFill>
                <a:latin typeface="Times New Roman" panose="02020603050405020304" pitchFamily="18" charset="0"/>
                <a:cs typeface="Times New Roman" panose="02020603050405020304" pitchFamily="18" charset="0"/>
              </a:rPr>
              <a:t>Bạn có thể sửa đổi chương trình Micro/WIN để khắc phục sự cố phổ biến được miêu tả dưới đây và biên dịch lại trước khi thực hiện chuyển đổi. Điều này làm giảm các lỗi trong chương trình STEP 7 đã chuyển đổi.</a:t>
            </a:r>
            <a:endParaRPr lang="en-US"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endParaRPr lang="vi-VN"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a:t>
            </a:r>
            <a:r>
              <a:rPr lang="vi-VN" u="sng" dirty="0">
                <a:solidFill>
                  <a:prstClr val="black"/>
                </a:solidFill>
                <a:latin typeface="Times New Roman" panose="02020603050405020304" pitchFamily="18" charset="0"/>
                <a:cs typeface="Times New Roman" panose="02020603050405020304" pitchFamily="18" charset="0"/>
              </a:rPr>
              <a:t>Vấn đề phổ biến của bộ nhớ V cần khắc phục sau khi chuyển đổi</a:t>
            </a: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a:t>
            </a:r>
            <a:r>
              <a:rPr lang="vi-VN" dirty="0">
                <a:solidFill>
                  <a:prstClr val="black"/>
                </a:solidFill>
                <a:latin typeface="Times New Roman" panose="02020603050405020304" pitchFamily="18" charset="0"/>
                <a:cs typeface="Times New Roman" panose="02020603050405020304" pitchFamily="18" charset="0"/>
              </a:rPr>
              <a:t>Quá trình chuyển đổi các tham chiếu bộ nhớ của Micro/WIN thành STEP 7 DB1 (data block 1) duy nhất. Sự khác nhu trong phương pháp lập trình cho bộ nhớ S7-200 và khối dữ liệu (data block) của S7-1200 sẽ gây ra các sự cố chuyển đổi được diễn tả ở bên dưới. Bạn phải khắc phục vấn đề này trong chương trình STEP 7, sau khi chương trình được chuyển đổi.</a:t>
            </a:r>
          </a:p>
        </p:txBody>
      </p:sp>
    </p:spTree>
    <p:extLst>
      <p:ext uri="{BB962C8B-B14F-4D97-AF65-F5344CB8AC3E}">
        <p14:creationId xmlns:p14="http://schemas.microsoft.com/office/powerpoint/2010/main" val="1323245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8" name="TextBox 7"/>
          <p:cNvSpPr txBox="1"/>
          <p:nvPr/>
        </p:nvSpPr>
        <p:spPr>
          <a:xfrm>
            <a:off x="457200" y="1438276"/>
            <a:ext cx="11277600" cy="3970318"/>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Bước</a:t>
            </a:r>
            <a:r>
              <a:rPr lang="en-US" b="1" dirty="0">
                <a:solidFill>
                  <a:prstClr val="black"/>
                </a:solidFill>
                <a:latin typeface="Times New Roman" panose="02020603050405020304" pitchFamily="18" charset="0"/>
                <a:cs typeface="Times New Roman" panose="02020603050405020304" pitchFamily="18" charset="0"/>
              </a:rPr>
              <a:t> 1: </a:t>
            </a:r>
            <a:r>
              <a:rPr lang="en-US" b="1" dirty="0" err="1">
                <a:solidFill>
                  <a:prstClr val="black"/>
                </a:solidFill>
                <a:latin typeface="Times New Roman" panose="02020603050405020304" pitchFamily="18" charset="0"/>
                <a:cs typeface="Times New Roman" panose="02020603050405020304" pitchFamily="18" charset="0"/>
              </a:rPr>
              <a:t>Khởi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động</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công</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cụ</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chuyển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đổi</a:t>
            </a:r>
            <a:endParaRPr lang="en-US" b="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bước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thực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hiện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công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cụ</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từ</a:t>
            </a:r>
            <a:r>
              <a:rPr lang="en-US" dirty="0">
                <a:solidFill>
                  <a:prstClr val="black"/>
                </a:solidFill>
                <a:latin typeface="Times New Roman" panose="02020603050405020304" pitchFamily="18" charset="0"/>
                <a:cs typeface="Times New Roman" panose="02020603050405020304" pitchFamily="18" charset="0"/>
              </a:rPr>
              <a:t> SIMATIC S7-200 sang SIMATIC S7-1200</a:t>
            </a:r>
          </a:p>
          <a:p>
            <a:pPr marL="257175" indent="-257175" algn="just" defTabSz="685800" eaLnBrk="0" fontAlgn="base" hangingPunct="0">
              <a:spcBef>
                <a:spcPct val="0"/>
              </a:spcBef>
              <a:spcAft>
                <a:spcPct val="0"/>
              </a:spcAft>
              <a:buFont typeface="+mj-lt"/>
              <a:buAutoNum type="arabicPeriod"/>
            </a:pPr>
            <a:r>
              <a:rPr lang="en-US" dirty="0" err="1">
                <a:solidFill>
                  <a:prstClr val="black"/>
                </a:solidFill>
                <a:latin typeface="Times New Roman" panose="02020603050405020304" pitchFamily="18" charset="0"/>
                <a:cs typeface="Times New Roman" panose="02020603050405020304" pitchFamily="18" charset="0"/>
              </a:rPr>
              <a:t>Khởi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động</a:t>
            </a:r>
            <a:r>
              <a:rPr lang="en-US" dirty="0">
                <a:solidFill>
                  <a:prstClr val="black"/>
                </a:solidFill>
                <a:latin typeface="Times New Roman" panose="02020603050405020304" pitchFamily="18" charset="0"/>
                <a:cs typeface="Times New Roman" panose="02020603050405020304" pitchFamily="18" charset="0"/>
              </a:rPr>
              <a:t> STEP 7</a:t>
            </a:r>
          </a:p>
          <a:p>
            <a:pPr marL="257175" indent="-257175" algn="just" defTabSz="685800" eaLnBrk="0" fontAlgn="base" hangingPunct="0">
              <a:spcBef>
                <a:spcPct val="0"/>
              </a:spcBef>
              <a:spcAft>
                <a:spcPct val="0"/>
              </a:spcAft>
              <a:buFont typeface="+mj-lt"/>
              <a:buAutoNum type="arabicPeriod"/>
            </a:pPr>
            <a:r>
              <a:rPr lang="en-US" dirty="0" err="1">
                <a:solidFill>
                  <a:prstClr val="black"/>
                </a:solidFill>
                <a:latin typeface="Times New Roman" panose="02020603050405020304" pitchFamily="18" charset="0"/>
                <a:cs typeface="Times New Roman" panose="02020603050405020304" pitchFamily="18" charset="0"/>
              </a:rPr>
              <a:t>Chọn</a:t>
            </a:r>
            <a:r>
              <a:rPr lang="en-US" dirty="0">
                <a:solidFill>
                  <a:prstClr val="black"/>
                </a:solidFill>
                <a:latin typeface="Times New Roman" panose="02020603050405020304" pitchFamily="18" charset="0"/>
                <a:cs typeface="Times New Roman" panose="02020603050405020304" pitchFamily="18" charset="0"/>
              </a:rPr>
              <a:t> Project</a:t>
            </a:r>
          </a:p>
          <a:p>
            <a:pPr marL="257175" indent="-257175" algn="just" defTabSz="685800" eaLnBrk="0" fontAlgn="base" hangingPunct="0">
              <a:spcBef>
                <a:spcPct val="0"/>
              </a:spcBef>
              <a:spcAft>
                <a:spcPct val="0"/>
              </a:spcAft>
              <a:buFont typeface="+mj-lt"/>
              <a:buAutoNum type="arabicPeriod" startAt="3"/>
            </a:pPr>
            <a:r>
              <a:rPr lang="en-US" dirty="0" err="1">
                <a:solidFill>
                  <a:prstClr val="black"/>
                </a:solidFill>
                <a:latin typeface="Times New Roman" panose="02020603050405020304" pitchFamily="18" charset="0"/>
                <a:cs typeface="Times New Roman" panose="02020603050405020304" pitchFamily="18" charset="0"/>
              </a:rPr>
              <a:t>Từ</a:t>
            </a:r>
            <a:r>
              <a:rPr lang="en-US" dirty="0">
                <a:solidFill>
                  <a:prstClr val="black"/>
                </a:solidFill>
                <a:latin typeface="Times New Roman" panose="02020603050405020304" pitchFamily="18" charset="0"/>
                <a:cs typeface="Times New Roman" panose="02020603050405020304" pitchFamily="18" charset="0"/>
              </a:rPr>
              <a:t> menu “Project”, </a:t>
            </a:r>
            <a:r>
              <a:rPr lang="en-US" dirty="0" err="1">
                <a:solidFill>
                  <a:prstClr val="black"/>
                </a:solidFill>
                <a:latin typeface="Times New Roman" panose="02020603050405020304" pitchFamily="18" charset="0"/>
                <a:cs typeface="Times New Roman" panose="02020603050405020304" pitchFamily="18" charset="0"/>
              </a:rPr>
              <a:t>chọn</a:t>
            </a:r>
            <a:r>
              <a:rPr lang="en-US" dirty="0">
                <a:solidFill>
                  <a:prstClr val="black"/>
                </a:solidFill>
                <a:latin typeface="Times New Roman" panose="02020603050405020304" pitchFamily="18" charset="0"/>
                <a:cs typeface="Times New Roman" panose="02020603050405020304" pitchFamily="18" charset="0"/>
              </a:rPr>
              <a:t> “Convert S7 200 Project”</a:t>
            </a:r>
          </a:p>
          <a:p>
            <a:pPr marL="257175" indent="-257175" algn="just" defTabSz="685800" eaLnBrk="0" fontAlgn="base" hangingPunct="0">
              <a:spcBef>
                <a:spcPct val="0"/>
              </a:spcBef>
              <a:spcAft>
                <a:spcPct val="0"/>
              </a:spcAft>
              <a:buFont typeface="+mj-lt"/>
              <a:buAutoNum type="arabicPeriod" startAt="3"/>
            </a:pPr>
            <a:r>
              <a:rPr lang="en-US" dirty="0" err="1">
                <a:solidFill>
                  <a:prstClr val="black"/>
                </a:solidFill>
                <a:latin typeface="Times New Roman" panose="02020603050405020304" pitchFamily="18" charset="0"/>
                <a:ea typeface="DengXian"/>
              </a:rPr>
              <a:t>Nhấp</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vào</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nút</a:t>
            </a:r>
            <a:r>
              <a:rPr lang="en-US" dirty="0">
                <a:solidFill>
                  <a:prstClr val="black"/>
                </a:solidFill>
                <a:latin typeface="Times New Roman" panose="02020603050405020304" pitchFamily="18" charset="0"/>
                <a:ea typeface="DengXian"/>
              </a:rPr>
              <a:t> “…” ở </a:t>
            </a:r>
            <a:r>
              <a:rPr lang="en-US" dirty="0" err="1">
                <a:solidFill>
                  <a:prstClr val="black"/>
                </a:solidFill>
                <a:latin typeface="Times New Roman" panose="02020603050405020304" pitchFamily="18" charset="0"/>
                <a:ea typeface="DengXian"/>
              </a:rPr>
              <a:t>bên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phải</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vùng</a:t>
            </a:r>
            <a:r>
              <a:rPr lang="en-US" dirty="0">
                <a:solidFill>
                  <a:prstClr val="black"/>
                </a:solidFill>
                <a:latin typeface="Times New Roman" panose="02020603050405020304" pitchFamily="18" charset="0"/>
                <a:ea typeface="DengXian"/>
              </a:rPr>
              <a:t> “Source path” </a:t>
            </a:r>
            <a:r>
              <a:rPr lang="en-US" dirty="0" err="1">
                <a:solidFill>
                  <a:prstClr val="black"/>
                </a:solidFill>
                <a:latin typeface="Times New Roman" panose="02020603050405020304" pitchFamily="18" charset="0"/>
                <a:ea typeface="DengXian"/>
              </a:rPr>
              <a:t>và</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duyệt</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đến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vị</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trí</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tệp</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chương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trình</a:t>
            </a:r>
            <a:r>
              <a:rPr lang="en-US" dirty="0">
                <a:solidFill>
                  <a:prstClr val="black"/>
                </a:solidFill>
                <a:latin typeface="Times New Roman" panose="02020603050405020304" pitchFamily="18" charset="0"/>
                <a:ea typeface="DengXian"/>
              </a:rPr>
              <a:t> STEP 7-Micro/WIN. </a:t>
            </a:r>
            <a:r>
              <a:rPr lang="en-US" dirty="0" err="1">
                <a:solidFill>
                  <a:prstClr val="black"/>
                </a:solidFill>
                <a:latin typeface="Times New Roman" panose="02020603050405020304" pitchFamily="18" charset="0"/>
                <a:ea typeface="DengXian"/>
              </a:rPr>
              <a:t>Nếu</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cần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thiết</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bạn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có</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thể</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thay</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đổi</a:t>
            </a:r>
            <a:r>
              <a:rPr lang="en-US" dirty="0">
                <a:solidFill>
                  <a:prstClr val="black"/>
                </a:solidFill>
                <a:latin typeface="Times New Roman" panose="02020603050405020304" pitchFamily="18" charset="0"/>
                <a:ea typeface="DengXian"/>
              </a:rPr>
              <a:t> “Target path” </a:t>
            </a:r>
            <a:r>
              <a:rPr lang="en-US" dirty="0" err="1">
                <a:solidFill>
                  <a:prstClr val="black"/>
                </a:solidFill>
                <a:latin typeface="Times New Roman" panose="02020603050405020304" pitchFamily="18" charset="0"/>
                <a:ea typeface="DengXian"/>
              </a:rPr>
              <a:t>bằng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cách</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lưu</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đến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vị</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trí</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mới</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Bạn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cũng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có</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thể</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thay</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đổi</a:t>
            </a:r>
            <a:r>
              <a:rPr lang="en-US" dirty="0">
                <a:solidFill>
                  <a:prstClr val="black"/>
                </a:solidFill>
                <a:latin typeface="Times New Roman" panose="02020603050405020304" pitchFamily="18" charset="0"/>
                <a:ea typeface="DengXian"/>
              </a:rPr>
              <a:t>  “Destination project” target name </a:t>
            </a:r>
            <a:r>
              <a:rPr lang="en-US" dirty="0" err="1">
                <a:solidFill>
                  <a:prstClr val="black"/>
                </a:solidFill>
                <a:latin typeface="Times New Roman" panose="02020603050405020304" pitchFamily="18" charset="0"/>
                <a:ea typeface="DengXian"/>
              </a:rPr>
              <a:t>bằng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tên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khác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nếu</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muốn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Bạn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cũng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có</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thể</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thay</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đổi</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tên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chủ</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chương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trình</a:t>
            </a:r>
            <a:r>
              <a:rPr lang="en-US" dirty="0">
                <a:solidFill>
                  <a:prstClr val="black"/>
                </a:solidFill>
                <a:latin typeface="Times New Roman" panose="02020603050405020304" pitchFamily="18" charset="0"/>
                <a:ea typeface="DengXian"/>
              </a:rPr>
              <a:t> STEP </a:t>
            </a:r>
            <a:r>
              <a:rPr lang="en-US" dirty="0" err="1">
                <a:solidFill>
                  <a:prstClr val="black"/>
                </a:solidFill>
                <a:latin typeface="Times New Roman" panose="02020603050405020304" pitchFamily="18" charset="0"/>
                <a:ea typeface="DengXian"/>
              </a:rPr>
              <a:t>trong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phần</a:t>
            </a:r>
            <a:r>
              <a:rPr lang="en-US" dirty="0">
                <a:solidFill>
                  <a:prstClr val="black"/>
                </a:solidFill>
                <a:latin typeface="Times New Roman" panose="02020603050405020304" pitchFamily="18" charset="0"/>
                <a:ea typeface="DengXian"/>
              </a:rPr>
              <a:t> Author </a:t>
            </a:r>
            <a:r>
              <a:rPr lang="en-US" dirty="0" err="1">
                <a:solidFill>
                  <a:prstClr val="black"/>
                </a:solidFill>
                <a:latin typeface="Times New Roman" panose="02020603050405020304" pitchFamily="18" charset="0"/>
                <a:ea typeface="DengXian"/>
              </a:rPr>
              <a:t>và</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viết</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các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ghi</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chú</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vào</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phần</a:t>
            </a:r>
            <a:r>
              <a:rPr lang="en-US" dirty="0">
                <a:solidFill>
                  <a:prstClr val="black"/>
                </a:solidFill>
                <a:latin typeface="Times New Roman" panose="02020603050405020304" pitchFamily="18" charset="0"/>
                <a:ea typeface="DengXian"/>
              </a:rPr>
              <a:t> Comment</a:t>
            </a:r>
          </a:p>
          <a:p>
            <a:pPr marL="257175" indent="-257175" algn="just" defTabSz="685800" eaLnBrk="0" fontAlgn="base" hangingPunct="0">
              <a:spcBef>
                <a:spcPct val="0"/>
              </a:spcBef>
              <a:spcAft>
                <a:spcPct val="0"/>
              </a:spcAft>
              <a:buFont typeface="+mj-lt"/>
              <a:buAutoNum type="arabicPeriod" startAt="3"/>
            </a:pPr>
            <a:r>
              <a:rPr lang="en-US" dirty="0" err="1">
                <a:solidFill>
                  <a:prstClr val="black"/>
                </a:solidFill>
                <a:latin typeface="Times New Roman" panose="02020603050405020304" pitchFamily="18" charset="0"/>
                <a:cs typeface="Times New Roman" panose="02020603050405020304" pitchFamily="18" charset="0"/>
              </a:rPr>
              <a:t>Bắt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đầu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quá</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nhập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thông</a:t>
            </a:r>
            <a:r>
              <a:rPr lang="en-US" dirty="0">
                <a:solidFill>
                  <a:prstClr val="black"/>
                </a:solidFill>
                <a:latin typeface="Times New Roman" panose="02020603050405020304" pitchFamily="18" charset="0"/>
                <a:cs typeface="Times New Roman" panose="02020603050405020304" pitchFamily="18" charset="0"/>
              </a:rPr>
              <a:t> tin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bằng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nhấn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nút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nút</a:t>
            </a:r>
            <a:r>
              <a:rPr lang="en-US" dirty="0">
                <a:solidFill>
                  <a:prstClr val="black"/>
                </a:solidFill>
                <a:latin typeface="Times New Roman" panose="02020603050405020304" pitchFamily="18" charset="0"/>
                <a:cs typeface="Times New Roman" panose="02020603050405020304" pitchFamily="18" charset="0"/>
              </a:rPr>
              <a:t> “Convert”. </a:t>
            </a:r>
            <a:r>
              <a:rPr lang="en-US" dirty="0" err="1">
                <a:solidFill>
                  <a:prstClr val="black"/>
                </a:solidFill>
                <a:latin typeface="Times New Roman" panose="02020603050405020304" pitchFamily="18" charset="0"/>
                <a:cs typeface="Times New Roman" panose="02020603050405020304" pitchFamily="18" charset="0"/>
              </a:rPr>
              <a:t>Khi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nút</a:t>
            </a:r>
            <a:r>
              <a:rPr lang="en-US" dirty="0">
                <a:solidFill>
                  <a:prstClr val="black"/>
                </a:solidFill>
                <a:latin typeface="Times New Roman" panose="02020603050405020304" pitchFamily="18" charset="0"/>
                <a:cs typeface="Times New Roman" panose="02020603050405020304" pitchFamily="18" charset="0"/>
              </a:rPr>
              <a:t> “Convert”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mục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nhập</a:t>
            </a:r>
            <a:r>
              <a:rPr lang="en-US" dirty="0">
                <a:solidFill>
                  <a:prstClr val="black"/>
                </a:solidFill>
                <a:latin typeface="Times New Roman" panose="02020603050405020304" pitchFamily="18" charset="0"/>
                <a:cs typeface="Times New Roman" panose="02020603050405020304" pitchFamily="18" charset="0"/>
              </a:rPr>
              <a:t> ở </a:t>
            </a:r>
            <a:r>
              <a:rPr lang="en-US" dirty="0" err="1">
                <a:solidFill>
                  <a:prstClr val="black"/>
                </a:solidFill>
                <a:latin typeface="Times New Roman" panose="02020603050405020304" pitchFamily="18" charset="0"/>
                <a:cs typeface="Times New Roman" panose="02020603050405020304" pitchFamily="18" charset="0"/>
              </a:rPr>
              <a:t>trên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sẽ</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xác</a:t>
            </a:r>
            <a:r>
              <a:rPr lang="en-US" dirty="0">
                <a:solidFill>
                  <a:prstClr val="black"/>
                </a:solidFill>
                <a:latin typeface="Times New Roman" panose="02020603050405020304" pitchFamily="18" charset="0"/>
                <a:cs typeface="Times New Roman" panose="02020603050405020304" pitchFamily="18" charset="0"/>
              </a:rPr>
              <a:t> minh </a:t>
            </a:r>
            <a:r>
              <a:rPr lang="en-US" dirty="0" err="1">
                <a:solidFill>
                  <a:prstClr val="black"/>
                </a:solidFill>
                <a:latin typeface="Times New Roman" panose="02020603050405020304" pitchFamily="18" charset="0"/>
                <a:cs typeface="Times New Roman" panose="02020603050405020304" pitchFamily="18" charset="0"/>
              </a:rPr>
              <a:t>trước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endParaRPr lang="en-US" dirty="0">
              <a:solidFill>
                <a:prstClr val="black"/>
              </a:solidFill>
              <a:latin typeface="Times New Roman" panose="02020603050405020304" pitchFamily="18" charset="0"/>
              <a:cs typeface="Times New Roman" panose="02020603050405020304" pitchFamily="18" charset="0"/>
            </a:endParaRPr>
          </a:p>
          <a:p>
            <a:pPr marL="257175" indent="-257175" algn="just" defTabSz="685800" eaLnBrk="0" fontAlgn="base" hangingPunct="0">
              <a:spcBef>
                <a:spcPct val="0"/>
              </a:spcBef>
              <a:spcAft>
                <a:spcPct val="0"/>
              </a:spcAft>
              <a:buFont typeface="+mj-lt"/>
              <a:buAutoNum type="arabicPeriod" startAt="3"/>
            </a:pPr>
            <a:r>
              <a:rPr lang="en-US" dirty="0" err="1">
                <a:solidFill>
                  <a:prstClr val="black"/>
                </a:solidFill>
                <a:latin typeface="Times New Roman" panose="02020603050405020304" pitchFamily="18" charset="0"/>
                <a:cs typeface="Times New Roman" panose="02020603050405020304" pitchFamily="18" charset="0"/>
              </a:rPr>
              <a:t>Hoàn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tất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quá</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nhập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bằng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nút</a:t>
            </a:r>
            <a:r>
              <a:rPr lang="en-US" dirty="0">
                <a:solidFill>
                  <a:prstClr val="black"/>
                </a:solidFill>
                <a:latin typeface="Times New Roman" panose="02020603050405020304" pitchFamily="18" charset="0"/>
                <a:cs typeface="Times New Roman" panose="02020603050405020304" pitchFamily="18" charset="0"/>
              </a:rPr>
              <a:t> “OK” </a:t>
            </a:r>
            <a:r>
              <a:rPr lang="en-US" dirty="0" err="1">
                <a:solidFill>
                  <a:prstClr val="black"/>
                </a:solidFill>
                <a:latin typeface="Times New Roman" panose="02020603050405020304" pitchFamily="18" charset="0"/>
                <a:cs typeface="Times New Roman" panose="02020603050405020304" pitchFamily="18" charset="0"/>
              </a:rPr>
              <a:t>trên</a:t>
            </a:r>
            <a:r>
              <a:rPr lang="en-US" dirty="0">
                <a:solidFill>
                  <a:prstClr val="black"/>
                </a:solidFill>
                <a:latin typeface="Times New Roman" panose="02020603050405020304" pitchFamily="18" charset="0"/>
                <a:cs typeface="Times New Roman" panose="02020603050405020304" pitchFamily="18" charset="0"/>
              </a:rPr>
              <a:t> bảng “Import completed”</a:t>
            </a:r>
          </a:p>
          <a:p>
            <a:pPr marL="257175" indent="-257175" algn="just" defTabSz="685800" eaLnBrk="0" fontAlgn="base" hangingPunct="0">
              <a:spcBef>
                <a:spcPct val="0"/>
              </a:spcBef>
              <a:spcAft>
                <a:spcPct val="0"/>
              </a:spcAft>
              <a:buFont typeface="+mj-lt"/>
              <a:buAutoNum type="arabicPeriod" startAt="3"/>
            </a:pPr>
            <a:r>
              <a:rPr lang="en-US" dirty="0" err="1">
                <a:solidFill>
                  <a:prstClr val="black"/>
                </a:solidFill>
                <a:latin typeface="Times New Roman" panose="02020603050405020304" pitchFamily="18" charset="0"/>
                <a:cs typeface="Times New Roman" panose="02020603050405020304" pitchFamily="18" charset="0"/>
              </a:rPr>
              <a:t>Hoàn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tất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quá</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bằng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nhấp</a:t>
            </a:r>
            <a:r>
              <a:rPr lang="en-US" dirty="0">
                <a:solidFill>
                  <a:prstClr val="black"/>
                </a:solidFill>
                <a:latin typeface="Times New Roman" panose="02020603050405020304" pitchFamily="18" charset="0"/>
                <a:cs typeface="Times New Roman" panose="02020603050405020304" pitchFamily="18" charset="0"/>
              </a:rPr>
              <a:t> “OK” </a:t>
            </a:r>
            <a:r>
              <a:rPr lang="en-US" dirty="0" err="1">
                <a:solidFill>
                  <a:prstClr val="black"/>
                </a:solidFill>
                <a:latin typeface="Times New Roman" panose="02020603050405020304" pitchFamily="18" charset="0"/>
                <a:cs typeface="Times New Roman" panose="02020603050405020304" pitchFamily="18" charset="0"/>
              </a:rPr>
              <a:t>trên</a:t>
            </a:r>
            <a:r>
              <a:rPr lang="en-US" dirty="0">
                <a:solidFill>
                  <a:prstClr val="black"/>
                </a:solidFill>
                <a:latin typeface="Times New Roman" panose="02020603050405020304" pitchFamily="18" charset="0"/>
                <a:cs typeface="Times New Roman" panose="02020603050405020304" pitchFamily="18" charset="0"/>
              </a:rPr>
              <a:t> bảng “Convert Successful”</a:t>
            </a:r>
          </a:p>
          <a:p>
            <a:pPr marL="257175" indent="-257175" algn="just" defTabSz="685800" eaLnBrk="0" fontAlgn="base" hangingPunct="0">
              <a:spcBef>
                <a:spcPct val="0"/>
              </a:spcBef>
              <a:spcAft>
                <a:spcPct val="0"/>
              </a:spcAft>
              <a:buFont typeface="+mj-lt"/>
              <a:buAutoNum type="arabicPeriod" startAt="3"/>
            </a:pPr>
            <a:endParaRPr lang="en-US" dirty="0">
              <a:solidFill>
                <a:prstClr val="black"/>
              </a:solidFill>
              <a:latin typeface="Arial" panose="020B0604020202020204" pitchFamily="34" charset="0"/>
            </a:endParaRPr>
          </a:p>
        </p:txBody>
      </p:sp>
    </p:spTree>
    <p:extLst>
      <p:ext uri="{BB962C8B-B14F-4D97-AF65-F5344CB8AC3E}">
        <p14:creationId xmlns:p14="http://schemas.microsoft.com/office/powerpoint/2010/main" val="2161906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pic>
        <p:nvPicPr>
          <p:cNvPr id="8" name="Picture 7"/>
          <p:cNvPicPr/>
          <p:nvPr/>
        </p:nvPicPr>
        <p:blipFill>
          <a:blip r:embed="rId4">
            <a:extLst>
              <a:ext uri="{28A0092B-C50C-407E-A947-70E740481C1C}">
                <a14:useLocalDpi xmlns:a14="http://schemas.microsoft.com/office/drawing/2010/main" val="0"/>
              </a:ext>
            </a:extLst>
          </a:blip>
          <a:srcRect l="5930" t="30788" r="56248" b="19328"/>
          <a:stretch>
            <a:fillRect/>
          </a:stretch>
        </p:blipFill>
        <p:spPr bwMode="auto">
          <a:xfrm>
            <a:off x="339454" y="2619449"/>
            <a:ext cx="2638968" cy="2311422"/>
          </a:xfrm>
          <a:prstGeom prst="rect">
            <a:avLst/>
          </a:prstGeom>
          <a:noFill/>
          <a:ln>
            <a:noFill/>
          </a:ln>
        </p:spPr>
      </p:pic>
      <p:pic>
        <p:nvPicPr>
          <p:cNvPr id="9" name="Picture 8"/>
          <p:cNvPicPr/>
          <p:nvPr/>
        </p:nvPicPr>
        <p:blipFill>
          <a:blip r:embed="rId5">
            <a:extLst>
              <a:ext uri="{28A0092B-C50C-407E-A947-70E740481C1C}">
                <a14:useLocalDpi xmlns:a14="http://schemas.microsoft.com/office/drawing/2010/main" val="0"/>
              </a:ext>
            </a:extLst>
          </a:blip>
          <a:srcRect l="3685" t="27367" r="55930" b="17047"/>
          <a:stretch>
            <a:fillRect/>
          </a:stretch>
        </p:blipFill>
        <p:spPr bwMode="auto">
          <a:xfrm>
            <a:off x="3340809" y="2603401"/>
            <a:ext cx="2753507" cy="2343519"/>
          </a:xfrm>
          <a:prstGeom prst="rect">
            <a:avLst/>
          </a:prstGeom>
          <a:noFill/>
          <a:ln>
            <a:noFill/>
          </a:ln>
        </p:spPr>
      </p:pic>
      <p:pic>
        <p:nvPicPr>
          <p:cNvPr id="10" name="Picture 9"/>
          <p:cNvPicPr/>
          <p:nvPr/>
        </p:nvPicPr>
        <p:blipFill>
          <a:blip r:embed="rId6">
            <a:extLst>
              <a:ext uri="{28A0092B-C50C-407E-A947-70E740481C1C}">
                <a14:useLocalDpi xmlns:a14="http://schemas.microsoft.com/office/drawing/2010/main" val="0"/>
              </a:ext>
            </a:extLst>
          </a:blip>
          <a:srcRect l="10417" t="21664" r="67148" b="61803"/>
          <a:stretch>
            <a:fillRect/>
          </a:stretch>
        </p:blipFill>
        <p:spPr bwMode="auto">
          <a:xfrm>
            <a:off x="6295842" y="3264876"/>
            <a:ext cx="2646294" cy="1020568"/>
          </a:xfrm>
          <a:prstGeom prst="rect">
            <a:avLst/>
          </a:prstGeom>
          <a:noFill/>
          <a:ln>
            <a:noFill/>
          </a:ln>
        </p:spPr>
      </p:pic>
      <p:pic>
        <p:nvPicPr>
          <p:cNvPr id="13" name="Picture 12"/>
          <p:cNvPicPr/>
          <p:nvPr/>
        </p:nvPicPr>
        <p:blipFill>
          <a:blip r:embed="rId6">
            <a:extLst>
              <a:ext uri="{28A0092B-C50C-407E-A947-70E740481C1C}">
                <a14:useLocalDpi xmlns:a14="http://schemas.microsoft.com/office/drawing/2010/main" val="0"/>
              </a:ext>
            </a:extLst>
          </a:blip>
          <a:srcRect l="10417" t="45610" r="58333" b="22179"/>
          <a:stretch>
            <a:fillRect/>
          </a:stretch>
        </p:blipFill>
        <p:spPr bwMode="auto">
          <a:xfrm>
            <a:off x="9143663" y="3179071"/>
            <a:ext cx="2738882" cy="1404156"/>
          </a:xfrm>
          <a:prstGeom prst="rect">
            <a:avLst/>
          </a:prstGeom>
          <a:noFill/>
          <a:ln>
            <a:noFill/>
          </a:ln>
        </p:spPr>
      </p:pic>
      <p:sp>
        <p:nvSpPr>
          <p:cNvPr id="14" name="TextBox 13"/>
          <p:cNvSpPr txBox="1"/>
          <p:nvPr/>
        </p:nvSpPr>
        <p:spPr>
          <a:xfrm>
            <a:off x="457200" y="1438276"/>
            <a:ext cx="11277600" cy="923330"/>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Bước</a:t>
            </a:r>
            <a:r>
              <a:rPr lang="en-US" b="1" dirty="0">
                <a:solidFill>
                  <a:prstClr val="black"/>
                </a:solidFill>
                <a:latin typeface="Times New Roman" panose="02020603050405020304" pitchFamily="18" charset="0"/>
                <a:cs typeface="Times New Roman" panose="02020603050405020304" pitchFamily="18" charset="0"/>
              </a:rPr>
              <a:t> 1: </a:t>
            </a:r>
            <a:r>
              <a:rPr lang="en-US" b="1" dirty="0" err="1">
                <a:solidFill>
                  <a:prstClr val="black"/>
                </a:solidFill>
                <a:latin typeface="Times New Roman" panose="02020603050405020304" pitchFamily="18" charset="0"/>
                <a:cs typeface="Times New Roman" panose="02020603050405020304" pitchFamily="18" charset="0"/>
              </a:rPr>
              <a:t>Khởi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động</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công</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cụ</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chuyển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đổi</a:t>
            </a:r>
            <a:endParaRPr lang="en-US" b="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bước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thực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hiện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công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cụ</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từ</a:t>
            </a:r>
            <a:r>
              <a:rPr lang="en-US" dirty="0">
                <a:solidFill>
                  <a:prstClr val="black"/>
                </a:solidFill>
                <a:latin typeface="Times New Roman" panose="02020603050405020304" pitchFamily="18" charset="0"/>
                <a:cs typeface="Times New Roman" panose="02020603050405020304" pitchFamily="18" charset="0"/>
              </a:rPr>
              <a:t> SIMATIC S7-200 sang SIMATIC S7-1200</a:t>
            </a:r>
          </a:p>
          <a:p>
            <a:pPr algn="just" defTabSz="685800" eaLnBrk="0" fontAlgn="base" hangingPunct="0">
              <a:spcBef>
                <a:spcPct val="0"/>
              </a:spcBef>
              <a:spcAft>
                <a:spcPct val="0"/>
              </a:spcAft>
            </a:pPr>
            <a:endParaRPr lang="en-US" dirty="0">
              <a:solidFill>
                <a:prstClr val="black"/>
              </a:solidFill>
              <a:latin typeface="Arial" panose="020B0604020202020204" pitchFamily="34" charset="0"/>
            </a:endParaRPr>
          </a:p>
        </p:txBody>
      </p:sp>
      <p:sp>
        <p:nvSpPr>
          <p:cNvPr id="2" name="Right Arrow 1"/>
          <p:cNvSpPr/>
          <p:nvPr/>
        </p:nvSpPr>
        <p:spPr>
          <a:xfrm>
            <a:off x="483833" y="5136615"/>
            <a:ext cx="11105965" cy="248575"/>
          </a:xfrm>
          <a:prstGeom prst="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1034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8" name="TextBox 7"/>
          <p:cNvSpPr txBox="1"/>
          <p:nvPr/>
        </p:nvSpPr>
        <p:spPr>
          <a:xfrm>
            <a:off x="457200" y="1438276"/>
            <a:ext cx="11277600" cy="1754326"/>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Bước</a:t>
            </a:r>
            <a:r>
              <a:rPr lang="en-US" b="1" dirty="0">
                <a:solidFill>
                  <a:prstClr val="black"/>
                </a:solidFill>
                <a:latin typeface="Times New Roman" panose="02020603050405020304" pitchFamily="18" charset="0"/>
                <a:cs typeface="Times New Roman" panose="02020603050405020304" pitchFamily="18" charset="0"/>
              </a:rPr>
              <a:t> 2: </a:t>
            </a:r>
            <a:r>
              <a:rPr lang="en-US" b="1" dirty="0" err="1">
                <a:solidFill>
                  <a:prstClr val="black"/>
                </a:solidFill>
                <a:latin typeface="Times New Roman" panose="02020603050405020304" pitchFamily="18" charset="0"/>
                <a:cs typeface="Times New Roman" panose="02020603050405020304" pitchFamily="18" charset="0"/>
              </a:rPr>
              <a:t>Xây</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dựng</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lại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các</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khối</a:t>
            </a:r>
            <a:r>
              <a:rPr lang="en-US" b="1" dirty="0">
                <a:solidFill>
                  <a:prstClr val="black"/>
                </a:solidFill>
                <a:latin typeface="Times New Roman" panose="02020603050405020304" pitchFamily="18" charset="0"/>
                <a:cs typeface="Times New Roman" panose="02020603050405020304" pitchFamily="18" charset="0"/>
              </a:rPr>
              <a:t> (blocks) </a:t>
            </a:r>
            <a:r>
              <a:rPr lang="en-US" b="1" dirty="0" err="1">
                <a:solidFill>
                  <a:prstClr val="black"/>
                </a:solidFill>
                <a:latin typeface="Times New Roman" panose="02020603050405020304" pitchFamily="18" charset="0"/>
                <a:cs typeface="Times New Roman" panose="02020603050405020304" pitchFamily="18" charset="0"/>
              </a:rPr>
              <a:t>và</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liên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kết</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giữa</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các</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khối</a:t>
            </a:r>
            <a:endParaRPr lang="en-US" b="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endParaRPr lang="en-US" dirty="0">
              <a:solidFill>
                <a:prstClr val="black"/>
              </a:solidFill>
              <a:latin typeface="Times New Roman" panose="02020603050405020304" pitchFamily="18" charset="0"/>
              <a:ea typeface="DengXian"/>
              <a:cs typeface="Times New Roman" panose="02020603050405020304" pitchFamily="18" charset="0"/>
            </a:endParaRPr>
          </a:p>
          <a:p>
            <a:pPr algn="just" defTabSz="685800" eaLnBrk="0" fontAlgn="base" hangingPunct="0">
              <a:spcBef>
                <a:spcPct val="0"/>
              </a:spcBef>
              <a:spcAft>
                <a:spcPct val="0"/>
              </a:spcAft>
            </a:pPr>
            <a:r>
              <a:rPr lang="en-US" dirty="0" err="1">
                <a:solidFill>
                  <a:prstClr val="black"/>
                </a:solidFill>
                <a:latin typeface="Times New Roman" panose="02020603050405020304" pitchFamily="18" charset="0"/>
                <a:ea typeface="DengXian"/>
                <a:cs typeface="Times New Roman" panose="02020603050405020304" pitchFamily="18" charset="0"/>
              </a:rPr>
              <a:t>Nâng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cấp</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liên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kết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giữa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bằng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biên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dịch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STEP 7. </a:t>
            </a:r>
          </a:p>
          <a:p>
            <a:pPr algn="just" defTabSz="685800" eaLnBrk="0" fontAlgn="base" hangingPunct="0">
              <a:spcBef>
                <a:spcPct val="0"/>
              </a:spcBef>
              <a:spcAft>
                <a:spcPct val="0"/>
              </a:spcAft>
            </a:pP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chuột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nhấp</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chuột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vào</a:t>
            </a:r>
            <a:r>
              <a:rPr lang="en-US" dirty="0">
                <a:solidFill>
                  <a:prstClr val="black"/>
                </a:solidFill>
                <a:latin typeface="Times New Roman" panose="02020603050405020304" pitchFamily="18" charset="0"/>
                <a:ea typeface="DengXian"/>
                <a:cs typeface="Times New Roman" panose="02020603050405020304" pitchFamily="18" charset="0"/>
              </a:rPr>
              <a:t> “Unspecific CPU 1200”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Project tree. </a:t>
            </a:r>
          </a:p>
          <a:p>
            <a:pPr algn="just" defTabSz="685800" eaLnBrk="0" fontAlgn="base" hangingPunct="0">
              <a:spcBef>
                <a:spcPct val="0"/>
              </a:spcBef>
              <a:spcAft>
                <a:spcPct val="0"/>
              </a:spcAft>
            </a:pPr>
            <a:r>
              <a:rPr lang="en-US" dirty="0" err="1">
                <a:solidFill>
                  <a:prstClr val="black"/>
                </a:solidFill>
                <a:latin typeface="Times New Roman" panose="02020603050405020304" pitchFamily="18" charset="0"/>
                <a:ea typeface="DengXian"/>
                <a:cs typeface="Times New Roman" panose="02020603050405020304" pitchFamily="18" charset="0"/>
              </a:rPr>
              <a:t>Chọn</a:t>
            </a:r>
            <a:r>
              <a:rPr lang="en-US" dirty="0">
                <a:solidFill>
                  <a:prstClr val="black"/>
                </a:solidFill>
                <a:latin typeface="Times New Roman" panose="02020603050405020304" pitchFamily="18" charset="0"/>
                <a:ea typeface="DengXian"/>
                <a:cs typeface="Times New Roman" panose="02020603050405020304" pitchFamily="18" charset="0"/>
              </a:rPr>
              <a:t> “Compile &gt; Software (rebuild all blocks)”</a:t>
            </a:r>
          </a:p>
          <a:p>
            <a:pPr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p:txBody>
      </p:sp>
      <p:pic>
        <p:nvPicPr>
          <p:cNvPr id="9" name="Picture 8"/>
          <p:cNvPicPr/>
          <p:nvPr/>
        </p:nvPicPr>
        <p:blipFill>
          <a:blip r:embed="rId4">
            <a:extLst>
              <a:ext uri="{28A0092B-C50C-407E-A947-70E740481C1C}">
                <a14:useLocalDpi xmlns:a14="http://schemas.microsoft.com/office/drawing/2010/main" val="0"/>
              </a:ext>
            </a:extLst>
          </a:blip>
          <a:srcRect l="1923" t="19099" r="53847" b="10490"/>
          <a:stretch>
            <a:fillRect/>
          </a:stretch>
        </p:blipFill>
        <p:spPr bwMode="auto">
          <a:xfrm>
            <a:off x="3807772" y="2915604"/>
            <a:ext cx="4102231" cy="3263735"/>
          </a:xfrm>
          <a:prstGeom prst="rect">
            <a:avLst/>
          </a:prstGeom>
          <a:noFill/>
          <a:ln>
            <a:noFill/>
          </a:ln>
        </p:spPr>
      </p:pic>
    </p:spTree>
    <p:extLst>
      <p:ext uri="{BB962C8B-B14F-4D97-AF65-F5344CB8AC3E}">
        <p14:creationId xmlns:p14="http://schemas.microsoft.com/office/powerpoint/2010/main" val="2797126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8" name="TextBox 7"/>
          <p:cNvSpPr txBox="1"/>
          <p:nvPr/>
        </p:nvSpPr>
        <p:spPr>
          <a:xfrm>
            <a:off x="457200" y="1471326"/>
            <a:ext cx="11277600" cy="4524315"/>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ea typeface="DengXian"/>
                <a:cs typeface="Times New Roman" panose="02020603050405020304" pitchFamily="18" charset="0"/>
              </a:rPr>
              <a:t>Bước</a:t>
            </a:r>
            <a:r>
              <a:rPr lang="en-US" b="1" dirty="0">
                <a:solidFill>
                  <a:prstClr val="black"/>
                </a:solidFill>
                <a:latin typeface="Times New Roman" panose="02020603050405020304" pitchFamily="18" charset="0"/>
                <a:ea typeface="DengXian"/>
                <a:cs typeface="Times New Roman" panose="02020603050405020304" pitchFamily="18" charset="0"/>
              </a:rPr>
              <a:t> 3: </a:t>
            </a:r>
            <a:r>
              <a:rPr lang="en-US" b="1" dirty="0" err="1">
                <a:solidFill>
                  <a:prstClr val="black"/>
                </a:solidFill>
                <a:latin typeface="Times New Roman" panose="02020603050405020304" pitchFamily="18" charset="0"/>
                <a:ea typeface="DengXian"/>
                <a:cs typeface="Times New Roman" panose="02020603050405020304" pitchFamily="18" charset="0"/>
              </a:rPr>
              <a:t>Cấu</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hình</a:t>
            </a:r>
            <a:r>
              <a:rPr lang="en-US" b="1" dirty="0">
                <a:solidFill>
                  <a:prstClr val="black"/>
                </a:solidFill>
                <a:latin typeface="Times New Roman" panose="02020603050405020304" pitchFamily="18" charset="0"/>
                <a:ea typeface="DengXian"/>
                <a:cs typeface="Times New Roman" panose="02020603050405020304" pitchFamily="18" charset="0"/>
              </a:rPr>
              <a:t> CPU S7-1200 </a:t>
            </a:r>
            <a:r>
              <a:rPr lang="en-US" b="1" dirty="0" err="1">
                <a:solidFill>
                  <a:prstClr val="black"/>
                </a:solidFill>
                <a:latin typeface="Times New Roman" panose="02020603050405020304" pitchFamily="18" charset="0"/>
                <a:ea typeface="DengXian"/>
                <a:cs typeface="Times New Roman" panose="02020603050405020304" pitchFamily="18" charset="0"/>
              </a:rPr>
              <a:t>và</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các</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mô-đun</a:t>
            </a:r>
            <a:r>
              <a:rPr lang="en-US" b="1" dirty="0">
                <a:solidFill>
                  <a:prstClr val="black"/>
                </a:solidFill>
                <a:latin typeface="Times New Roman" panose="02020603050405020304" pitchFamily="18" charset="0"/>
                <a:ea typeface="DengXian"/>
                <a:cs typeface="Times New Roman" panose="02020603050405020304" pitchFamily="18" charset="0"/>
              </a:rPr>
              <a:t> I/O</a:t>
            </a:r>
            <a:endParaRPr lang="en-US" b="1" dirty="0">
              <a:solidFill>
                <a:prstClr val="black"/>
              </a:solidFill>
              <a:latin typeface="Times New Roman" panose="02020603050405020304" pitchFamily="18" charset="0"/>
              <a:cs typeface="Times New Roman" panose="02020603050405020304" pitchFamily="18" charset="0"/>
            </a:endParaRPr>
          </a:p>
          <a:p>
            <a:pPr marL="214313" indent="-214313" algn="just" defTabSz="685800" eaLnBrk="0" fontAlgn="base" hangingPunct="0">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STEP 7 Device configuration </a:t>
            </a:r>
            <a:r>
              <a:rPr lang="en-US" dirty="0" err="1">
                <a:solidFill>
                  <a:prstClr val="black"/>
                </a:solidFill>
                <a:latin typeface="Times New Roman" panose="02020603050405020304" pitchFamily="18" charset="0"/>
                <a:ea typeface="DengXian"/>
                <a:cs typeface="Times New Roman" panose="02020603050405020304" pitchFamily="18" charset="0"/>
              </a:rPr>
              <a:t>để</a:t>
            </a:r>
            <a:r>
              <a:rPr lang="en-US" dirty="0">
                <a:solidFill>
                  <a:prstClr val="black"/>
                </a:solidFill>
                <a:latin typeface="Times New Roman" panose="02020603050405020304" pitchFamily="18" charset="0"/>
                <a:ea typeface="DengXian"/>
                <a:cs typeface="Times New Roman" panose="02020603050405020304" pitchFamily="18" charset="0"/>
              </a:rPr>
              <a:t> paht1 </a:t>
            </a:r>
            <a:r>
              <a:rPr lang="en-US" dirty="0" err="1">
                <a:solidFill>
                  <a:prstClr val="black"/>
                </a:solidFill>
                <a:latin typeface="Times New Roman" panose="02020603050405020304" pitchFamily="18" charset="0"/>
                <a:ea typeface="DengXian"/>
                <a:cs typeface="Times New Roman" panose="02020603050405020304" pitchFamily="18" charset="0"/>
              </a:rPr>
              <a:t>hiện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cấu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hệ</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thống</a:t>
            </a:r>
            <a:r>
              <a:rPr lang="en-US" dirty="0">
                <a:solidFill>
                  <a:prstClr val="black"/>
                </a:solidFill>
                <a:latin typeface="Times New Roman" panose="02020603050405020304" pitchFamily="18" charset="0"/>
                <a:ea typeface="DengXian"/>
                <a:cs typeface="Times New Roman" panose="02020603050405020304" pitchFamily="18" charset="0"/>
              </a:rPr>
              <a:t> S7-1200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kết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hoặc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chỉ</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định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thành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phần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hệ</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thống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từ</a:t>
            </a:r>
            <a:r>
              <a:rPr lang="en-US" dirty="0">
                <a:solidFill>
                  <a:prstClr val="black"/>
                </a:solidFill>
                <a:latin typeface="Times New Roman" panose="02020603050405020304" pitchFamily="18" charset="0"/>
                <a:ea typeface="DengXian"/>
                <a:cs typeface="Times New Roman" panose="02020603050405020304" pitchFamily="18" charset="0"/>
              </a:rPr>
              <a:t> Hardware catalog. </a:t>
            </a:r>
            <a:r>
              <a:rPr lang="en-US" dirty="0" err="1">
                <a:solidFill>
                  <a:prstClr val="black"/>
                </a:solidFill>
                <a:latin typeface="Times New Roman" panose="02020603050405020304" pitchFamily="18" charset="0"/>
                <a:ea typeface="DengXian"/>
                <a:cs typeface="Times New Roman" panose="02020603050405020304" pitchFamily="18" charset="0"/>
              </a:rPr>
              <a:t>Tất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S7-200 ban </a:t>
            </a:r>
            <a:r>
              <a:rPr lang="en-US" dirty="0" err="1">
                <a:solidFill>
                  <a:prstClr val="black"/>
                </a:solidFill>
                <a:latin typeface="Times New Roman" panose="02020603050405020304" pitchFamily="18" charset="0"/>
                <a:ea typeface="DengXian"/>
                <a:cs typeface="Times New Roman" panose="02020603050405020304" pitchFamily="18" charset="0"/>
              </a:rPr>
              <a:t>đầu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sang </a:t>
            </a:r>
            <a:r>
              <a:rPr lang="en-US" dirty="0" err="1">
                <a:solidFill>
                  <a:prstClr val="black"/>
                </a:solidFill>
                <a:latin typeface="Times New Roman" panose="02020603050405020304" pitchFamily="18" charset="0"/>
                <a:ea typeface="DengXian"/>
                <a:cs typeface="Times New Roman" panose="02020603050405020304" pitchFamily="18" charset="0"/>
              </a:rPr>
              <a:t>loại</a:t>
            </a:r>
            <a:r>
              <a:rPr lang="en-US" dirty="0">
                <a:solidFill>
                  <a:prstClr val="black"/>
                </a:solidFill>
                <a:latin typeface="Times New Roman" panose="02020603050405020304" pitchFamily="18" charset="0"/>
                <a:ea typeface="DengXian"/>
                <a:cs typeface="Times New Roman" panose="02020603050405020304" pitchFamily="18" charset="0"/>
              </a:rPr>
              <a:t> CPU S7-1200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xác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định</a:t>
            </a:r>
            <a:r>
              <a:rPr lang="en-US" dirty="0">
                <a:solidFill>
                  <a:prstClr val="black"/>
                </a:solidFill>
                <a:latin typeface="Times New Roman" panose="02020603050405020304" pitchFamily="18" charset="0"/>
                <a:ea typeface="DengXian"/>
                <a:cs typeface="Times New Roman" panose="02020603050405020304" pitchFamily="18" charset="0"/>
              </a:rPr>
              <a:t>.</a:t>
            </a:r>
          </a:p>
          <a:p>
            <a:pPr algn="just" defTabSz="685800" eaLnBrk="0" fontAlgn="base" hangingPunct="0">
              <a:spcBef>
                <a:spcPct val="0"/>
              </a:spcBef>
              <a:spcAft>
                <a:spcPct val="0"/>
              </a:spcAft>
            </a:pPr>
            <a:endParaRPr lang="en-US" dirty="0">
              <a:solidFill>
                <a:prstClr val="black"/>
              </a:solidFill>
              <a:latin typeface="Times New Roman" panose="02020603050405020304" pitchFamily="18" charset="0"/>
              <a:ea typeface="DengXian"/>
              <a:cs typeface="Times New Roman" panose="02020603050405020304" pitchFamily="18" charset="0"/>
            </a:endParaRPr>
          </a:p>
          <a:p>
            <a:pPr marL="2143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số</a:t>
            </a:r>
            <a:r>
              <a:rPr lang="en-US" dirty="0">
                <a:solidFill>
                  <a:prstClr val="black"/>
                </a:solidFill>
                <a:latin typeface="Times New Roman" panose="02020603050405020304" pitchFamily="18" charset="0"/>
                <a:ea typeface="DengXian"/>
                <a:cs typeface="Times New Roman" panose="02020603050405020304" pitchFamily="18" charset="0"/>
              </a:rPr>
              <a:t> Block CPU, </a:t>
            </a:r>
            <a:r>
              <a:rPr lang="en-US" dirty="0" err="1">
                <a:solidFill>
                  <a:prstClr val="black"/>
                </a:solidFill>
                <a:latin typeface="Times New Roman" panose="02020603050405020304" pitchFamily="18" charset="0"/>
                <a:ea typeface="DengXian"/>
                <a:cs typeface="Times New Roman" panose="02020603050405020304" pitchFamily="18" charset="0"/>
              </a:rPr>
              <a:t>trạng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thái</a:t>
            </a:r>
            <a:r>
              <a:rPr lang="en-US" dirty="0">
                <a:solidFill>
                  <a:prstClr val="black"/>
                </a:solidFill>
                <a:latin typeface="Times New Roman" panose="02020603050405020304" pitchFamily="18" charset="0"/>
                <a:ea typeface="DengXian"/>
                <a:cs typeface="Times New Roman" panose="02020603050405020304" pitchFamily="18" charset="0"/>
              </a:rPr>
              <a:t> CPU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chức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năng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điều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khiển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hệ</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thống</a:t>
            </a:r>
            <a:r>
              <a:rPr lang="en-US" dirty="0">
                <a:solidFill>
                  <a:prstClr val="black"/>
                </a:solidFill>
                <a:latin typeface="Times New Roman" panose="02020603050405020304" pitchFamily="18" charset="0"/>
                <a:ea typeface="DengXian"/>
                <a:cs typeface="Times New Roman" panose="02020603050405020304" pitchFamily="18" charset="0"/>
              </a:rPr>
              <a:t> S7-200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lập</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bằng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nhớ</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địa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chỉ</a:t>
            </a:r>
            <a:r>
              <a:rPr lang="en-US" dirty="0">
                <a:solidFill>
                  <a:prstClr val="black"/>
                </a:solidFill>
                <a:latin typeface="Times New Roman" panose="02020603050405020304" pitchFamily="18" charset="0"/>
                <a:ea typeface="DengXian"/>
                <a:cs typeface="Times New Roman" panose="02020603050405020304" pitchFamily="18" charset="0"/>
              </a:rPr>
              <a:t> SM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Ta </a:t>
            </a:r>
            <a:r>
              <a:rPr lang="en-US" dirty="0" err="1">
                <a:solidFill>
                  <a:prstClr val="black"/>
                </a:solidFill>
                <a:latin typeface="Times New Roman" panose="02020603050405020304" pitchFamily="18" charset="0"/>
                <a:ea typeface="DengXian"/>
                <a:cs typeface="Times New Roman" panose="02020603050405020304" pitchFamily="18" charset="0"/>
              </a:rPr>
              <a:t>phải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thiết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lập</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thuộc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tính</a:t>
            </a:r>
            <a:r>
              <a:rPr lang="en-US" dirty="0">
                <a:solidFill>
                  <a:prstClr val="black"/>
                </a:solidFill>
                <a:latin typeface="Times New Roman" panose="02020603050405020304" pitchFamily="18" charset="0"/>
                <a:ea typeface="DengXian"/>
                <a:cs typeface="Times New Roman" panose="02020603050405020304" pitchFamily="18" charset="0"/>
              </a:rPr>
              <a:t> CPU S7-1200 </a:t>
            </a:r>
            <a:r>
              <a:rPr lang="en-US" dirty="0" err="1">
                <a:solidFill>
                  <a:prstClr val="black"/>
                </a:solidFill>
                <a:latin typeface="Times New Roman" panose="02020603050405020304" pitchFamily="18" charset="0"/>
                <a:ea typeface="DengXian"/>
                <a:cs typeface="Times New Roman" panose="02020603050405020304" pitchFamily="18" charset="0"/>
              </a:rPr>
              <a:t>tương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ứng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bằng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cài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đặt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cấu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hình</a:t>
            </a:r>
            <a:r>
              <a:rPr lang="en-US" dirty="0">
                <a:solidFill>
                  <a:prstClr val="black"/>
                </a:solidFill>
                <a:latin typeface="Times New Roman" panose="02020603050405020304" pitchFamily="18" charset="0"/>
                <a:ea typeface="DengXian"/>
                <a:cs typeface="Times New Roman" panose="02020603050405020304" pitchFamily="18" charset="0"/>
              </a:rPr>
              <a:t> STEP 7 Device. </a:t>
            </a:r>
            <a:r>
              <a:rPr lang="en-US" dirty="0" err="1">
                <a:solidFill>
                  <a:prstClr val="black"/>
                </a:solidFill>
                <a:latin typeface="Times New Roman" panose="02020603050405020304" pitchFamily="18" charset="0"/>
                <a:ea typeface="DengXian"/>
                <a:cs typeface="Times New Roman" panose="02020603050405020304" pitchFamily="18" charset="0"/>
              </a:rPr>
              <a:t>Tùy</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chọn</a:t>
            </a:r>
            <a:r>
              <a:rPr lang="en-US" dirty="0">
                <a:solidFill>
                  <a:prstClr val="black"/>
                </a:solidFill>
                <a:latin typeface="Times New Roman" panose="02020603050405020304" pitchFamily="18" charset="0"/>
                <a:ea typeface="DengXian"/>
                <a:cs typeface="Times New Roman" panose="02020603050405020304" pitchFamily="18" charset="0"/>
              </a:rPr>
              <a:t> CPU </a:t>
            </a:r>
            <a:r>
              <a:rPr lang="en-US" dirty="0" err="1">
                <a:solidFill>
                  <a:prstClr val="black"/>
                </a:solidFill>
                <a:latin typeface="Times New Roman" panose="02020603050405020304" pitchFamily="18" charset="0"/>
                <a:ea typeface="DengXian"/>
                <a:cs typeface="Times New Roman" panose="02020603050405020304" pitchFamily="18" charset="0"/>
              </a:rPr>
              <a:t>mà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S7-1200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bạn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cấu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đúng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trước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có</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thể</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truy</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cập</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hoặc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vận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hành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tùy</a:t>
            </a:r>
            <a:r>
              <a:rPr lang="en-US" dirty="0">
                <a:solidFill>
                  <a:prstClr val="black"/>
                </a:solidFill>
                <a:latin typeface="Times New Roman" panose="02020603050405020304" pitchFamily="18" charset="0"/>
                <a:ea typeface="DengXian"/>
                <a:cs typeface="Times New Roman" panose="02020603050405020304" pitchFamily="18" charset="0"/>
              </a:rPr>
              <a:t> chon CPU </a:t>
            </a:r>
            <a:r>
              <a:rPr lang="en-US" dirty="0" err="1">
                <a:solidFill>
                  <a:prstClr val="black"/>
                </a:solidFill>
                <a:latin typeface="Times New Roman" panose="02020603050405020304" pitchFamily="18" charset="0"/>
                <a:ea typeface="DengXian"/>
                <a:cs typeface="Times New Roman" panose="02020603050405020304" pitchFamily="18" charset="0"/>
              </a:rPr>
              <a:t>đó</a:t>
            </a:r>
            <a:r>
              <a:rPr lang="en-US" dirty="0">
                <a:solidFill>
                  <a:prstClr val="black"/>
                </a:solidFill>
                <a:latin typeface="Times New Roman" panose="02020603050405020304" pitchFamily="18" charset="0"/>
                <a:ea typeface="DengXian"/>
                <a:cs typeface="Times New Roman" panose="02020603050405020304" pitchFamily="18" charset="0"/>
              </a:rPr>
              <a:t>.</a:t>
            </a:r>
          </a:p>
          <a:p>
            <a:pPr algn="just" defTabSz="685800" eaLnBrk="0" fontAlgn="base" hangingPunct="0">
              <a:spcBef>
                <a:spcPct val="0"/>
              </a:spcBef>
              <a:spcAft>
                <a:spcPct val="0"/>
              </a:spcAft>
            </a:pPr>
            <a:endParaRPr lang="en-US" dirty="0">
              <a:solidFill>
                <a:prstClr val="black"/>
              </a:solidFill>
              <a:latin typeface="Times New Roman" panose="02020603050405020304" pitchFamily="18" charset="0"/>
              <a:ea typeface="DengXian"/>
              <a:cs typeface="Times New Roman" panose="02020603050405020304" pitchFamily="18" charset="0"/>
            </a:endParaRPr>
          </a:p>
          <a:p>
            <a:pPr marL="2143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ea typeface="DengXian"/>
                <a:cs typeface="Times New Roman" panose="02020603050405020304" pitchFamily="18" charset="0"/>
              </a:rPr>
              <a:t>Nó</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cũng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hữu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ích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kích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hoạt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bit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nhớ</a:t>
            </a:r>
            <a:r>
              <a:rPr lang="en-US" dirty="0">
                <a:solidFill>
                  <a:prstClr val="black"/>
                </a:solidFill>
                <a:latin typeface="Times New Roman" panose="02020603050405020304" pitchFamily="18" charset="0"/>
                <a:ea typeface="DengXian"/>
                <a:cs typeface="Times New Roman" panose="02020603050405020304" pitchFamily="18" charset="0"/>
              </a:rPr>
              <a:t> System and Clock </a:t>
            </a:r>
            <a:r>
              <a:rPr lang="en-US" dirty="0" err="1">
                <a:solidFill>
                  <a:prstClr val="black"/>
                </a:solidFill>
                <a:latin typeface="Times New Roman" panose="02020603050405020304" pitchFamily="18" charset="0"/>
                <a:ea typeface="DengXian"/>
                <a:cs typeface="Times New Roman" panose="02020603050405020304" pitchFamily="18" charset="0"/>
              </a:rPr>
              <a:t>để</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thay</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thế</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bit SMB0 </a:t>
            </a:r>
            <a:r>
              <a:rPr lang="en-US" dirty="0" err="1">
                <a:solidFill>
                  <a:prstClr val="black"/>
                </a:solidFill>
                <a:latin typeface="Times New Roman" panose="02020603050405020304" pitchFamily="18" charset="0"/>
                <a:ea typeface="DengXian"/>
                <a:cs typeface="Times New Roman" panose="02020603050405020304" pitchFamily="18" charset="0"/>
              </a:rPr>
              <a:t>thường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dự</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án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bạn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M byte </a:t>
            </a:r>
            <a:r>
              <a:rPr lang="en-US" dirty="0" err="1">
                <a:solidFill>
                  <a:prstClr val="black"/>
                </a:solidFill>
                <a:latin typeface="Times New Roman" panose="02020603050405020304" pitchFamily="18" charset="0"/>
                <a:ea typeface="DengXian"/>
                <a:cs typeface="Times New Roman" panose="02020603050405020304" pitchFamily="18" charset="0"/>
              </a:rPr>
              <a:t>trên</a:t>
            </a:r>
            <a:r>
              <a:rPr lang="en-US" dirty="0">
                <a:solidFill>
                  <a:prstClr val="black"/>
                </a:solidFill>
                <a:latin typeface="Times New Roman" panose="02020603050405020304" pitchFamily="18" charset="0"/>
                <a:ea typeface="DengXian"/>
                <a:cs typeface="Times New Roman" panose="02020603050405020304" pitchFamily="18" charset="0"/>
              </a:rPr>
              <a:t> MB32 </a:t>
            </a:r>
            <a:r>
              <a:rPr lang="en-US" dirty="0" err="1">
                <a:solidFill>
                  <a:prstClr val="black"/>
                </a:solidFill>
                <a:latin typeface="Times New Roman" panose="02020603050405020304" pitchFamily="18" charset="0"/>
                <a:ea typeface="DengXian"/>
                <a:cs typeface="Times New Roman" panose="02020603050405020304" pitchFamily="18" charset="0"/>
              </a:rPr>
              <a:t>để</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xung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đột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với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việc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nhớ</a:t>
            </a:r>
            <a:r>
              <a:rPr lang="en-US" dirty="0">
                <a:solidFill>
                  <a:prstClr val="black"/>
                </a:solidFill>
                <a:latin typeface="Times New Roman" panose="02020603050405020304" pitchFamily="18" charset="0"/>
                <a:ea typeface="DengXian"/>
                <a:cs typeface="Times New Roman" panose="02020603050405020304" pitchFamily="18" charset="0"/>
              </a:rPr>
              <a:t> M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dự</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án</a:t>
            </a:r>
            <a:r>
              <a:rPr lang="en-US" dirty="0">
                <a:solidFill>
                  <a:prstClr val="black"/>
                </a:solidFill>
                <a:latin typeface="Times New Roman" panose="02020603050405020304" pitchFamily="18" charset="0"/>
                <a:ea typeface="DengXian"/>
                <a:cs typeface="Times New Roman" panose="02020603050405020304" pitchFamily="18" charset="0"/>
              </a:rPr>
              <a:t> S7-200.</a:t>
            </a:r>
          </a:p>
          <a:p>
            <a:pPr algn="just" defTabSz="685800" eaLnBrk="0" fontAlgn="base" hangingPunct="0">
              <a:spcBef>
                <a:spcPct val="0"/>
              </a:spcBef>
              <a:spcAft>
                <a:spcPct val="0"/>
              </a:spcAft>
            </a:pPr>
            <a:endParaRPr lang="en-US" dirty="0">
              <a:solidFill>
                <a:prstClr val="black"/>
              </a:solidFill>
              <a:latin typeface="Times New Roman" panose="02020603050405020304" pitchFamily="18" charset="0"/>
              <a:ea typeface="DengXian"/>
              <a:cs typeface="Times New Roman" panose="02020603050405020304" pitchFamily="18" charset="0"/>
            </a:endParaRPr>
          </a:p>
          <a:p>
            <a:pPr marL="2143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ea typeface="DengXian"/>
                <a:cs typeface="Times New Roman" panose="02020603050405020304" pitchFamily="18" charset="0"/>
              </a:rPr>
              <a:t>Nếu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bạn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một</a:t>
            </a:r>
            <a:r>
              <a:rPr lang="en-US" dirty="0">
                <a:solidFill>
                  <a:prstClr val="black"/>
                </a:solidFill>
                <a:latin typeface="Times New Roman" panose="02020603050405020304" pitchFamily="18" charset="0"/>
                <a:ea typeface="DengXian"/>
                <a:cs typeface="Times New Roman" panose="02020603050405020304" pitchFamily="18" charset="0"/>
              </a:rPr>
              <a:t> OEM, </a:t>
            </a:r>
            <a:r>
              <a:rPr lang="en-US" dirty="0" err="1">
                <a:solidFill>
                  <a:prstClr val="black"/>
                </a:solidFill>
                <a:latin typeface="Times New Roman" panose="02020603050405020304" pitchFamily="18" charset="0"/>
                <a:ea typeface="DengXian"/>
                <a:cs typeface="Times New Roman" panose="02020603050405020304" pitchFamily="18" charset="0"/>
              </a:rPr>
              <a:t>hãy</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thay</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chế</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độ</a:t>
            </a:r>
            <a:r>
              <a:rPr lang="en-US" dirty="0">
                <a:solidFill>
                  <a:prstClr val="black"/>
                </a:solidFill>
                <a:latin typeface="Times New Roman" panose="02020603050405020304" pitchFamily="18" charset="0"/>
                <a:ea typeface="DengXian"/>
                <a:cs typeface="Times New Roman" panose="02020603050405020304" pitchFamily="18" charset="0"/>
              </a:rPr>
              <a:t> Startup </a:t>
            </a:r>
            <a:r>
              <a:rPr lang="en-US" dirty="0" err="1">
                <a:solidFill>
                  <a:prstClr val="black"/>
                </a:solidFill>
                <a:latin typeface="Times New Roman" panose="02020603050405020304" pitchFamily="18" charset="0"/>
                <a:ea typeface="DengXian"/>
                <a:cs typeface="Times New Roman" panose="02020603050405020304" pitchFamily="18" charset="0"/>
              </a:rPr>
              <a:t>từ</a:t>
            </a:r>
            <a:r>
              <a:rPr lang="en-US" dirty="0">
                <a:solidFill>
                  <a:prstClr val="black"/>
                </a:solidFill>
                <a:latin typeface="Times New Roman" panose="02020603050405020304" pitchFamily="18" charset="0"/>
                <a:ea typeface="DengXian"/>
                <a:cs typeface="Times New Roman" panose="02020603050405020304" pitchFamily="18" charset="0"/>
              </a:rPr>
              <a:t> “Warm restart - Operating mode before POWER OFF” sang “Warm restart-RUN”. </a:t>
            </a:r>
            <a:r>
              <a:rPr lang="en-US" dirty="0" err="1">
                <a:solidFill>
                  <a:prstClr val="black"/>
                </a:solidFill>
                <a:latin typeface="Times New Roman" panose="02020603050405020304" pitchFamily="18" charset="0"/>
                <a:ea typeface="DengXian"/>
                <a:cs typeface="Times New Roman" panose="02020603050405020304" pitchFamily="18" charset="0"/>
              </a:rPr>
              <a:t>Ngược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lại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nếu</a:t>
            </a:r>
            <a:r>
              <a:rPr lang="en-US" dirty="0">
                <a:solidFill>
                  <a:prstClr val="black"/>
                </a:solidFill>
                <a:latin typeface="Times New Roman" panose="02020603050405020304" pitchFamily="18" charset="0"/>
                <a:ea typeface="DengXian"/>
                <a:cs typeface="Times New Roman" panose="02020603050405020304" pitchFamily="18" charset="0"/>
              </a:rPr>
              <a:t> CPU </a:t>
            </a:r>
            <a:r>
              <a:rPr lang="en-US" dirty="0" err="1">
                <a:solidFill>
                  <a:prstClr val="black"/>
                </a:solidFill>
                <a:latin typeface="Times New Roman" panose="02020603050405020304" pitchFamily="18" charset="0"/>
                <a:ea typeface="DengXian"/>
                <a:cs typeface="Times New Roman" panose="02020603050405020304" pitchFamily="18" charset="0"/>
              </a:rPr>
              <a:t>ngừng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hoạt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động</a:t>
            </a:r>
            <a:r>
              <a:rPr lang="en-US" dirty="0">
                <a:solidFill>
                  <a:prstClr val="black"/>
                </a:solidFill>
                <a:latin typeface="Times New Roman" panose="02020603050405020304" pitchFamily="18" charset="0"/>
                <a:ea typeface="DengXian"/>
                <a:cs typeface="Times New Roman" panose="02020603050405020304" pitchFamily="18" charset="0"/>
              </a:rPr>
              <a:t> do </a:t>
            </a:r>
            <a:r>
              <a:rPr lang="en-US" dirty="0" err="1">
                <a:solidFill>
                  <a:prstClr val="black"/>
                </a:solidFill>
                <a:latin typeface="Times New Roman" panose="02020603050405020304" pitchFamily="18" charset="0"/>
                <a:ea typeface="DengXian"/>
                <a:cs typeface="Times New Roman" panose="02020603050405020304" pitchFamily="18" charset="0"/>
              </a:rPr>
              <a:t>cập</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nhật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chượng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từ</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nhớ</a:t>
            </a:r>
            <a:r>
              <a:rPr lang="en-US" dirty="0">
                <a:solidFill>
                  <a:prstClr val="black"/>
                </a:solidFill>
                <a:latin typeface="Times New Roman" panose="02020603050405020304" pitchFamily="18" charset="0"/>
                <a:ea typeface="DengXian"/>
                <a:cs typeface="Times New Roman" panose="02020603050405020304" pitchFamily="18" charset="0"/>
              </a:rPr>
              <a:t> cartridge </a:t>
            </a:r>
            <a:r>
              <a:rPr lang="en-US" dirty="0" err="1">
                <a:solidFill>
                  <a:prstClr val="black"/>
                </a:solidFill>
                <a:latin typeface="Times New Roman" panose="02020603050405020304" pitchFamily="18" charset="0"/>
                <a:ea typeface="DengXian"/>
                <a:cs typeface="Times New Roman" panose="02020603050405020304" pitchFamily="18" charset="0"/>
              </a:rPr>
              <a:t>hoặc</a:t>
            </a:r>
            <a:r>
              <a:rPr lang="en-US" dirty="0">
                <a:solidFill>
                  <a:prstClr val="black"/>
                </a:solidFill>
                <a:latin typeface="Times New Roman" panose="02020603050405020304" pitchFamily="18" charset="0"/>
                <a:ea typeface="DengXian"/>
                <a:cs typeface="Times New Roman" panose="02020603050405020304" pitchFamily="18" charset="0"/>
              </a:rPr>
              <a:t> do </a:t>
            </a:r>
            <a:r>
              <a:rPr lang="en-US" dirty="0" err="1">
                <a:solidFill>
                  <a:prstClr val="black"/>
                </a:solidFill>
                <a:latin typeface="Times New Roman" panose="02020603050405020304" pitchFamily="18" charset="0"/>
                <a:ea typeface="DengXian"/>
                <a:cs typeface="Times New Roman" panose="02020603050405020304" pitchFamily="18" charset="0"/>
              </a:rPr>
              <a:t>lỗi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bạn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cung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cấp</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phần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mềm</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để</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đưa</a:t>
            </a:r>
            <a:r>
              <a:rPr lang="en-US" dirty="0">
                <a:solidFill>
                  <a:prstClr val="black"/>
                </a:solidFill>
                <a:latin typeface="Times New Roman" panose="02020603050405020304" pitchFamily="18" charset="0"/>
                <a:ea typeface="DengXian"/>
                <a:cs typeface="Times New Roman" panose="02020603050405020304" pitchFamily="18" charset="0"/>
              </a:rPr>
              <a:t> CPU </a:t>
            </a:r>
            <a:r>
              <a:rPr lang="en-US" dirty="0" err="1">
                <a:solidFill>
                  <a:prstClr val="black"/>
                </a:solidFill>
                <a:latin typeface="Times New Roman" panose="02020603050405020304" pitchFamily="18" charset="0"/>
                <a:ea typeface="DengXian"/>
                <a:cs typeface="Times New Roman" panose="02020603050405020304" pitchFamily="18" charset="0"/>
              </a:rPr>
              <a:t>trở</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lại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chế</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độ</a:t>
            </a:r>
            <a:r>
              <a:rPr lang="en-US" dirty="0">
                <a:solidFill>
                  <a:prstClr val="black"/>
                </a:solidFill>
                <a:latin typeface="Times New Roman" panose="02020603050405020304" pitchFamily="18" charset="0"/>
                <a:ea typeface="DengXian"/>
                <a:cs typeface="Times New Roman" panose="02020603050405020304" pitchFamily="18" charset="0"/>
              </a:rPr>
              <a:t> Run.</a:t>
            </a: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4806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8" name="TextBox 7"/>
          <p:cNvSpPr txBox="1"/>
          <p:nvPr/>
        </p:nvSpPr>
        <p:spPr>
          <a:xfrm>
            <a:off x="457200" y="1406527"/>
            <a:ext cx="11266884" cy="4278094"/>
          </a:xfrm>
          <a:prstGeom prst="rect">
            <a:avLst/>
          </a:prstGeom>
          <a:noFill/>
        </p:spPr>
        <p:txBody>
          <a:bodyPr wrap="square" rtlCol="0">
            <a:spAutoFit/>
          </a:bodyPr>
          <a:lstStyle/>
          <a:p>
            <a:pPr defTabSz="685800" eaLnBrk="0" fontAlgn="base" hangingPunct="0">
              <a:spcBef>
                <a:spcPct val="0"/>
              </a:spcBef>
              <a:spcAft>
                <a:spcPct val="0"/>
              </a:spcAft>
            </a:pPr>
            <a:r>
              <a:rPr lang="en-US" b="1" dirty="0" err="1">
                <a:solidFill>
                  <a:prstClr val="black"/>
                </a:solidFill>
                <a:latin typeface="Times New Roman" panose="02020603050405020304" pitchFamily="18" charset="0"/>
                <a:ea typeface="DengXian"/>
                <a:cs typeface="Times New Roman" panose="02020603050405020304" pitchFamily="18" charset="0"/>
              </a:rPr>
              <a:t>Bước</a:t>
            </a:r>
            <a:r>
              <a:rPr lang="en-US" b="1" dirty="0">
                <a:solidFill>
                  <a:prstClr val="black"/>
                </a:solidFill>
                <a:latin typeface="Times New Roman" panose="02020603050405020304" pitchFamily="18" charset="0"/>
                <a:ea typeface="DengXian"/>
                <a:cs typeface="Times New Roman" panose="02020603050405020304" pitchFamily="18" charset="0"/>
              </a:rPr>
              <a:t> 4: So </a:t>
            </a:r>
            <a:r>
              <a:rPr lang="en-US" b="1" dirty="0" err="1">
                <a:solidFill>
                  <a:prstClr val="black"/>
                </a:solidFill>
                <a:latin typeface="Times New Roman" panose="02020603050405020304" pitchFamily="18" charset="0"/>
                <a:ea typeface="DengXian"/>
                <a:cs typeface="Times New Roman" panose="02020603050405020304" pitchFamily="18" charset="0"/>
              </a:rPr>
              <a:t>sánh</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chuyển</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đổi</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các</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khối</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chương</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trình</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trong</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chương</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trình</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gốc</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và</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chương</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trình</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đã</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chuyển</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đổi</a:t>
            </a:r>
            <a:endParaRPr lang="en-US" b="1" dirty="0">
              <a:solidFill>
                <a:prstClr val="black"/>
              </a:solidFill>
              <a:latin typeface="Times New Roman" panose="02020603050405020304" pitchFamily="18" charset="0"/>
              <a:cs typeface="Times New Roman" panose="02020603050405020304" pitchFamily="18" charset="0"/>
            </a:endParaRPr>
          </a:p>
          <a:p>
            <a:pP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Mục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đích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việc</a:t>
            </a:r>
            <a:r>
              <a:rPr lang="en-US" dirty="0">
                <a:solidFill>
                  <a:prstClr val="black"/>
                </a:solidFill>
                <a:latin typeface="Times New Roman" panose="02020603050405020304" pitchFamily="18" charset="0"/>
                <a:ea typeface="DengXian"/>
                <a:cs typeface="Times New Roman" panose="02020603050405020304" pitchFamily="18" charset="0"/>
              </a:rPr>
              <a:t> so </a:t>
            </a:r>
            <a:r>
              <a:rPr lang="en-US" dirty="0" err="1">
                <a:solidFill>
                  <a:prstClr val="black"/>
                </a:solidFill>
                <a:latin typeface="Times New Roman" panose="02020603050405020304" pitchFamily="18" charset="0"/>
                <a:ea typeface="DengXian"/>
                <a:cs typeface="Times New Roman" panose="02020603050405020304" pitchFamily="18" charset="0"/>
              </a:rPr>
              <a:t>sanh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xác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định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con,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ngắt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dữ</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a:t>
            </a:r>
          </a:p>
          <a:p>
            <a:pPr marL="257175" indent="-257175" algn="just" defTabSz="685800" eaLnBrk="0" fontAlgn="base" hangingPunct="0">
              <a:spcAft>
                <a:spcPts val="600"/>
              </a:spcAft>
              <a:buFont typeface="Symbol" panose="05050102010706020507" pitchFamily="18" charset="2"/>
              <a:buChar char=""/>
            </a:pPr>
            <a:r>
              <a:rPr lang="en-US" dirty="0" err="1">
                <a:solidFill>
                  <a:prstClr val="black"/>
                </a:solidFill>
                <a:latin typeface="Times New Roman" panose="02020603050405020304" pitchFamily="18" charset="0"/>
                <a:ea typeface="DengXian"/>
                <a:cs typeface="Times New Roman" panose="02020603050405020304" pitchFamily="18" charset="0"/>
              </a:rPr>
              <a:t>Mở</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gốc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STEP 7-Micro/WIN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đồng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thời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mở</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STEP 7 </a:t>
            </a:r>
            <a:r>
              <a:rPr lang="en-US" dirty="0" err="1">
                <a:solidFill>
                  <a:prstClr val="black"/>
                </a:solidFill>
                <a:latin typeface="Times New Roman" panose="02020603050405020304" pitchFamily="18" charset="0"/>
                <a:ea typeface="DengXian"/>
                <a:cs typeface="Times New Roman" panose="02020603050405020304" pitchFamily="18" charset="0"/>
              </a:rPr>
              <a:t>cùng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một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lúc</a:t>
            </a:r>
            <a:r>
              <a:rPr lang="en-US" dirty="0">
                <a:solidFill>
                  <a:prstClr val="black"/>
                </a:solidFill>
                <a:latin typeface="Times New Roman" panose="02020603050405020304" pitchFamily="18" charset="0"/>
                <a:ea typeface="DengXian"/>
                <a:cs typeface="Times New Roman" panose="02020603050405020304" pitchFamily="18" charset="0"/>
              </a:rPr>
              <a:t>. So </a:t>
            </a:r>
            <a:r>
              <a:rPr lang="en-US" dirty="0" err="1">
                <a:solidFill>
                  <a:prstClr val="black"/>
                </a:solidFill>
                <a:latin typeface="Times New Roman" panose="02020603050405020304" pitchFamily="18" charset="0"/>
                <a:ea typeface="DengXian"/>
                <a:cs typeface="Times New Roman" panose="02020603050405020304" pitchFamily="18" charset="0"/>
              </a:rPr>
              <a:t>sánh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cấu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trúc</a:t>
            </a:r>
            <a:r>
              <a:rPr lang="en-US" dirty="0">
                <a:solidFill>
                  <a:prstClr val="black"/>
                </a:solidFill>
                <a:latin typeface="Times New Roman" panose="02020603050405020304" pitchFamily="18" charset="0"/>
                <a:ea typeface="DengXian"/>
                <a:cs typeface="Times New Roman" panose="02020603050405020304" pitchFamily="18" charset="0"/>
              </a:rPr>
              <a:t> POU (Program Organizational Unit)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gốc</a:t>
            </a:r>
            <a:r>
              <a:rPr lang="en-US" dirty="0">
                <a:solidFill>
                  <a:prstClr val="black"/>
                </a:solidFill>
                <a:latin typeface="Times New Roman" panose="02020603050405020304" pitchFamily="18" charset="0"/>
                <a:ea typeface="DengXian"/>
                <a:cs typeface="Times New Roman" panose="02020603050405020304" pitchFamily="18" charset="0"/>
              </a:rPr>
              <a:t> S7-200 </a:t>
            </a:r>
            <a:r>
              <a:rPr lang="en-US" dirty="0" err="1">
                <a:solidFill>
                  <a:prstClr val="black"/>
                </a:solidFill>
                <a:latin typeface="Times New Roman" panose="02020603050405020304" pitchFamily="18" charset="0"/>
                <a:ea typeface="DengXian"/>
                <a:cs typeface="Times New Roman" panose="02020603050405020304" pitchFamily="18" charset="0"/>
              </a:rPr>
              <a:t>cới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STEP 7.</a:t>
            </a:r>
          </a:p>
          <a:p>
            <a:pPr marL="257175" indent="-257175" algn="just" defTabSz="685800" eaLnBrk="0" fontAlgn="base" hangingPunct="0">
              <a:spcAft>
                <a:spcPts val="600"/>
              </a:spcAft>
              <a:buFont typeface="Symbol" panose="05050102010706020507" pitchFamily="18" charset="2"/>
              <a:buChar char=""/>
            </a:pP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STEP 7-Micro/WIN Instruction tree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mở</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nhánh</a:t>
            </a:r>
            <a:r>
              <a:rPr lang="en-US" dirty="0">
                <a:solidFill>
                  <a:prstClr val="black"/>
                </a:solidFill>
                <a:latin typeface="Times New Roman" panose="02020603050405020304" pitchFamily="18" charset="0"/>
                <a:ea typeface="DengXian"/>
                <a:cs typeface="Times New Roman" panose="02020603050405020304" pitchFamily="18" charset="0"/>
              </a:rPr>
              <a:t> “Program Block”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“Data Block” </a:t>
            </a:r>
          </a:p>
          <a:p>
            <a:pPr marL="257175" indent="-257175" algn="just" defTabSz="685800" eaLnBrk="0" fontAlgn="base" hangingPunct="0">
              <a:spcAft>
                <a:spcPts val="600"/>
              </a:spcAft>
              <a:buFont typeface="Symbol" panose="05050102010706020507" pitchFamily="18" charset="2"/>
              <a:buChar char=""/>
            </a:pP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STEP Project tree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mở</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nhánh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Projectblocks</a:t>
            </a:r>
            <a:r>
              <a:rPr lang="en-US" dirty="0">
                <a:solidFill>
                  <a:prstClr val="black"/>
                </a:solidFill>
                <a:latin typeface="Times New Roman" panose="02020603050405020304" pitchFamily="18" charset="0"/>
                <a:ea typeface="DengXian"/>
                <a:cs typeface="Times New Roman" panose="02020603050405020304" pitchFamily="18" charset="0"/>
              </a:rPr>
              <a:t>”.</a:t>
            </a:r>
          </a:p>
          <a:p>
            <a:pPr algn="just" defTabSz="685800" eaLnBrk="0" fontAlgn="base" hangingPunct="0">
              <a:spcAft>
                <a:spcPts val="600"/>
              </a:spcAft>
            </a:pP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con,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ngắt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nhóm</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nhớ</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dữ</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liệu</a:t>
            </a:r>
            <a:r>
              <a:rPr lang="en-US" dirty="0">
                <a:solidFill>
                  <a:prstClr val="black"/>
                </a:solidFill>
                <a:latin typeface="Times New Roman" panose="02020603050405020304" pitchFamily="18" charset="0"/>
                <a:ea typeface="DengXian"/>
                <a:cs typeface="Times New Roman" panose="02020603050405020304" pitchFamily="18" charset="0"/>
              </a:rPr>
              <a:t> V (data block tabs)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tạo</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bởi</a:t>
            </a:r>
            <a:r>
              <a:rPr lang="en-US" dirty="0">
                <a:solidFill>
                  <a:prstClr val="black"/>
                </a:solidFill>
                <a:latin typeface="Times New Roman" panose="02020603050405020304" pitchFamily="18" charset="0"/>
                <a:ea typeface="DengXian"/>
                <a:cs typeface="Times New Roman" panose="02020603050405020304" pitchFamily="18" charset="0"/>
              </a:rPr>
              <a:t> STEP 7-Micro/WIN wizards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thư</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viện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bảo</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vệ</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bị</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Ngoài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ra</a:t>
            </a:r>
            <a:r>
              <a:rPr lang="en-US" dirty="0">
                <a:solidFill>
                  <a:prstClr val="black"/>
                </a:solidFill>
                <a:latin typeface="Times New Roman" panose="02020603050405020304" pitchFamily="18" charset="0"/>
                <a:ea typeface="DengXian"/>
                <a:cs typeface="Times New Roman" panose="02020603050405020304" pitchFamily="18" charset="0"/>
              </a:rPr>
              <a:t>, user-protected POUs </a:t>
            </a:r>
            <a:r>
              <a:rPr lang="en-US" dirty="0" err="1">
                <a:solidFill>
                  <a:prstClr val="black"/>
                </a:solidFill>
                <a:latin typeface="Times New Roman" panose="02020603050405020304" pitchFamily="18" charset="0"/>
                <a:ea typeface="DengXian"/>
                <a:cs typeface="Times New Roman" panose="02020603050405020304" pitchFamily="18" charset="0"/>
              </a:rPr>
              <a:t>hoặc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tab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nhớ</a:t>
            </a:r>
            <a:r>
              <a:rPr lang="en-US" dirty="0">
                <a:solidFill>
                  <a:prstClr val="black"/>
                </a:solidFill>
                <a:latin typeface="Times New Roman" panose="02020603050405020304" pitchFamily="18" charset="0"/>
                <a:ea typeface="DengXian"/>
                <a:cs typeface="Times New Roman" panose="02020603050405020304" pitchFamily="18" charset="0"/>
              </a:rPr>
              <a:t> V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a:t>
            </a:r>
          </a:p>
          <a:p>
            <a:pPr algn="just" defTabSz="685800" eaLnBrk="0" fontAlgn="base" hangingPunct="0">
              <a:spcAft>
                <a:spcPts val="600"/>
              </a:spcAft>
            </a:pP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Nếu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mã</a:t>
            </a:r>
            <a:r>
              <a:rPr lang="en-US" dirty="0">
                <a:solidFill>
                  <a:prstClr val="black"/>
                </a:solidFill>
                <a:latin typeface="Times New Roman" panose="02020603050405020304" pitchFamily="18" charset="0"/>
                <a:ea typeface="DengXian"/>
                <a:cs typeface="Times New Roman" panose="02020603050405020304" pitchFamily="18" charset="0"/>
              </a:rPr>
              <a:t> S7-200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thì</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bạn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tạo</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logic </a:t>
            </a:r>
            <a:r>
              <a:rPr lang="en-US" dirty="0" err="1">
                <a:solidFill>
                  <a:prstClr val="black"/>
                </a:solidFill>
                <a:latin typeface="Times New Roman" panose="02020603050405020304" pitchFamily="18" charset="0"/>
                <a:ea typeface="DengXian"/>
                <a:cs typeface="Times New Roman" panose="02020603050405020304" pitchFamily="18" charset="0"/>
              </a:rPr>
              <a:t>thay</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thế</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S7-1200.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tab </a:t>
            </a:r>
            <a:r>
              <a:rPr lang="en-US" dirty="0" err="1">
                <a:solidFill>
                  <a:prstClr val="black"/>
                </a:solidFill>
                <a:latin typeface="Times New Roman" panose="02020603050405020304" pitchFamily="18" charset="0"/>
                <a:ea typeface="DengXian"/>
                <a:cs typeface="Times New Roman" panose="02020603050405020304" pitchFamily="18" charset="0"/>
              </a:rPr>
              <a:t>khối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dữ</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nhóm</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dữ</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có</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thể</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tạo</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tham</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chiếu</a:t>
            </a:r>
            <a:r>
              <a:rPr lang="en-US" dirty="0">
                <a:solidFill>
                  <a:prstClr val="black"/>
                </a:solidFill>
                <a:latin typeface="Times New Roman" panose="02020603050405020304" pitchFamily="18" charset="0"/>
                <a:ea typeface="DengXian"/>
                <a:cs typeface="Times New Roman" panose="02020603050405020304" pitchFamily="18" charset="0"/>
              </a:rPr>
              <a:t> symbolic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xác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định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khối</a:t>
            </a:r>
            <a:r>
              <a:rPr lang="en-US" dirty="0">
                <a:solidFill>
                  <a:prstClr val="black"/>
                </a:solidFill>
                <a:latin typeface="Times New Roman" panose="02020603050405020304" pitchFamily="18" charset="0"/>
                <a:ea typeface="DengXian"/>
                <a:cs typeface="Times New Roman" panose="02020603050405020304" pitchFamily="18" charset="0"/>
              </a:rPr>
              <a:t> POU </a:t>
            </a:r>
            <a:r>
              <a:rPr lang="en-US" dirty="0" err="1">
                <a:solidFill>
                  <a:prstClr val="black"/>
                </a:solidFill>
                <a:latin typeface="Times New Roman" panose="02020603050405020304" pitchFamily="18" charset="0"/>
                <a:ea typeface="DengXian"/>
                <a:cs typeface="Times New Roman" panose="02020603050405020304" pitchFamily="18" charset="0"/>
              </a:rPr>
              <a:t>đã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thành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tham</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chiếu</a:t>
            </a:r>
            <a:r>
              <a:rPr lang="en-US" dirty="0">
                <a:solidFill>
                  <a:prstClr val="black"/>
                </a:solidFill>
                <a:latin typeface="Times New Roman" panose="02020603050405020304" pitchFamily="18" charset="0"/>
                <a:ea typeface="DengXian"/>
                <a:cs typeface="Times New Roman" panose="02020603050405020304" pitchFamily="18" charset="0"/>
              </a:rPr>
              <a:t> symbolic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xác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định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giải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quyết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STEP 7.</a:t>
            </a: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3605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graphicFrame>
        <p:nvGraphicFramePr>
          <p:cNvPr id="8" name="Table 7"/>
          <p:cNvGraphicFramePr>
            <a:graphicFrameLocks noGrp="1"/>
          </p:cNvGraphicFramePr>
          <p:nvPr>
            <p:extLst>
              <p:ext uri="{D42A27DB-BD31-4B8C-83A1-F6EECF244321}">
                <p14:modId xmlns:p14="http://schemas.microsoft.com/office/powerpoint/2010/main" val="281455951"/>
              </p:ext>
            </p:extLst>
          </p:nvPr>
        </p:nvGraphicFramePr>
        <p:xfrm>
          <a:off x="457200" y="1711081"/>
          <a:ext cx="11277600" cy="4554096"/>
        </p:xfrm>
        <a:graphic>
          <a:graphicData uri="http://schemas.openxmlformats.org/drawingml/2006/table">
            <a:tbl>
              <a:tblPr firstRow="1" firstCol="1" bandRow="1">
                <a:tableStyleId>{5C22544A-7EE6-4342-B048-85BDC9FD1C3A}</a:tableStyleId>
              </a:tblPr>
              <a:tblGrid>
                <a:gridCol w="1913713">
                  <a:extLst>
                    <a:ext uri="{9D8B030D-6E8A-4147-A177-3AD203B41FA5}">
                      <a16:colId xmlns:a16="http://schemas.microsoft.com/office/drawing/2014/main" val="3997999551"/>
                    </a:ext>
                  </a:extLst>
                </a:gridCol>
                <a:gridCol w="9363887">
                  <a:extLst>
                    <a:ext uri="{9D8B030D-6E8A-4147-A177-3AD203B41FA5}">
                      <a16:colId xmlns:a16="http://schemas.microsoft.com/office/drawing/2014/main" val="1749233372"/>
                    </a:ext>
                  </a:extLst>
                </a:gridCol>
              </a:tblGrid>
              <a:tr h="252845">
                <a:tc>
                  <a:txBody>
                    <a:bodyPr/>
                    <a:lstStyle/>
                    <a:p>
                      <a:pPr marL="0" marR="0" algn="ctr">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Chương trình S7-200</a:t>
                      </a:r>
                      <a:endParaRPr lang="en-US" sz="1500">
                        <a:effectLst/>
                        <a:latin typeface="Times New Roman" panose="02020603050405020304" pitchFamily="18" charset="0"/>
                        <a:ea typeface="DengXian"/>
                        <a:cs typeface="Times New Roman" panose="02020603050405020304" pitchFamily="18" charset="0"/>
                      </a:endParaRPr>
                    </a:p>
                  </a:txBody>
                  <a:tcPr marL="28966" marR="28966" marT="0" marB="0"/>
                </a:tc>
                <a:tc>
                  <a:txBody>
                    <a:bodyPr/>
                    <a:lstStyle/>
                    <a:p>
                      <a:pPr marL="0" marR="0" algn="ctr">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S7-1200</a:t>
                      </a:r>
                      <a:endParaRPr lang="en-US" sz="1500" dirty="0">
                        <a:effectLst/>
                        <a:latin typeface="Times New Roman" panose="02020603050405020304" pitchFamily="18" charset="0"/>
                        <a:ea typeface="DengXian"/>
                        <a:cs typeface="Times New Roman" panose="02020603050405020304" pitchFamily="18" charset="0"/>
                      </a:endParaRPr>
                    </a:p>
                  </a:txBody>
                  <a:tcPr marL="28966" marR="28966" marT="0" marB="0"/>
                </a:tc>
                <a:extLst>
                  <a:ext uri="{0D108BD9-81ED-4DB2-BD59-A6C34878D82A}">
                    <a16:rowId xmlns:a16="http://schemas.microsoft.com/office/drawing/2014/main" val="3962112067"/>
                  </a:ext>
                </a:extLst>
              </a:tr>
              <a:tr h="252845">
                <a:tc>
                  <a:txBody>
                    <a:bodyPr/>
                    <a:lstStyle/>
                    <a:p>
                      <a:pPr marL="0" marR="0">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Chương trình chính</a:t>
                      </a:r>
                      <a:endParaRPr lang="en-US" sz="1500">
                        <a:effectLst/>
                        <a:latin typeface="Times New Roman" panose="02020603050405020304" pitchFamily="18" charset="0"/>
                        <a:ea typeface="DengXian"/>
                        <a:cs typeface="Times New Roman" panose="02020603050405020304" pitchFamily="18" charset="0"/>
                      </a:endParaRPr>
                    </a:p>
                  </a:txBody>
                  <a:tcPr marL="28966" marR="28966" marT="0" marB="0"/>
                </a:tc>
                <a:tc>
                  <a:txBody>
                    <a:bodyPr/>
                    <a:lstStyle/>
                    <a:p>
                      <a:pPr marL="0" marR="0">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kỳ</a:t>
                      </a:r>
                      <a:r>
                        <a:rPr lang="en-US" sz="1500" dirty="0">
                          <a:effectLst/>
                          <a:latin typeface="Times New Roman" panose="02020603050405020304" pitchFamily="18" charset="0"/>
                          <a:cs typeface="Times New Roman" panose="02020603050405020304" pitchFamily="18" charset="0"/>
                        </a:rPr>
                        <a:t> OB1</a:t>
                      </a:r>
                      <a:endParaRPr lang="en-US" sz="1500" dirty="0">
                        <a:effectLst/>
                        <a:latin typeface="Times New Roman" panose="02020603050405020304" pitchFamily="18" charset="0"/>
                        <a:ea typeface="DengXian"/>
                        <a:cs typeface="Times New Roman" panose="02020603050405020304" pitchFamily="18" charset="0"/>
                      </a:endParaRPr>
                    </a:p>
                  </a:txBody>
                  <a:tcPr marL="28966" marR="28966" marT="0" marB="0"/>
                </a:tc>
                <a:extLst>
                  <a:ext uri="{0D108BD9-81ED-4DB2-BD59-A6C34878D82A}">
                    <a16:rowId xmlns:a16="http://schemas.microsoft.com/office/drawing/2014/main" val="2867012354"/>
                  </a:ext>
                </a:extLst>
              </a:tr>
              <a:tr h="252845">
                <a:tc>
                  <a:txBody>
                    <a:bodyPr/>
                    <a:lstStyle/>
                    <a:p>
                      <a:pPr marL="0" marR="0">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Bộ nhớ dữ liệu V</a:t>
                      </a:r>
                      <a:endParaRPr lang="en-US" sz="1500">
                        <a:effectLst/>
                        <a:latin typeface="Times New Roman" panose="02020603050405020304" pitchFamily="18" charset="0"/>
                        <a:ea typeface="DengXian"/>
                        <a:cs typeface="Times New Roman" panose="02020603050405020304" pitchFamily="18" charset="0"/>
                      </a:endParaRPr>
                    </a:p>
                  </a:txBody>
                  <a:tcPr marL="28966" marR="28966" marT="0" marB="0"/>
                </a:tc>
                <a:tc>
                  <a:txBody>
                    <a:bodyPr/>
                    <a:lstStyle/>
                    <a:p>
                      <a:pPr marL="0" marR="0">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DB1</a:t>
                      </a:r>
                      <a:endParaRPr lang="en-US" sz="1500">
                        <a:effectLst/>
                        <a:latin typeface="Times New Roman" panose="02020603050405020304" pitchFamily="18" charset="0"/>
                        <a:ea typeface="DengXian"/>
                        <a:cs typeface="Times New Roman" panose="02020603050405020304" pitchFamily="18" charset="0"/>
                      </a:endParaRPr>
                    </a:p>
                  </a:txBody>
                  <a:tcPr marL="28966" marR="28966" marT="0" marB="0"/>
                </a:tc>
                <a:extLst>
                  <a:ext uri="{0D108BD9-81ED-4DB2-BD59-A6C34878D82A}">
                    <a16:rowId xmlns:a16="http://schemas.microsoft.com/office/drawing/2014/main" val="99683741"/>
                  </a:ext>
                </a:extLst>
              </a:tr>
              <a:tr h="505688">
                <a:tc>
                  <a:txBody>
                    <a:bodyPr/>
                    <a:lstStyle/>
                    <a:p>
                      <a:pPr marL="0" marR="0">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Timer và Counter</a:t>
                      </a:r>
                      <a:endParaRPr lang="en-US" sz="1500">
                        <a:effectLst/>
                        <a:latin typeface="Times New Roman" panose="02020603050405020304" pitchFamily="18" charset="0"/>
                        <a:ea typeface="DengXian"/>
                        <a:cs typeface="Times New Roman" panose="02020603050405020304" pitchFamily="18" charset="0"/>
                      </a:endParaRPr>
                    </a:p>
                  </a:txBody>
                  <a:tcPr marL="28966" marR="28966" marT="0" marB="0"/>
                </a:tc>
                <a:tc>
                  <a:txBody>
                    <a:bodyPr/>
                    <a:lstStyle/>
                    <a:p>
                      <a:pPr marL="0" marR="0">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Bộ định thời DB (data blocks)</a:t>
                      </a:r>
                    </a:p>
                    <a:p>
                      <a:pPr marL="0" marR="0">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Bộ đếm DB</a:t>
                      </a:r>
                      <a:endParaRPr lang="en-US" sz="1500">
                        <a:effectLst/>
                        <a:latin typeface="Times New Roman" panose="02020603050405020304" pitchFamily="18" charset="0"/>
                        <a:ea typeface="DengXian"/>
                        <a:cs typeface="Times New Roman" panose="02020603050405020304" pitchFamily="18" charset="0"/>
                      </a:endParaRPr>
                    </a:p>
                  </a:txBody>
                  <a:tcPr marL="28966" marR="28966" marT="0" marB="0"/>
                </a:tc>
                <a:extLst>
                  <a:ext uri="{0D108BD9-81ED-4DB2-BD59-A6C34878D82A}">
                    <a16:rowId xmlns:a16="http://schemas.microsoft.com/office/drawing/2014/main" val="1471934119"/>
                  </a:ext>
                </a:extLst>
              </a:tr>
              <a:tr h="1264222">
                <a:tc>
                  <a:txBody>
                    <a:bodyPr/>
                    <a:lstStyle/>
                    <a:p>
                      <a:pPr marL="0" marR="0">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Chương trình con SBR</a:t>
                      </a:r>
                      <a:endParaRPr lang="en-US" sz="1500">
                        <a:effectLst/>
                        <a:latin typeface="Times New Roman" panose="02020603050405020304" pitchFamily="18" charset="0"/>
                        <a:ea typeface="DengXian"/>
                        <a:cs typeface="Times New Roman" panose="02020603050405020304" pitchFamily="18" charset="0"/>
                      </a:endParaRPr>
                    </a:p>
                  </a:txBody>
                  <a:tcPr marL="28966" marR="28966" marT="0" marB="0"/>
                </a:tc>
                <a:tc>
                  <a:txBody>
                    <a:bodyPr/>
                    <a:lstStyle/>
                    <a:p>
                      <a:pPr marL="0" marR="0">
                        <a:lnSpc>
                          <a:spcPct val="150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FC (function):</a:t>
                      </a:r>
                    </a:p>
                    <a:p>
                      <a:pPr marL="342900" marR="0" lvl="0" indent="-342900">
                        <a:lnSpc>
                          <a:spcPct val="150000"/>
                        </a:lnSpc>
                        <a:spcBef>
                          <a:spcPts val="0"/>
                        </a:spcBef>
                        <a:spcAft>
                          <a:spcPts val="0"/>
                        </a:spcAft>
                        <a:buFont typeface="Symbol" panose="05050102010706020507" pitchFamily="18" charset="2"/>
                        <a:buChar char=""/>
                      </a:pP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thứ</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tự</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hàm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đã</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chuyển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đổi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sẽ</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thêm</a:t>
                      </a:r>
                      <a:r>
                        <a:rPr lang="en-US" sz="1500" dirty="0">
                          <a:effectLst/>
                          <a:latin typeface="Times New Roman" panose="02020603050405020304" pitchFamily="18" charset="0"/>
                          <a:cs typeface="Times New Roman" panose="02020603050405020304" pitchFamily="18" charset="0"/>
                        </a:rPr>
                        <a:t> 1 </a:t>
                      </a:r>
                      <a:r>
                        <a:rPr lang="en-US" sz="1500" dirty="0" err="1">
                          <a:effectLst/>
                          <a:latin typeface="Times New Roman" panose="02020603050405020304" pitchFamily="18" charset="0"/>
                          <a:cs typeface="Times New Roman" panose="02020603050405020304" pitchFamily="18" charset="0"/>
                        </a:rPr>
                        <a:t>đợn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vị</a:t>
                      </a:r>
                      <a:r>
                        <a:rPr lang="en-US" sz="1500" dirty="0">
                          <a:effectLst/>
                          <a:latin typeface="Times New Roman" panose="02020603050405020304" pitchFamily="18" charset="0"/>
                          <a:cs typeface="Times New Roman" panose="02020603050405020304" pitchFamily="18" charset="0"/>
                        </a:rPr>
                        <a:t> so </a:t>
                      </a:r>
                      <a:r>
                        <a:rPr lang="en-US" sz="1500" dirty="0" err="1">
                          <a:effectLst/>
                          <a:latin typeface="Times New Roman" panose="02020603050405020304" pitchFamily="18" charset="0"/>
                          <a:cs typeface="Times New Roman" panose="02020603050405020304" pitchFamily="18" charset="0"/>
                        </a:rPr>
                        <a:t>với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thứ</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tự</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S7-200 SBR (VD: SBR0 </a:t>
                      </a:r>
                      <a:r>
                        <a:rPr lang="en-US" sz="1500" dirty="0" err="1">
                          <a:effectLst/>
                          <a:latin typeface="Times New Roman" panose="02020603050405020304" pitchFamily="18" charset="0"/>
                          <a:cs typeface="Times New Roman" panose="02020603050405020304" pitchFamily="18" charset="0"/>
                        </a:rPr>
                        <a:t>chuyển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đổi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thành</a:t>
                      </a:r>
                      <a:r>
                        <a:rPr lang="en-US" sz="1500" dirty="0">
                          <a:effectLst/>
                          <a:latin typeface="Times New Roman" panose="02020603050405020304" pitchFamily="18" charset="0"/>
                          <a:cs typeface="Times New Roman" panose="02020603050405020304" pitchFamily="18" charset="0"/>
                        </a:rPr>
                        <a:t> FC1).</a:t>
                      </a:r>
                    </a:p>
                    <a:p>
                      <a:pPr marL="342900" marR="0" lvl="0" indent="-342900">
                        <a:lnSpc>
                          <a:spcPct val="150000"/>
                        </a:lnSpc>
                        <a:spcBef>
                          <a:spcPts val="0"/>
                        </a:spcBef>
                        <a:spcAft>
                          <a:spcPts val="0"/>
                        </a:spcAft>
                        <a:buFont typeface="Symbol" panose="05050102010706020507" pitchFamily="18" charset="2"/>
                        <a:buChar char=""/>
                      </a:pP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hàm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được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tạocó</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hoặc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không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có</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tham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cục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endParaRPr lang="en-US" sz="1500" dirty="0">
                        <a:effectLst/>
                        <a:latin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tham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hàm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xuất</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hiện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trên</a:t>
                      </a:r>
                      <a:r>
                        <a:rPr lang="en-US" sz="1500" dirty="0">
                          <a:effectLst/>
                          <a:latin typeface="Times New Roman" panose="02020603050405020304" pitchFamily="18" charset="0"/>
                          <a:cs typeface="Times New Roman" panose="02020603050405020304" pitchFamily="18" charset="0"/>
                        </a:rPr>
                        <a:t> bảng </a:t>
                      </a:r>
                      <a:r>
                        <a:rPr lang="en-US" sz="1500" dirty="0" err="1">
                          <a:effectLst/>
                          <a:latin typeface="Times New Roman" panose="02020603050405020304" pitchFamily="18" charset="0"/>
                          <a:cs typeface="Times New Roman" panose="02020603050405020304" pitchFamily="18" charset="0"/>
                        </a:rPr>
                        <a:t>giao</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diện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khối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chỉnh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sửa</a:t>
                      </a:r>
                      <a:r>
                        <a:rPr lang="en-US" sz="1500" dirty="0">
                          <a:effectLst/>
                          <a:latin typeface="Times New Roman" panose="02020603050405020304" pitchFamily="18" charset="0"/>
                          <a:cs typeface="Times New Roman" panose="02020603050405020304" pitchFamily="18" charset="0"/>
                        </a:rPr>
                        <a:t> STEP 7 </a:t>
                      </a:r>
                      <a:r>
                        <a:rPr lang="en-US" sz="1500" dirty="0" err="1">
                          <a:effectLst/>
                          <a:latin typeface="Times New Roman" panose="02020603050405020304" pitchFamily="18" charset="0"/>
                          <a:cs typeface="Times New Roman" panose="02020603050405020304" pitchFamily="18" charset="0"/>
                        </a:rPr>
                        <a:t>tương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ứng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với</a:t>
                      </a:r>
                      <a:r>
                        <a:rPr lang="en-US" sz="1500" dirty="0">
                          <a:effectLst/>
                          <a:latin typeface="Times New Roman" panose="02020603050405020304" pitchFamily="18" charset="0"/>
                          <a:cs typeface="Times New Roman" panose="02020603050405020304" pitchFamily="18" charset="0"/>
                        </a:rPr>
                        <a:t> bảng </a:t>
                      </a:r>
                      <a:r>
                        <a:rPr lang="en-US" sz="1500" dirty="0" err="1">
                          <a:effectLst/>
                          <a:latin typeface="Times New Roman" panose="02020603050405020304" pitchFamily="18" charset="0"/>
                          <a:cs typeface="Times New Roman" panose="02020603050405020304" pitchFamily="18" charset="0"/>
                        </a:rPr>
                        <a:t>biến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cục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con STEP 7-Micro/WIN</a:t>
                      </a:r>
                      <a:endParaRPr lang="en-US" sz="1500" dirty="0">
                        <a:effectLst/>
                        <a:latin typeface="Times New Roman" panose="02020603050405020304" pitchFamily="18" charset="0"/>
                        <a:ea typeface="DengXian"/>
                        <a:cs typeface="Times New Roman" panose="02020603050405020304" pitchFamily="18" charset="0"/>
                      </a:endParaRPr>
                    </a:p>
                  </a:txBody>
                  <a:tcPr marL="28966" marR="28966" marT="0" marB="0"/>
                </a:tc>
                <a:extLst>
                  <a:ext uri="{0D108BD9-81ED-4DB2-BD59-A6C34878D82A}">
                    <a16:rowId xmlns:a16="http://schemas.microsoft.com/office/drawing/2014/main" val="873656298"/>
                  </a:ext>
                </a:extLst>
              </a:tr>
              <a:tr h="1011377">
                <a:tc>
                  <a:txBody>
                    <a:bodyPr/>
                    <a:lstStyle/>
                    <a:p>
                      <a:pPr marL="0" marR="0">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Chương trình ngắt INT</a:t>
                      </a:r>
                      <a:endParaRPr lang="en-US" sz="1500">
                        <a:effectLst/>
                        <a:latin typeface="Times New Roman" panose="02020603050405020304" pitchFamily="18" charset="0"/>
                        <a:ea typeface="DengXian"/>
                        <a:cs typeface="Times New Roman" panose="02020603050405020304" pitchFamily="18" charset="0"/>
                      </a:endParaRPr>
                    </a:p>
                  </a:txBody>
                  <a:tcPr marL="28966" marR="28966" marT="0" marB="0"/>
                </a:tc>
                <a:tc>
                  <a:txBody>
                    <a:bodyPr/>
                    <a:lstStyle/>
                    <a:p>
                      <a:pPr marL="0" marR="0">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Phần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cứng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ngắt</a:t>
                      </a:r>
                      <a:r>
                        <a:rPr lang="en-US" sz="1500" dirty="0">
                          <a:effectLst/>
                          <a:latin typeface="Times New Roman" panose="02020603050405020304" pitchFamily="18" charset="0"/>
                          <a:cs typeface="Times New Roman" panose="02020603050405020304" pitchFamily="18" charset="0"/>
                        </a:rPr>
                        <a:t> OB </a:t>
                      </a:r>
                      <a:r>
                        <a:rPr lang="en-US" sz="1500" dirty="0" err="1">
                          <a:effectLst/>
                          <a:latin typeface="Times New Roman" panose="02020603050405020304" pitchFamily="18" charset="0"/>
                          <a:cs typeface="Times New Roman" panose="02020603050405020304" pitchFamily="18" charset="0"/>
                        </a:rPr>
                        <a:t>hoặc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kỳ</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ngắt</a:t>
                      </a:r>
                      <a:r>
                        <a:rPr lang="en-US" sz="1500" dirty="0">
                          <a:effectLst/>
                          <a:latin typeface="Times New Roman" panose="02020603050405020304" pitchFamily="18" charset="0"/>
                          <a:cs typeface="Times New Roman" panose="02020603050405020304" pitchFamily="18" charset="0"/>
                        </a:rPr>
                        <a:t> OB</a:t>
                      </a:r>
                    </a:p>
                    <a:p>
                      <a:pPr marL="342900" marR="0" lvl="0" indent="-342900">
                        <a:lnSpc>
                          <a:spcPct val="150000"/>
                        </a:lnSpc>
                        <a:spcBef>
                          <a:spcPts val="0"/>
                        </a:spcBef>
                        <a:spcAft>
                          <a:spcPts val="0"/>
                        </a:spcAft>
                        <a:buFont typeface="Symbol" panose="05050102010706020507" pitchFamily="18" charset="2"/>
                        <a:buChar char=""/>
                      </a:pPr>
                      <a:r>
                        <a:rPr lang="en-US" sz="1500" dirty="0">
                          <a:effectLst/>
                          <a:latin typeface="Times New Roman" panose="02020603050405020304" pitchFamily="18" charset="0"/>
                          <a:cs typeface="Times New Roman" panose="02020603050405020304" pitchFamily="18" charset="0"/>
                        </a:rPr>
                        <a:t>OBs </a:t>
                      </a:r>
                      <a:r>
                        <a:rPr lang="en-US" sz="1500" dirty="0" err="1">
                          <a:effectLst/>
                          <a:latin typeface="Times New Roman" panose="02020603050405020304" pitchFamily="18" charset="0"/>
                          <a:cs typeface="Times New Roman" panose="02020603050405020304" pitchFamily="18" charset="0"/>
                        </a:rPr>
                        <a:t>được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tạo</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có</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hoặc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không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có</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tham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cục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endParaRPr lang="en-US" sz="1500" dirty="0">
                        <a:effectLst/>
                        <a:latin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tham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cục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xuất</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hiện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trong</a:t>
                      </a:r>
                      <a:r>
                        <a:rPr lang="en-US" sz="1500" dirty="0">
                          <a:effectLst/>
                          <a:latin typeface="Times New Roman" panose="02020603050405020304" pitchFamily="18" charset="0"/>
                          <a:cs typeface="Times New Roman" panose="02020603050405020304" pitchFamily="18" charset="0"/>
                        </a:rPr>
                        <a:t> bảng </a:t>
                      </a:r>
                      <a:r>
                        <a:rPr lang="en-US" sz="1500" dirty="0" err="1">
                          <a:effectLst/>
                          <a:latin typeface="Times New Roman" panose="02020603050405020304" pitchFamily="18" charset="0"/>
                          <a:cs typeface="Times New Roman" panose="02020603050405020304" pitchFamily="18" charset="0"/>
                        </a:rPr>
                        <a:t>giao</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diện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khối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chỉnh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sửa</a:t>
                      </a:r>
                      <a:r>
                        <a:rPr lang="en-US" sz="1500" dirty="0">
                          <a:effectLst/>
                          <a:latin typeface="Times New Roman" panose="02020603050405020304" pitchFamily="18" charset="0"/>
                          <a:cs typeface="Times New Roman" panose="02020603050405020304" pitchFamily="18" charset="0"/>
                        </a:rPr>
                        <a:t> STEP 7, </a:t>
                      </a:r>
                      <a:r>
                        <a:rPr lang="en-US" sz="1500" dirty="0" err="1">
                          <a:effectLst/>
                          <a:latin typeface="Times New Roman" panose="02020603050405020304" pitchFamily="18" charset="0"/>
                          <a:cs typeface="Times New Roman" panose="02020603050405020304" pitchFamily="18" charset="0"/>
                        </a:rPr>
                        <a:t>tương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ứng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với</a:t>
                      </a:r>
                      <a:r>
                        <a:rPr lang="en-US" sz="1500" dirty="0">
                          <a:effectLst/>
                          <a:latin typeface="Times New Roman" panose="02020603050405020304" pitchFamily="18" charset="0"/>
                          <a:cs typeface="Times New Roman" panose="02020603050405020304" pitchFamily="18" charset="0"/>
                        </a:rPr>
                        <a:t> bảng </a:t>
                      </a:r>
                      <a:r>
                        <a:rPr lang="en-US" sz="1500" dirty="0" err="1">
                          <a:effectLst/>
                          <a:latin typeface="Times New Roman" panose="02020603050405020304" pitchFamily="18" charset="0"/>
                          <a:cs typeface="Times New Roman" panose="02020603050405020304" pitchFamily="18" charset="0"/>
                        </a:rPr>
                        <a:t>cục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ngắt</a:t>
                      </a:r>
                      <a:r>
                        <a:rPr lang="en-US" sz="1500" dirty="0">
                          <a:effectLst/>
                          <a:latin typeface="Times New Roman" panose="02020603050405020304" pitchFamily="18" charset="0"/>
                          <a:cs typeface="Times New Roman" panose="02020603050405020304" pitchFamily="18" charset="0"/>
                        </a:rPr>
                        <a:t> STEP 7-Micro/WIN.</a:t>
                      </a:r>
                      <a:endParaRPr lang="en-US" sz="1500" dirty="0">
                        <a:effectLst/>
                        <a:latin typeface="Times New Roman" panose="02020603050405020304" pitchFamily="18" charset="0"/>
                        <a:ea typeface="DengXian"/>
                        <a:cs typeface="Times New Roman" panose="02020603050405020304" pitchFamily="18" charset="0"/>
                      </a:endParaRPr>
                    </a:p>
                  </a:txBody>
                  <a:tcPr marL="28966" marR="28966" marT="0" marB="0"/>
                </a:tc>
                <a:extLst>
                  <a:ext uri="{0D108BD9-81ED-4DB2-BD59-A6C34878D82A}">
                    <a16:rowId xmlns:a16="http://schemas.microsoft.com/office/drawing/2014/main" val="1761033715"/>
                  </a:ext>
                </a:extLst>
              </a:tr>
            </a:tbl>
          </a:graphicData>
        </a:graphic>
      </p:graphicFrame>
      <p:sp>
        <p:nvSpPr>
          <p:cNvPr id="9" name="TextBox 8"/>
          <p:cNvSpPr txBox="1"/>
          <p:nvPr/>
        </p:nvSpPr>
        <p:spPr>
          <a:xfrm>
            <a:off x="3608586" y="1254911"/>
            <a:ext cx="4974827" cy="369332"/>
          </a:xfrm>
          <a:prstGeom prst="rect">
            <a:avLst/>
          </a:prstGeom>
          <a:noFill/>
        </p:spPr>
        <p:txBody>
          <a:bodyPr wrap="square" rtlCol="0">
            <a:spAutoFit/>
          </a:bodyPr>
          <a:lstStyle/>
          <a:p>
            <a:pPr algn="ct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Bảng 1: </a:t>
            </a:r>
            <a:r>
              <a:rPr lang="en-US" dirty="0" err="1">
                <a:solidFill>
                  <a:prstClr val="black"/>
                </a:solidFill>
                <a:latin typeface="Times New Roman" panose="02020603050405020304" pitchFamily="18" charset="0"/>
                <a:cs typeface="Times New Roman" panose="02020603050405020304" pitchFamily="18" charset="0"/>
              </a:rPr>
              <a:t>Quy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tắc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POU </a:t>
            </a:r>
          </a:p>
        </p:txBody>
      </p:sp>
    </p:spTree>
    <p:extLst>
      <p:ext uri="{BB962C8B-B14F-4D97-AF65-F5344CB8AC3E}">
        <p14:creationId xmlns:p14="http://schemas.microsoft.com/office/powerpoint/2010/main" val="422105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8" name="TextBox 7"/>
          <p:cNvSpPr txBox="1"/>
          <p:nvPr/>
        </p:nvSpPr>
        <p:spPr>
          <a:xfrm>
            <a:off x="434579" y="1300535"/>
            <a:ext cx="11300221" cy="5062924"/>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ea typeface="DengXian"/>
                <a:cs typeface="Times New Roman" panose="02020603050405020304" pitchFamily="18" charset="0"/>
              </a:rPr>
              <a:t>Bước</a:t>
            </a:r>
            <a:r>
              <a:rPr lang="en-US" b="1" dirty="0">
                <a:solidFill>
                  <a:prstClr val="black"/>
                </a:solidFill>
                <a:latin typeface="Times New Roman" panose="02020603050405020304" pitchFamily="18" charset="0"/>
                <a:ea typeface="DengXian"/>
                <a:cs typeface="Times New Roman" panose="02020603050405020304" pitchFamily="18" charset="0"/>
              </a:rPr>
              <a:t> 5: So </a:t>
            </a:r>
            <a:r>
              <a:rPr lang="en-US" b="1" dirty="0" err="1">
                <a:solidFill>
                  <a:prstClr val="black"/>
                </a:solidFill>
                <a:latin typeface="Times New Roman" panose="02020603050405020304" pitchFamily="18" charset="0"/>
                <a:ea typeface="DengXian"/>
                <a:cs typeface="Times New Roman" panose="02020603050405020304" pitchFamily="18" charset="0"/>
              </a:rPr>
              <a:t>sánh</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chuyển</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đổi</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các</a:t>
            </a:r>
            <a:r>
              <a:rPr lang="en-US" b="1" dirty="0">
                <a:solidFill>
                  <a:prstClr val="black"/>
                </a:solidFill>
                <a:latin typeface="Times New Roman" panose="02020603050405020304" pitchFamily="18" charset="0"/>
                <a:ea typeface="DengXian"/>
                <a:cs typeface="Times New Roman" panose="02020603050405020304" pitchFamily="18" charset="0"/>
              </a:rPr>
              <a:t> symbols/tags </a:t>
            </a:r>
            <a:r>
              <a:rPr lang="en-US" b="1" dirty="0" err="1">
                <a:solidFill>
                  <a:prstClr val="black"/>
                </a:solidFill>
                <a:latin typeface="Times New Roman" panose="02020603050405020304" pitchFamily="18" charset="0"/>
                <a:ea typeface="DengXian"/>
                <a:cs typeface="Times New Roman" panose="02020603050405020304" pitchFamily="18" charset="0"/>
              </a:rPr>
              <a:t>trong</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chương</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trình</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gốc</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và</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chương</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trình</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đã</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chuyển</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đổi</a:t>
            </a:r>
            <a:endParaRPr lang="en-US" b="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dirty="0" err="1">
                <a:solidFill>
                  <a:prstClr val="black"/>
                </a:solidFill>
                <a:latin typeface="Times New Roman" panose="02020603050405020304" pitchFamily="18" charset="0"/>
                <a:ea typeface="DengXian"/>
                <a:cs typeface="Times New Roman" panose="02020603050405020304" pitchFamily="18" charset="0"/>
              </a:rPr>
              <a:t>Mục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dích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việc</a:t>
            </a:r>
            <a:r>
              <a:rPr lang="en-US" dirty="0">
                <a:solidFill>
                  <a:prstClr val="black"/>
                </a:solidFill>
                <a:latin typeface="Times New Roman" panose="02020603050405020304" pitchFamily="18" charset="0"/>
                <a:ea typeface="DengXian"/>
                <a:cs typeface="Times New Roman" panose="02020603050405020304" pitchFamily="18" charset="0"/>
              </a:rPr>
              <a:t> so </a:t>
            </a:r>
            <a:r>
              <a:rPr lang="en-US" dirty="0" err="1">
                <a:solidFill>
                  <a:prstClr val="black"/>
                </a:solidFill>
                <a:latin typeface="Times New Roman" panose="02020603050405020304" pitchFamily="18" charset="0"/>
                <a:ea typeface="DengXian"/>
                <a:cs typeface="Times New Roman" panose="02020603050405020304" pitchFamily="18" charset="0"/>
              </a:rPr>
              <a:t>sánh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để</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xác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định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hiệu</a:t>
            </a:r>
            <a:r>
              <a:rPr lang="en-US" dirty="0">
                <a:solidFill>
                  <a:prstClr val="black"/>
                </a:solidFill>
                <a:latin typeface="Times New Roman" panose="02020603050405020304" pitchFamily="18" charset="0"/>
                <a:ea typeface="DengXian"/>
                <a:cs typeface="Times New Roman" panose="02020603050405020304" pitchFamily="18" charset="0"/>
              </a:rPr>
              <a:t> (symbols) </a:t>
            </a:r>
            <a:r>
              <a:rPr lang="en-US" dirty="0" err="1">
                <a:solidFill>
                  <a:prstClr val="black"/>
                </a:solidFill>
                <a:latin typeface="Times New Roman" panose="02020603050405020304" pitchFamily="18" charset="0"/>
                <a:ea typeface="DengXian"/>
                <a:cs typeface="Times New Roman" panose="02020603050405020304" pitchFamily="18" charset="0"/>
              </a:rPr>
              <a:t>dã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hoàn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toàn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một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phần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tạo</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mới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hoặc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a:t>
            </a:r>
          </a:p>
          <a:p>
            <a:pPr marL="257175" indent="-257175" algn="just" defTabSz="685800" eaLnBrk="0" fontAlgn="base" hangingPunct="0">
              <a:spcAft>
                <a:spcPts val="600"/>
              </a:spcAft>
              <a:buFont typeface="Symbol" panose="05050102010706020507" pitchFamily="18" charset="2"/>
              <a:buChar char=""/>
            </a:pPr>
            <a:r>
              <a:rPr lang="en-US" dirty="0" err="1">
                <a:solidFill>
                  <a:prstClr val="black"/>
                </a:solidFill>
                <a:latin typeface="Times New Roman" panose="02020603050405020304" pitchFamily="18" charset="0"/>
                <a:ea typeface="DengXian"/>
                <a:cs typeface="Times New Roman" panose="02020603050405020304" pitchFamily="18" charset="0"/>
              </a:rPr>
              <a:t>Mở</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gốc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STEP 7-Micro/WIN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đồng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thời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mở</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STEP 7 </a:t>
            </a:r>
            <a:r>
              <a:rPr lang="en-US" dirty="0" err="1">
                <a:solidFill>
                  <a:prstClr val="black"/>
                </a:solidFill>
                <a:latin typeface="Times New Roman" panose="02020603050405020304" pitchFamily="18" charset="0"/>
                <a:ea typeface="DengXian"/>
                <a:cs typeface="Times New Roman" panose="02020603050405020304" pitchFamily="18" charset="0"/>
              </a:rPr>
              <a:t>cùng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lúc</a:t>
            </a:r>
            <a:r>
              <a:rPr lang="en-US" dirty="0">
                <a:solidFill>
                  <a:prstClr val="black"/>
                </a:solidFill>
                <a:latin typeface="Times New Roman" panose="02020603050405020304" pitchFamily="18" charset="0"/>
                <a:ea typeface="DengXian"/>
                <a:cs typeface="Times New Roman" panose="02020603050405020304" pitchFamily="18" charset="0"/>
              </a:rPr>
              <a:t>.</a:t>
            </a:r>
          </a:p>
          <a:p>
            <a:pPr marL="257175" indent="-257175" algn="just" defTabSz="685800" eaLnBrk="0" fontAlgn="base" hangingPunct="0">
              <a:spcAft>
                <a:spcPts val="600"/>
              </a:spcAft>
              <a:buFont typeface="Symbol" panose="05050102010706020507" pitchFamily="18" charset="2"/>
              <a:buChar char=""/>
            </a:pPr>
            <a:r>
              <a:rPr lang="en-US" dirty="0">
                <a:solidFill>
                  <a:prstClr val="black"/>
                </a:solidFill>
                <a:latin typeface="Times New Roman" panose="02020603050405020304" pitchFamily="18" charset="0"/>
                <a:ea typeface="DengXian"/>
                <a:cs typeface="Times New Roman" panose="02020603050405020304" pitchFamily="18" charset="0"/>
              </a:rPr>
              <a:t>So </a:t>
            </a:r>
            <a:r>
              <a:rPr lang="en-US" dirty="0" err="1">
                <a:solidFill>
                  <a:prstClr val="black"/>
                </a:solidFill>
                <a:latin typeface="Times New Roman" panose="02020603050405020304" pitchFamily="18" charset="0"/>
                <a:ea typeface="DengXian"/>
                <a:cs typeface="Times New Roman" panose="02020603050405020304" pitchFamily="18" charset="0"/>
              </a:rPr>
              <a:t>sánh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STEP 7-Micro/WIN </a:t>
            </a:r>
            <a:r>
              <a:rPr lang="en-US" dirty="0" err="1">
                <a:solidFill>
                  <a:prstClr val="black"/>
                </a:solidFill>
                <a:latin typeface="Times New Roman" panose="02020603050405020304" pitchFamily="18" charset="0"/>
                <a:ea typeface="DengXian"/>
                <a:cs typeface="Times New Roman" panose="02020603050405020304" pitchFamily="18" charset="0"/>
              </a:rPr>
              <a:t>với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tag </a:t>
            </a:r>
            <a:r>
              <a:rPr lang="en-US" dirty="0" err="1">
                <a:solidFill>
                  <a:prstClr val="black"/>
                </a:solidFill>
                <a:latin typeface="Times New Roman" panose="02020603050405020304" pitchFamily="18" charset="0"/>
                <a:ea typeface="DengXian"/>
                <a:cs typeface="Times New Roman" panose="02020603050405020304" pitchFamily="18" charset="0"/>
              </a:rPr>
              <a:t>cua</a:t>
            </a:r>
            <a:r>
              <a:rPr lang="en-US" dirty="0">
                <a:solidFill>
                  <a:prstClr val="black"/>
                </a:solidFill>
                <a:latin typeface="Times New Roman" panose="02020603050405020304" pitchFamily="18" charset="0"/>
                <a:ea typeface="DengXian"/>
                <a:cs typeface="Times New Roman" panose="02020603050405020304" pitchFamily="18" charset="0"/>
              </a:rPr>
              <a:t> 3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STEP 7 </a:t>
            </a:r>
            <a:r>
              <a:rPr lang="en-US" dirty="0" err="1">
                <a:solidFill>
                  <a:prstClr val="black"/>
                </a:solidFill>
                <a:latin typeface="Times New Roman" panose="02020603050405020304" pitchFamily="18" charset="0"/>
                <a:ea typeface="DengXian"/>
                <a:cs typeface="Times New Roman" panose="02020603050405020304" pitchFamily="18" charset="0"/>
              </a:rPr>
              <a:t>đã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tham</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chiếu</a:t>
            </a:r>
            <a:r>
              <a:rPr lang="en-US" dirty="0">
                <a:solidFill>
                  <a:prstClr val="black"/>
                </a:solidFill>
                <a:latin typeface="Times New Roman" panose="02020603050405020304" pitchFamily="18" charset="0"/>
                <a:ea typeface="DengXian"/>
                <a:cs typeface="Times New Roman" panose="02020603050405020304" pitchFamily="18" charset="0"/>
              </a:rPr>
              <a:t> symbolic).</a:t>
            </a:r>
          </a:p>
          <a:p>
            <a:pPr algn="just" defTabSz="685800" eaLnBrk="0" fontAlgn="base" hangingPunct="0">
              <a:spcAft>
                <a:spcPts val="600"/>
              </a:spcAft>
            </a:pPr>
            <a:r>
              <a:rPr lang="en-US" dirty="0" err="1">
                <a:solidFill>
                  <a:prstClr val="black"/>
                </a:solidFill>
                <a:latin typeface="Times New Roman" panose="02020603050405020304" pitchFamily="18" charset="0"/>
                <a:ea typeface="DengXian"/>
                <a:cs typeface="Times New Roman" panose="02020603050405020304" pitchFamily="18" charset="0"/>
              </a:rPr>
              <a:t>Ký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toàn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(Global symbols)</a:t>
            </a:r>
          </a:p>
          <a:p>
            <a:pPr marL="257175" indent="-257175" algn="just" defTabSz="685800" eaLnBrk="0" fontAlgn="base" hangingPunct="0">
              <a:spcAft>
                <a:spcPts val="600"/>
              </a:spcAft>
              <a:buFont typeface="Symbol" panose="05050102010706020507" pitchFamily="18" charset="2"/>
              <a:buChar char=""/>
            </a:pPr>
            <a:r>
              <a:rPr lang="en-US" dirty="0" err="1">
                <a:solidFill>
                  <a:prstClr val="black"/>
                </a:solidFill>
                <a:latin typeface="Times New Roman" panose="02020603050405020304" pitchFamily="18" charset="0"/>
                <a:ea typeface="DengXian"/>
                <a:cs typeface="Times New Roman" panose="02020603050405020304" pitchFamily="18" charset="0"/>
              </a:rPr>
              <a:t>Ký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toàn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cục</a:t>
            </a:r>
            <a:r>
              <a:rPr lang="en-US" dirty="0">
                <a:solidFill>
                  <a:prstClr val="black"/>
                </a:solidFill>
                <a:latin typeface="Times New Roman" panose="02020603050405020304" pitchFamily="18" charset="0"/>
                <a:ea typeface="DengXian"/>
                <a:cs typeface="Times New Roman" panose="02020603050405020304" pitchFamily="18" charset="0"/>
              </a:rPr>
              <a:t> STEP7-Micro/win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định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nghĩa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bảng Symbol</a:t>
            </a:r>
          </a:p>
          <a:p>
            <a:pPr marL="257175" indent="-257175" algn="just" defTabSz="685800" eaLnBrk="0" fontAlgn="base" hangingPunct="0">
              <a:spcAft>
                <a:spcPts val="600"/>
              </a:spcAft>
              <a:buFont typeface="Symbol" panose="05050102010706020507" pitchFamily="18" charset="2"/>
              <a:buChar char=""/>
            </a:pP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toàn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cục</a:t>
            </a:r>
            <a:r>
              <a:rPr lang="en-US" dirty="0">
                <a:solidFill>
                  <a:prstClr val="black"/>
                </a:solidFill>
                <a:latin typeface="Times New Roman" panose="02020603050405020304" pitchFamily="18" charset="0"/>
                <a:ea typeface="DengXian"/>
                <a:cs typeface="Times New Roman" panose="02020603050405020304" pitchFamily="18" charset="0"/>
              </a:rPr>
              <a:t> STEP 7 (</a:t>
            </a:r>
            <a:r>
              <a:rPr lang="en-US" dirty="0" err="1">
                <a:solidFill>
                  <a:prstClr val="black"/>
                </a:solidFill>
                <a:latin typeface="Times New Roman" panose="02020603050405020304" pitchFamily="18" charset="0"/>
                <a:ea typeface="DengXian"/>
                <a:cs typeface="Times New Roman" panose="02020603050405020304" pitchFamily="18" charset="0"/>
              </a:rPr>
              <a:t>chỉ</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nhớ</a:t>
            </a:r>
            <a:r>
              <a:rPr lang="en-US" dirty="0">
                <a:solidFill>
                  <a:prstClr val="black"/>
                </a:solidFill>
                <a:latin typeface="Times New Roman" panose="02020603050405020304" pitchFamily="18" charset="0"/>
                <a:ea typeface="DengXian"/>
                <a:cs typeface="Times New Roman" panose="02020603050405020304" pitchFamily="18" charset="0"/>
              </a:rPr>
              <a:t> I, Q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M) </a:t>
            </a:r>
            <a:r>
              <a:rPr lang="en-US" dirty="0" err="1">
                <a:solidFill>
                  <a:prstClr val="black"/>
                </a:solidFill>
                <a:latin typeface="Times New Roman" panose="02020603050405020304" pitchFamily="18" charset="0"/>
                <a:ea typeface="DengXian"/>
                <a:cs typeface="Times New Roman" panose="02020603050405020304" pitchFamily="18" charset="0"/>
              </a:rPr>
              <a:t>đã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nằm</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bảng Tag </a:t>
            </a:r>
            <a:r>
              <a:rPr lang="en-US" dirty="0" err="1">
                <a:solidFill>
                  <a:prstClr val="black"/>
                </a:solidFill>
                <a:latin typeface="Times New Roman" panose="02020603050405020304" pitchFamily="18" charset="0"/>
                <a:ea typeface="DengXian"/>
                <a:cs typeface="Times New Roman" panose="02020603050405020304" pitchFamily="18" charset="0"/>
              </a:rPr>
              <a:t>hoặc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dữ</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liệu</a:t>
            </a:r>
            <a:r>
              <a:rPr lang="en-US" dirty="0">
                <a:solidFill>
                  <a:prstClr val="black"/>
                </a:solidFill>
                <a:latin typeface="Times New Roman" panose="02020603050405020304" pitchFamily="18" charset="0"/>
                <a:ea typeface="DengXian"/>
                <a:cs typeface="Times New Roman" panose="02020603050405020304" pitchFamily="18" charset="0"/>
              </a:rPr>
              <a:t> DB1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nhớ</a:t>
            </a:r>
            <a:r>
              <a:rPr lang="en-US" dirty="0">
                <a:solidFill>
                  <a:prstClr val="black"/>
                </a:solidFill>
                <a:latin typeface="Times New Roman" panose="02020603050405020304" pitchFamily="18" charset="0"/>
                <a:ea typeface="DengXian"/>
                <a:cs typeface="Times New Roman" panose="02020603050405020304" pitchFamily="18" charset="0"/>
              </a:rPr>
              <a:t> S7-200 </a:t>
            </a:r>
            <a:r>
              <a:rPr lang="en-US" dirty="0" err="1">
                <a:solidFill>
                  <a:prstClr val="black"/>
                </a:solidFill>
                <a:latin typeface="Times New Roman" panose="02020603050405020304" pitchFamily="18" charset="0"/>
                <a:ea typeface="DengXian"/>
                <a:cs typeface="Times New Roman" panose="02020603050405020304" pitchFamily="18" charset="0"/>
              </a:rPr>
              <a:t>đã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a:t>
            </a:r>
          </a:p>
          <a:p>
            <a:pPr algn="just" defTabSz="685800" eaLnBrk="0" fontAlgn="base" hangingPunct="0">
              <a:spcAft>
                <a:spcPts val="600"/>
              </a:spcAft>
            </a:pPr>
            <a:r>
              <a:rPr lang="en-US" dirty="0" err="1">
                <a:solidFill>
                  <a:prstClr val="black"/>
                </a:solidFill>
                <a:latin typeface="Times New Roman" panose="02020603050405020304" pitchFamily="18" charset="0"/>
                <a:ea typeface="DengXian"/>
                <a:cs typeface="Times New Roman" panose="02020603050405020304" pitchFamily="18" charset="0"/>
              </a:rPr>
              <a:t>Ký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cục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(Local symbols)</a:t>
            </a:r>
          </a:p>
          <a:p>
            <a:pPr marL="257175" indent="-257175" algn="just" defTabSz="685800" eaLnBrk="0" fontAlgn="base" hangingPunct="0">
              <a:spcAft>
                <a:spcPts val="600"/>
              </a:spcAft>
              <a:buFont typeface="Symbol" panose="05050102010706020507" pitchFamily="18" charset="2"/>
              <a:buChar char=""/>
            </a:pP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cục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định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nghĩa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bảng </a:t>
            </a:r>
            <a:r>
              <a:rPr lang="en-US" dirty="0" err="1">
                <a:solidFill>
                  <a:prstClr val="black"/>
                </a:solidFill>
                <a:latin typeface="Times New Roman" panose="02020603050405020304" pitchFamily="18" charset="0"/>
                <a:ea typeface="DengXian"/>
                <a:cs typeface="Times New Roman" panose="02020603050405020304" pitchFamily="18" charset="0"/>
              </a:rPr>
              <a:t>giá</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trị</a:t>
            </a:r>
            <a:r>
              <a:rPr lang="en-US" dirty="0">
                <a:solidFill>
                  <a:prstClr val="black"/>
                </a:solidFill>
                <a:latin typeface="Times New Roman" panose="02020603050405020304" pitchFamily="18" charset="0"/>
                <a:ea typeface="DengXian"/>
                <a:cs typeface="Times New Roman" panose="02020603050405020304" pitchFamily="18" charset="0"/>
              </a:rPr>
              <a:t> Local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chính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con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ngắt</a:t>
            </a:r>
            <a:r>
              <a:rPr lang="en-US" dirty="0">
                <a:solidFill>
                  <a:prstClr val="black"/>
                </a:solidFill>
                <a:latin typeface="Times New Roman" panose="02020603050405020304" pitchFamily="18" charset="0"/>
                <a:ea typeface="DengXian"/>
                <a:cs typeface="Times New Roman" panose="02020603050405020304" pitchFamily="18" charset="0"/>
              </a:rPr>
              <a:t>.</a:t>
            </a:r>
          </a:p>
          <a:p>
            <a:pPr marL="257175" indent="-257175" algn="just" defTabSz="685800" eaLnBrk="0" fontAlgn="base" hangingPunct="0">
              <a:spcAft>
                <a:spcPts val="600"/>
              </a:spcAft>
              <a:buFont typeface="Symbol" panose="05050102010706020507" pitchFamily="18" charset="2"/>
              <a:buChar char=""/>
            </a:pP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ký</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hiệu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cục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bộ</a:t>
            </a:r>
            <a:r>
              <a:rPr lang="en-US" dirty="0">
                <a:solidFill>
                  <a:prstClr val="black"/>
                </a:solidFill>
                <a:latin typeface="Times New Roman" panose="02020603050405020304" pitchFamily="18" charset="0"/>
                <a:ea typeface="DengXian"/>
                <a:cs typeface="Times New Roman" panose="02020603050405020304" pitchFamily="18" charset="0"/>
              </a:rPr>
              <a:t> STEP 7 </a:t>
            </a:r>
            <a:r>
              <a:rPr lang="en-US" dirty="0" err="1">
                <a:solidFill>
                  <a:prstClr val="black"/>
                </a:solidFill>
                <a:latin typeface="Times New Roman" panose="02020603050405020304" pitchFamily="18" charset="0"/>
                <a:ea typeface="DengXian"/>
                <a:cs typeface="Times New Roman" panose="02020603050405020304" pitchFamily="18" charset="0"/>
              </a:rPr>
              <a:t>đã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chuyển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định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nghĩa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bảng </a:t>
            </a:r>
            <a:r>
              <a:rPr lang="en-US" dirty="0" err="1">
                <a:solidFill>
                  <a:prstClr val="black"/>
                </a:solidFill>
                <a:latin typeface="Times New Roman" panose="02020603050405020304" pitchFamily="18" charset="0"/>
                <a:ea typeface="DengXian"/>
                <a:cs typeface="Times New Roman" panose="02020603050405020304" pitchFamily="18" charset="0"/>
              </a:rPr>
              <a:t>giao</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diện</a:t>
            </a:r>
            <a:r>
              <a:rPr lang="en-US" dirty="0">
                <a:solidFill>
                  <a:prstClr val="black"/>
                </a:solidFill>
                <a:latin typeface="Times New Roman" panose="02020603050405020304" pitchFamily="18" charset="0"/>
                <a:ea typeface="DengXian"/>
                <a:cs typeface="Times New Roman" panose="02020603050405020304" pitchFamily="18" charset="0"/>
              </a:rPr>
              <a:t> Local </a:t>
            </a:r>
            <a:r>
              <a:rPr lang="en-US" dirty="0" err="1">
                <a:solidFill>
                  <a:prstClr val="black"/>
                </a:solidFill>
                <a:latin typeface="Times New Roman" panose="02020603050405020304" pitchFamily="18" charset="0"/>
                <a:ea typeface="DengXian"/>
                <a:cs typeface="Times New Roman" panose="02020603050405020304" pitchFamily="18" charset="0"/>
              </a:rPr>
              <a:t>của</a:t>
            </a:r>
            <a:r>
              <a:rPr lang="en-US" dirty="0">
                <a:solidFill>
                  <a:prstClr val="black"/>
                </a:solidFill>
                <a:latin typeface="Times New Roman" panose="02020603050405020304" pitchFamily="18" charset="0"/>
                <a:ea typeface="DengXian"/>
                <a:cs typeface="Times New Roman" panose="02020603050405020304" pitchFamily="18" charset="0"/>
              </a:rPr>
              <a:t> OBs (Organizational blocks)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FCs (Functions).</a:t>
            </a: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2722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graphicFrame>
        <p:nvGraphicFramePr>
          <p:cNvPr id="8" name="Table 7"/>
          <p:cNvGraphicFramePr>
            <a:graphicFrameLocks noGrp="1"/>
          </p:cNvGraphicFramePr>
          <p:nvPr>
            <p:extLst>
              <p:ext uri="{D42A27DB-BD31-4B8C-83A1-F6EECF244321}">
                <p14:modId xmlns:p14="http://schemas.microsoft.com/office/powerpoint/2010/main" val="2255187565"/>
              </p:ext>
            </p:extLst>
          </p:nvPr>
        </p:nvGraphicFramePr>
        <p:xfrm>
          <a:off x="457200" y="1541069"/>
          <a:ext cx="11277599" cy="4896996"/>
        </p:xfrm>
        <a:graphic>
          <a:graphicData uri="http://schemas.openxmlformats.org/drawingml/2006/table">
            <a:tbl>
              <a:tblPr firstRow="1" firstCol="1" bandRow="1">
                <a:tableStyleId>{5C22544A-7EE6-4342-B048-85BDC9FD1C3A}</a:tableStyleId>
              </a:tblPr>
              <a:tblGrid>
                <a:gridCol w="2731393">
                  <a:extLst>
                    <a:ext uri="{9D8B030D-6E8A-4147-A177-3AD203B41FA5}">
                      <a16:colId xmlns:a16="http://schemas.microsoft.com/office/drawing/2014/main" val="2174488664"/>
                    </a:ext>
                  </a:extLst>
                </a:gridCol>
                <a:gridCol w="3026679">
                  <a:extLst>
                    <a:ext uri="{9D8B030D-6E8A-4147-A177-3AD203B41FA5}">
                      <a16:colId xmlns:a16="http://schemas.microsoft.com/office/drawing/2014/main" val="4035428332"/>
                    </a:ext>
                  </a:extLst>
                </a:gridCol>
                <a:gridCol w="5519527">
                  <a:extLst>
                    <a:ext uri="{9D8B030D-6E8A-4147-A177-3AD203B41FA5}">
                      <a16:colId xmlns:a16="http://schemas.microsoft.com/office/drawing/2014/main" val="773458431"/>
                    </a:ext>
                  </a:extLst>
                </a:gridCol>
              </a:tblGrid>
              <a:tr h="587340">
                <a:tc>
                  <a:txBody>
                    <a:bodyPr/>
                    <a:lstStyle/>
                    <a:p>
                      <a:pPr marL="0" marR="0" algn="ctr">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symbolic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p>
                    <a:p>
                      <a:pPr marL="0" marR="0" algn="ctr">
                        <a:lnSpc>
                          <a:spcPct val="150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STEP 7-Micro/WIN</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ctr">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Chuyển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đổi</a:t>
                      </a:r>
                      <a:r>
                        <a:rPr lang="en-US" sz="1500" dirty="0">
                          <a:effectLst/>
                          <a:latin typeface="Times New Roman" panose="02020603050405020304" pitchFamily="18" charset="0"/>
                          <a:cs typeface="Times New Roman" panose="02020603050405020304" pitchFamily="18" charset="0"/>
                        </a:rPr>
                        <a:t> sang STEP 7 PLC tag</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ctr">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vấn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đề</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lập</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trên</a:t>
                      </a:r>
                      <a:r>
                        <a:rPr lang="en-US" sz="1500" dirty="0">
                          <a:effectLst/>
                          <a:latin typeface="Times New Roman" panose="02020603050405020304" pitchFamily="18" charset="0"/>
                          <a:cs typeface="Times New Roman" panose="02020603050405020304" pitchFamily="18" charset="0"/>
                        </a:rPr>
                        <a:t> STEP 7</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extLst>
                  <a:ext uri="{0D108BD9-81ED-4DB2-BD59-A6C34878D82A}">
                    <a16:rowId xmlns:a16="http://schemas.microsoft.com/office/drawing/2014/main" val="1825137780"/>
                  </a:ext>
                </a:extLst>
              </a:tr>
              <a:tr h="293670">
                <a:tc>
                  <a:txBody>
                    <a:bodyPr/>
                    <a:lstStyle/>
                    <a:p>
                      <a:pPr marL="0" marR="0" algn="just">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Bộ nhớ I,Q hoặc M</a:t>
                      </a:r>
                      <a:endParaRPr lang="en-US" sz="150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just">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I, Q và M</a:t>
                      </a:r>
                      <a:endParaRPr lang="en-US" sz="1500">
                        <a:effectLst/>
                        <a:latin typeface="Times New Roman" panose="02020603050405020304" pitchFamily="18" charset="0"/>
                        <a:ea typeface="DengXian"/>
                        <a:cs typeface="Times New Roman" panose="02020603050405020304" pitchFamily="18" charset="0"/>
                      </a:endParaRPr>
                    </a:p>
                  </a:txBody>
                  <a:tcPr marL="16538" marR="16538" marT="0" marB="0"/>
                </a:tc>
                <a:tc rowSpan="3">
                  <a:txBody>
                    <a:bodyPr/>
                    <a:lstStyle/>
                    <a:p>
                      <a:pPr marL="0" marR="0" algn="just">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Các địa chỉ cơ sở I/O có thể được chỉnh sửa bởi cấu hình PLC Device và có thể làm cho địa chỉ S7-200 được chuyển đổi không chính xác</a:t>
                      </a:r>
                      <a:endParaRPr lang="en-US" sz="1500">
                        <a:effectLst/>
                        <a:latin typeface="Times New Roman" panose="02020603050405020304" pitchFamily="18" charset="0"/>
                        <a:ea typeface="DengXian"/>
                        <a:cs typeface="Times New Roman" panose="02020603050405020304" pitchFamily="18" charset="0"/>
                      </a:endParaRPr>
                    </a:p>
                  </a:txBody>
                  <a:tcPr marL="16538" marR="16538" marT="0" marB="0"/>
                </a:tc>
                <a:extLst>
                  <a:ext uri="{0D108BD9-81ED-4DB2-BD59-A6C34878D82A}">
                    <a16:rowId xmlns:a16="http://schemas.microsoft.com/office/drawing/2014/main" val="3934835481"/>
                  </a:ext>
                </a:extLst>
              </a:tr>
              <a:tr h="293670">
                <a:tc>
                  <a:txBody>
                    <a:bodyPr/>
                    <a:lstStyle/>
                    <a:p>
                      <a:pPr marL="0" marR="0" algn="just">
                        <a:lnSpc>
                          <a:spcPct val="150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AIW </a:t>
                      </a:r>
                      <a:r>
                        <a:rPr lang="en-US" sz="1500" dirty="0" err="1">
                          <a:effectLst/>
                          <a:latin typeface="Times New Roman" panose="02020603050405020304" pitchFamily="18" charset="0"/>
                          <a:cs typeface="Times New Roman" panose="02020603050405020304" pitchFamily="18" charset="0"/>
                        </a:rPr>
                        <a:t>và</a:t>
                      </a:r>
                      <a:r>
                        <a:rPr lang="en-US" sz="1500" dirty="0">
                          <a:effectLst/>
                          <a:latin typeface="Times New Roman" panose="02020603050405020304" pitchFamily="18" charset="0"/>
                          <a:cs typeface="Times New Roman" panose="02020603050405020304" pitchFamily="18" charset="0"/>
                        </a:rPr>
                        <a:t> AQW (Analog I/O)</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just">
                        <a:lnSpc>
                          <a:spcPct val="150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I, Q</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vMerge="1">
                  <a:txBody>
                    <a:bodyPr/>
                    <a:lstStyle/>
                    <a:p>
                      <a:endParaRPr lang="en-US"/>
                    </a:p>
                  </a:txBody>
                  <a:tcPr/>
                </a:tc>
                <a:extLst>
                  <a:ext uri="{0D108BD9-81ED-4DB2-BD59-A6C34878D82A}">
                    <a16:rowId xmlns:a16="http://schemas.microsoft.com/office/drawing/2014/main" val="3678398058"/>
                  </a:ext>
                </a:extLst>
              </a:tr>
              <a:tr h="293670">
                <a:tc>
                  <a:txBody>
                    <a:bodyPr/>
                    <a:lstStyle/>
                    <a:p>
                      <a:pPr marL="0" marR="0" algn="just">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HC (High-spees counter)</a:t>
                      </a:r>
                      <a:endParaRPr lang="en-US" sz="150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just">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I</a:t>
                      </a:r>
                      <a:endParaRPr lang="en-US" sz="1500">
                        <a:effectLst/>
                        <a:latin typeface="Times New Roman" panose="02020603050405020304" pitchFamily="18" charset="0"/>
                        <a:ea typeface="DengXian"/>
                        <a:cs typeface="Times New Roman" panose="02020603050405020304" pitchFamily="18" charset="0"/>
                      </a:endParaRPr>
                    </a:p>
                  </a:txBody>
                  <a:tcPr marL="16538" marR="16538" marT="0" marB="0"/>
                </a:tc>
                <a:tc vMerge="1">
                  <a:txBody>
                    <a:bodyPr/>
                    <a:lstStyle/>
                    <a:p>
                      <a:endParaRPr lang="en-US"/>
                    </a:p>
                  </a:txBody>
                  <a:tcPr/>
                </a:tc>
                <a:extLst>
                  <a:ext uri="{0D108BD9-81ED-4DB2-BD59-A6C34878D82A}">
                    <a16:rowId xmlns:a16="http://schemas.microsoft.com/office/drawing/2014/main" val="2937721726"/>
                  </a:ext>
                </a:extLst>
              </a:tr>
              <a:tr h="1683649">
                <a:tc>
                  <a:txBody>
                    <a:bodyPr/>
                    <a:lstStyle/>
                    <a:p>
                      <a:pPr marL="0" marR="0" algn="just">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ký</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hiệu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nhớ</a:t>
                      </a:r>
                      <a:r>
                        <a:rPr lang="en-US" sz="1500" dirty="0">
                          <a:effectLst/>
                          <a:latin typeface="Times New Roman" panose="02020603050405020304" pitchFamily="18" charset="0"/>
                          <a:cs typeface="Times New Roman" panose="02020603050405020304" pitchFamily="18" charset="0"/>
                        </a:rPr>
                        <a:t> SM </a:t>
                      </a:r>
                      <a:r>
                        <a:rPr lang="en-US" sz="1500" dirty="0" err="1">
                          <a:effectLst/>
                          <a:latin typeface="Times New Roman" panose="02020603050405020304" pitchFamily="18" charset="0"/>
                          <a:cs typeface="Times New Roman" panose="02020603050405020304" pitchFamily="18" charset="0"/>
                        </a:rPr>
                        <a:t>và</a:t>
                      </a:r>
                      <a:r>
                        <a:rPr lang="en-US" sz="1500" dirty="0">
                          <a:effectLst/>
                          <a:latin typeface="Times New Roman" panose="02020603050405020304" pitchFamily="18" charset="0"/>
                          <a:cs typeface="Times New Roman" panose="02020603050405020304" pitchFamily="18" charset="0"/>
                        </a:rPr>
                        <a:t> S</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just">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Tham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không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xác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định</a:t>
                      </a:r>
                      <a:endParaRPr lang="en-US" sz="1500" dirty="0">
                        <a:effectLst/>
                        <a:latin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S7-1200 </a:t>
                      </a:r>
                      <a:r>
                        <a:rPr lang="en-US" sz="1500" dirty="0" err="1">
                          <a:effectLst/>
                          <a:latin typeface="Times New Roman" panose="02020603050405020304" pitchFamily="18" charset="0"/>
                          <a:cs typeface="Times New Roman" panose="02020603050405020304" pitchFamily="18" charset="0"/>
                        </a:rPr>
                        <a:t>không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có</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nhớ</a:t>
                      </a:r>
                      <a:r>
                        <a:rPr lang="en-US" sz="1500" dirty="0">
                          <a:effectLst/>
                          <a:latin typeface="Times New Roman" panose="02020603050405020304" pitchFamily="18" charset="0"/>
                          <a:cs typeface="Times New Roman" panose="02020603050405020304" pitchFamily="18" charset="0"/>
                        </a:rPr>
                        <a:t> SM </a:t>
                      </a:r>
                      <a:r>
                        <a:rPr lang="en-US" sz="1500" dirty="0" err="1">
                          <a:effectLst/>
                          <a:latin typeface="Times New Roman" panose="02020603050405020304" pitchFamily="18" charset="0"/>
                          <a:cs typeface="Times New Roman" panose="02020603050405020304" pitchFamily="18" charset="0"/>
                        </a:rPr>
                        <a:t>và</a:t>
                      </a:r>
                      <a:r>
                        <a:rPr lang="en-US" sz="1500" dirty="0">
                          <a:effectLst/>
                          <a:latin typeface="Times New Roman" panose="02020603050405020304" pitchFamily="18" charset="0"/>
                          <a:cs typeface="Times New Roman" panose="02020603050405020304" pitchFamily="18" charset="0"/>
                        </a:rPr>
                        <a:t> S. </a:t>
                      </a:r>
                      <a:r>
                        <a:rPr lang="en-US" sz="1500" dirty="0" err="1">
                          <a:effectLst/>
                          <a:latin typeface="Times New Roman" panose="02020603050405020304" pitchFamily="18" charset="0"/>
                          <a:cs typeface="Times New Roman" panose="02020603050405020304" pitchFamily="18" charset="0"/>
                        </a:rPr>
                        <a:t>Định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nghĩa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tên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tham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trong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logic </a:t>
                      </a:r>
                      <a:r>
                        <a:rPr lang="en-US" sz="1500" dirty="0" err="1">
                          <a:effectLst/>
                          <a:latin typeface="Times New Roman" panose="02020603050405020304" pitchFamily="18" charset="0"/>
                          <a:cs typeface="Times New Roman" panose="02020603050405020304" pitchFamily="18" charset="0"/>
                        </a:rPr>
                        <a:t>thay</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thế</a:t>
                      </a:r>
                      <a:r>
                        <a:rPr lang="en-US" sz="1500" dirty="0">
                          <a:effectLst/>
                          <a:latin typeface="Times New Roman" panose="02020603050405020304" pitchFamily="18" charset="0"/>
                          <a:cs typeface="Times New Roman" panose="02020603050405020304" pitchFamily="18" charset="0"/>
                        </a:rPr>
                        <a:t>.</a:t>
                      </a:r>
                    </a:p>
                    <a:p>
                      <a:pPr marL="0" marR="0" algn="just">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Trong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chỉnh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sửa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tên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không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xác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sẽ</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được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gạch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chân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màu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đỏ</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342900" marR="0" lvl="0" indent="-342900" algn="just">
                        <a:lnSpc>
                          <a:spcPct val="150000"/>
                        </a:lnSpc>
                        <a:spcBef>
                          <a:spcPts val="0"/>
                        </a:spcBef>
                        <a:spcAft>
                          <a:spcPts val="0"/>
                        </a:spcAft>
                        <a:buFont typeface="Symbol" panose="05050102010706020507" pitchFamily="18" charset="2"/>
                        <a:buChar char=""/>
                      </a:pPr>
                      <a:r>
                        <a:rPr lang="en-US" sz="1500" dirty="0" err="1">
                          <a:effectLst/>
                          <a:latin typeface="Times New Roman" panose="02020603050405020304" pitchFamily="18" charset="0"/>
                          <a:cs typeface="Times New Roman" panose="02020603050405020304" pitchFamily="18" charset="0"/>
                        </a:rPr>
                        <a:t>Tạo</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một</a:t>
                      </a:r>
                      <a:r>
                        <a:rPr lang="en-US" sz="1500" dirty="0">
                          <a:effectLst/>
                          <a:latin typeface="Times New Roman" panose="02020603050405020304" pitchFamily="18" charset="0"/>
                          <a:cs typeface="Times New Roman" panose="02020603050405020304" pitchFamily="18" charset="0"/>
                        </a:rPr>
                        <a:t> bảng Tag (I, Q, M </a:t>
                      </a:r>
                      <a:r>
                        <a:rPr lang="en-US" sz="1500" dirty="0" err="1">
                          <a:effectLst/>
                          <a:latin typeface="Times New Roman" panose="02020603050405020304" pitchFamily="18" charset="0"/>
                          <a:cs typeface="Times New Roman" panose="02020603050405020304" pitchFamily="18" charset="0"/>
                        </a:rPr>
                        <a:t>hoặc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hằng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trong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chỉnh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sửa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nhấp</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chuôt</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trái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vào</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tham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và</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chọn</a:t>
                      </a:r>
                      <a:r>
                        <a:rPr lang="en-US" sz="1500" dirty="0">
                          <a:effectLst/>
                          <a:latin typeface="Times New Roman" panose="02020603050405020304" pitchFamily="18" charset="0"/>
                          <a:cs typeface="Times New Roman" panose="02020603050405020304" pitchFamily="18" charset="0"/>
                        </a:rPr>
                        <a:t> “Define tag”.</a:t>
                      </a:r>
                    </a:p>
                    <a:p>
                      <a:pPr marL="342900" marR="0" lvl="0" indent="-342900" algn="just">
                        <a:lnSpc>
                          <a:spcPct val="150000"/>
                        </a:lnSpc>
                        <a:spcBef>
                          <a:spcPts val="0"/>
                        </a:spcBef>
                        <a:spcAft>
                          <a:spcPts val="0"/>
                        </a:spcAft>
                        <a:buFont typeface="Symbol" panose="05050102010706020507" pitchFamily="18" charset="2"/>
                        <a:buChar char=""/>
                      </a:pPr>
                      <a:r>
                        <a:rPr lang="en-US" sz="1500" dirty="0" err="1">
                          <a:effectLst/>
                          <a:latin typeface="Times New Roman" panose="02020603050405020304" pitchFamily="18" charset="0"/>
                          <a:cs typeface="Times New Roman" panose="02020603050405020304" pitchFamily="18" charset="0"/>
                        </a:rPr>
                        <a:t>Tạo</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một</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khối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dữ</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kiệu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thay</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đổi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tên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không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xác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thành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chỉ</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khối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dữ</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liệu</a:t>
                      </a:r>
                      <a:r>
                        <a:rPr lang="en-US" sz="1500" dirty="0">
                          <a:effectLst/>
                          <a:latin typeface="Times New Roman" panose="02020603050405020304" pitchFamily="18" charset="0"/>
                          <a:cs typeface="Times New Roman" panose="02020603050405020304" pitchFamily="18" charset="0"/>
                        </a:rPr>
                        <a:t>. VD: DB1.SymV0_1</a:t>
                      </a:r>
                    </a:p>
                    <a:p>
                      <a:pPr marL="0" marR="0" algn="just">
                        <a:lnSpc>
                          <a:spcPct val="150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 </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extLst>
                  <a:ext uri="{0D108BD9-81ED-4DB2-BD59-A6C34878D82A}">
                    <a16:rowId xmlns:a16="http://schemas.microsoft.com/office/drawing/2014/main" val="3958852800"/>
                  </a:ext>
                </a:extLst>
              </a:tr>
              <a:tr h="1110992">
                <a:tc>
                  <a:txBody>
                    <a:bodyPr/>
                    <a:lstStyle/>
                    <a:p>
                      <a:pPr marL="0" marR="0" algn="just">
                        <a:lnSpc>
                          <a:spcPct val="150000"/>
                        </a:lnSpc>
                        <a:spcBef>
                          <a:spcPts val="0"/>
                        </a:spcBef>
                        <a:spcAft>
                          <a:spcPts val="0"/>
                        </a:spcAft>
                      </a:pPr>
                      <a:r>
                        <a:rPr lang="en-US" sz="1500">
                          <a:effectLst/>
                          <a:latin typeface="Times New Roman" panose="02020603050405020304" pitchFamily="18" charset="0"/>
                          <a:cs typeface="Times New Roman" panose="02020603050405020304" pitchFamily="18" charset="0"/>
                        </a:rPr>
                        <a:t>Ký hiệu bộ nhớ V</a:t>
                      </a:r>
                      <a:endParaRPr lang="en-US" sz="150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just">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Tên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ký</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hiệu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nhớ</a:t>
                      </a:r>
                      <a:r>
                        <a:rPr lang="en-US" sz="1500" dirty="0">
                          <a:effectLst/>
                          <a:latin typeface="Times New Roman" panose="02020603050405020304" pitchFamily="18" charset="0"/>
                          <a:cs typeface="Times New Roman" panose="02020603050405020304" pitchFamily="18" charset="0"/>
                        </a:rPr>
                        <a:t> V </a:t>
                      </a:r>
                      <a:r>
                        <a:rPr lang="en-US" sz="1500" dirty="0" err="1">
                          <a:effectLst/>
                          <a:latin typeface="Times New Roman" panose="02020603050405020304" pitchFamily="18" charset="0"/>
                          <a:cs typeface="Times New Roman" panose="02020603050405020304" pitchFamily="18" charset="0"/>
                        </a:rPr>
                        <a:t>biến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thành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tên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phần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tự</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khối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dữ</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liệu</a:t>
                      </a:r>
                      <a:r>
                        <a:rPr lang="en-US" sz="1500" dirty="0">
                          <a:effectLst/>
                          <a:latin typeface="Times New Roman" panose="02020603050405020304" pitchFamily="18" charset="0"/>
                          <a:cs typeface="Times New Roman" panose="02020603050405020304" pitchFamily="18" charset="0"/>
                        </a:rPr>
                        <a:t> DB1 </a:t>
                      </a:r>
                      <a:r>
                        <a:rPr lang="en-US" sz="1500" dirty="0" err="1">
                          <a:effectLst/>
                          <a:latin typeface="Times New Roman" panose="02020603050405020304" pitchFamily="18" charset="0"/>
                          <a:cs typeface="Times New Roman" panose="02020603050405020304" pitchFamily="18" charset="0"/>
                        </a:rPr>
                        <a:t>hoặc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nhớ</a:t>
                      </a:r>
                      <a:r>
                        <a:rPr lang="en-US" sz="1500" dirty="0">
                          <a:effectLst/>
                          <a:latin typeface="Times New Roman" panose="02020603050405020304" pitchFamily="18" charset="0"/>
                          <a:cs typeface="Times New Roman" panose="02020603050405020304" pitchFamily="18" charset="0"/>
                        </a:rPr>
                        <a:t> S7-200 V </a:t>
                      </a:r>
                      <a:r>
                        <a:rPr lang="en-US" sz="1500" dirty="0" err="1">
                          <a:effectLst/>
                          <a:latin typeface="Times New Roman" panose="02020603050405020304" pitchFamily="18" charset="0"/>
                          <a:cs typeface="Times New Roman" panose="02020603050405020304" pitchFamily="18" charset="0"/>
                        </a:rPr>
                        <a:t>bị</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loại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bỏ</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vì</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nó</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trùng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với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chỉ</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với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chỉ</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nhớ</a:t>
                      </a:r>
                      <a:r>
                        <a:rPr lang="en-US" sz="1500" dirty="0">
                          <a:effectLst/>
                          <a:latin typeface="Times New Roman" panose="02020603050405020304" pitchFamily="18" charset="0"/>
                          <a:cs typeface="Times New Roman" panose="02020603050405020304" pitchFamily="18" charset="0"/>
                        </a:rPr>
                        <a:t> V </a:t>
                      </a:r>
                      <a:r>
                        <a:rPr lang="en-US" sz="1500" dirty="0" err="1">
                          <a:effectLst/>
                          <a:latin typeface="Times New Roman" panose="02020603050405020304" pitchFamily="18" charset="0"/>
                          <a:cs typeface="Times New Roman" panose="02020603050405020304" pitchFamily="18" charset="0"/>
                        </a:rPr>
                        <a:t>khác</a:t>
                      </a:r>
                      <a:r>
                        <a:rPr lang="en-US" sz="1500" dirty="0">
                          <a:effectLst/>
                          <a:latin typeface="Times New Roman" panose="02020603050405020304" pitchFamily="18" charset="0"/>
                          <a:cs typeface="Times New Roman" panose="02020603050405020304" pitchFamily="18" charset="0"/>
                        </a:rPr>
                        <a:t>.</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just">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Một</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nhớ</a:t>
                      </a:r>
                      <a:r>
                        <a:rPr lang="en-US" sz="1500" dirty="0">
                          <a:effectLst/>
                          <a:latin typeface="Times New Roman" panose="02020603050405020304" pitchFamily="18" charset="0"/>
                          <a:cs typeface="Times New Roman" panose="02020603050405020304" pitchFamily="18" charset="0"/>
                        </a:rPr>
                        <a:t> V </a:t>
                      </a:r>
                      <a:r>
                        <a:rPr lang="en-US" sz="1500" dirty="0" err="1">
                          <a:effectLst/>
                          <a:latin typeface="Times New Roman" panose="02020603050405020304" pitchFamily="18" charset="0"/>
                          <a:cs typeface="Times New Roman" panose="02020603050405020304" pitchFamily="18" charset="0"/>
                        </a:rPr>
                        <a:t>không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xác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bị</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loại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bỏ</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tạo</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ra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một</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tham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không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xác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trong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logic </a:t>
                      </a:r>
                      <a:r>
                        <a:rPr lang="en-US" sz="1500" dirty="0" err="1">
                          <a:effectLst/>
                          <a:latin typeface="Times New Roman" panose="02020603050405020304" pitchFamily="18" charset="0"/>
                          <a:cs typeface="Times New Roman" panose="02020603050405020304" pitchFamily="18" charset="0"/>
                        </a:rPr>
                        <a:t>đã</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chuyển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đổi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Bạn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phải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gán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tên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biểu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tượng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mới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và</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chỉ</a:t>
                      </a:r>
                      <a:r>
                        <a:rPr lang="en-US" sz="1500" dirty="0">
                          <a:effectLst/>
                          <a:latin typeface="Times New Roman" panose="02020603050405020304" pitchFamily="18" charset="0"/>
                          <a:cs typeface="Times New Roman" panose="02020603050405020304" pitchFamily="18" charset="0"/>
                        </a:rPr>
                        <a:t> DB1.</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extLst>
                  <a:ext uri="{0D108BD9-81ED-4DB2-BD59-A6C34878D82A}">
                    <a16:rowId xmlns:a16="http://schemas.microsoft.com/office/drawing/2014/main" val="3619556301"/>
                  </a:ext>
                </a:extLst>
              </a:tr>
            </a:tbl>
          </a:graphicData>
        </a:graphic>
      </p:graphicFrame>
      <p:sp>
        <p:nvSpPr>
          <p:cNvPr id="9" name="TextBox 8"/>
          <p:cNvSpPr txBox="1"/>
          <p:nvPr/>
        </p:nvSpPr>
        <p:spPr>
          <a:xfrm>
            <a:off x="4007601" y="1198047"/>
            <a:ext cx="3556836" cy="369332"/>
          </a:xfrm>
          <a:prstGeom prst="rect">
            <a:avLst/>
          </a:prstGeom>
          <a:noFill/>
        </p:spPr>
        <p:txBody>
          <a:bodyPr wrap="square" rtlCol="0">
            <a:spAutoFit/>
          </a:bodyPr>
          <a:lstStyle/>
          <a:p>
            <a:pPr algn="ct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Bảng 2: Bảng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tags </a:t>
            </a:r>
          </a:p>
        </p:txBody>
      </p:sp>
    </p:spTree>
    <p:extLst>
      <p:ext uri="{BB962C8B-B14F-4D97-AF65-F5344CB8AC3E}">
        <p14:creationId xmlns:p14="http://schemas.microsoft.com/office/powerpoint/2010/main" val="1689336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graphicFrame>
        <p:nvGraphicFramePr>
          <p:cNvPr id="8" name="Table 7"/>
          <p:cNvGraphicFramePr>
            <a:graphicFrameLocks noGrp="1"/>
          </p:cNvGraphicFramePr>
          <p:nvPr>
            <p:extLst>
              <p:ext uri="{D42A27DB-BD31-4B8C-83A1-F6EECF244321}">
                <p14:modId xmlns:p14="http://schemas.microsoft.com/office/powerpoint/2010/main" val="696153052"/>
              </p:ext>
            </p:extLst>
          </p:nvPr>
        </p:nvGraphicFramePr>
        <p:xfrm>
          <a:off x="457200" y="1567674"/>
          <a:ext cx="11277599" cy="2619948"/>
        </p:xfrm>
        <a:graphic>
          <a:graphicData uri="http://schemas.openxmlformats.org/drawingml/2006/table">
            <a:tbl>
              <a:tblPr firstRow="1" firstCol="1" bandRow="1">
                <a:tableStyleId>{5C22544A-7EE6-4342-B048-85BDC9FD1C3A}</a:tableStyleId>
              </a:tblPr>
              <a:tblGrid>
                <a:gridCol w="2731393">
                  <a:extLst>
                    <a:ext uri="{9D8B030D-6E8A-4147-A177-3AD203B41FA5}">
                      <a16:colId xmlns:a16="http://schemas.microsoft.com/office/drawing/2014/main" val="1720813451"/>
                    </a:ext>
                  </a:extLst>
                </a:gridCol>
                <a:gridCol w="3026679">
                  <a:extLst>
                    <a:ext uri="{9D8B030D-6E8A-4147-A177-3AD203B41FA5}">
                      <a16:colId xmlns:a16="http://schemas.microsoft.com/office/drawing/2014/main" val="1409584136"/>
                    </a:ext>
                  </a:extLst>
                </a:gridCol>
                <a:gridCol w="5519527">
                  <a:extLst>
                    <a:ext uri="{9D8B030D-6E8A-4147-A177-3AD203B41FA5}">
                      <a16:colId xmlns:a16="http://schemas.microsoft.com/office/drawing/2014/main" val="79957341"/>
                    </a:ext>
                  </a:extLst>
                </a:gridCol>
              </a:tblGrid>
              <a:tr h="446447">
                <a:tc>
                  <a:txBody>
                    <a:bodyPr/>
                    <a:lstStyle/>
                    <a:p>
                      <a:pPr marL="0" marR="0" algn="ctr">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symbolic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p>
                    <a:p>
                      <a:pPr marL="0" marR="0" algn="ctr">
                        <a:lnSpc>
                          <a:spcPct val="150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STEP 7-Micro/WIN</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ctr">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Chuyển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đổi</a:t>
                      </a:r>
                      <a:r>
                        <a:rPr lang="en-US" sz="1500" dirty="0">
                          <a:effectLst/>
                          <a:latin typeface="Times New Roman" panose="02020603050405020304" pitchFamily="18" charset="0"/>
                          <a:cs typeface="Times New Roman" panose="02020603050405020304" pitchFamily="18" charset="0"/>
                        </a:rPr>
                        <a:t> sang STEP 7 PLC tag</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ctr">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vấn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đề</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lập</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trên</a:t>
                      </a:r>
                      <a:r>
                        <a:rPr lang="en-US" sz="1500" dirty="0">
                          <a:effectLst/>
                          <a:latin typeface="Times New Roman" panose="02020603050405020304" pitchFamily="18" charset="0"/>
                          <a:cs typeface="Times New Roman" panose="02020603050405020304" pitchFamily="18" charset="0"/>
                        </a:rPr>
                        <a:t> STEP 7</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extLst>
                  <a:ext uri="{0D108BD9-81ED-4DB2-BD59-A6C34878D82A}">
                    <a16:rowId xmlns:a16="http://schemas.microsoft.com/office/drawing/2014/main" val="4085722861"/>
                  </a:ext>
                </a:extLst>
              </a:tr>
              <a:tr h="977999">
                <a:tc>
                  <a:txBody>
                    <a:bodyPr/>
                    <a:lstStyle/>
                    <a:p>
                      <a:pPr marL="0" marR="0" algn="just">
                        <a:lnSpc>
                          <a:spcPct val="150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nhớ</a:t>
                      </a:r>
                      <a:r>
                        <a:rPr lang="en-US" sz="1500" dirty="0">
                          <a:effectLst/>
                          <a:latin typeface="Times New Roman" panose="02020603050405020304" pitchFamily="18" charset="0"/>
                          <a:cs typeface="Times New Roman" panose="02020603050405020304" pitchFamily="18" charset="0"/>
                        </a:rPr>
                        <a:t> timer) </a:t>
                      </a:r>
                      <a:r>
                        <a:rPr lang="en-US" sz="1500" dirty="0" err="1">
                          <a:effectLst/>
                          <a:latin typeface="Times New Roman" panose="02020603050405020304" pitchFamily="18" charset="0"/>
                          <a:cs typeface="Times New Roman" panose="02020603050405020304" pitchFamily="18" charset="0"/>
                        </a:rPr>
                        <a:t>và</a:t>
                      </a:r>
                      <a:r>
                        <a:rPr lang="en-US" sz="1500" dirty="0">
                          <a:effectLst/>
                          <a:latin typeface="Times New Roman" panose="02020603050405020304" pitchFamily="18" charset="0"/>
                          <a:cs typeface="Times New Roman" panose="02020603050405020304" pitchFamily="18" charset="0"/>
                        </a:rPr>
                        <a:t> C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nhớ</a:t>
                      </a:r>
                      <a:r>
                        <a:rPr lang="en-US" sz="1500" dirty="0">
                          <a:effectLst/>
                          <a:latin typeface="Times New Roman" panose="02020603050405020304" pitchFamily="18" charset="0"/>
                          <a:cs typeface="Times New Roman" panose="02020603050405020304" pitchFamily="18" charset="0"/>
                        </a:rPr>
                        <a:t> counter)</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just">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Ký</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hiệu</a:t>
                      </a:r>
                      <a:r>
                        <a:rPr lang="en-US" sz="1500" dirty="0">
                          <a:effectLst/>
                          <a:latin typeface="Times New Roman" panose="02020603050405020304" pitchFamily="18" charset="0"/>
                          <a:cs typeface="Times New Roman" panose="02020603050405020304" pitchFamily="18" charset="0"/>
                        </a:rPr>
                        <a:t> timer </a:t>
                      </a:r>
                      <a:r>
                        <a:rPr lang="en-US" sz="1500" dirty="0" err="1">
                          <a:effectLst/>
                          <a:latin typeface="Times New Roman" panose="02020603050405020304" pitchFamily="18" charset="0"/>
                          <a:cs typeface="Times New Roman" panose="02020603050405020304" pitchFamily="18" charset="0"/>
                        </a:rPr>
                        <a:t>và</a:t>
                      </a:r>
                      <a:r>
                        <a:rPr lang="en-US" sz="1500" dirty="0">
                          <a:effectLst/>
                          <a:latin typeface="Times New Roman" panose="02020603050405020304" pitchFamily="18" charset="0"/>
                          <a:cs typeface="Times New Roman" panose="02020603050405020304" pitchFamily="18" charset="0"/>
                        </a:rPr>
                        <a:t> counter </a:t>
                      </a:r>
                      <a:r>
                        <a:rPr lang="en-US" sz="1500" dirty="0" err="1">
                          <a:effectLst/>
                          <a:latin typeface="Times New Roman" panose="02020603050405020304" pitchFamily="18" charset="0"/>
                          <a:cs typeface="Times New Roman" panose="02020603050405020304" pitchFamily="18" charset="0"/>
                        </a:rPr>
                        <a:t>được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đổi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thành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tên</a:t>
                      </a:r>
                      <a:r>
                        <a:rPr lang="en-US" sz="1500" dirty="0">
                          <a:effectLst/>
                          <a:latin typeface="Times New Roman" panose="02020603050405020304" pitchFamily="18" charset="0"/>
                          <a:cs typeface="Times New Roman" panose="02020603050405020304" pitchFamily="18" charset="0"/>
                        </a:rPr>
                        <a:t> DB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khối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dữ</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liệu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liên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quan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đến</a:t>
                      </a:r>
                      <a:r>
                        <a:rPr lang="en-US" sz="1500" dirty="0">
                          <a:effectLst/>
                          <a:latin typeface="Times New Roman" panose="02020603050405020304" pitchFamily="18" charset="0"/>
                          <a:cs typeface="Times New Roman" panose="02020603050405020304" pitchFamily="18" charset="0"/>
                        </a:rPr>
                        <a:t> time </a:t>
                      </a:r>
                      <a:r>
                        <a:rPr lang="en-US" sz="1500" dirty="0" err="1">
                          <a:effectLst/>
                          <a:latin typeface="Times New Roman" panose="02020603050405020304" pitchFamily="18" charset="0"/>
                          <a:cs typeface="Times New Roman" panose="02020603050405020304" pitchFamily="18" charset="0"/>
                        </a:rPr>
                        <a:t>và</a:t>
                      </a:r>
                      <a:r>
                        <a:rPr lang="en-US" sz="1500" dirty="0">
                          <a:effectLst/>
                          <a:latin typeface="Times New Roman" panose="02020603050405020304" pitchFamily="18" charset="0"/>
                          <a:cs typeface="Times New Roman" panose="02020603050405020304" pitchFamily="18" charset="0"/>
                        </a:rPr>
                        <a:t> counter </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342900" marR="0" lvl="0" indent="-342900" algn="just">
                        <a:lnSpc>
                          <a:spcPct val="150000"/>
                        </a:lnSpc>
                        <a:spcBef>
                          <a:spcPts val="0"/>
                        </a:spcBef>
                        <a:spcAft>
                          <a:spcPts val="0"/>
                        </a:spcAft>
                        <a:buFont typeface="Symbol" panose="05050102010706020507" pitchFamily="18" charset="2"/>
                        <a:buChar char=""/>
                      </a:pPr>
                      <a:r>
                        <a:rPr lang="en-US" sz="1500" dirty="0" err="1">
                          <a:effectLst/>
                          <a:latin typeface="Times New Roman" panose="02020603050405020304" pitchFamily="18" charset="0"/>
                          <a:cs typeface="Times New Roman" panose="02020603050405020304" pitchFamily="18" charset="0"/>
                        </a:rPr>
                        <a:t>Trong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LAD S7-1200, </a:t>
                      </a:r>
                      <a:r>
                        <a:rPr lang="en-US" sz="1500" dirty="0" err="1">
                          <a:effectLst/>
                          <a:latin typeface="Times New Roman" panose="02020603050405020304" pitchFamily="18" charset="0"/>
                          <a:cs typeface="Times New Roman" panose="02020603050405020304" pitchFamily="18" charset="0"/>
                        </a:rPr>
                        <a:t>đầu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ra</a:t>
                      </a:r>
                      <a:r>
                        <a:rPr lang="en-US" sz="1500" dirty="0">
                          <a:effectLst/>
                          <a:latin typeface="Times New Roman" panose="02020603050405020304" pitchFamily="18" charset="0"/>
                          <a:cs typeface="Times New Roman" panose="02020603050405020304" pitchFamily="18" charset="0"/>
                        </a:rPr>
                        <a:t> Q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timer </a:t>
                      </a:r>
                      <a:r>
                        <a:rPr lang="en-US" sz="1500" dirty="0" err="1">
                          <a:effectLst/>
                          <a:latin typeface="Times New Roman" panose="02020603050405020304" pitchFamily="18" charset="0"/>
                          <a:cs typeface="Times New Roman" panose="02020603050405020304" pitchFamily="18" charset="0"/>
                        </a:rPr>
                        <a:t>và</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conuter</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thay</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thế</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chức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năng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đếm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và</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địa</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chỉ</a:t>
                      </a:r>
                      <a:r>
                        <a:rPr lang="en-US" sz="1500" dirty="0">
                          <a:effectLst/>
                          <a:latin typeface="Times New Roman" panose="02020603050405020304" pitchFamily="18" charset="0"/>
                          <a:cs typeface="Times New Roman" panose="02020603050405020304" pitchFamily="18" charset="0"/>
                        </a:rPr>
                        <a:t> bit </a:t>
                      </a:r>
                      <a:r>
                        <a:rPr lang="en-US" sz="1500" dirty="0" err="1">
                          <a:effectLst/>
                          <a:latin typeface="Times New Roman" panose="02020603050405020304" pitchFamily="18" charset="0"/>
                          <a:cs typeface="Times New Roman" panose="02020603050405020304" pitchFamily="18" charset="0"/>
                        </a:rPr>
                        <a:t>thời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gian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của</a:t>
                      </a:r>
                      <a:r>
                        <a:rPr lang="en-US" sz="1500" dirty="0">
                          <a:effectLst/>
                          <a:latin typeface="Times New Roman" panose="02020603050405020304" pitchFamily="18" charset="0"/>
                          <a:cs typeface="Times New Roman" panose="02020603050405020304" pitchFamily="18" charset="0"/>
                        </a:rPr>
                        <a:t> S7-200.</a:t>
                      </a:r>
                    </a:p>
                    <a:p>
                      <a:pPr marL="342900" marR="0" lvl="0" indent="-342900" algn="just">
                        <a:lnSpc>
                          <a:spcPct val="150000"/>
                        </a:lnSpc>
                        <a:spcBef>
                          <a:spcPts val="0"/>
                        </a:spcBef>
                        <a:spcAft>
                          <a:spcPts val="0"/>
                        </a:spcAft>
                        <a:buFont typeface="Symbol" panose="05050102010706020507" pitchFamily="18" charset="2"/>
                        <a:buChar char=""/>
                      </a:pP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thời</a:t>
                      </a:r>
                      <a:r>
                        <a:rPr lang="en-US" sz="1500" dirty="0">
                          <a:effectLst/>
                          <a:latin typeface="Times New Roman" panose="02020603050405020304" pitchFamily="18" charset="0"/>
                          <a:cs typeface="Times New Roman" panose="02020603050405020304" pitchFamily="18" charset="0"/>
                        </a:rPr>
                        <a:t> (timer) </a:t>
                      </a:r>
                      <a:r>
                        <a:rPr lang="en-US" sz="1500" dirty="0" err="1">
                          <a:effectLst/>
                          <a:latin typeface="Times New Roman" panose="02020603050405020304" pitchFamily="18" charset="0"/>
                          <a:cs typeface="Times New Roman" panose="02020603050405020304" pitchFamily="18" charset="0"/>
                        </a:rPr>
                        <a:t>và</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đếm</a:t>
                      </a:r>
                      <a:r>
                        <a:rPr lang="en-US" sz="1500" dirty="0">
                          <a:effectLst/>
                          <a:latin typeface="Times New Roman" panose="02020603050405020304" pitchFamily="18" charset="0"/>
                          <a:cs typeface="Times New Roman" panose="02020603050405020304" pitchFamily="18" charset="0"/>
                        </a:rPr>
                        <a:t> bit (counter)/</a:t>
                      </a:r>
                      <a:r>
                        <a:rPr lang="en-US" sz="1500" dirty="0" err="1">
                          <a:effectLst/>
                          <a:latin typeface="Times New Roman" panose="02020603050405020304" pitchFamily="18" charset="0"/>
                          <a:cs typeface="Times New Roman" panose="02020603050405020304" pitchFamily="18" charset="0"/>
                        </a:rPr>
                        <a:t>giá</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trị</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hiện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tại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cũng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có</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thể</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được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truy</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cập</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dưới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dạng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yếu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tố</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dữ</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liệu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trong</a:t>
                      </a:r>
                      <a:r>
                        <a:rPr lang="en-US" sz="1500" dirty="0">
                          <a:effectLst/>
                          <a:latin typeface="Times New Roman" panose="02020603050405020304" pitchFamily="18" charset="0"/>
                          <a:cs typeface="Times New Roman" panose="02020603050405020304" pitchFamily="18" charset="0"/>
                        </a:rPr>
                        <a:t> DB </a:t>
                      </a:r>
                      <a:r>
                        <a:rPr lang="en-US" sz="1500" dirty="0" err="1">
                          <a:effectLst/>
                          <a:latin typeface="Times New Roman" panose="02020603050405020304" pitchFamily="18" charset="0"/>
                          <a:cs typeface="Times New Roman" panose="02020603050405020304" pitchFamily="18" charset="0"/>
                        </a:rPr>
                        <a:t>liên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quan</a:t>
                      </a:r>
                      <a:r>
                        <a:rPr lang="en-US" sz="1500" dirty="0">
                          <a:effectLst/>
                          <a:latin typeface="Times New Roman" panose="02020603050405020304" pitchFamily="18" charset="0"/>
                          <a:cs typeface="Times New Roman" panose="02020603050405020304" pitchFamily="18" charset="0"/>
                        </a:rPr>
                        <a:t>.</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extLst>
                  <a:ext uri="{0D108BD9-81ED-4DB2-BD59-A6C34878D82A}">
                    <a16:rowId xmlns:a16="http://schemas.microsoft.com/office/drawing/2014/main" val="2828635945"/>
                  </a:ext>
                </a:extLst>
              </a:tr>
              <a:tr h="419053">
                <a:tc>
                  <a:txBody>
                    <a:bodyPr/>
                    <a:lstStyle/>
                    <a:p>
                      <a:pPr marL="0" marR="0" algn="just">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Ký</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hiệu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nhớ</a:t>
                      </a:r>
                      <a:r>
                        <a:rPr lang="en-US" sz="1500" dirty="0">
                          <a:effectLst/>
                          <a:latin typeface="Times New Roman" panose="02020603050405020304" pitchFamily="18" charset="0"/>
                          <a:cs typeface="Times New Roman" panose="02020603050405020304" pitchFamily="18" charset="0"/>
                        </a:rPr>
                        <a:t> L (bảng </a:t>
                      </a:r>
                      <a:r>
                        <a:rPr lang="en-US" sz="1500" dirty="0" err="1">
                          <a:effectLst/>
                          <a:latin typeface="Times New Roman" panose="02020603050405020304" pitchFamily="18" charset="0"/>
                          <a:cs typeface="Times New Roman" panose="02020603050405020304" pitchFamily="18" charset="0"/>
                        </a:rPr>
                        <a:t>giá</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trị</a:t>
                      </a:r>
                      <a:r>
                        <a:rPr lang="en-US" sz="1500" dirty="0">
                          <a:effectLst/>
                          <a:latin typeface="Times New Roman" panose="02020603050405020304" pitchFamily="18" charset="0"/>
                          <a:cs typeface="Times New Roman" panose="02020603050405020304" pitchFamily="18" charset="0"/>
                        </a:rPr>
                        <a:t> Local)</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gn="just">
                        <a:lnSpc>
                          <a:spcPct val="150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Ký</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hiệu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bộ</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nhớ</a:t>
                      </a:r>
                      <a:r>
                        <a:rPr lang="en-US" sz="1500" dirty="0">
                          <a:effectLst/>
                          <a:latin typeface="Times New Roman" panose="02020603050405020304" pitchFamily="18" charset="0"/>
                          <a:cs typeface="Times New Roman" panose="02020603050405020304" pitchFamily="18" charset="0"/>
                        </a:rPr>
                        <a:t> L (bảng </a:t>
                      </a:r>
                      <a:r>
                        <a:rPr lang="en-US" sz="1500" dirty="0" err="1">
                          <a:effectLst/>
                          <a:latin typeface="Times New Roman" panose="02020603050405020304" pitchFamily="18" charset="0"/>
                          <a:cs typeface="Times New Roman" panose="02020603050405020304" pitchFamily="18" charset="0"/>
                        </a:rPr>
                        <a:t>giao</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diện</a:t>
                      </a:r>
                      <a:r>
                        <a:rPr lang="en-US" sz="1500" dirty="0">
                          <a:effectLst/>
                          <a:latin typeface="Times New Roman" panose="02020603050405020304" pitchFamily="18" charset="0"/>
                          <a:cs typeface="Times New Roman" panose="02020603050405020304" pitchFamily="18" charset="0"/>
                        </a:rPr>
                        <a:t> Block)</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tc>
                  <a:txBody>
                    <a:bodyPr/>
                    <a:lstStyle/>
                    <a:p>
                      <a:pPr marL="0" marR="0">
                        <a:lnSpc>
                          <a:spcPct val="150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 </a:t>
                      </a:r>
                      <a:endParaRPr lang="en-US" sz="1500" dirty="0">
                        <a:effectLst/>
                        <a:latin typeface="Times New Roman" panose="02020603050405020304" pitchFamily="18" charset="0"/>
                        <a:ea typeface="DengXian"/>
                        <a:cs typeface="Times New Roman" panose="02020603050405020304" pitchFamily="18" charset="0"/>
                      </a:endParaRPr>
                    </a:p>
                  </a:txBody>
                  <a:tcPr marL="16538" marR="16538" marT="0" marB="0"/>
                </a:tc>
                <a:extLst>
                  <a:ext uri="{0D108BD9-81ED-4DB2-BD59-A6C34878D82A}">
                    <a16:rowId xmlns:a16="http://schemas.microsoft.com/office/drawing/2014/main" val="969818833"/>
                  </a:ext>
                </a:extLst>
              </a:tr>
            </a:tbl>
          </a:graphicData>
        </a:graphic>
      </p:graphicFrame>
      <p:sp>
        <p:nvSpPr>
          <p:cNvPr id="10" name="TextBox 9"/>
          <p:cNvSpPr txBox="1"/>
          <p:nvPr/>
        </p:nvSpPr>
        <p:spPr>
          <a:xfrm>
            <a:off x="4007601" y="1198047"/>
            <a:ext cx="3556836" cy="369332"/>
          </a:xfrm>
          <a:prstGeom prst="rect">
            <a:avLst/>
          </a:prstGeom>
          <a:noFill/>
        </p:spPr>
        <p:txBody>
          <a:bodyPr wrap="square" rtlCol="0">
            <a:spAutoFit/>
          </a:bodyPr>
          <a:lstStyle/>
          <a:p>
            <a:pPr algn="ct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Bảng 2: Bảng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tags </a:t>
            </a:r>
          </a:p>
        </p:txBody>
      </p:sp>
    </p:spTree>
    <p:extLst>
      <p:ext uri="{BB962C8B-B14F-4D97-AF65-F5344CB8AC3E}">
        <p14:creationId xmlns:p14="http://schemas.microsoft.com/office/powerpoint/2010/main" val="3173390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8" name="Rectangle 7"/>
          <p:cNvSpPr/>
          <p:nvPr/>
        </p:nvSpPr>
        <p:spPr>
          <a:xfrm>
            <a:off x="457200" y="1471326"/>
            <a:ext cx="11318933" cy="1985159"/>
          </a:xfrm>
          <a:prstGeom prst="rect">
            <a:avLst/>
          </a:prstGeom>
        </p:spPr>
        <p:txBody>
          <a:bodyPr wrap="square">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Bước</a:t>
            </a:r>
            <a:r>
              <a:rPr lang="en-US" b="1" dirty="0">
                <a:solidFill>
                  <a:prstClr val="black"/>
                </a:solidFill>
                <a:latin typeface="Times New Roman" panose="02020603050405020304" pitchFamily="18" charset="0"/>
                <a:cs typeface="Times New Roman" panose="02020603050405020304" pitchFamily="18" charset="0"/>
              </a:rPr>
              <a:t> 6: </a:t>
            </a:r>
            <a:r>
              <a:rPr lang="en-US" b="1" dirty="0" err="1">
                <a:solidFill>
                  <a:prstClr val="black"/>
                </a:solidFill>
                <a:latin typeface="Times New Roman" panose="02020603050405020304" pitchFamily="18" charset="0"/>
                <a:cs typeface="Times New Roman" panose="02020603050405020304" pitchFamily="18" charset="0"/>
              </a:rPr>
              <a:t>Hoàn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thành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chương</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trình</a:t>
            </a:r>
            <a:r>
              <a:rPr lang="en-US" b="1" dirty="0">
                <a:solidFill>
                  <a:prstClr val="black"/>
                </a:solidFill>
                <a:latin typeface="Times New Roman" panose="02020603050405020304" pitchFamily="18" charset="0"/>
                <a:cs typeface="Times New Roman" panose="02020603050405020304" pitchFamily="18" charset="0"/>
              </a:rPr>
              <a:t> STEP 7 </a:t>
            </a:r>
            <a:r>
              <a:rPr lang="en-US" b="1" dirty="0" err="1">
                <a:solidFill>
                  <a:prstClr val="black"/>
                </a:solidFill>
                <a:latin typeface="Times New Roman" panose="02020603050405020304" pitchFamily="18" charset="0"/>
                <a:cs typeface="Times New Roman" panose="02020603050405020304" pitchFamily="18" charset="0"/>
              </a:rPr>
              <a:t>và</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chạy</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thời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gian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thực</a:t>
            </a:r>
            <a:endParaRPr lang="en-US" b="1" dirty="0">
              <a:solidFill>
                <a:prstClr val="black"/>
              </a:solidFill>
              <a:latin typeface="Times New Roman" panose="02020603050405020304" pitchFamily="18" charset="0"/>
              <a:cs typeface="Times New Roman" panose="02020603050405020304" pitchFamily="18" charset="0"/>
            </a:endParaRPr>
          </a:p>
          <a:p>
            <a:pPr marL="257175" indent="-257175" algn="just" defTabSz="685800" eaLnBrk="0" fontAlgn="base" hangingPunct="0">
              <a:spcAft>
                <a:spcPts val="600"/>
              </a:spcAft>
              <a:buFont typeface="+mj-lt"/>
              <a:buAutoNum type="arabicPeriod"/>
            </a:pPr>
            <a:r>
              <a:rPr lang="en-US" dirty="0" err="1">
                <a:solidFill>
                  <a:prstClr val="black"/>
                </a:solidFill>
                <a:latin typeface="Times New Roman" panose="02020603050405020304" pitchFamily="18" charset="0"/>
                <a:ea typeface="DengXian"/>
                <a:cs typeface="Times New Roman" panose="02020603050405020304" pitchFamily="18" charset="0"/>
              </a:rPr>
              <a:t>Hoàn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thành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tất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cả</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các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thông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số</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logic</a:t>
            </a:r>
          </a:p>
          <a:p>
            <a:pPr marL="257175" indent="-257175" algn="just" defTabSz="685800" eaLnBrk="0" fontAlgn="base" hangingPunct="0">
              <a:spcAft>
                <a:spcPts val="600"/>
              </a:spcAft>
              <a:buFont typeface="+mj-lt"/>
              <a:buAutoNum type="arabicPeriod"/>
            </a:pPr>
            <a:r>
              <a:rPr lang="en-US" dirty="0" err="1">
                <a:solidFill>
                  <a:prstClr val="black"/>
                </a:solidFill>
                <a:latin typeface="Times New Roman" panose="02020603050405020304" pitchFamily="18" charset="0"/>
                <a:ea typeface="DengXian"/>
                <a:cs typeface="Times New Roman" panose="02020603050405020304" pitchFamily="18" charset="0"/>
              </a:rPr>
              <a:t>Một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số</a:t>
            </a:r>
            <a:r>
              <a:rPr lang="en-US" dirty="0">
                <a:solidFill>
                  <a:prstClr val="black"/>
                </a:solidFill>
                <a:latin typeface="Times New Roman" panose="02020603050405020304" pitchFamily="18" charset="0"/>
                <a:ea typeface="DengXian"/>
                <a:cs typeface="Times New Roman" panose="02020603050405020304" pitchFamily="18" charset="0"/>
              </a:rPr>
              <a:t> S7-1200 CPU I/O </a:t>
            </a:r>
            <a:r>
              <a:rPr lang="en-US" dirty="0" err="1">
                <a:solidFill>
                  <a:prstClr val="black"/>
                </a:solidFill>
                <a:latin typeface="Times New Roman" panose="02020603050405020304" pitchFamily="18" charset="0"/>
                <a:ea typeface="DengXian"/>
                <a:cs typeface="Times New Roman" panose="02020603050405020304" pitchFamily="18" charset="0"/>
              </a:rPr>
              <a:t>có</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thể</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kênh</a:t>
            </a:r>
            <a:r>
              <a:rPr lang="en-US" dirty="0">
                <a:solidFill>
                  <a:prstClr val="black"/>
                </a:solidFill>
                <a:latin typeface="Times New Roman" panose="02020603050405020304" pitchFamily="18" charset="0"/>
                <a:ea typeface="DengXian"/>
                <a:cs typeface="Times New Roman" panose="02020603050405020304" pitchFamily="18" charset="0"/>
              </a:rPr>
              <a:t> I/O </a:t>
            </a:r>
            <a:r>
              <a:rPr lang="en-US" dirty="0" err="1">
                <a:solidFill>
                  <a:prstClr val="black"/>
                </a:solidFill>
                <a:latin typeface="Times New Roman" panose="02020603050405020304" pitchFamily="18" charset="0"/>
                <a:ea typeface="DengXian"/>
                <a:cs typeface="Times New Roman" panose="02020603050405020304" pitchFamily="18" charset="0"/>
              </a:rPr>
              <a:t>khác</a:t>
            </a:r>
            <a:r>
              <a:rPr lang="en-US" dirty="0">
                <a:solidFill>
                  <a:prstClr val="black"/>
                </a:solidFill>
                <a:latin typeface="Times New Roman" panose="02020603050405020304" pitchFamily="18" charset="0"/>
                <a:ea typeface="DengXian"/>
                <a:cs typeface="Times New Roman" panose="02020603050405020304" pitchFamily="18" charset="0"/>
              </a:rPr>
              <a:t> so </a:t>
            </a:r>
            <a:r>
              <a:rPr lang="en-US" dirty="0" err="1">
                <a:solidFill>
                  <a:prstClr val="black"/>
                </a:solidFill>
                <a:latin typeface="Times New Roman" panose="02020603050405020304" pitchFamily="18" charset="0"/>
                <a:ea typeface="DengXian"/>
                <a:cs typeface="Times New Roman" panose="02020603050405020304" pitchFamily="18" charset="0"/>
              </a:rPr>
              <a:t>với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số</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kênh</a:t>
            </a:r>
            <a:r>
              <a:rPr lang="en-US" dirty="0">
                <a:solidFill>
                  <a:prstClr val="black"/>
                </a:solidFill>
                <a:latin typeface="Times New Roman" panose="02020603050405020304" pitchFamily="18" charset="0"/>
                <a:ea typeface="DengXian"/>
                <a:cs typeface="Times New Roman" panose="02020603050405020304" pitchFamily="18" charset="0"/>
              </a:rPr>
              <a:t> I/O </a:t>
            </a:r>
            <a:r>
              <a:rPr lang="en-US" dirty="0" err="1">
                <a:solidFill>
                  <a:prstClr val="black"/>
                </a:solidFill>
                <a:latin typeface="Times New Roman" panose="02020603050405020304" pitchFamily="18" charset="0"/>
                <a:ea typeface="DengXian"/>
                <a:cs typeface="Times New Roman" panose="02020603050405020304" pitchFamily="18" charset="0"/>
              </a:rPr>
              <a:t>được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sử</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dụng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trong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S7-200. </a:t>
            </a:r>
            <a:r>
              <a:rPr lang="en-US" dirty="0" err="1">
                <a:solidFill>
                  <a:prstClr val="black"/>
                </a:solidFill>
                <a:latin typeface="Times New Roman" panose="02020603050405020304" pitchFamily="18" charset="0"/>
                <a:ea typeface="DengXian"/>
                <a:cs typeface="Times New Roman" panose="02020603050405020304" pitchFamily="18" charset="0"/>
              </a:rPr>
              <a:t>Gán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lại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kết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lại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kết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thiết</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bị</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đầu</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cuối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khi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cần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thiết</a:t>
            </a:r>
            <a:r>
              <a:rPr lang="en-US" dirty="0">
                <a:solidFill>
                  <a:prstClr val="black"/>
                </a:solidFill>
                <a:latin typeface="Times New Roman" panose="02020603050405020304" pitchFamily="18" charset="0"/>
                <a:ea typeface="DengXian"/>
                <a:cs typeface="Times New Roman" panose="02020603050405020304" pitchFamily="18" charset="0"/>
              </a:rPr>
              <a:t>.</a:t>
            </a:r>
          </a:p>
          <a:p>
            <a:pPr marL="257175" indent="-257175" algn="just" defTabSz="685800" eaLnBrk="0" fontAlgn="base" hangingPunct="0">
              <a:spcAft>
                <a:spcPts val="600"/>
              </a:spcAft>
              <a:buFont typeface="+mj-lt"/>
              <a:buAutoNum type="arabicPeriod"/>
            </a:pPr>
            <a:r>
              <a:rPr lang="en-US" dirty="0" err="1">
                <a:solidFill>
                  <a:prstClr val="black"/>
                </a:solidFill>
                <a:latin typeface="Times New Roman" panose="02020603050405020304" pitchFamily="18" charset="0"/>
                <a:ea typeface="DengXian"/>
                <a:cs typeface="Times New Roman" panose="02020603050405020304" pitchFamily="18" charset="0"/>
              </a:rPr>
              <a:t>Biên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soạn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tải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người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dùng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về</a:t>
            </a:r>
            <a:r>
              <a:rPr lang="en-US" dirty="0">
                <a:solidFill>
                  <a:prstClr val="black"/>
                </a:solidFill>
                <a:latin typeface="Times New Roman" panose="02020603050405020304" pitchFamily="18" charset="0"/>
                <a:ea typeface="DengXian"/>
                <a:cs typeface="Times New Roman" panose="02020603050405020304" pitchFamily="18" charset="0"/>
              </a:rPr>
              <a:t> CPU S7-1200.</a:t>
            </a:r>
          </a:p>
          <a:p>
            <a:pPr marL="257175" indent="-257175" algn="just" defTabSz="685800" eaLnBrk="0" fontAlgn="base" hangingPunct="0">
              <a:spcAft>
                <a:spcPts val="600"/>
              </a:spcAft>
              <a:buFont typeface="+mj-lt"/>
              <a:buAutoNum type="arabicPeriod"/>
            </a:pPr>
            <a:r>
              <a:rPr lang="en-US" dirty="0" err="1">
                <a:solidFill>
                  <a:prstClr val="black"/>
                </a:solidFill>
                <a:latin typeface="Times New Roman" panose="02020603050405020304" pitchFamily="18" charset="0"/>
                <a:ea typeface="DengXian"/>
                <a:cs typeface="Times New Roman" panose="02020603050405020304" pitchFamily="18" charset="0"/>
              </a:rPr>
              <a:t>Sửa</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lổi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và</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chay</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thời</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gian</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thực</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chương</a:t>
            </a:r>
            <a:r>
              <a:rPr lang="en-US" dirty="0">
                <a:solidFill>
                  <a:prstClr val="black"/>
                </a:solidFill>
                <a:latin typeface="Times New Roman" panose="02020603050405020304" pitchFamily="18" charset="0"/>
                <a:ea typeface="DengXian"/>
                <a:cs typeface="Times New Roman" panose="02020603050405020304" pitchFamily="18" charset="0"/>
              </a:rPr>
              <a:t> </a:t>
            </a:r>
            <a:r>
              <a:rPr lang="en-US" dirty="0" err="1">
                <a:solidFill>
                  <a:prstClr val="black"/>
                </a:solidFill>
                <a:latin typeface="Times New Roman" panose="02020603050405020304" pitchFamily="18" charset="0"/>
                <a:ea typeface="DengXian"/>
                <a:cs typeface="Times New Roman" panose="02020603050405020304" pitchFamily="18" charset="0"/>
              </a:rPr>
              <a:t>trình</a:t>
            </a:r>
            <a:r>
              <a:rPr lang="en-US" dirty="0">
                <a:solidFill>
                  <a:prstClr val="black"/>
                </a:solidFill>
                <a:latin typeface="Times New Roman" panose="02020603050405020304" pitchFamily="18" charset="0"/>
                <a:ea typeface="DengXian"/>
                <a:cs typeface="Times New Roman" panose="02020603050405020304" pitchFamily="18" charset="0"/>
              </a:rPr>
              <a:t> S7-1200.</a:t>
            </a:r>
          </a:p>
        </p:txBody>
      </p:sp>
    </p:spTree>
    <p:extLst>
      <p:ext uri="{BB962C8B-B14F-4D97-AF65-F5344CB8AC3E}">
        <p14:creationId xmlns:p14="http://schemas.microsoft.com/office/powerpoint/2010/main" val="4170477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sp>
        <p:nvSpPr>
          <p:cNvPr id="8" name="TextBox 7"/>
          <p:cNvSpPr txBox="1"/>
          <p:nvPr/>
        </p:nvSpPr>
        <p:spPr>
          <a:xfrm>
            <a:off x="457200" y="1228967"/>
            <a:ext cx="11277600" cy="369332"/>
          </a:xfrm>
          <a:prstGeom prst="rect">
            <a:avLst/>
          </a:prstGeom>
          <a:noFill/>
        </p:spPr>
        <p:txBody>
          <a:bodyPr wrap="square" rtlCol="0">
            <a:spAutoFit/>
          </a:bodyPr>
          <a:lstStyle/>
          <a:p>
            <a:pPr defTabSz="685800" eaLnBrk="0" fontAlgn="base" hangingPunct="0">
              <a:spcAft>
                <a:spcPts val="600"/>
              </a:spcAft>
            </a:pPr>
            <a:r>
              <a:rPr lang="en-US" b="1" dirty="0" err="1">
                <a:solidFill>
                  <a:prstClr val="black"/>
                </a:solidFill>
                <a:latin typeface="Times New Roman" panose="02020603050405020304" pitchFamily="18" charset="0"/>
                <a:ea typeface="DengXian"/>
                <a:cs typeface="Times New Roman" panose="02020603050405020304" pitchFamily="18" charset="0"/>
              </a:rPr>
              <a:t>Bước</a:t>
            </a:r>
            <a:r>
              <a:rPr lang="en-US" b="1" dirty="0">
                <a:solidFill>
                  <a:prstClr val="black"/>
                </a:solidFill>
                <a:latin typeface="Times New Roman" panose="02020603050405020304" pitchFamily="18" charset="0"/>
                <a:ea typeface="DengXian"/>
                <a:cs typeface="Times New Roman" panose="02020603050405020304" pitchFamily="18" charset="0"/>
              </a:rPr>
              <a:t> 7: </a:t>
            </a:r>
            <a:r>
              <a:rPr lang="en-US" b="1" dirty="0" err="1">
                <a:solidFill>
                  <a:prstClr val="black"/>
                </a:solidFill>
                <a:latin typeface="Times New Roman" panose="02020603050405020304" pitchFamily="18" charset="0"/>
                <a:ea typeface="DengXian"/>
                <a:cs typeface="Times New Roman" panose="02020603050405020304" pitchFamily="18" charset="0"/>
              </a:rPr>
              <a:t>Chuyển</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đổi</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cấu</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trúc</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chương</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trình</a:t>
            </a:r>
            <a:endParaRPr lang="en-US" b="1"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136668325"/>
              </p:ext>
            </p:extLst>
          </p:nvPr>
        </p:nvGraphicFramePr>
        <p:xfrm>
          <a:off x="457200" y="2139975"/>
          <a:ext cx="11277600" cy="4271228"/>
        </p:xfrm>
        <a:graphic>
          <a:graphicData uri="http://schemas.openxmlformats.org/drawingml/2006/table">
            <a:tbl>
              <a:tblPr firstRow="1" firstCol="1" bandRow="1">
                <a:tableStyleId>{5C22544A-7EE6-4342-B048-85BDC9FD1C3A}</a:tableStyleId>
              </a:tblPr>
              <a:tblGrid>
                <a:gridCol w="2967548">
                  <a:extLst>
                    <a:ext uri="{9D8B030D-6E8A-4147-A177-3AD203B41FA5}">
                      <a16:colId xmlns:a16="http://schemas.microsoft.com/office/drawing/2014/main" val="4037877486"/>
                    </a:ext>
                  </a:extLst>
                </a:gridCol>
                <a:gridCol w="8310052">
                  <a:extLst>
                    <a:ext uri="{9D8B030D-6E8A-4147-A177-3AD203B41FA5}">
                      <a16:colId xmlns:a16="http://schemas.microsoft.com/office/drawing/2014/main" val="3042059136"/>
                    </a:ext>
                  </a:extLst>
                </a:gridCol>
              </a:tblGrid>
              <a:tr h="314195">
                <a:tc>
                  <a:txBody>
                    <a:bodyPr/>
                    <a:lstStyle/>
                    <a:p>
                      <a:pPr marL="0" marR="0">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Cấu</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trúc</a:t>
                      </a:r>
                      <a:r>
                        <a:rPr lang="en-US" sz="1400" dirty="0">
                          <a:effectLst/>
                          <a:latin typeface="Times New Roman" panose="02020603050405020304" pitchFamily="18" charset="0"/>
                          <a:cs typeface="Times New Roman" panose="02020603050405020304" pitchFamily="18" charset="0"/>
                        </a:rPr>
                        <a:t> STEP 7-Micro/WIN Program</a:t>
                      </a:r>
                      <a:endParaRPr lang="en-US" sz="1400" dirty="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gn="ctr">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Cách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hoạt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động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của</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công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cụ</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phần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mềm</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chuyển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đổi</a:t>
                      </a:r>
                      <a:endParaRPr lang="en-US" sz="1400" dirty="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3105751238"/>
                  </a:ext>
                </a:extLst>
              </a:tr>
              <a:tr h="942238">
                <a:tc>
                  <a:txBody>
                    <a:bodyPr/>
                    <a:lstStyle/>
                    <a:p>
                      <a:pPr marL="0" marR="0">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Các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khối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mã</a:t>
                      </a:r>
                      <a:r>
                        <a:rPr lang="en-US" sz="1400" dirty="0">
                          <a:effectLst/>
                          <a:latin typeface="Times New Roman" panose="02020603050405020304" pitchFamily="18" charset="0"/>
                          <a:cs typeface="Times New Roman" panose="02020603050405020304" pitchFamily="18" charset="0"/>
                        </a:rPr>
                        <a:t> POU</a:t>
                      </a:r>
                      <a:endParaRPr lang="en-US" sz="1400" dirty="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Các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khối</a:t>
                      </a:r>
                      <a:r>
                        <a:rPr lang="en-US" sz="1400" dirty="0">
                          <a:effectLst/>
                          <a:latin typeface="Times New Roman" panose="02020603050405020304" pitchFamily="18" charset="0"/>
                          <a:cs typeface="Times New Roman" panose="02020603050405020304" pitchFamily="18" charset="0"/>
                        </a:rPr>
                        <a:t> ban </a:t>
                      </a:r>
                      <a:r>
                        <a:rPr lang="en-US" sz="1400" dirty="0" err="1">
                          <a:effectLst/>
                          <a:latin typeface="Times New Roman" panose="02020603050405020304" pitchFamily="18" charset="0"/>
                          <a:cs typeface="Times New Roman" panose="02020603050405020304" pitchFamily="18" charset="0"/>
                        </a:rPr>
                        <a:t>đầu</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được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giữ</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nguyên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Tất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cả</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các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khối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có</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thể</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chuyển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đổi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sẽ</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được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chuyển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đổi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cho</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dù</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có</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bất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kỳ</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mã</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chuyển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đổi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nào</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tồn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tại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trong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một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khối</a:t>
                      </a:r>
                      <a:r>
                        <a:rPr lang="en-US" sz="1400" dirty="0">
                          <a:effectLst/>
                          <a:latin typeface="Times New Roman" panose="02020603050405020304" pitchFamily="18" charset="0"/>
                          <a:cs typeface="Times New Roman" panose="02020603050405020304" pitchFamily="18" charset="0"/>
                        </a:rPr>
                        <a:t> hay </a:t>
                      </a:r>
                      <a:r>
                        <a:rPr lang="en-US" sz="1400" dirty="0" err="1">
                          <a:effectLst/>
                          <a:latin typeface="Times New Roman" panose="02020603050405020304" pitchFamily="18" charset="0"/>
                          <a:cs typeface="Times New Roman" panose="02020603050405020304" pitchFamily="18" charset="0"/>
                        </a:rPr>
                        <a:t>không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Chương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trình</a:t>
                      </a:r>
                      <a:r>
                        <a:rPr lang="en-US" sz="1400" dirty="0">
                          <a:effectLst/>
                          <a:latin typeface="Times New Roman" panose="02020603050405020304" pitchFamily="18" charset="0"/>
                          <a:cs typeface="Times New Roman" panose="02020603050405020304" pitchFamily="18" charset="0"/>
                        </a:rPr>
                        <a:t> STEP 7-Micro/WIN </a:t>
                      </a:r>
                      <a:r>
                        <a:rPr lang="en-US" sz="1400" dirty="0" err="1">
                          <a:effectLst/>
                          <a:latin typeface="Times New Roman" panose="02020603050405020304" pitchFamily="18" charset="0"/>
                          <a:cs typeface="Times New Roman" panose="02020603050405020304" pitchFamily="18" charset="0"/>
                        </a:rPr>
                        <a:t>không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hỗ</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trợ</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kiểu</a:t>
                      </a:r>
                      <a:r>
                        <a:rPr lang="en-US" sz="1400" dirty="0">
                          <a:effectLst/>
                          <a:latin typeface="Times New Roman" panose="02020603050405020304" pitchFamily="18" charset="0"/>
                          <a:cs typeface="Times New Roman" panose="02020603050405020304" pitchFamily="18" charset="0"/>
                        </a:rPr>
                        <a:t> FB (function block) </a:t>
                      </a:r>
                      <a:r>
                        <a:rPr lang="en-US" sz="1400" dirty="0" err="1">
                          <a:effectLst/>
                          <a:latin typeface="Times New Roman" panose="02020603050405020304" pitchFamily="18" charset="0"/>
                          <a:cs typeface="Times New Roman" panose="02020603050405020304" pitchFamily="18" charset="0"/>
                        </a:rPr>
                        <a:t>với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một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khối</a:t>
                      </a:r>
                      <a:r>
                        <a:rPr lang="en-US" sz="1400" dirty="0">
                          <a:effectLst/>
                          <a:latin typeface="Times New Roman" panose="02020603050405020304" pitchFamily="18" charset="0"/>
                          <a:cs typeface="Times New Roman" panose="02020603050405020304" pitchFamily="18" charset="0"/>
                        </a:rPr>
                        <a:t> DB (data block) </a:t>
                      </a:r>
                      <a:r>
                        <a:rPr lang="en-US" sz="1400" dirty="0" err="1">
                          <a:effectLst/>
                          <a:latin typeface="Times New Roman" panose="02020603050405020304" pitchFamily="18" charset="0"/>
                          <a:cs typeface="Times New Roman" panose="02020603050405020304" pitchFamily="18" charset="0"/>
                        </a:rPr>
                        <a:t>được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liên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kết</a:t>
                      </a:r>
                      <a:r>
                        <a:rPr lang="en-US" sz="1400" dirty="0">
                          <a:effectLst/>
                          <a:latin typeface="Times New Roman" panose="02020603050405020304" pitchFamily="18" charset="0"/>
                          <a:cs typeface="Times New Roman" panose="02020603050405020304" pitchFamily="18" charset="0"/>
                        </a:rPr>
                        <a:t>. Do </a:t>
                      </a:r>
                      <a:r>
                        <a:rPr lang="en-US" sz="1400" dirty="0" err="1">
                          <a:effectLst/>
                          <a:latin typeface="Times New Roman" panose="02020603050405020304" pitchFamily="18" charset="0"/>
                          <a:cs typeface="Times New Roman" panose="02020603050405020304" pitchFamily="18" charset="0"/>
                        </a:rPr>
                        <a:t>đó</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tất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cả</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các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khối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chương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trình</a:t>
                      </a:r>
                      <a:r>
                        <a:rPr lang="en-US" sz="1400" dirty="0">
                          <a:effectLst/>
                          <a:latin typeface="Times New Roman" panose="02020603050405020304" pitchFamily="18" charset="0"/>
                          <a:cs typeface="Times New Roman" panose="02020603050405020304" pitchFamily="18" charset="0"/>
                        </a:rPr>
                        <a:t> STEP 7-Micro/WIN </a:t>
                      </a:r>
                      <a:r>
                        <a:rPr lang="en-US" sz="1400" dirty="0" err="1">
                          <a:effectLst/>
                          <a:latin typeface="Times New Roman" panose="02020603050405020304" pitchFamily="18" charset="0"/>
                          <a:cs typeface="Times New Roman" panose="02020603050405020304" pitchFamily="18" charset="0"/>
                        </a:rPr>
                        <a:t>được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đổi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thành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một</a:t>
                      </a:r>
                      <a:r>
                        <a:rPr lang="en-US" sz="1400" dirty="0">
                          <a:effectLst/>
                          <a:latin typeface="Times New Roman" panose="02020603050405020304" pitchFamily="18" charset="0"/>
                          <a:cs typeface="Times New Roman" panose="02020603050405020304" pitchFamily="18" charset="0"/>
                        </a:rPr>
                        <a:t> OB (organization block) </a:t>
                      </a:r>
                      <a:r>
                        <a:rPr lang="en-US" sz="1400" dirty="0" err="1">
                          <a:effectLst/>
                          <a:latin typeface="Times New Roman" panose="02020603050405020304" pitchFamily="18" charset="0"/>
                          <a:cs typeface="Times New Roman" panose="02020603050405020304" pitchFamily="18" charset="0"/>
                        </a:rPr>
                        <a:t>hoặc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một</a:t>
                      </a:r>
                      <a:r>
                        <a:rPr lang="en-US" sz="1400" dirty="0">
                          <a:effectLst/>
                          <a:latin typeface="Times New Roman" panose="02020603050405020304" pitchFamily="18" charset="0"/>
                          <a:cs typeface="Times New Roman" panose="02020603050405020304" pitchFamily="18" charset="0"/>
                        </a:rPr>
                        <a:t> FC (function). </a:t>
                      </a:r>
                      <a:endParaRPr lang="en-US" sz="1400" dirty="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1921997333"/>
                  </a:ext>
                </a:extLst>
              </a:tr>
              <a:tr h="942238">
                <a:tc>
                  <a:txBody>
                    <a:bodyPr/>
                    <a:lstStyle/>
                    <a:p>
                      <a:pPr marL="0" marR="0" algn="just">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Chương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trình</a:t>
                      </a:r>
                      <a:r>
                        <a:rPr lang="en-US" sz="1400" dirty="0">
                          <a:effectLst/>
                          <a:latin typeface="Times New Roman" panose="02020603050405020304" pitchFamily="18" charset="0"/>
                          <a:cs typeface="Times New Roman" panose="02020603050405020304" pitchFamily="18" charset="0"/>
                        </a:rPr>
                        <a:t> con</a:t>
                      </a:r>
                      <a:endParaRPr lang="en-US" sz="1400" dirty="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gn="just">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Các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chương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trình</a:t>
                      </a:r>
                      <a:r>
                        <a:rPr lang="en-US" sz="1400" dirty="0">
                          <a:effectLst/>
                          <a:latin typeface="Times New Roman" panose="02020603050405020304" pitchFamily="18" charset="0"/>
                          <a:cs typeface="Times New Roman" panose="02020603050405020304" pitchFamily="18" charset="0"/>
                        </a:rPr>
                        <a:t> con SBR </a:t>
                      </a:r>
                      <a:r>
                        <a:rPr lang="en-US" sz="1400" dirty="0" err="1">
                          <a:effectLst/>
                          <a:latin typeface="Times New Roman" panose="02020603050405020304" pitchFamily="18" charset="0"/>
                          <a:cs typeface="Times New Roman" panose="02020603050405020304" pitchFamily="18" charset="0"/>
                        </a:rPr>
                        <a:t>được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chuyển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đổi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thành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hàm</a:t>
                      </a:r>
                      <a:r>
                        <a:rPr lang="en-US" sz="1400" dirty="0">
                          <a:effectLst/>
                          <a:latin typeface="Times New Roman" panose="02020603050405020304" pitchFamily="18" charset="0"/>
                          <a:cs typeface="Times New Roman" panose="02020603050405020304" pitchFamily="18" charset="0"/>
                        </a:rPr>
                        <a:t> FC. </a:t>
                      </a:r>
                      <a:r>
                        <a:rPr lang="en-US" sz="1400" dirty="0" err="1">
                          <a:effectLst/>
                          <a:latin typeface="Times New Roman" panose="02020603050405020304" pitchFamily="18" charset="0"/>
                          <a:cs typeface="Times New Roman" panose="02020603050405020304" pitchFamily="18" charset="0"/>
                        </a:rPr>
                        <a:t>Các</a:t>
                      </a:r>
                      <a:r>
                        <a:rPr lang="en-US" sz="1400" dirty="0">
                          <a:effectLst/>
                          <a:latin typeface="Times New Roman" panose="02020603050405020304" pitchFamily="18" charset="0"/>
                          <a:cs typeface="Times New Roman" panose="02020603050405020304" pitchFamily="18" charset="0"/>
                        </a:rPr>
                        <a:t> FC </a:t>
                      </a:r>
                      <a:r>
                        <a:rPr lang="en-US" sz="1400" dirty="0" err="1">
                          <a:effectLst/>
                          <a:latin typeface="Times New Roman" panose="02020603050405020304" pitchFamily="18" charset="0"/>
                          <a:cs typeface="Times New Roman" panose="02020603050405020304" pitchFamily="18" charset="0"/>
                        </a:rPr>
                        <a:t>được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tạo</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sẽ</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có</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hoặc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không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có</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tham</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số</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cục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bộ</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Tham</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số</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cục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bộ</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của</a:t>
                      </a:r>
                      <a:r>
                        <a:rPr lang="en-US" sz="1400" dirty="0">
                          <a:effectLst/>
                          <a:latin typeface="Times New Roman" panose="02020603050405020304" pitchFamily="18" charset="0"/>
                          <a:cs typeface="Times New Roman" panose="02020603050405020304" pitchFamily="18" charset="0"/>
                        </a:rPr>
                        <a:t> FC </a:t>
                      </a:r>
                      <a:r>
                        <a:rPr lang="en-US" sz="1400" dirty="0" err="1">
                          <a:effectLst/>
                          <a:latin typeface="Times New Roman" panose="02020603050405020304" pitchFamily="18" charset="0"/>
                          <a:cs typeface="Times New Roman" panose="02020603050405020304" pitchFamily="18" charset="0"/>
                        </a:rPr>
                        <a:t>xuất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hiện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trong</a:t>
                      </a:r>
                      <a:r>
                        <a:rPr lang="en-US" sz="1400" dirty="0">
                          <a:effectLst/>
                          <a:latin typeface="Times New Roman" panose="02020603050405020304" pitchFamily="18" charset="0"/>
                          <a:cs typeface="Times New Roman" panose="02020603050405020304" pitchFamily="18" charset="0"/>
                        </a:rPr>
                        <a:t> bảng </a:t>
                      </a:r>
                      <a:r>
                        <a:rPr lang="en-US" sz="1400" dirty="0" err="1">
                          <a:effectLst/>
                          <a:latin typeface="Times New Roman" panose="02020603050405020304" pitchFamily="18" charset="0"/>
                          <a:cs typeface="Times New Roman" panose="02020603050405020304" pitchFamily="18" charset="0"/>
                        </a:rPr>
                        <a:t>khối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giao</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diện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của</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trình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chỉnh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sửa</a:t>
                      </a:r>
                      <a:r>
                        <a:rPr lang="en-US" sz="1400" dirty="0">
                          <a:effectLst/>
                          <a:latin typeface="Times New Roman" panose="02020603050405020304" pitchFamily="18" charset="0"/>
                          <a:cs typeface="Times New Roman" panose="02020603050405020304" pitchFamily="18" charset="0"/>
                        </a:rPr>
                        <a:t> STEP 7 </a:t>
                      </a:r>
                      <a:r>
                        <a:rPr lang="en-US" sz="1400" dirty="0" err="1">
                          <a:effectLst/>
                          <a:latin typeface="Times New Roman" panose="02020603050405020304" pitchFamily="18" charset="0"/>
                          <a:cs typeface="Times New Roman" panose="02020603050405020304" pitchFamily="18" charset="0"/>
                        </a:rPr>
                        <a:t>và</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tương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ứng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với</a:t>
                      </a:r>
                      <a:r>
                        <a:rPr lang="en-US" sz="1400" dirty="0">
                          <a:effectLst/>
                          <a:latin typeface="Times New Roman" panose="02020603050405020304" pitchFamily="18" charset="0"/>
                          <a:cs typeface="Times New Roman" panose="02020603050405020304" pitchFamily="18" charset="0"/>
                        </a:rPr>
                        <a:t> bảng </a:t>
                      </a:r>
                      <a:r>
                        <a:rPr lang="en-US" sz="1400" dirty="0" err="1">
                          <a:effectLst/>
                          <a:latin typeface="Times New Roman" panose="02020603050405020304" pitchFamily="18" charset="0"/>
                          <a:cs typeface="Times New Roman" panose="02020603050405020304" pitchFamily="18" charset="0"/>
                        </a:rPr>
                        <a:t>tham</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số</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cục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bộ</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của</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chương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trình</a:t>
                      </a:r>
                      <a:r>
                        <a:rPr lang="en-US" sz="1400" dirty="0">
                          <a:effectLst/>
                          <a:latin typeface="Times New Roman" panose="02020603050405020304" pitchFamily="18" charset="0"/>
                          <a:cs typeface="Times New Roman" panose="02020603050405020304" pitchFamily="18" charset="0"/>
                        </a:rPr>
                        <a:t> con STEP 7-Micro/WIN.   </a:t>
                      </a:r>
                      <a:endParaRPr lang="en-US" sz="1400" dirty="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3757926306"/>
                  </a:ext>
                </a:extLst>
              </a:tr>
              <a:tr h="486054">
                <a:tc>
                  <a:txBody>
                    <a:bodyPr/>
                    <a:lstStyle/>
                    <a:p>
                      <a:pPr marL="0" marR="0">
                        <a:lnSpc>
                          <a:spcPct val="150000"/>
                        </a:lnSpc>
                        <a:spcBef>
                          <a:spcPts val="0"/>
                        </a:spcBef>
                        <a:spcAft>
                          <a:spcPts val="0"/>
                        </a:spcAft>
                      </a:pPr>
                      <a:r>
                        <a:rPr lang="en-US" sz="1400">
                          <a:effectLst/>
                          <a:latin typeface="Times New Roman" panose="02020603050405020304" pitchFamily="18" charset="0"/>
                          <a:cs typeface="Times New Roman" panose="02020603050405020304" pitchFamily="18" charset="0"/>
                        </a:rPr>
                        <a:t>Mạng bậc thang (Ladder networks)</a:t>
                      </a:r>
                      <a:endParaRPr lang="en-US" sz="140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nSpc>
                          <a:spcPct val="150000"/>
                        </a:lnSpc>
                        <a:spcBef>
                          <a:spcPts val="0"/>
                        </a:spcBef>
                        <a:spcAft>
                          <a:spcPts val="0"/>
                        </a:spcAft>
                      </a:pPr>
                      <a:r>
                        <a:rPr lang="en-US" sz="1400">
                          <a:effectLst/>
                          <a:latin typeface="Times New Roman" panose="02020603050405020304" pitchFamily="18" charset="0"/>
                          <a:cs typeface="Times New Roman" panose="02020603050405020304" pitchFamily="18" charset="0"/>
                        </a:rPr>
                        <a:t>Số thứ tự, tiêu đề và nhận xét của STEP 7-Micro/WIN được gữ nguyên. Nếu có một mạng trống hoặc mạng hoàn chỉnh không thể chuyển đổi, thì mạng trống hoặc mạng chuyển đổi một phần sẽ được tạo.</a:t>
                      </a:r>
                      <a:endParaRPr lang="en-US" sz="140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699534328"/>
                  </a:ext>
                </a:extLst>
              </a:tr>
              <a:tr h="486054">
                <a:tc>
                  <a:txBody>
                    <a:bodyPr/>
                    <a:lstStyle/>
                    <a:p>
                      <a:pPr marL="0" marR="0">
                        <a:lnSpc>
                          <a:spcPct val="150000"/>
                        </a:lnSpc>
                        <a:spcBef>
                          <a:spcPts val="0"/>
                        </a:spcBef>
                        <a:spcAft>
                          <a:spcPts val="0"/>
                        </a:spcAft>
                      </a:pPr>
                      <a:r>
                        <a:rPr lang="en-US" sz="1400">
                          <a:effectLst/>
                          <a:latin typeface="Times New Roman" panose="02020603050405020304" pitchFamily="18" charset="0"/>
                          <a:cs typeface="Times New Roman" panose="02020603050405020304" pitchFamily="18" charset="0"/>
                        </a:rPr>
                        <a:t>Box instructions</a:t>
                      </a:r>
                      <a:endParaRPr lang="en-US" sz="140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Hộp</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lệnh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sẽ</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được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giữ</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nguyên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Nếu</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hộp</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lệnh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không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thể</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chuyển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đổi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thì</a:t>
                      </a:r>
                      <a:r>
                        <a:rPr lang="en-US" sz="1400" dirty="0">
                          <a:effectLst/>
                          <a:latin typeface="Times New Roman" panose="02020603050405020304" pitchFamily="18" charset="0"/>
                          <a:cs typeface="Times New Roman" panose="02020603050405020304" pitchFamily="18" charset="0"/>
                        </a:rPr>
                        <a:t> box </a:t>
                      </a:r>
                      <a:r>
                        <a:rPr lang="en-US" sz="1400" dirty="0" err="1">
                          <a:effectLst/>
                          <a:latin typeface="Times New Roman" panose="02020603050405020304" pitchFamily="18" charset="0"/>
                          <a:cs typeface="Times New Roman" panose="02020603050405020304" pitchFamily="18" charset="0"/>
                        </a:rPr>
                        <a:t>chung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tương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ứng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sẽ</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được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tạo</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như</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một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nơi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lưu</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giữ</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Nếu</a:t>
                      </a:r>
                      <a:r>
                        <a:rPr lang="en-US" sz="1400" dirty="0">
                          <a:effectLst/>
                          <a:latin typeface="Times New Roman" panose="02020603050405020304" pitchFamily="18" charset="0"/>
                          <a:cs typeface="Times New Roman" panose="02020603050405020304" pitchFamily="18" charset="0"/>
                        </a:rPr>
                        <a:t> box </a:t>
                      </a:r>
                      <a:r>
                        <a:rPr lang="en-US" sz="1400" dirty="0" err="1">
                          <a:effectLst/>
                          <a:latin typeface="Times New Roman" panose="02020603050405020304" pitchFamily="18" charset="0"/>
                          <a:cs typeface="Times New Roman" panose="02020603050405020304" pitchFamily="18" charset="0"/>
                        </a:rPr>
                        <a:t>có</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nhiều</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hơn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một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dòng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công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suất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kết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nối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thì</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các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dòng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kết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nối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bổ</a:t>
                      </a:r>
                      <a:r>
                        <a:rPr lang="en-US" sz="1400" dirty="0">
                          <a:effectLst/>
                          <a:latin typeface="Times New Roman" panose="02020603050405020304" pitchFamily="18" charset="0"/>
                          <a:cs typeface="Times New Roman" panose="02020603050405020304" pitchFamily="18" charset="0"/>
                        </a:rPr>
                        <a:t> sung </a:t>
                      </a:r>
                      <a:r>
                        <a:rPr lang="en-US" sz="1400" dirty="0" err="1">
                          <a:effectLst/>
                          <a:latin typeface="Times New Roman" panose="02020603050405020304" pitchFamily="18" charset="0"/>
                          <a:cs typeface="Times New Roman" panose="02020603050405020304" pitchFamily="18" charset="0"/>
                        </a:rPr>
                        <a:t>sẽ</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mở</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để</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bạn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kết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nối</a:t>
                      </a:r>
                      <a:r>
                        <a:rPr lang="en-US" sz="1400" dirty="0">
                          <a:effectLst/>
                          <a:latin typeface="Times New Roman" panose="02020603050405020304" pitchFamily="18" charset="0"/>
                          <a:cs typeface="Times New Roman" panose="02020603050405020304" pitchFamily="18" charset="0"/>
                        </a:rPr>
                        <a:t>. </a:t>
                      </a:r>
                      <a:endParaRPr lang="en-US" sz="1400" dirty="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3912128477"/>
                  </a:ext>
                </a:extLst>
              </a:tr>
              <a:tr h="270030">
                <a:tc>
                  <a:txBody>
                    <a:bodyPr/>
                    <a:lstStyle/>
                    <a:p>
                      <a:pPr marL="0" marR="0">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Chương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trình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chính</a:t>
                      </a:r>
                      <a:endParaRPr lang="en-US" sz="1400" dirty="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Chương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trình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chính</a:t>
                      </a:r>
                      <a:r>
                        <a:rPr lang="en-US" sz="1400" dirty="0">
                          <a:effectLst/>
                          <a:latin typeface="Times New Roman" panose="02020603050405020304" pitchFamily="18" charset="0"/>
                          <a:cs typeface="Times New Roman" panose="02020603050405020304" pitchFamily="18" charset="0"/>
                        </a:rPr>
                        <a:t> POU </a:t>
                      </a:r>
                      <a:r>
                        <a:rPr lang="en-US" sz="1400" dirty="0" err="1">
                          <a:effectLst/>
                          <a:latin typeface="Times New Roman" panose="02020603050405020304" pitchFamily="18" charset="0"/>
                          <a:cs typeface="Times New Roman" panose="02020603050405020304" pitchFamily="18" charset="0"/>
                        </a:rPr>
                        <a:t>của</a:t>
                      </a:r>
                      <a:r>
                        <a:rPr lang="en-US" sz="1400" dirty="0">
                          <a:effectLst/>
                          <a:latin typeface="Times New Roman" panose="02020603050405020304" pitchFamily="18" charset="0"/>
                          <a:cs typeface="Times New Roman" panose="02020603050405020304" pitchFamily="18" charset="0"/>
                        </a:rPr>
                        <a:t> STEP 7-Micro/WIN </a:t>
                      </a:r>
                      <a:r>
                        <a:rPr lang="en-US" sz="1400" dirty="0" err="1">
                          <a:effectLst/>
                          <a:latin typeface="Times New Roman" panose="02020603050405020304" pitchFamily="18" charset="0"/>
                          <a:cs typeface="Times New Roman" panose="02020603050405020304" pitchFamily="18" charset="0"/>
                        </a:rPr>
                        <a:t>được</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chuyển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đổi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thành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chương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trình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vòng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lặp</a:t>
                      </a:r>
                      <a:r>
                        <a:rPr lang="en-US" sz="1400" dirty="0">
                          <a:effectLst/>
                          <a:latin typeface="Times New Roman" panose="02020603050405020304" pitchFamily="18" charset="0"/>
                          <a:cs typeface="Times New Roman" panose="02020603050405020304" pitchFamily="18" charset="0"/>
                        </a:rPr>
                        <a:t> OB1 </a:t>
                      </a:r>
                      <a:r>
                        <a:rPr lang="en-US" sz="1400" dirty="0" err="1">
                          <a:effectLst/>
                          <a:latin typeface="Times New Roman" panose="02020603050405020304" pitchFamily="18" charset="0"/>
                          <a:cs typeface="Times New Roman" panose="02020603050405020304" pitchFamily="18" charset="0"/>
                        </a:rPr>
                        <a:t>của</a:t>
                      </a:r>
                      <a:r>
                        <a:rPr lang="en-US" sz="1400" dirty="0">
                          <a:effectLst/>
                          <a:latin typeface="Times New Roman" panose="02020603050405020304" pitchFamily="18" charset="0"/>
                          <a:cs typeface="Times New Roman" panose="02020603050405020304" pitchFamily="18" charset="0"/>
                        </a:rPr>
                        <a:t> STEP 7.</a:t>
                      </a:r>
                      <a:endParaRPr lang="en-US" sz="1400" dirty="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1639920720"/>
                  </a:ext>
                </a:extLst>
              </a:tr>
            </a:tbl>
          </a:graphicData>
        </a:graphic>
      </p:graphicFrame>
      <p:sp>
        <p:nvSpPr>
          <p:cNvPr id="10" name="TextBox 9"/>
          <p:cNvSpPr txBox="1"/>
          <p:nvPr/>
        </p:nvSpPr>
        <p:spPr>
          <a:xfrm>
            <a:off x="3926144" y="1570331"/>
            <a:ext cx="5706127" cy="369332"/>
          </a:xfrm>
          <a:prstGeom prst="rect">
            <a:avLst/>
          </a:prstGeom>
          <a:noFill/>
        </p:spPr>
        <p:txBody>
          <a:bodyPr wrap="square" rtlCol="0">
            <a:spAutoFit/>
          </a:bodyPr>
          <a:lstStyle/>
          <a:p>
            <a:pPr algn="ct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Bảng 3: Bảng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bước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trúc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chương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390675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S7-200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S7-1200</a:t>
            </a:r>
          </a:p>
        </p:txBody>
      </p:sp>
      <p:graphicFrame>
        <p:nvGraphicFramePr>
          <p:cNvPr id="8" name="Table 7"/>
          <p:cNvGraphicFramePr>
            <a:graphicFrameLocks noGrp="1"/>
          </p:cNvGraphicFramePr>
          <p:nvPr>
            <p:extLst>
              <p:ext uri="{D42A27DB-BD31-4B8C-83A1-F6EECF244321}">
                <p14:modId xmlns:p14="http://schemas.microsoft.com/office/powerpoint/2010/main" val="1474457251"/>
              </p:ext>
            </p:extLst>
          </p:nvPr>
        </p:nvGraphicFramePr>
        <p:xfrm>
          <a:off x="488157" y="1939663"/>
          <a:ext cx="11246643" cy="4584195"/>
        </p:xfrm>
        <a:graphic>
          <a:graphicData uri="http://schemas.openxmlformats.org/drawingml/2006/table">
            <a:tbl>
              <a:tblPr firstRow="1" firstCol="1" bandRow="1">
                <a:tableStyleId>{5C22544A-7EE6-4342-B048-85BDC9FD1C3A}</a:tableStyleId>
              </a:tblPr>
              <a:tblGrid>
                <a:gridCol w="2896480">
                  <a:extLst>
                    <a:ext uri="{9D8B030D-6E8A-4147-A177-3AD203B41FA5}">
                      <a16:colId xmlns:a16="http://schemas.microsoft.com/office/drawing/2014/main" val="3628876522"/>
                    </a:ext>
                  </a:extLst>
                </a:gridCol>
                <a:gridCol w="8350163">
                  <a:extLst>
                    <a:ext uri="{9D8B030D-6E8A-4147-A177-3AD203B41FA5}">
                      <a16:colId xmlns:a16="http://schemas.microsoft.com/office/drawing/2014/main" val="296719233"/>
                    </a:ext>
                  </a:extLst>
                </a:gridCol>
              </a:tblGrid>
              <a:tr h="279620">
                <a:tc>
                  <a:txBody>
                    <a:bodyPr/>
                    <a:lstStyle/>
                    <a:p>
                      <a:pPr marL="0" marR="0">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Cấu</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trúc</a:t>
                      </a:r>
                      <a:r>
                        <a:rPr lang="en-US" sz="1400" dirty="0">
                          <a:effectLst/>
                          <a:latin typeface="Times New Roman" panose="02020603050405020304" pitchFamily="18" charset="0"/>
                          <a:cs typeface="Times New Roman" panose="02020603050405020304" pitchFamily="18" charset="0"/>
                        </a:rPr>
                        <a:t> STEP 7-Micro/WIN Program</a:t>
                      </a:r>
                      <a:endParaRPr lang="en-US" sz="1400" dirty="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gn="ctr">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Cách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hoạt</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động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của</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công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cụ</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phần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mềm</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chuyển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đổi</a:t>
                      </a:r>
                      <a:endParaRPr lang="en-US" sz="1400" dirty="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454387964"/>
                  </a:ext>
                </a:extLst>
              </a:tr>
              <a:tr h="869099">
                <a:tc>
                  <a:txBody>
                    <a:bodyPr/>
                    <a:lstStyle/>
                    <a:p>
                      <a:pPr marL="0" marR="0" algn="just">
                        <a:lnSpc>
                          <a:spcPct val="150000"/>
                        </a:lnSpc>
                        <a:spcBef>
                          <a:spcPts val="0"/>
                        </a:spcBef>
                        <a:spcAft>
                          <a:spcPts val="0"/>
                        </a:spcAft>
                      </a:pPr>
                      <a:r>
                        <a:rPr lang="en-US" sz="1300" dirty="0" err="1">
                          <a:effectLst/>
                          <a:latin typeface="Times New Roman" panose="02020603050405020304" pitchFamily="18" charset="0"/>
                          <a:cs typeface="Times New Roman" panose="02020603050405020304" pitchFamily="18" charset="0"/>
                        </a:rPr>
                        <a:t>Chương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trình</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ngắt</a:t>
                      </a:r>
                      <a:endParaRPr lang="en-US" sz="1300" dirty="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gn="just">
                        <a:lnSpc>
                          <a:spcPct val="150000"/>
                        </a:lnSpc>
                        <a:spcBef>
                          <a:spcPts val="0"/>
                        </a:spcBef>
                        <a:spcAft>
                          <a:spcPts val="0"/>
                        </a:spcAft>
                      </a:pPr>
                      <a:r>
                        <a:rPr lang="en-US" sz="1300">
                          <a:effectLst/>
                          <a:latin typeface="Times New Roman" panose="02020603050405020304" pitchFamily="18" charset="0"/>
                          <a:cs typeface="Times New Roman" panose="02020603050405020304" pitchFamily="18" charset="0"/>
                        </a:rPr>
                        <a:t>Chương trình ngắt  INT của STEP 7-Micro/WIN được chuyển đổi thành các hardware interrupt OBs hoặc cycle interrupt OBs. Các lệnh interrupt attach (ATCH) và interrupt detach (DTCH) của S7-200 được chuyển đổi thành các nơi lưu giữ lệnh trong hộp lệnh. Ta cần kích hoạt các interrupt của S7-1200 cùng với cấu hình thiết bị CPU. Sau đó thay thế các hộp lệnh chung bằng các lệnh ATTACH và Detach của S7-1200 sử dụng để cấu hình các interrupt. </a:t>
                      </a:r>
                      <a:endParaRPr lang="en-US" sz="130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1845254146"/>
                  </a:ext>
                </a:extLst>
              </a:tr>
              <a:tr h="434549">
                <a:tc>
                  <a:txBody>
                    <a:bodyPr/>
                    <a:lstStyle/>
                    <a:p>
                      <a:pPr marL="0" marR="0" algn="just">
                        <a:lnSpc>
                          <a:spcPct val="150000"/>
                        </a:lnSpc>
                        <a:spcBef>
                          <a:spcPts val="0"/>
                        </a:spcBef>
                        <a:spcAft>
                          <a:spcPts val="0"/>
                        </a:spcAft>
                      </a:pPr>
                      <a:r>
                        <a:rPr lang="en-US" sz="1300">
                          <a:effectLst/>
                          <a:latin typeface="Times New Roman" panose="02020603050405020304" pitchFamily="18" charset="0"/>
                          <a:cs typeface="Times New Roman" panose="02020603050405020304" pitchFamily="18" charset="0"/>
                        </a:rPr>
                        <a:t>System Block</a:t>
                      </a:r>
                      <a:endParaRPr lang="en-US" sz="130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gn="just">
                        <a:lnSpc>
                          <a:spcPct val="150000"/>
                        </a:lnSpc>
                        <a:spcBef>
                          <a:spcPts val="0"/>
                        </a:spcBef>
                        <a:spcAft>
                          <a:spcPts val="0"/>
                        </a:spcAft>
                      </a:pPr>
                      <a:r>
                        <a:rPr lang="en-US" sz="1300" dirty="0" err="1">
                          <a:effectLst/>
                          <a:latin typeface="Times New Roman" panose="02020603050405020304" pitchFamily="18" charset="0"/>
                          <a:cs typeface="Times New Roman" panose="02020603050405020304" pitchFamily="18" charset="0"/>
                        </a:rPr>
                        <a:t>Các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khối</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thông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số</a:t>
                      </a:r>
                      <a:r>
                        <a:rPr lang="en-US" sz="1300" dirty="0">
                          <a:effectLst/>
                          <a:latin typeface="Times New Roman" panose="02020603050405020304" pitchFamily="18" charset="0"/>
                          <a:cs typeface="Times New Roman" panose="02020603050405020304" pitchFamily="18" charset="0"/>
                        </a:rPr>
                        <a:t> STEP 7-Micro/WIN System </a:t>
                      </a:r>
                      <a:r>
                        <a:rPr lang="en-US" sz="1300" dirty="0" err="1">
                          <a:effectLst/>
                          <a:latin typeface="Times New Roman" panose="02020603050405020304" pitchFamily="18" charset="0"/>
                          <a:cs typeface="Times New Roman" panose="02020603050405020304" pitchFamily="18" charset="0"/>
                        </a:rPr>
                        <a:t>không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được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chuyển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đổi</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Bạn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cần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sử</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dụng</a:t>
                      </a:r>
                      <a:r>
                        <a:rPr lang="en-US" sz="1300" dirty="0">
                          <a:effectLst/>
                          <a:latin typeface="Times New Roman" panose="02020603050405020304" pitchFamily="18" charset="0"/>
                          <a:cs typeface="Times New Roman" panose="02020603050405020304" pitchFamily="18" charset="0"/>
                        </a:rPr>
                        <a:t> STEP 7 Device configuration </a:t>
                      </a:r>
                      <a:r>
                        <a:rPr lang="en-US" sz="1300" dirty="0" err="1">
                          <a:effectLst/>
                          <a:latin typeface="Times New Roman" panose="02020603050405020304" pitchFamily="18" charset="0"/>
                          <a:cs typeface="Times New Roman" panose="02020603050405020304" pitchFamily="18" charset="0"/>
                        </a:rPr>
                        <a:t>để</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thiết</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lập</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các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tùy</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chọn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cho</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hệ</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thống</a:t>
                      </a:r>
                      <a:r>
                        <a:rPr lang="en-US" sz="1300" dirty="0">
                          <a:effectLst/>
                          <a:latin typeface="Times New Roman" panose="02020603050405020304" pitchFamily="18" charset="0"/>
                          <a:cs typeface="Times New Roman" panose="02020603050405020304" pitchFamily="18" charset="0"/>
                        </a:rPr>
                        <a:t> PLC.</a:t>
                      </a:r>
                      <a:endParaRPr lang="en-US" sz="1300" dirty="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2836575163"/>
                  </a:ext>
                </a:extLst>
              </a:tr>
              <a:tr h="256467">
                <a:tc>
                  <a:txBody>
                    <a:bodyPr/>
                    <a:lstStyle/>
                    <a:p>
                      <a:pPr marL="0" marR="0" algn="just">
                        <a:lnSpc>
                          <a:spcPct val="150000"/>
                        </a:lnSpc>
                        <a:spcBef>
                          <a:spcPts val="0"/>
                        </a:spcBef>
                        <a:spcAft>
                          <a:spcPts val="0"/>
                        </a:spcAft>
                      </a:pPr>
                      <a:r>
                        <a:rPr lang="en-US" sz="1300">
                          <a:effectLst/>
                          <a:latin typeface="Times New Roman" panose="02020603050405020304" pitchFamily="18" charset="0"/>
                          <a:cs typeface="Times New Roman" panose="02020603050405020304" pitchFamily="18" charset="0"/>
                        </a:rPr>
                        <a:t>Wizard code</a:t>
                      </a:r>
                      <a:endParaRPr lang="en-US" sz="130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gn="just">
                        <a:lnSpc>
                          <a:spcPct val="150000"/>
                        </a:lnSpc>
                        <a:spcBef>
                          <a:spcPts val="0"/>
                        </a:spcBef>
                        <a:spcAft>
                          <a:spcPts val="0"/>
                        </a:spcAft>
                      </a:pPr>
                      <a:r>
                        <a:rPr lang="en-US" sz="1300">
                          <a:effectLst/>
                          <a:latin typeface="Times New Roman" panose="02020603050405020304" pitchFamily="18" charset="0"/>
                          <a:cs typeface="Times New Roman" panose="02020603050405020304" pitchFamily="18" charset="0"/>
                        </a:rPr>
                        <a:t>Chương trình được tạo bởi STEP 7-Micro/WIN wizard không được chuyển đổi</a:t>
                      </a:r>
                      <a:endParaRPr lang="en-US" sz="130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1837023748"/>
                  </a:ext>
                </a:extLst>
              </a:tr>
              <a:tr h="1087708">
                <a:tc>
                  <a:txBody>
                    <a:bodyPr/>
                    <a:lstStyle/>
                    <a:p>
                      <a:pPr marL="0" marR="0" algn="just">
                        <a:lnSpc>
                          <a:spcPct val="150000"/>
                        </a:lnSpc>
                        <a:spcBef>
                          <a:spcPts val="0"/>
                        </a:spcBef>
                        <a:spcAft>
                          <a:spcPts val="0"/>
                        </a:spcAft>
                      </a:pPr>
                      <a:r>
                        <a:rPr lang="en-US" sz="1300">
                          <a:effectLst/>
                          <a:latin typeface="Times New Roman" panose="02020603050405020304" pitchFamily="18" charset="0"/>
                          <a:cs typeface="Times New Roman" panose="02020603050405020304" pitchFamily="18" charset="0"/>
                        </a:rPr>
                        <a:t>Library code</a:t>
                      </a:r>
                      <a:endParaRPr lang="en-US" sz="130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gn="just">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STEP 7-Micro/WIN </a:t>
                      </a:r>
                      <a:r>
                        <a:rPr lang="en-US" sz="1300" dirty="0" err="1">
                          <a:effectLst/>
                          <a:latin typeface="Times New Roman" panose="02020603050405020304" pitchFamily="18" charset="0"/>
                          <a:cs typeface="Times New Roman" panose="02020603050405020304" pitchFamily="18" charset="0"/>
                        </a:rPr>
                        <a:t>có</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thể</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sử</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dụng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các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thư</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viện</a:t>
                      </a:r>
                      <a:r>
                        <a:rPr lang="en-US" sz="1300" dirty="0">
                          <a:effectLst/>
                          <a:latin typeface="Times New Roman" panose="02020603050405020304" pitchFamily="18" charset="0"/>
                          <a:cs typeface="Times New Roman" panose="02020603050405020304" pitchFamily="18" charset="0"/>
                        </a:rPr>
                        <a:t> do Siemens </a:t>
                      </a:r>
                      <a:r>
                        <a:rPr lang="en-US" sz="1300" dirty="0" err="1">
                          <a:effectLst/>
                          <a:latin typeface="Times New Roman" panose="02020603050405020304" pitchFamily="18" charset="0"/>
                          <a:cs typeface="Times New Roman" panose="02020603050405020304" pitchFamily="18" charset="0"/>
                        </a:rPr>
                        <a:t>cung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cấp</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giao</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thức</a:t>
                      </a:r>
                      <a:r>
                        <a:rPr lang="en-US" sz="1300" dirty="0">
                          <a:effectLst/>
                          <a:latin typeface="Times New Roman" panose="02020603050405020304" pitchFamily="18" charset="0"/>
                          <a:cs typeface="Times New Roman" panose="02020603050405020304" pitchFamily="18" charset="0"/>
                        </a:rPr>
                        <a:t> USS </a:t>
                      </a:r>
                      <a:r>
                        <a:rPr lang="en-US" sz="1300" dirty="0" err="1">
                          <a:effectLst/>
                          <a:latin typeface="Times New Roman" panose="02020603050405020304" pitchFamily="18" charset="0"/>
                          <a:cs typeface="Times New Roman" panose="02020603050405020304" pitchFamily="18" charset="0"/>
                        </a:rPr>
                        <a:t>và</a:t>
                      </a:r>
                      <a:r>
                        <a:rPr lang="en-US" sz="1300" dirty="0">
                          <a:effectLst/>
                          <a:latin typeface="Times New Roman" panose="02020603050405020304" pitchFamily="18" charset="0"/>
                          <a:cs typeface="Times New Roman" panose="02020603050405020304" pitchFamily="18" charset="0"/>
                        </a:rPr>
                        <a:t> Modbus) </a:t>
                      </a:r>
                      <a:r>
                        <a:rPr lang="en-US" sz="1300" dirty="0" err="1">
                          <a:effectLst/>
                          <a:latin typeface="Times New Roman" panose="02020603050405020304" pitchFamily="18" charset="0"/>
                          <a:cs typeface="Times New Roman" panose="02020603050405020304" pitchFamily="18" charset="0"/>
                        </a:rPr>
                        <a:t>và</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thư</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viện</a:t>
                      </a:r>
                      <a:r>
                        <a:rPr lang="en-US" sz="1300" dirty="0">
                          <a:effectLst/>
                          <a:latin typeface="Times New Roman" panose="02020603050405020304" pitchFamily="18" charset="0"/>
                          <a:cs typeface="Times New Roman" panose="02020603050405020304" pitchFamily="18" charset="0"/>
                        </a:rPr>
                        <a:t> do </a:t>
                      </a:r>
                      <a:r>
                        <a:rPr lang="en-US" sz="1300" dirty="0" err="1">
                          <a:effectLst/>
                          <a:latin typeface="Times New Roman" panose="02020603050405020304" pitchFamily="18" charset="0"/>
                          <a:cs typeface="Times New Roman" panose="02020603050405020304" pitchFamily="18" charset="0"/>
                        </a:rPr>
                        <a:t>người</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dùng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định</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nghĩa</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Thư</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viện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của</a:t>
                      </a:r>
                      <a:r>
                        <a:rPr lang="en-US" sz="1300" dirty="0">
                          <a:effectLst/>
                          <a:latin typeface="Times New Roman" panose="02020603050405020304" pitchFamily="18" charset="0"/>
                          <a:cs typeface="Times New Roman" panose="02020603050405020304" pitchFamily="18" charset="0"/>
                        </a:rPr>
                        <a:t> Siemens </a:t>
                      </a:r>
                      <a:r>
                        <a:rPr lang="en-US" sz="1300" dirty="0" err="1">
                          <a:effectLst/>
                          <a:latin typeface="Times New Roman" panose="02020603050405020304" pitchFamily="18" charset="0"/>
                          <a:cs typeface="Times New Roman" panose="02020603050405020304" pitchFamily="18" charset="0"/>
                        </a:rPr>
                        <a:t>được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cung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cấp</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trong</a:t>
                      </a:r>
                      <a:r>
                        <a:rPr lang="en-US" sz="1300" dirty="0">
                          <a:effectLst/>
                          <a:latin typeface="Times New Roman" panose="02020603050405020304" pitchFamily="18" charset="0"/>
                          <a:cs typeface="Times New Roman" panose="02020603050405020304" pitchFamily="18" charset="0"/>
                        </a:rPr>
                        <a:t> STEP 7-Micro/WIN </a:t>
                      </a:r>
                      <a:r>
                        <a:rPr lang="en-US" sz="1300" dirty="0" err="1">
                          <a:effectLst/>
                          <a:latin typeface="Times New Roman" panose="02020603050405020304" pitchFamily="18" charset="0"/>
                          <a:cs typeface="Times New Roman" panose="02020603050405020304" pitchFamily="18" charset="0"/>
                        </a:rPr>
                        <a:t>dưới</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dạng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tệp</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mwl</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Thư</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viện</a:t>
                      </a:r>
                      <a:r>
                        <a:rPr lang="en-US" sz="1300" dirty="0">
                          <a:effectLst/>
                          <a:latin typeface="Times New Roman" panose="02020603050405020304" pitchFamily="18" charset="0"/>
                          <a:cs typeface="Times New Roman" panose="02020603050405020304" pitchFamily="18" charset="0"/>
                        </a:rPr>
                        <a:t> do </a:t>
                      </a:r>
                      <a:r>
                        <a:rPr lang="en-US" sz="1300" dirty="0" err="1">
                          <a:effectLst/>
                          <a:latin typeface="Times New Roman" panose="02020603050405020304" pitchFamily="18" charset="0"/>
                          <a:cs typeface="Times New Roman" panose="02020603050405020304" pitchFamily="18" charset="0"/>
                        </a:rPr>
                        <a:t>người</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dùng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định</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nghĩa</a:t>
                      </a:r>
                      <a:r>
                        <a:rPr lang="en-US" sz="1300" dirty="0">
                          <a:effectLst/>
                          <a:latin typeface="Times New Roman" panose="02020603050405020304" pitchFamily="18" charset="0"/>
                          <a:cs typeface="Times New Roman" panose="02020603050405020304" pitchFamily="18" charset="0"/>
                        </a:rPr>
                        <a:t>*.</a:t>
                      </a:r>
                      <a:r>
                        <a:rPr lang="en-US" sz="1300" dirty="0" err="1">
                          <a:effectLst/>
                          <a:latin typeface="Times New Roman" panose="02020603050405020304" pitchFamily="18" charset="0"/>
                          <a:cs typeface="Times New Roman" panose="02020603050405020304" pitchFamily="18" charset="0"/>
                        </a:rPr>
                        <a:t>mwl</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được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tạo</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từ</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các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tệp</a:t>
                      </a:r>
                      <a:r>
                        <a:rPr lang="en-US" sz="1300" dirty="0">
                          <a:effectLst/>
                          <a:latin typeface="Times New Roman" panose="02020603050405020304" pitchFamily="18" charset="0"/>
                          <a:cs typeface="Times New Roman" panose="02020603050405020304" pitchFamily="18" charset="0"/>
                        </a:rPr>
                        <a:t>*.</a:t>
                      </a:r>
                      <a:r>
                        <a:rPr lang="en-US" sz="1300" dirty="0" err="1">
                          <a:effectLst/>
                          <a:latin typeface="Times New Roman" panose="02020603050405020304" pitchFamily="18" charset="0"/>
                          <a:cs typeface="Times New Roman" panose="02020603050405020304" pitchFamily="18" charset="0"/>
                        </a:rPr>
                        <a:t>mwp</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của</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chương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trình</a:t>
                      </a:r>
                      <a:r>
                        <a:rPr lang="en-US" sz="1300" dirty="0">
                          <a:effectLst/>
                          <a:latin typeface="Times New Roman" panose="02020603050405020304" pitchFamily="18" charset="0"/>
                          <a:cs typeface="Times New Roman" panose="02020603050405020304" pitchFamily="18" charset="0"/>
                        </a:rPr>
                        <a:t> do </a:t>
                      </a:r>
                      <a:r>
                        <a:rPr lang="en-US" sz="1300" dirty="0" err="1">
                          <a:effectLst/>
                          <a:latin typeface="Times New Roman" panose="02020603050405020304" pitchFamily="18" charset="0"/>
                          <a:cs typeface="Times New Roman" panose="02020603050405020304" pitchFamily="18" charset="0"/>
                        </a:rPr>
                        <a:t>người</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dùng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tạo</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Nguồn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thư</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viện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mwp</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của</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các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chương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trình</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có</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thể</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được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chuyển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đổi</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thành</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chương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trình</a:t>
                      </a:r>
                      <a:r>
                        <a:rPr lang="en-US" sz="1300" dirty="0">
                          <a:effectLst/>
                          <a:latin typeface="Times New Roman" panose="02020603050405020304" pitchFamily="18" charset="0"/>
                          <a:cs typeface="Times New Roman" panose="02020603050405020304" pitchFamily="18" charset="0"/>
                        </a:rPr>
                        <a:t> STEP 7 </a:t>
                      </a:r>
                      <a:r>
                        <a:rPr lang="en-US" sz="1300" dirty="0" err="1">
                          <a:effectLst/>
                          <a:latin typeface="Times New Roman" panose="02020603050405020304" pitchFamily="18" charset="0"/>
                          <a:cs typeface="Times New Roman" panose="02020603050405020304" pitchFamily="18" charset="0"/>
                        </a:rPr>
                        <a:t>và</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được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gán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như</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một</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thư</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viện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toàn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cục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hoặc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chương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trình</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thư</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viện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với</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chức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năng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của</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thư</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viện</a:t>
                      </a:r>
                      <a:r>
                        <a:rPr lang="en-US" sz="1300" dirty="0">
                          <a:effectLst/>
                          <a:latin typeface="Times New Roman" panose="02020603050405020304" pitchFamily="18" charset="0"/>
                          <a:cs typeface="Times New Roman" panose="02020603050405020304" pitchFamily="18" charset="0"/>
                        </a:rPr>
                        <a:t> STEP 7. </a:t>
                      </a:r>
                      <a:endParaRPr lang="en-US" sz="1300" dirty="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819185288"/>
                  </a:ext>
                </a:extLst>
              </a:tr>
              <a:tr h="543496">
                <a:tc>
                  <a:txBody>
                    <a:bodyPr/>
                    <a:lstStyle/>
                    <a:p>
                      <a:pPr marL="0" marR="0" algn="just">
                        <a:lnSpc>
                          <a:spcPct val="150000"/>
                        </a:lnSpc>
                        <a:spcBef>
                          <a:spcPts val="0"/>
                        </a:spcBef>
                        <a:spcAft>
                          <a:spcPts val="0"/>
                        </a:spcAft>
                      </a:pPr>
                      <a:r>
                        <a:rPr lang="en-US" sz="1300">
                          <a:effectLst/>
                          <a:latin typeface="Times New Roman" panose="02020603050405020304" pitchFamily="18" charset="0"/>
                          <a:cs typeface="Times New Roman" panose="02020603050405020304" pitchFamily="18" charset="0"/>
                        </a:rPr>
                        <a:t>Biểu đồ trạng thái (Status Chart)</a:t>
                      </a:r>
                      <a:endParaRPr lang="en-US" sz="1300">
                        <a:effectLst/>
                        <a:latin typeface="Times New Roman" panose="02020603050405020304" pitchFamily="18" charset="0"/>
                        <a:ea typeface="DengXian"/>
                        <a:cs typeface="Times New Roman" panose="02020603050405020304" pitchFamily="18" charset="0"/>
                      </a:endParaRPr>
                    </a:p>
                  </a:txBody>
                  <a:tcPr marL="12347" marR="12347" marT="0" marB="0"/>
                </a:tc>
                <a:tc>
                  <a:txBody>
                    <a:bodyPr/>
                    <a:lstStyle/>
                    <a:p>
                      <a:pPr marL="0" marR="0" algn="just">
                        <a:lnSpc>
                          <a:spcPct val="150000"/>
                        </a:lnSpc>
                        <a:spcBef>
                          <a:spcPts val="0"/>
                        </a:spcBef>
                        <a:spcAft>
                          <a:spcPts val="0"/>
                        </a:spcAft>
                      </a:pPr>
                      <a:r>
                        <a:rPr lang="en-US" sz="1300" dirty="0" err="1">
                          <a:effectLst/>
                          <a:latin typeface="Times New Roman" panose="02020603050405020304" pitchFamily="18" charset="0"/>
                          <a:cs typeface="Times New Roman" panose="02020603050405020304" pitchFamily="18" charset="0"/>
                        </a:rPr>
                        <a:t>Biểu</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đồ</a:t>
                      </a:r>
                      <a:r>
                        <a:rPr lang="en-US" sz="1300" dirty="0">
                          <a:effectLst/>
                          <a:latin typeface="Times New Roman" panose="02020603050405020304" pitchFamily="18" charset="0"/>
                          <a:cs typeface="Times New Roman" panose="02020603050405020304" pitchFamily="18" charset="0"/>
                        </a:rPr>
                        <a:t> STEP 7-Micro/WIN </a:t>
                      </a:r>
                      <a:r>
                        <a:rPr lang="en-US" sz="1300" dirty="0" err="1">
                          <a:effectLst/>
                          <a:latin typeface="Times New Roman" panose="02020603050405020304" pitchFamily="18" charset="0"/>
                          <a:cs typeface="Times New Roman" panose="02020603050405020304" pitchFamily="18" charset="0"/>
                        </a:rPr>
                        <a:t>không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được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chuyển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đổi</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Bạn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cần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tạo</a:t>
                      </a:r>
                      <a:r>
                        <a:rPr lang="en-US" sz="1300" dirty="0">
                          <a:effectLst/>
                          <a:latin typeface="Times New Roman" panose="02020603050405020304" pitchFamily="18" charset="0"/>
                          <a:cs typeface="Times New Roman" panose="02020603050405020304" pitchFamily="18" charset="0"/>
                        </a:rPr>
                        <a:t> STEP 7 watch table </a:t>
                      </a:r>
                      <a:r>
                        <a:rPr lang="en-US" sz="1300" dirty="0" err="1">
                          <a:effectLst/>
                          <a:latin typeface="Times New Roman" panose="02020603050405020304" pitchFamily="18" charset="0"/>
                          <a:cs typeface="Times New Roman" panose="02020603050405020304" pitchFamily="18" charset="0"/>
                        </a:rPr>
                        <a:t>để</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giám</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sát</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các</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giá</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trị</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của</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chương</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trình</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theo</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thời</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gian</a:t>
                      </a:r>
                      <a:r>
                        <a:rPr lang="en-US" sz="1300" dirty="0">
                          <a:effectLst/>
                          <a:latin typeface="Times New Roman" panose="02020603050405020304" pitchFamily="18" charset="0"/>
                          <a:cs typeface="Times New Roman" panose="02020603050405020304" pitchFamily="18" charset="0"/>
                        </a:rPr>
                        <a:t> </a:t>
                      </a:r>
                      <a:r>
                        <a:rPr lang="en-US" sz="1300" dirty="0" err="1">
                          <a:effectLst/>
                          <a:latin typeface="Times New Roman" panose="02020603050405020304" pitchFamily="18" charset="0"/>
                          <a:cs typeface="Times New Roman" panose="02020603050405020304" pitchFamily="18" charset="0"/>
                        </a:rPr>
                        <a:t>thực</a:t>
                      </a:r>
                      <a:r>
                        <a:rPr lang="en-US" sz="1300" dirty="0">
                          <a:effectLst/>
                          <a:latin typeface="Times New Roman" panose="02020603050405020304" pitchFamily="18" charset="0"/>
                          <a:cs typeface="Times New Roman" panose="02020603050405020304" pitchFamily="18" charset="0"/>
                        </a:rPr>
                        <a:t>.</a:t>
                      </a:r>
                      <a:endParaRPr lang="en-US" sz="1300" dirty="0">
                        <a:effectLst/>
                        <a:latin typeface="Times New Roman" panose="02020603050405020304" pitchFamily="18" charset="0"/>
                        <a:ea typeface="DengXian"/>
                        <a:cs typeface="Times New Roman" panose="02020603050405020304" pitchFamily="18" charset="0"/>
                      </a:endParaRPr>
                    </a:p>
                  </a:txBody>
                  <a:tcPr marL="12347" marR="12347" marT="0" marB="0"/>
                </a:tc>
                <a:extLst>
                  <a:ext uri="{0D108BD9-81ED-4DB2-BD59-A6C34878D82A}">
                    <a16:rowId xmlns:a16="http://schemas.microsoft.com/office/drawing/2014/main" val="656699134"/>
                  </a:ext>
                </a:extLst>
              </a:tr>
            </a:tbl>
          </a:graphicData>
        </a:graphic>
      </p:graphicFrame>
      <p:sp>
        <p:nvSpPr>
          <p:cNvPr id="13" name="TextBox 12"/>
          <p:cNvSpPr txBox="1"/>
          <p:nvPr/>
        </p:nvSpPr>
        <p:spPr>
          <a:xfrm>
            <a:off x="457200" y="1228967"/>
            <a:ext cx="11277600" cy="369332"/>
          </a:xfrm>
          <a:prstGeom prst="rect">
            <a:avLst/>
          </a:prstGeom>
          <a:noFill/>
        </p:spPr>
        <p:txBody>
          <a:bodyPr wrap="square" rtlCol="0">
            <a:spAutoFit/>
          </a:bodyPr>
          <a:lstStyle/>
          <a:p>
            <a:pPr defTabSz="685800" eaLnBrk="0" fontAlgn="base" hangingPunct="0">
              <a:spcAft>
                <a:spcPts val="600"/>
              </a:spcAft>
            </a:pPr>
            <a:r>
              <a:rPr lang="en-US" b="1" dirty="0" err="1">
                <a:solidFill>
                  <a:prstClr val="black"/>
                </a:solidFill>
                <a:latin typeface="Times New Roman" panose="02020603050405020304" pitchFamily="18" charset="0"/>
                <a:ea typeface="DengXian"/>
                <a:cs typeface="Times New Roman" panose="02020603050405020304" pitchFamily="18" charset="0"/>
              </a:rPr>
              <a:t>Bước</a:t>
            </a:r>
            <a:r>
              <a:rPr lang="en-US" b="1" dirty="0">
                <a:solidFill>
                  <a:prstClr val="black"/>
                </a:solidFill>
                <a:latin typeface="Times New Roman" panose="02020603050405020304" pitchFamily="18" charset="0"/>
                <a:ea typeface="DengXian"/>
                <a:cs typeface="Times New Roman" panose="02020603050405020304" pitchFamily="18" charset="0"/>
              </a:rPr>
              <a:t> 7: </a:t>
            </a:r>
            <a:r>
              <a:rPr lang="en-US" b="1" dirty="0" err="1">
                <a:solidFill>
                  <a:prstClr val="black"/>
                </a:solidFill>
                <a:latin typeface="Times New Roman" panose="02020603050405020304" pitchFamily="18" charset="0"/>
                <a:ea typeface="DengXian"/>
                <a:cs typeface="Times New Roman" panose="02020603050405020304" pitchFamily="18" charset="0"/>
              </a:rPr>
              <a:t>Chuyển</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đổi</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cấu</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trúc</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chương</a:t>
            </a:r>
            <a:r>
              <a:rPr lang="en-US" b="1" dirty="0">
                <a:solidFill>
                  <a:prstClr val="black"/>
                </a:solidFill>
                <a:latin typeface="Times New Roman" panose="02020603050405020304" pitchFamily="18" charset="0"/>
                <a:ea typeface="DengXian"/>
                <a:cs typeface="Times New Roman" panose="02020603050405020304" pitchFamily="18" charset="0"/>
              </a:rPr>
              <a:t> </a:t>
            </a:r>
            <a:r>
              <a:rPr lang="en-US" b="1" dirty="0" err="1">
                <a:solidFill>
                  <a:prstClr val="black"/>
                </a:solidFill>
                <a:latin typeface="Times New Roman" panose="02020603050405020304" pitchFamily="18" charset="0"/>
                <a:ea typeface="DengXian"/>
                <a:cs typeface="Times New Roman" panose="02020603050405020304" pitchFamily="18" charset="0"/>
              </a:rPr>
              <a:t>trình</a:t>
            </a:r>
            <a:endParaRPr lang="en-US" b="1" dirty="0">
              <a:solidFill>
                <a:prstClr val="black"/>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3926144" y="1570331"/>
            <a:ext cx="5706127" cy="369332"/>
          </a:xfrm>
          <a:prstGeom prst="rect">
            <a:avLst/>
          </a:prstGeom>
          <a:noFill/>
        </p:spPr>
        <p:txBody>
          <a:bodyPr wrap="square" rtlCol="0">
            <a:spAutoFit/>
          </a:bodyPr>
          <a:lstStyle/>
          <a:p>
            <a:pPr algn="ct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Bảng 3: Bảng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bước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trúc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chương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15255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E7E3D4"/>
        </a:solidFill>
        <a:effectLst/>
      </p:bgPr>
    </p:bg>
    <p:spTree>
      <p:nvGrpSpPr>
        <p:cNvPr id="1" name=""/>
        <p:cNvGrpSpPr/>
        <p:nvPr/>
      </p:nvGrpSpPr>
      <p:grpSpPr>
        <a:xfrm>
          <a:off x="0" y="0"/>
          <a:ext cx="0" cy="0"/>
          <a:chOff x="0" y="0"/>
          <a:chExt cx="0" cy="0"/>
        </a:xfrm>
      </p:grpSpPr>
      <p:pic>
        <p:nvPicPr>
          <p:cNvPr id="22425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0"/>
            <a:ext cx="9132887"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8612550"/>
      </p:ext>
    </p:extLst>
  </p:cSld>
  <p:clrMapOvr>
    <a:masterClrMapping/>
  </p:clrMapOvr>
</p:sld>
</file>

<file path=ppt/theme/theme1.xml><?xml version="1.0" encoding="utf-8"?>
<a:theme xmlns:a="http://schemas.openxmlformats.org/drawingml/2006/main" name="4_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elcome to Powerpoint 2016_CLR_v2" id="{CAB9082A-965C-42BE-8170-C940D3319B60}" vid="{82B84162-888A-4FD2-BEC9-B29B6DB2C73F}"/>
    </a:ext>
  </a:extLst>
</a:theme>
</file>

<file path=ppt/theme/theme3.xml><?xml version="1.0" encoding="utf-8"?>
<a:theme xmlns:a="http://schemas.openxmlformats.org/drawingml/2006/main" name="5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1221</TotalTime>
  <Words>4304</Words>
  <Application>Microsoft Office PowerPoint</Application>
  <PresentationFormat>Widescreen</PresentationFormat>
  <Paragraphs>288</Paragraphs>
  <Slides>26</Slides>
  <Notes>22</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26</vt:i4>
      </vt:variant>
    </vt:vector>
  </HeadingPairs>
  <TitlesOfParts>
    <vt:vector size="37" baseType="lpstr">
      <vt:lpstr>Arial</vt:lpstr>
      <vt:lpstr>Calibri</vt:lpstr>
      <vt:lpstr>Calibri Light</vt:lpstr>
      <vt:lpstr>Segoe UI</vt:lpstr>
      <vt:lpstr>Segoe UI Light</vt:lpstr>
      <vt:lpstr>Symbol</vt:lpstr>
      <vt:lpstr>Times New Roman</vt:lpstr>
      <vt:lpstr>Wingdings</vt:lpstr>
      <vt:lpstr>4_Default Design</vt:lpstr>
      <vt:lpstr>WelcomeDoc</vt:lpstr>
      <vt:lpstr>5_Default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 THIẾT BỊ ĐIỀU KHIỂN LẬP TRÌNH S7-1200  1.4 XỬ LÝ CHƯƠNG TRÌNH  1.5 KẾT NỐI DÂY GIỮA PLC VÀ CÁC THIẾT BỊ NGOẠI VI  1.6 KIỂM TRA VIỆC KẾT NỐI DÂY BẰNG PHẦN MỀM</dc:title>
  <dc:creator>ngha14051997@gmail.com</dc:creator>
  <cp:lastModifiedBy>Giang</cp:lastModifiedBy>
  <cp:revision>210</cp:revision>
  <dcterms:created xsi:type="dcterms:W3CDTF">2021-07-02T09:40:39Z</dcterms:created>
  <dcterms:modified xsi:type="dcterms:W3CDTF">2021-12-03T06:50:56Z</dcterms:modified>
</cp:coreProperties>
</file>