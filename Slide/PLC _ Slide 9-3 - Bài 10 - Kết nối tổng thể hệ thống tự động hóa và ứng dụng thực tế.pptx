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28"/>
  </p:notesMasterIdLst>
  <p:sldIdLst>
    <p:sldId id="257" r:id="rId4"/>
    <p:sldId id="341" r:id="rId5"/>
    <p:sldId id="339" r:id="rId6"/>
    <p:sldId id="369" r:id="rId7"/>
    <p:sldId id="359" r:id="rId8"/>
    <p:sldId id="372" r:id="rId9"/>
    <p:sldId id="373" r:id="rId10"/>
    <p:sldId id="374" r:id="rId11"/>
    <p:sldId id="375" r:id="rId12"/>
    <p:sldId id="370" r:id="rId13"/>
    <p:sldId id="371" r:id="rId14"/>
    <p:sldId id="376" r:id="rId15"/>
    <p:sldId id="377" r:id="rId16"/>
    <p:sldId id="378" r:id="rId17"/>
    <p:sldId id="379" r:id="rId18"/>
    <p:sldId id="380" r:id="rId19"/>
    <p:sldId id="381" r:id="rId20"/>
    <p:sldId id="382" r:id="rId21"/>
    <p:sldId id="383" r:id="rId22"/>
    <p:sldId id="384" r:id="rId23"/>
    <p:sldId id="385" r:id="rId24"/>
    <p:sldId id="386" r:id="rId25"/>
    <p:sldId id="387" r:id="rId26"/>
    <p:sldId id="30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897" autoAdjust="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3/12/2021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60648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5335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20909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2816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60060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49853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9860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70383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84482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994998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84228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228998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090096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0601403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34706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993846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10556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329300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4.gif"/><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6.gif"/><Relationship Id="rId4" Type="http://schemas.openxmlformats.org/officeDocument/2006/relationships/image" Target="../media/image25.gif"/></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7.png"/><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 </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10:</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GIẢI PHÁP NÂNG CẤP HỆ THỐNG PLC</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6325" y="3573463"/>
            <a:ext cx="5280734" cy="2858197"/>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lang="en-US" altLang="en-US" sz="3200" dirty="0">
                <a:solidFill>
                  <a:prstClr val="black"/>
                </a:solidFill>
                <a:latin typeface="Times New Roman" panose="02020603050405020304" pitchFamily="18" charset="0"/>
                <a:cs typeface="Times New Roman" panose="02020603050405020304" pitchFamily="18" charset="0"/>
              </a:rPr>
              <a:t>KẾT NỐI TỔNG THỂ HỆ THỐNG TỰ ĐỘNG HÓA VÀ ỨNG DỤNG THỰC TẾ</a:t>
            </a:r>
            <a:endPar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3"/>
          <p:cNvSpPr/>
          <p:nvPr/>
        </p:nvSpPr>
        <p:spPr>
          <a:xfrm>
            <a:off x="1047565" y="1883638"/>
            <a:ext cx="10156054" cy="369332"/>
          </a:xfrm>
          <a:prstGeom prst="rect">
            <a:avLst/>
          </a:prstGeom>
        </p:spPr>
        <p:txBody>
          <a:bodyPr wrap="square">
            <a:spAutoFit/>
          </a:bodyPr>
          <a:lstStyle/>
          <a:p>
            <a:pPr lvl="0" algn="ctr">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10.1. </a:t>
            </a:r>
            <a:r>
              <a:rPr lang="vi-VN" b="1" dirty="0">
                <a:solidFill>
                  <a:prstClr val="black"/>
                </a:solidFill>
                <a:latin typeface="Times New Roman" panose="02020603050405020304" pitchFamily="18" charset="0"/>
                <a:cs typeface="Times New Roman" panose="02020603050405020304" pitchFamily="18" charset="0"/>
              </a:rPr>
              <a:t>Chương trình con, các khối chức năng</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992" y="2587841"/>
            <a:ext cx="7315200" cy="4114800"/>
          </a:xfrm>
          <a:prstGeom prst="rect">
            <a:avLst/>
          </a:prstGeom>
        </p:spPr>
      </p:pic>
    </p:spTree>
    <p:extLst>
      <p:ext uri="{BB962C8B-B14F-4D97-AF65-F5344CB8AC3E}">
        <p14:creationId xmlns:p14="http://schemas.microsoft.com/office/powerpoint/2010/main" val="2281483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79410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CHƯƠNG TRÌNH CON VÀ CÁC KHỐI CHỨC NĂNG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10.1. </a:t>
            </a:r>
            <a:r>
              <a:rPr lang="vi-VN" sz="2000" dirty="0">
                <a:latin typeface="Times New Roman" panose="02020603050405020304" pitchFamily="18" charset="0"/>
                <a:cs typeface="Times New Roman" panose="02020603050405020304" pitchFamily="18" charset="0"/>
              </a:rPr>
              <a:t>Chương trình con, các khối chức năng</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2" name="Rectangle 1"/>
          <p:cNvSpPr/>
          <p:nvPr/>
        </p:nvSpPr>
        <p:spPr>
          <a:xfrm>
            <a:off x="457200" y="1300535"/>
            <a:ext cx="11272837" cy="1401922"/>
          </a:xfrm>
          <a:prstGeom prst="rect">
            <a:avLst/>
          </a:prstGeom>
        </p:spPr>
        <p:txBody>
          <a:bodyPr wrap="square">
            <a:spAutoFit/>
          </a:bodyPr>
          <a:lstStyle/>
          <a:p>
            <a:pPr indent="457200" algn="just">
              <a:lnSpc>
                <a:spcPct val="115000"/>
              </a:lnSpc>
              <a:spcBef>
                <a:spcPts val="600"/>
              </a:spcBef>
              <a:spcAft>
                <a:spcPts val="6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con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chức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năng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giúp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thực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việc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nhất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định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sẵn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hoặc</a:t>
            </a:r>
            <a:r>
              <a:rPr lang="en-US" dirty="0">
                <a:latin typeface="Times New Roman" panose="02020603050405020304" pitchFamily="18" charset="0"/>
                <a:ea typeface="Calibri" panose="020F0502020204030204" pitchFamily="34" charset="0"/>
                <a:cs typeface="Times New Roman" panose="02020603050405020304" pitchFamily="18" charset="0"/>
              </a:rPr>
              <a:t> do </a:t>
            </a:r>
            <a:r>
              <a:rPr lang="en-US" dirty="0" err="1">
                <a:latin typeface="Times New Roman" panose="02020603050405020304" pitchFamily="18" charset="0"/>
                <a:ea typeface="Calibri" panose="020F0502020204030204" pitchFamily="34" charset="0"/>
                <a:cs typeface="Times New Roman" panose="02020603050405020304" pitchFamily="18" charset="0"/>
              </a:rPr>
              <a:t>người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lập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tự</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viết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ứng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nhiều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FC </a:t>
            </a:r>
            <a:r>
              <a:rPr lang="en-US" dirty="0" err="1">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FC </a:t>
            </a:r>
            <a:r>
              <a:rPr lang="en-US" dirty="0" err="1">
                <a:latin typeface="Times New Roman" panose="02020603050405020304" pitchFamily="18" charset="0"/>
                <a:ea typeface="Calibri" panose="020F0502020204030204" pitchFamily="34" charset="0"/>
                <a:cs typeface="Times New Roman" panose="02020603050405020304" pitchFamily="18" charset="0"/>
              </a:rPr>
              <a:t>này</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được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phân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biệt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với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nhau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bằng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số</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nguyên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sau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nhóm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tự</a:t>
            </a:r>
            <a:r>
              <a:rPr lang="en-US" dirty="0">
                <a:latin typeface="Times New Roman" panose="02020603050405020304" pitchFamily="18" charset="0"/>
                <a:ea typeface="Calibri" panose="020F0502020204030204" pitchFamily="34" charset="0"/>
                <a:cs typeface="Times New Roman" panose="02020603050405020304" pitchFamily="18" charset="0"/>
              </a:rPr>
              <a:t> FC.</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r>
              <a:rPr lang="en-US" dirty="0" err="1">
                <a:latin typeface="Times New Roman" panose="02020603050405020304" pitchFamily="18" charset="0"/>
                <a:ea typeface="Calibri" panose="020F0502020204030204" pitchFamily="34" charset="0"/>
              </a:rPr>
              <a:t>Ví</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a:t>
            </a:r>
            <a:r>
              <a:rPr lang="en-US" dirty="0">
                <a:latin typeface="Times New Roman" panose="02020603050405020304" pitchFamily="18" charset="0"/>
                <a:ea typeface="Calibri" panose="020F0502020204030204" pitchFamily="34" charset="0"/>
              </a:rPr>
              <a:t>: FC1, FC2,…</a:t>
            </a:r>
            <a:endParaRPr lang="en-US" dirty="0"/>
          </a:p>
        </p:txBody>
      </p:sp>
      <p:sp>
        <p:nvSpPr>
          <p:cNvPr id="3" name="Rectangle 2"/>
          <p:cNvSpPr/>
          <p:nvPr/>
        </p:nvSpPr>
        <p:spPr>
          <a:xfrm>
            <a:off x="461963" y="2718395"/>
            <a:ext cx="6096000" cy="923330"/>
          </a:xfrm>
          <a:prstGeom prst="rect">
            <a:avLst/>
          </a:prstGeom>
        </p:spPr>
        <p:txBody>
          <a:bodyPr>
            <a:spAutoFit/>
          </a:bodyPr>
          <a:lstStyle/>
          <a:p>
            <a:r>
              <a:rPr lang="en-US" dirty="0">
                <a:latin typeface="Times New Roman" panose="02020603050405020304" pitchFamily="18" charset="0"/>
                <a:ea typeface="Calibri" panose="020F0502020204030204" pitchFamily="34" charset="0"/>
              </a:rPr>
              <a:t>B1: </a:t>
            </a: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Program Blocks. </a:t>
            </a:r>
            <a:r>
              <a:rPr lang="en-US" dirty="0" err="1">
                <a:latin typeface="Times New Roman" panose="02020603050405020304" pitchFamily="18" charset="0"/>
                <a:ea typeface="Calibri" panose="020F0502020204030204" pitchFamily="34" charset="0"/>
              </a:rPr>
              <a:t>Chọn</a:t>
            </a:r>
            <a:r>
              <a:rPr lang="en-US" dirty="0">
                <a:latin typeface="Times New Roman" panose="02020603050405020304" pitchFamily="18" charset="0"/>
                <a:ea typeface="Calibri" panose="020F0502020204030204" pitchFamily="34" charset="0"/>
              </a:rPr>
              <a:t> Add new block. </a:t>
            </a:r>
            <a:r>
              <a:rPr lang="en-US" dirty="0" err="1">
                <a:latin typeface="Times New Roman" panose="02020603050405020304" pitchFamily="18" charset="0"/>
                <a:ea typeface="Calibri" panose="020F0502020204030204" pitchFamily="34" charset="0"/>
              </a:rPr>
              <a:t>Xuất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hiện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hộp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thoại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Chọn</a:t>
            </a:r>
            <a:r>
              <a:rPr lang="en-US" dirty="0">
                <a:latin typeface="Times New Roman" panose="02020603050405020304" pitchFamily="18" charset="0"/>
                <a:ea typeface="Calibri" panose="020F0502020204030204" pitchFamily="34" charset="0"/>
              </a:rPr>
              <a:t> Function. </a:t>
            </a:r>
            <a:r>
              <a:rPr lang="en-US" dirty="0" err="1">
                <a:latin typeface="Times New Roman" panose="02020603050405020304" pitchFamily="18" charset="0"/>
                <a:ea typeface="Calibri" panose="020F0502020204030204" pitchFamily="34" charset="0"/>
              </a:rPr>
              <a:t>Nhập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tên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của</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chương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con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phần</a:t>
            </a:r>
            <a:r>
              <a:rPr lang="en-US" dirty="0">
                <a:latin typeface="Times New Roman" panose="02020603050405020304" pitchFamily="18" charset="0"/>
                <a:ea typeface="Calibri" panose="020F0502020204030204" pitchFamily="34" charset="0"/>
              </a:rPr>
              <a:t> name</a:t>
            </a:r>
            <a:endParaRPr lang="en-US" dirty="0"/>
          </a:p>
        </p:txBody>
      </p:sp>
      <p:pic>
        <p:nvPicPr>
          <p:cNvPr id="13" name="Picture 12"/>
          <p:cNvPicPr/>
          <p:nvPr/>
        </p:nvPicPr>
        <p:blipFill>
          <a:blip r:embed="rId4"/>
          <a:srcRect/>
          <a:stretch>
            <a:fillRect/>
          </a:stretch>
        </p:blipFill>
        <p:spPr bwMode="auto">
          <a:xfrm>
            <a:off x="6889071" y="2257981"/>
            <a:ext cx="4515023" cy="3828775"/>
          </a:xfrm>
          <a:prstGeom prst="rect">
            <a:avLst/>
          </a:prstGeom>
          <a:noFill/>
          <a:ln w="9525">
            <a:noFill/>
            <a:miter lim="800000"/>
            <a:headEnd/>
            <a:tailEnd/>
          </a:ln>
        </p:spPr>
      </p:pic>
      <p:sp>
        <p:nvSpPr>
          <p:cNvPr id="4" name="Rectangle 3"/>
          <p:cNvSpPr/>
          <p:nvPr/>
        </p:nvSpPr>
        <p:spPr>
          <a:xfrm>
            <a:off x="6547208" y="6099455"/>
            <a:ext cx="5182829" cy="410882"/>
          </a:xfrm>
          <a:prstGeom prst="rect">
            <a:avLst/>
          </a:prstGeom>
        </p:spPr>
        <p:txBody>
          <a:bodyPr wrap="none">
            <a:spAutoFit/>
          </a:bodyPr>
          <a:lstStyle/>
          <a:p>
            <a:pPr algn="just">
              <a:lnSpc>
                <a:spcPct val="115000"/>
              </a:lnSpc>
              <a:spcBef>
                <a:spcPts val="600"/>
              </a:spcBef>
              <a:spcAft>
                <a:spcPts val="6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Chọn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ngôn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ngữ</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lập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LAD hay FBD. </a:t>
            </a:r>
            <a:r>
              <a:rPr lang="en-US" dirty="0" err="1">
                <a:latin typeface="Times New Roman" panose="02020603050405020304" pitchFamily="18" charset="0"/>
                <a:ea typeface="Calibri" panose="020F0502020204030204" pitchFamily="34" charset="0"/>
                <a:cs typeface="Times New Roman" panose="02020603050405020304" pitchFamily="18" charset="0"/>
              </a:rPr>
              <a:t>Xong</a:t>
            </a:r>
            <a:r>
              <a:rPr lang="en-US" dirty="0">
                <a:latin typeface="Times New Roman" panose="02020603050405020304" pitchFamily="18" charset="0"/>
                <a:ea typeface="Calibri" panose="020F0502020204030204" pitchFamily="34" charset="0"/>
                <a:cs typeface="Times New Roman" panose="02020603050405020304" pitchFamily="18" charset="0"/>
              </a:rPr>
              <a:t> OK.</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03213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10.1. </a:t>
            </a:r>
            <a:r>
              <a:rPr kumimoji="0" lang="vi-VN"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Chương trình con, các khối chức năng</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79410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CHƯƠNG TRÌNH CON VÀ CÁC KHỐI CHỨC NĂNG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2" name="Rectangle 1"/>
          <p:cNvSpPr/>
          <p:nvPr/>
        </p:nvSpPr>
        <p:spPr>
          <a:xfrm>
            <a:off x="461962" y="1543365"/>
            <a:ext cx="11272837" cy="369332"/>
          </a:xfrm>
          <a:prstGeom prst="rect">
            <a:avLst/>
          </a:prstGeom>
        </p:spPr>
        <p:txBody>
          <a:bodyPr wrap="square">
            <a:spAutoFit/>
          </a:bodyPr>
          <a:lstStyle/>
          <a:p>
            <a:r>
              <a:rPr lang="en-US" dirty="0">
                <a:latin typeface="Times New Roman" panose="02020603050405020304" pitchFamily="18" charset="0"/>
                <a:ea typeface="Calibri" panose="020F0502020204030204" pitchFamily="34" charset="0"/>
              </a:rPr>
              <a:t>B2: </a:t>
            </a:r>
            <a:r>
              <a:rPr lang="en-US" dirty="0" err="1">
                <a:latin typeface="Times New Roman" panose="02020603050405020304" pitchFamily="18" charset="0"/>
                <a:ea typeface="Calibri" panose="020F0502020204030204" pitchFamily="34" charset="0"/>
              </a:rPr>
              <a:t>Xuất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hiện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thêm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FC 1 ở </a:t>
            </a:r>
            <a:r>
              <a:rPr lang="en-US" dirty="0" err="1">
                <a:latin typeface="Times New Roman" panose="02020603050405020304" pitchFamily="18" charset="0"/>
                <a:ea typeface="Calibri" panose="020F0502020204030204" pitchFamily="34" charset="0"/>
              </a:rPr>
              <a:t>dưới</a:t>
            </a:r>
            <a:r>
              <a:rPr lang="en-US" dirty="0">
                <a:latin typeface="Times New Roman" panose="02020603050405020304" pitchFamily="18" charset="0"/>
                <a:ea typeface="Calibri" panose="020F0502020204030204" pitchFamily="34" charset="0"/>
              </a:rPr>
              <a:t> Main OB1. </a:t>
            </a:r>
            <a:r>
              <a:rPr lang="en-US" dirty="0" err="1">
                <a:latin typeface="Times New Roman" panose="02020603050405020304" pitchFamily="18" charset="0"/>
                <a:ea typeface="Calibri" panose="020F0502020204030204" pitchFamily="34" charset="0"/>
              </a:rPr>
              <a:t>Nhấp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đúp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FC1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chương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con.</a:t>
            </a:r>
            <a:endParaRPr lang="en-US" dirty="0"/>
          </a:p>
        </p:txBody>
      </p:sp>
      <p:pic>
        <p:nvPicPr>
          <p:cNvPr id="10" name="Picture 9" descr="3.bmp"/>
          <p:cNvPicPr/>
          <p:nvPr/>
        </p:nvPicPr>
        <p:blipFill>
          <a:blip r:embed="rId4"/>
          <a:stretch>
            <a:fillRect/>
          </a:stretch>
        </p:blipFill>
        <p:spPr>
          <a:xfrm>
            <a:off x="4323795" y="2241825"/>
            <a:ext cx="3544410" cy="3618252"/>
          </a:xfrm>
          <a:prstGeom prst="rect">
            <a:avLst/>
          </a:prstGeom>
        </p:spPr>
      </p:pic>
    </p:spTree>
    <p:extLst>
      <p:ext uri="{BB962C8B-B14F-4D97-AF65-F5344CB8AC3E}">
        <p14:creationId xmlns:p14="http://schemas.microsoft.com/office/powerpoint/2010/main" val="1087517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10.1. </a:t>
            </a:r>
            <a:r>
              <a:rPr kumimoji="0" lang="vi-VN"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Chương trình con, các khối chức năng</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79410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CHƯƠNG TRÌNH CON VÀ CÁC KHỐI CHỨC NĂNG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2" name="Rectangle 1"/>
          <p:cNvSpPr/>
          <p:nvPr/>
        </p:nvSpPr>
        <p:spPr>
          <a:xfrm>
            <a:off x="461962" y="1471326"/>
            <a:ext cx="11272837" cy="1874359"/>
          </a:xfrm>
          <a:prstGeom prst="rect">
            <a:avLst/>
          </a:prstGeom>
        </p:spPr>
        <p:txBody>
          <a:bodyPr wrap="square">
            <a:spAutoFit/>
          </a:bodyPr>
          <a:lstStyle/>
          <a:p>
            <a:pPr algn="just">
              <a:lnSpc>
                <a:spcPct val="115000"/>
              </a:lnSpc>
              <a:spcBef>
                <a:spcPts val="600"/>
              </a:spcBef>
              <a:spcAft>
                <a:spcPts val="600"/>
              </a:spcAft>
            </a:pPr>
            <a:r>
              <a:rPr lang="en-US" dirty="0">
                <a:latin typeface="Times New Roman" panose="02020603050405020304" pitchFamily="18" charset="0"/>
                <a:ea typeface="Calibri" panose="020F0502020204030204" pitchFamily="34" charset="0"/>
                <a:cs typeface="Times New Roman" panose="02020603050405020304" pitchFamily="18" charset="0"/>
              </a:rPr>
              <a:t>B3: </a:t>
            </a:r>
            <a:r>
              <a:rPr lang="en-US" dirty="0" err="1">
                <a:latin typeface="Times New Roman" panose="02020603050405020304" pitchFamily="18" charset="0"/>
                <a:ea typeface="Calibri" panose="020F0502020204030204" pitchFamily="34" charset="0"/>
                <a:cs typeface="Times New Roman" panose="02020603050405020304" pitchFamily="18" charset="0"/>
              </a:rPr>
              <a:t>Nhấp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đúp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FC1</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5000"/>
              </a:lnSpc>
              <a:spcBef>
                <a:spcPts val="600"/>
              </a:spcBef>
              <a:spcAft>
                <a:spcPts val="6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Tiện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ích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con: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con </a:t>
            </a:r>
            <a:r>
              <a:rPr lang="en-US" dirty="0" err="1">
                <a:latin typeface="Times New Roman" panose="02020603050405020304" pitchFamily="18" charset="0"/>
                <a:ea typeface="Calibri" panose="020F0502020204030204" pitchFamily="34" charset="0"/>
                <a:cs typeface="Times New Roman" panose="02020603050405020304" pitchFamily="18" charset="0"/>
              </a:rPr>
              <a:t>hỗ</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biến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nhớ</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cục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bộ</a:t>
            </a:r>
            <a:r>
              <a:rPr lang="en-US" dirty="0">
                <a:latin typeface="Times New Roman" panose="02020603050405020304" pitchFamily="18" charset="0"/>
                <a:ea typeface="Calibri" panose="020F0502020204030204" pitchFamily="34" charset="0"/>
                <a:cs typeface="Times New Roman" panose="02020603050405020304" pitchFamily="18" charset="0"/>
              </a:rPr>
              <a:t> (Local memory)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hỗ</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việc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lập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ngõ</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ra</a:t>
            </a:r>
            <a:r>
              <a:rPr lang="en-US" dirty="0">
                <a:latin typeface="Times New Roman" panose="02020603050405020304" pitchFamily="18" charset="0"/>
                <a:ea typeface="Calibri" panose="020F0502020204030204" pitchFamily="34" charset="0"/>
                <a:cs typeface="Times New Roman" panose="02020603050405020304" pitchFamily="18" charset="0"/>
              </a:rPr>
              <a:t> I/O hay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vùng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nhớ</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chính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ví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như</a:t>
            </a:r>
            <a:r>
              <a:rPr lang="en-US" dirty="0">
                <a:latin typeface="Times New Roman" panose="02020603050405020304" pitchFamily="18" charset="0"/>
                <a:ea typeface="Calibri" panose="020F0502020204030204" pitchFamily="34" charset="0"/>
                <a:cs typeface="Times New Roman" panose="02020603050405020304" pitchFamily="18" charset="0"/>
              </a:rPr>
              <a:t> M. </a:t>
            </a:r>
            <a:r>
              <a:rPr lang="en-US" dirty="0" err="1">
                <a:latin typeface="Times New Roman" panose="02020603050405020304" pitchFamily="18" charset="0"/>
                <a:ea typeface="Calibri" panose="020F0502020204030204" pitchFamily="34" charset="0"/>
                <a:cs typeface="Times New Roman" panose="02020603050405020304" pitchFamily="18" charset="0"/>
              </a:rPr>
              <a:t>Đồng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giảm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quét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làm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cho</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thực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thao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lý</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nhanh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hơn</a:t>
            </a: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r>
              <a:rPr lang="en-US" dirty="0" err="1">
                <a:latin typeface="Times New Roman" panose="02020603050405020304" pitchFamily="18" charset="0"/>
                <a:ea typeface="Calibri" panose="020F0502020204030204" pitchFamily="34" charset="0"/>
              </a:rPr>
              <a:t>Ví</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tạo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một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chương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con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điều</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khiển</a:t>
            </a:r>
            <a:r>
              <a:rPr lang="en-US" dirty="0">
                <a:latin typeface="Times New Roman" panose="02020603050405020304" pitchFamily="18" charset="0"/>
                <a:ea typeface="Calibri" panose="020F0502020204030204" pitchFamily="34" charset="0"/>
              </a:rPr>
              <a:t> 1 </a:t>
            </a:r>
            <a:r>
              <a:rPr lang="en-US" dirty="0" err="1">
                <a:latin typeface="Times New Roman" panose="02020603050405020304" pitchFamily="18" charset="0"/>
                <a:ea typeface="Calibri" panose="020F0502020204030204" pitchFamily="34" charset="0"/>
              </a:rPr>
              <a:t>đèn</a:t>
            </a:r>
            <a:r>
              <a:rPr lang="en-US" dirty="0">
                <a:latin typeface="Times New Roman" panose="02020603050405020304" pitchFamily="18" charset="0"/>
                <a:ea typeface="Calibri" panose="020F0502020204030204" pitchFamily="34" charset="0"/>
              </a:rPr>
              <a:t> sang, </a:t>
            </a:r>
            <a:r>
              <a:rPr lang="en-US" dirty="0" err="1">
                <a:latin typeface="Times New Roman" panose="02020603050405020304" pitchFamily="18" charset="0"/>
                <a:ea typeface="Calibri" panose="020F0502020204030204" pitchFamily="34" charset="0"/>
              </a:rPr>
              <a:t>tắt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biến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nhớ</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phụ</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sau</a:t>
            </a:r>
            <a:r>
              <a:rPr lang="en-US" dirty="0">
                <a:latin typeface="Times New Roman" panose="02020603050405020304" pitchFamily="18" charset="0"/>
                <a:ea typeface="Calibri" panose="020F0502020204030204" pitchFamily="34" charset="0"/>
              </a:rPr>
              <a:t>: </a:t>
            </a:r>
            <a:endParaRPr lang="en-US" dirty="0"/>
          </a:p>
        </p:txBody>
      </p:sp>
      <p:pic>
        <p:nvPicPr>
          <p:cNvPr id="10" name="Picture 9"/>
          <p:cNvPicPr/>
          <p:nvPr/>
        </p:nvPicPr>
        <p:blipFill>
          <a:blip r:embed="rId4"/>
          <a:srcRect/>
          <a:stretch>
            <a:fillRect/>
          </a:stretch>
        </p:blipFill>
        <p:spPr bwMode="auto">
          <a:xfrm>
            <a:off x="2839310" y="3529175"/>
            <a:ext cx="6686430" cy="2800604"/>
          </a:xfrm>
          <a:prstGeom prst="rect">
            <a:avLst/>
          </a:prstGeom>
          <a:noFill/>
          <a:ln w="9525">
            <a:noFill/>
            <a:miter lim="800000"/>
            <a:headEnd/>
            <a:tailEnd/>
          </a:ln>
        </p:spPr>
      </p:pic>
    </p:spTree>
    <p:extLst>
      <p:ext uri="{BB962C8B-B14F-4D97-AF65-F5344CB8AC3E}">
        <p14:creationId xmlns:p14="http://schemas.microsoft.com/office/powerpoint/2010/main" val="4038176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10.1. </a:t>
            </a:r>
            <a:r>
              <a:rPr kumimoji="0" lang="vi-VN"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Chương trình con, các khối chức năng</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79410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CHƯƠNG TRÌNH CON VÀ CÁC KHỐI CHỨC NĂNG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9" name="Rectangle 8"/>
          <p:cNvSpPr/>
          <p:nvPr/>
        </p:nvSpPr>
        <p:spPr>
          <a:xfrm>
            <a:off x="461962" y="1471326"/>
            <a:ext cx="11272837" cy="1874359"/>
          </a:xfrm>
          <a:prstGeom prst="rect">
            <a:avLst/>
          </a:prstGeom>
        </p:spPr>
        <p:txBody>
          <a:bodyPr wrap="square">
            <a:spAutoFit/>
          </a:bodyPr>
          <a:lstStyle/>
          <a:p>
            <a:pPr algn="just">
              <a:lnSpc>
                <a:spcPct val="115000"/>
              </a:lnSpc>
              <a:spcBef>
                <a:spcPts val="600"/>
              </a:spcBef>
              <a:spcAft>
                <a:spcPts val="600"/>
              </a:spcAft>
            </a:pPr>
            <a:r>
              <a:rPr lang="en-US" dirty="0">
                <a:latin typeface="Times New Roman" panose="02020603050405020304" pitchFamily="18" charset="0"/>
                <a:ea typeface="Calibri" panose="020F0502020204030204" pitchFamily="34" charset="0"/>
                <a:cs typeface="Times New Roman" panose="02020603050405020304" pitchFamily="18" charset="0"/>
              </a:rPr>
              <a:t>B3: </a:t>
            </a:r>
            <a:r>
              <a:rPr lang="en-US" dirty="0" err="1">
                <a:latin typeface="Times New Roman" panose="02020603050405020304" pitchFamily="18" charset="0"/>
                <a:ea typeface="Calibri" panose="020F0502020204030204" pitchFamily="34" charset="0"/>
                <a:cs typeface="Times New Roman" panose="02020603050405020304" pitchFamily="18" charset="0"/>
              </a:rPr>
              <a:t>Nhấp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đúp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FC1</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indent="457200" algn="just">
              <a:lnSpc>
                <a:spcPct val="115000"/>
              </a:lnSpc>
              <a:spcBef>
                <a:spcPts val="600"/>
              </a:spcBef>
              <a:spcAft>
                <a:spcPts val="6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Tiện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ích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con: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con </a:t>
            </a:r>
            <a:r>
              <a:rPr lang="en-US" dirty="0" err="1">
                <a:latin typeface="Times New Roman" panose="02020603050405020304" pitchFamily="18" charset="0"/>
                <a:ea typeface="Calibri" panose="020F0502020204030204" pitchFamily="34" charset="0"/>
                <a:cs typeface="Times New Roman" panose="02020603050405020304" pitchFamily="18" charset="0"/>
              </a:rPr>
              <a:t>hỗ</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biến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nhớ</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cục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bộ</a:t>
            </a:r>
            <a:r>
              <a:rPr lang="en-US" dirty="0">
                <a:latin typeface="Times New Roman" panose="02020603050405020304" pitchFamily="18" charset="0"/>
                <a:ea typeface="Calibri" panose="020F0502020204030204" pitchFamily="34" charset="0"/>
                <a:cs typeface="Times New Roman" panose="02020603050405020304" pitchFamily="18" charset="0"/>
              </a:rPr>
              <a:t> (Local memory)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hỗ</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việc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lập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phải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tốn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ngõ</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ra</a:t>
            </a:r>
            <a:r>
              <a:rPr lang="en-US" dirty="0">
                <a:latin typeface="Times New Roman" panose="02020603050405020304" pitchFamily="18" charset="0"/>
                <a:ea typeface="Calibri" panose="020F0502020204030204" pitchFamily="34" charset="0"/>
                <a:cs typeface="Times New Roman" panose="02020603050405020304" pitchFamily="18" charset="0"/>
              </a:rPr>
              <a:t> I/O hay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vùng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nhớ</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chính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ví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như</a:t>
            </a:r>
            <a:r>
              <a:rPr lang="en-US" dirty="0">
                <a:latin typeface="Times New Roman" panose="02020603050405020304" pitchFamily="18" charset="0"/>
                <a:ea typeface="Calibri" panose="020F0502020204030204" pitchFamily="34" charset="0"/>
                <a:cs typeface="Times New Roman" panose="02020603050405020304" pitchFamily="18" charset="0"/>
              </a:rPr>
              <a:t> M. </a:t>
            </a:r>
            <a:r>
              <a:rPr lang="en-US" dirty="0" err="1">
                <a:latin typeface="Times New Roman" panose="02020603050405020304" pitchFamily="18" charset="0"/>
                <a:ea typeface="Calibri" panose="020F0502020204030204" pitchFamily="34" charset="0"/>
                <a:cs typeface="Times New Roman" panose="02020603050405020304" pitchFamily="18" charset="0"/>
              </a:rPr>
              <a:t>Đồng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thời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giảm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quét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làm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cho</a:t>
            </a:r>
            <a:r>
              <a:rPr lang="en-US" dirty="0">
                <a:latin typeface="Times New Roman" panose="02020603050405020304" pitchFamily="18" charset="0"/>
                <a:ea typeface="Calibri" panose="020F0502020204030204" pitchFamily="34" charset="0"/>
                <a:cs typeface="Times New Roman" panose="02020603050405020304" pitchFamily="18" charset="0"/>
              </a:rPr>
              <a:t> PLC </a:t>
            </a:r>
            <a:r>
              <a:rPr lang="en-US" dirty="0" err="1">
                <a:latin typeface="Times New Roman" panose="02020603050405020304" pitchFamily="18" charset="0"/>
                <a:ea typeface="Calibri" panose="020F0502020204030204" pitchFamily="34" charset="0"/>
                <a:cs typeface="Times New Roman" panose="02020603050405020304" pitchFamily="18" charset="0"/>
              </a:rPr>
              <a:t>thực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hiện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thao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lý</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nhanh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hơn</a:t>
            </a:r>
            <a:r>
              <a:rPr lang="en-US" dirty="0">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r>
              <a:rPr lang="en-US" dirty="0" err="1">
                <a:latin typeface="Times New Roman" panose="02020603050405020304" pitchFamily="18" charset="0"/>
                <a:ea typeface="Calibri" panose="020F0502020204030204" pitchFamily="34" charset="0"/>
              </a:rPr>
              <a:t>Ví</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tạo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một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chương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trình</a:t>
            </a:r>
            <a:r>
              <a:rPr lang="en-US" dirty="0">
                <a:latin typeface="Times New Roman" panose="02020603050405020304" pitchFamily="18" charset="0"/>
                <a:ea typeface="Calibri" panose="020F0502020204030204" pitchFamily="34" charset="0"/>
              </a:rPr>
              <a:t> con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điều</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khiển</a:t>
            </a:r>
            <a:r>
              <a:rPr lang="en-US" dirty="0">
                <a:latin typeface="Times New Roman" panose="02020603050405020304" pitchFamily="18" charset="0"/>
                <a:ea typeface="Calibri" panose="020F0502020204030204" pitchFamily="34" charset="0"/>
              </a:rPr>
              <a:t> 1 </a:t>
            </a:r>
            <a:r>
              <a:rPr lang="en-US" dirty="0" err="1">
                <a:latin typeface="Times New Roman" panose="02020603050405020304" pitchFamily="18" charset="0"/>
                <a:ea typeface="Calibri" panose="020F0502020204030204" pitchFamily="34" charset="0"/>
              </a:rPr>
              <a:t>đèn</a:t>
            </a:r>
            <a:r>
              <a:rPr lang="en-US" dirty="0">
                <a:latin typeface="Times New Roman" panose="02020603050405020304" pitchFamily="18" charset="0"/>
                <a:ea typeface="Calibri" panose="020F0502020204030204" pitchFamily="34" charset="0"/>
              </a:rPr>
              <a:t> sang, </a:t>
            </a:r>
            <a:r>
              <a:rPr lang="en-US" dirty="0" err="1">
                <a:latin typeface="Times New Roman" panose="02020603050405020304" pitchFamily="18" charset="0"/>
                <a:ea typeface="Calibri" panose="020F0502020204030204" pitchFamily="34" charset="0"/>
              </a:rPr>
              <a:t>tắt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các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biến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nhớ</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phụ</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sau</a:t>
            </a:r>
            <a:r>
              <a:rPr lang="en-US" dirty="0">
                <a:latin typeface="Times New Roman" panose="02020603050405020304" pitchFamily="18" charset="0"/>
                <a:ea typeface="Calibri" panose="020F0502020204030204" pitchFamily="34" charset="0"/>
              </a:rPr>
              <a:t>: </a:t>
            </a:r>
            <a:endParaRPr lang="en-US" dirty="0"/>
          </a:p>
        </p:txBody>
      </p:sp>
      <p:sp>
        <p:nvSpPr>
          <p:cNvPr id="2" name="Rectangle 1"/>
          <p:cNvSpPr/>
          <p:nvPr/>
        </p:nvSpPr>
        <p:spPr>
          <a:xfrm>
            <a:off x="904291" y="4709870"/>
            <a:ext cx="2489784" cy="410882"/>
          </a:xfrm>
          <a:prstGeom prst="rect">
            <a:avLst/>
          </a:prstGeom>
        </p:spPr>
        <p:txBody>
          <a:bodyPr wrap="none">
            <a:spAutoFit/>
          </a:bodyPr>
          <a:lstStyle/>
          <a:p>
            <a:pPr algn="just">
              <a:lnSpc>
                <a:spcPct val="115000"/>
              </a:lnSpc>
              <a:spcBef>
                <a:spcPts val="600"/>
              </a:spcBef>
              <a:spcAft>
                <a:spcPts val="6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FC1: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3" name="Picture 12"/>
          <p:cNvPicPr/>
          <p:nvPr/>
        </p:nvPicPr>
        <p:blipFill>
          <a:blip r:embed="rId4"/>
          <a:srcRect/>
          <a:stretch>
            <a:fillRect/>
          </a:stretch>
        </p:blipFill>
        <p:spPr bwMode="auto">
          <a:xfrm>
            <a:off x="3394075" y="3589486"/>
            <a:ext cx="6460139" cy="2318816"/>
          </a:xfrm>
          <a:prstGeom prst="rect">
            <a:avLst/>
          </a:prstGeom>
          <a:noFill/>
          <a:ln w="9525">
            <a:noFill/>
            <a:miter lim="800000"/>
            <a:headEnd/>
            <a:tailEnd/>
          </a:ln>
        </p:spPr>
      </p:pic>
    </p:spTree>
    <p:extLst>
      <p:ext uri="{BB962C8B-B14F-4D97-AF65-F5344CB8AC3E}">
        <p14:creationId xmlns:p14="http://schemas.microsoft.com/office/powerpoint/2010/main" val="1741886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10.1. </a:t>
            </a:r>
            <a:r>
              <a:rPr kumimoji="0" lang="vi-VN"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Chương trình con, các khối chức năng</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79410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TẠO</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CHƯƠNG TRÌNH CON VÀ CÁC KHỐI CHỨC NĂNG</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2" name="Rectangle 1"/>
          <p:cNvSpPr/>
          <p:nvPr/>
        </p:nvSpPr>
        <p:spPr>
          <a:xfrm>
            <a:off x="461962" y="1471326"/>
            <a:ext cx="11272837" cy="2146742"/>
          </a:xfrm>
          <a:prstGeom prst="rect">
            <a:avLst/>
          </a:prstGeom>
        </p:spPr>
        <p:txBody>
          <a:bodyPr wrap="square">
            <a:spAutoFit/>
          </a:bodyPr>
          <a:lstStyle/>
          <a:p>
            <a:pPr algn="just">
              <a:lnSpc>
                <a:spcPct val="115000"/>
              </a:lnSpc>
              <a:spcBef>
                <a:spcPts val="600"/>
              </a:spcBef>
              <a:spcAft>
                <a:spcPts val="600"/>
              </a:spcAft>
            </a:pPr>
            <a:r>
              <a:rPr lang="en-US" dirty="0">
                <a:latin typeface="Times New Roman" panose="02020603050405020304" pitchFamily="18" charset="0"/>
                <a:ea typeface="Calibri" panose="020F0502020204030204" pitchFamily="34" charset="0"/>
                <a:cs typeface="Times New Roman" panose="02020603050405020304" pitchFamily="18" charset="0"/>
              </a:rPr>
              <a:t>B4: </a:t>
            </a:r>
            <a:r>
              <a:rPr lang="en-US" dirty="0" err="1">
                <a:latin typeface="Times New Roman" panose="02020603050405020304" pitchFamily="18" charset="0"/>
                <a:ea typeface="Calibri" panose="020F0502020204030204" pitchFamily="34" charset="0"/>
                <a:cs typeface="Times New Roman" panose="02020603050405020304" pitchFamily="18" charset="0"/>
              </a:rPr>
              <a:t>Sau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lập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xong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FC1 </a:t>
            </a:r>
            <a:r>
              <a:rPr lang="en-US" dirty="0" err="1">
                <a:latin typeface="Times New Roman" panose="02020603050405020304" pitchFamily="18" charset="0"/>
                <a:ea typeface="Calibri" panose="020F0502020204030204" pitchFamily="34" charset="0"/>
                <a:cs typeface="Times New Roman" panose="02020603050405020304" pitchFamily="18" charset="0"/>
              </a:rPr>
              <a:t>trở</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về</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hàm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chính</a:t>
            </a:r>
            <a:r>
              <a:rPr lang="en-US" dirty="0">
                <a:latin typeface="Times New Roman" panose="02020603050405020304" pitchFamily="18" charset="0"/>
                <a:ea typeface="Calibri" panose="020F0502020204030204" pitchFamily="34" charset="0"/>
                <a:cs typeface="Times New Roman" panose="02020603050405020304" pitchFamily="18" charset="0"/>
              </a:rPr>
              <a:t> OB1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gọi</a:t>
            </a:r>
            <a:r>
              <a:rPr lang="en-US" dirty="0">
                <a:latin typeface="Times New Roman" panose="02020603050405020304" pitchFamily="18" charset="0"/>
                <a:ea typeface="Calibri" panose="020F0502020204030204" pitchFamily="34" charset="0"/>
                <a:cs typeface="Times New Roman" panose="02020603050405020304" pitchFamily="18" charset="0"/>
              </a:rPr>
              <a:t> FC1 </a:t>
            </a:r>
            <a:r>
              <a:rPr lang="en-US" dirty="0" err="1">
                <a:latin typeface="Times New Roman" panose="02020603050405020304" pitchFamily="18" charset="0"/>
                <a:ea typeface="Calibri" panose="020F0502020204030204" pitchFamily="34" charset="0"/>
                <a:cs typeface="Times New Roman" panose="02020603050405020304" pitchFamily="18" charset="0"/>
              </a:rPr>
              <a:t>ra.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OB1,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2 </a:t>
            </a:r>
            <a:r>
              <a:rPr lang="en-US" dirty="0" err="1">
                <a:latin typeface="Times New Roman" panose="02020603050405020304" pitchFamily="18" charset="0"/>
                <a:ea typeface="Calibri" panose="020F0502020204030204" pitchFamily="34" charset="0"/>
                <a:cs typeface="Times New Roman" panose="02020603050405020304" pitchFamily="18" charset="0"/>
              </a:rPr>
              <a:t>cách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khai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báo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FC1.</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600"/>
              </a:spcAft>
              <a:tabLst>
                <a:tab pos="457200" algn="l"/>
                <a:tab pos="914400" algn="l"/>
                <a:tab pos="1371600" algn="l"/>
                <a:tab pos="1828800" algn="l"/>
                <a:tab pos="2286000" algn="l"/>
                <a:tab pos="452437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	C1: </a:t>
            </a:r>
            <a:r>
              <a:rPr lang="en-US" dirty="0" err="1">
                <a:latin typeface="Times New Roman" panose="02020603050405020304" pitchFamily="18" charset="0"/>
                <a:ea typeface="Calibri" panose="020F0502020204030204" pitchFamily="34" charset="0"/>
                <a:cs typeface="Times New Roman" panose="02020603050405020304" pitchFamily="18" charset="0"/>
              </a:rPr>
              <a:t>nhấp</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biểu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tượng</a:t>
            </a:r>
            <a:r>
              <a:rPr lang="en-US" dirty="0">
                <a:latin typeface="Times New Roman" panose="02020603050405020304" pitchFamily="18" charset="0"/>
                <a:ea typeface="Calibri" panose="020F0502020204030204" pitchFamily="34" charset="0"/>
                <a:cs typeface="Times New Roman" panose="02020603050405020304" pitchFamily="18" charset="0"/>
              </a:rPr>
              <a:t> Block_1[FC1] ở </a:t>
            </a:r>
            <a:r>
              <a:rPr lang="en-US" dirty="0" err="1">
                <a:latin typeface="Times New Roman" panose="02020603050405020304" pitchFamily="18" charset="0"/>
                <a:ea typeface="Calibri" panose="020F0502020204030204" pitchFamily="34" charset="0"/>
                <a:cs typeface="Times New Roman" panose="02020603050405020304" pitchFamily="18" charset="0"/>
              </a:rPr>
              <a:t>hình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trên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giữ</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chuột</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kéo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vào</a:t>
            </a:r>
            <a:r>
              <a:rPr lang="en-US" dirty="0">
                <a:latin typeface="Times New Roman" panose="02020603050405020304" pitchFamily="18" charset="0"/>
                <a:ea typeface="Calibri" panose="020F0502020204030204" pitchFamily="34" charset="0"/>
                <a:cs typeface="Times New Roman" panose="02020603050405020304" pitchFamily="18" charset="0"/>
              </a:rPr>
              <a:t> Network.</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600"/>
              </a:spcAft>
              <a:tabLst>
                <a:tab pos="457200" algn="l"/>
                <a:tab pos="914400" algn="l"/>
                <a:tab pos="1371600" algn="l"/>
                <a:tab pos="1828800" algn="l"/>
                <a:tab pos="2286000" algn="l"/>
                <a:tab pos="452437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	C2: </a:t>
            </a:r>
            <a:r>
              <a:rPr lang="en-US" dirty="0" err="1">
                <a:latin typeface="Times New Roman" panose="02020603050405020304" pitchFamily="18" charset="0"/>
                <a:ea typeface="Calibri" panose="020F0502020204030204" pitchFamily="34" charset="0"/>
                <a:cs typeface="Times New Roman" panose="02020603050405020304" pitchFamily="18" charset="0"/>
              </a:rPr>
              <a:t>Sử</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dụng</a:t>
            </a:r>
            <a:r>
              <a:rPr lang="en-US" dirty="0">
                <a:latin typeface="Times New Roman" panose="02020603050405020304" pitchFamily="18" charset="0"/>
                <a:ea typeface="Calibri" panose="020F0502020204030204" pitchFamily="34" charset="0"/>
                <a:cs typeface="Times New Roman" panose="02020603050405020304" pitchFamily="18" charset="0"/>
              </a:rPr>
              <a:t> 1 </a:t>
            </a:r>
            <a:r>
              <a:rPr lang="en-US" dirty="0" err="1">
                <a:latin typeface="Times New Roman" panose="02020603050405020304" pitchFamily="18" charset="0"/>
                <a:ea typeface="Calibri" panose="020F0502020204030204" pitchFamily="34" charset="0"/>
                <a:cs typeface="Times New Roman" panose="02020603050405020304" pitchFamily="18" charset="0"/>
              </a:rPr>
              <a:t>cái</a:t>
            </a:r>
            <a:r>
              <a:rPr lang="en-US" dirty="0">
                <a:latin typeface="Times New Roman" panose="02020603050405020304" pitchFamily="18" charset="0"/>
                <a:ea typeface="Calibri" panose="020F0502020204030204" pitchFamily="34" charset="0"/>
                <a:cs typeface="Times New Roman" panose="02020603050405020304" pitchFamily="18" charset="0"/>
              </a:rPr>
              <a:t> Empty box (</a:t>
            </a:r>
            <a:r>
              <a:rPr lang="en-US" dirty="0" err="1">
                <a:latin typeface="Times New Roman" panose="02020603050405020304" pitchFamily="18" charset="0"/>
                <a:ea typeface="Calibri" panose="020F0502020204030204" pitchFamily="34" charset="0"/>
                <a:cs typeface="Times New Roman" panose="02020603050405020304" pitchFamily="18" charset="0"/>
              </a:rPr>
              <a:t>Ấn</a:t>
            </a:r>
            <a:r>
              <a:rPr lang="en-US" dirty="0">
                <a:latin typeface="Times New Roman" panose="02020603050405020304" pitchFamily="18" charset="0"/>
                <a:ea typeface="Calibri" panose="020F0502020204030204" pitchFamily="34" charset="0"/>
                <a:cs typeface="Times New Roman" panose="02020603050405020304" pitchFamily="18" charset="0"/>
              </a:rPr>
              <a:t> Shift + F5), </a:t>
            </a:r>
            <a:r>
              <a:rPr lang="en-US" dirty="0" err="1">
                <a:latin typeface="Times New Roman" panose="02020603050405020304" pitchFamily="18" charset="0"/>
                <a:ea typeface="Calibri" panose="020F0502020204030204" pitchFamily="34" charset="0"/>
                <a:cs typeface="Times New Roman" panose="02020603050405020304" pitchFamily="18" charset="0"/>
              </a:rPr>
              <a:t>xong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khai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báo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tên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FC1</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Bef>
                <a:spcPts val="600"/>
              </a:spcBef>
              <a:spcAft>
                <a:spcPts val="600"/>
              </a:spcAft>
              <a:tabLst>
                <a:tab pos="457200" algn="l"/>
                <a:tab pos="914400" algn="l"/>
                <a:tab pos="1371600" algn="l"/>
                <a:tab pos="1828800" algn="l"/>
                <a:tab pos="2286000" algn="l"/>
                <a:tab pos="4524375" algn="l"/>
              </a:tabLst>
            </a:pP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Chương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trình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OB1: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descr="7.bmp"/>
          <p:cNvPicPr/>
          <p:nvPr/>
        </p:nvPicPr>
        <p:blipFill>
          <a:blip r:embed="rId4"/>
          <a:stretch>
            <a:fillRect/>
          </a:stretch>
        </p:blipFill>
        <p:spPr>
          <a:xfrm>
            <a:off x="613992" y="3601884"/>
            <a:ext cx="4685977" cy="2763405"/>
          </a:xfrm>
          <a:prstGeom prst="rect">
            <a:avLst/>
          </a:prstGeom>
        </p:spPr>
      </p:pic>
      <p:sp>
        <p:nvSpPr>
          <p:cNvPr id="3" name="Rectangle 2"/>
          <p:cNvSpPr/>
          <p:nvPr/>
        </p:nvSpPr>
        <p:spPr>
          <a:xfrm>
            <a:off x="5638799" y="4154706"/>
            <a:ext cx="6096000" cy="1773306"/>
          </a:xfrm>
          <a:prstGeom prst="rect">
            <a:avLst/>
          </a:prstGeom>
        </p:spPr>
        <p:txBody>
          <a:bodyPr>
            <a:spAutoFit/>
          </a:bodyPr>
          <a:lstStyle/>
          <a:p>
            <a:pPr algn="just">
              <a:lnSpc>
                <a:spcPct val="115000"/>
              </a:lnSpc>
              <a:spcBef>
                <a:spcPts val="600"/>
              </a:spcBef>
              <a:spcAft>
                <a:spcPts val="600"/>
              </a:spcAft>
              <a:tabLst>
                <a:tab pos="457200" algn="l"/>
                <a:tab pos="914400" algn="l"/>
                <a:tab pos="1371600" algn="l"/>
                <a:tab pos="1828800" algn="l"/>
                <a:tab pos="2286000" algn="l"/>
                <a:tab pos="4524375" algn="l"/>
              </a:tabLst>
            </a:pPr>
            <a:r>
              <a:rPr lang="de-DE" sz="1600" i="1" dirty="0">
                <a:latin typeface="Times New Roman" panose="02020603050405020304" pitchFamily="18" charset="0"/>
                <a:ea typeface="Calibri" panose="020F0502020204030204" pitchFamily="34" charset="0"/>
                <a:cs typeface="Times New Roman" panose="02020603050405020304" pitchFamily="18" charset="0"/>
              </a:rPr>
              <a:t>Ta chỉ cần khai báo các I/O làm các công việc đó nữa là xong. Là I0.0 sẽ thực hiện chức năng của biến cục bộ on trong FC1 và tương tự với I0.1 và Q0.0. Sau này muốn điều khiển đèn ta chỉ cần lấy khối FC1 ra sử dụng không cần phải lập trình lại nữa. Chương trình có nghĩa là khi I0.0 có tín hiệu (lên mức 1) thì chương trình con trong FC1 được thực hiện, còn bình thường nếu I0.0 ở mức 0 thì FC 1 không được thực hiện.</a:t>
            </a:r>
            <a:endParaRPr lang="en-US" sz="1600" i="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02388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10:</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KẾT NỐI TỔNG THỂ HỆ THỐNG TỰ ĐỘNG HÓA VÀ ỨNG DỤNG THỰC TẾ</a:t>
            </a:r>
          </a:p>
        </p:txBody>
      </p:sp>
      <p:sp>
        <p:nvSpPr>
          <p:cNvPr id="4" name="Rectangle 3"/>
          <p:cNvSpPr/>
          <p:nvPr/>
        </p:nvSpPr>
        <p:spPr>
          <a:xfrm>
            <a:off x="1047565" y="1883638"/>
            <a:ext cx="10156054" cy="369332"/>
          </a:xfrm>
          <a:prstGeom prst="rect">
            <a:avLst/>
          </a:prstGeom>
        </p:spPr>
        <p:txBody>
          <a:bodyPr wrap="square">
            <a:spAutoFit/>
          </a:bodyPr>
          <a:lstStyle/>
          <a:p>
            <a:pPr lvl="0" algn="ctr">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10.2</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Sử</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dụng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thời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gian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thực</a:t>
            </a:r>
            <a:endPar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7992" y="2587841"/>
            <a:ext cx="7315200" cy="4114800"/>
          </a:xfrm>
          <a:prstGeom prst="rect">
            <a:avLst/>
          </a:prstGeom>
        </p:spPr>
      </p:pic>
    </p:spTree>
    <p:extLst>
      <p:ext uri="{BB962C8B-B14F-4D97-AF65-F5344CB8AC3E}">
        <p14:creationId xmlns:p14="http://schemas.microsoft.com/office/powerpoint/2010/main" val="629960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8074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KHỐI</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HÀM CƠ BẢN TRONG CHỨC NĂNG THỜI GIAN THỰC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lvl="0">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2" name="Rectangle 1"/>
          <p:cNvSpPr/>
          <p:nvPr/>
        </p:nvSpPr>
        <p:spPr>
          <a:xfrm>
            <a:off x="3648214" y="1439577"/>
            <a:ext cx="4895571" cy="369332"/>
          </a:xfrm>
          <a:prstGeom prst="rect">
            <a:avLst/>
          </a:prstGeom>
        </p:spPr>
        <p:txBody>
          <a:bodyPr wrap="none">
            <a:spAutoFit/>
          </a:bodyPr>
          <a:lstStyle/>
          <a:p>
            <a:r>
              <a:rPr lang="en-US" b="1" dirty="0" err="1">
                <a:latin typeface="Times New Roman" panose="02020603050405020304" pitchFamily="18" charset="0"/>
                <a:ea typeface="Calibri" panose="020F0502020204030204" pitchFamily="34" charset="0"/>
              </a:rPr>
              <a:t>Khối</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hàm</a:t>
            </a:r>
            <a:r>
              <a:rPr lang="en-US" b="1" dirty="0">
                <a:latin typeface="Times New Roman" panose="02020603050405020304" pitchFamily="18" charset="0"/>
                <a:ea typeface="Calibri" panose="020F0502020204030204" pitchFamily="34" charset="0"/>
              </a:rPr>
              <a:t> RD_SYS_T </a:t>
            </a:r>
            <a:r>
              <a:rPr lang="en-US" b="1" dirty="0" err="1">
                <a:latin typeface="Times New Roman" panose="02020603050405020304" pitchFamily="18" charset="0"/>
                <a:ea typeface="Calibri" panose="020F0502020204030204" pitchFamily="34" charset="0"/>
              </a:rPr>
              <a:t>và</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khối</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hàm</a:t>
            </a:r>
            <a:r>
              <a:rPr lang="en-US" b="1" dirty="0">
                <a:latin typeface="Times New Roman" panose="02020603050405020304" pitchFamily="18" charset="0"/>
                <a:ea typeface="Calibri" panose="020F0502020204030204" pitchFamily="34" charset="0"/>
              </a:rPr>
              <a:t> WR_SYS_T</a:t>
            </a:r>
            <a:endParaRPr lang="en-US" dirty="0"/>
          </a:p>
        </p:txBody>
      </p:sp>
      <p:pic>
        <p:nvPicPr>
          <p:cNvPr id="9" name="Picture 8" descr="23.PNG"/>
          <p:cNvPicPr/>
          <p:nvPr/>
        </p:nvPicPr>
        <p:blipFill>
          <a:blip r:embed="rId4"/>
          <a:stretch>
            <a:fillRect/>
          </a:stretch>
        </p:blipFill>
        <p:spPr>
          <a:xfrm>
            <a:off x="830801" y="2330966"/>
            <a:ext cx="961302" cy="907140"/>
          </a:xfrm>
          <a:prstGeom prst="rect">
            <a:avLst/>
          </a:prstGeom>
        </p:spPr>
      </p:pic>
      <p:sp>
        <p:nvSpPr>
          <p:cNvPr id="3" name="Rectangle 2"/>
          <p:cNvSpPr/>
          <p:nvPr/>
        </p:nvSpPr>
        <p:spPr>
          <a:xfrm>
            <a:off x="1916651" y="2398536"/>
            <a:ext cx="9642075" cy="646331"/>
          </a:xfrm>
          <a:prstGeom prst="rect">
            <a:avLst/>
          </a:prstGeom>
        </p:spPr>
        <p:txBody>
          <a:bodyPr wrap="square">
            <a:spAutoFit/>
          </a:bodyPr>
          <a:lstStyle/>
          <a:p>
            <a:r>
              <a:rPr lang="en-US" dirty="0" err="1">
                <a:latin typeface="Times New Roman" panose="02020603050405020304" pitchFamily="18" charset="0"/>
                <a:ea typeface="Calibri" panose="020F0502020204030204" pitchFamily="34" charset="0"/>
              </a:rPr>
              <a:t>Công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dụng</a:t>
            </a:r>
            <a:r>
              <a:rPr lang="en-US" dirty="0">
                <a:latin typeface="Times New Roman" panose="02020603050405020304" pitchFamily="18" charset="0"/>
                <a:ea typeface="Calibri" panose="020F0502020204030204" pitchFamily="34" charset="0"/>
              </a:rPr>
              <a:t>: WR_SYS_T (Write System Time)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thiết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thời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gian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thực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của</a:t>
            </a:r>
            <a:r>
              <a:rPr lang="en-US" dirty="0">
                <a:latin typeface="Times New Roman" panose="02020603050405020304" pitchFamily="18" charset="0"/>
                <a:ea typeface="Calibri" panose="020F0502020204030204" pitchFamily="34" charset="0"/>
              </a:rPr>
              <a:t> CPU </a:t>
            </a:r>
            <a:r>
              <a:rPr lang="en-US" dirty="0" err="1">
                <a:latin typeface="Times New Roman" panose="02020603050405020304" pitchFamily="18" charset="0"/>
                <a:ea typeface="Calibri" panose="020F0502020204030204" pitchFamily="34" charset="0"/>
              </a:rPr>
              <a:t>với</a:t>
            </a:r>
            <a:r>
              <a:rPr lang="en-US" dirty="0">
                <a:latin typeface="Times New Roman" panose="02020603050405020304" pitchFamily="18" charset="0"/>
                <a:ea typeface="Calibri" panose="020F0502020204030204" pitchFamily="34" charset="0"/>
              </a:rPr>
              <a:t> 1 </a:t>
            </a:r>
            <a:r>
              <a:rPr lang="en-US" dirty="0" err="1">
                <a:latin typeface="Times New Roman" panose="02020603050405020304" pitchFamily="18" charset="0"/>
                <a:ea typeface="Calibri" panose="020F0502020204030204" pitchFamily="34" charset="0"/>
              </a:rPr>
              <a:t>giá</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trị</a:t>
            </a:r>
            <a:r>
              <a:rPr lang="en-US" dirty="0">
                <a:latin typeface="Times New Roman" panose="02020603050405020304" pitchFamily="18" charset="0"/>
                <a:ea typeface="Calibri" panose="020F0502020204030204" pitchFamily="34" charset="0"/>
              </a:rPr>
              <a:t> DTL </a:t>
            </a:r>
            <a:r>
              <a:rPr lang="en-US" dirty="0" err="1">
                <a:latin typeface="Times New Roman" panose="02020603050405020304" pitchFamily="18" charset="0"/>
                <a:ea typeface="Calibri" panose="020F0502020204030204" pitchFamily="34" charset="0"/>
              </a:rPr>
              <a:t>tại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thông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IN. </a:t>
            </a:r>
            <a:endParaRPr lang="en-US" dirty="0"/>
          </a:p>
        </p:txBody>
      </p:sp>
      <p:pic>
        <p:nvPicPr>
          <p:cNvPr id="13" name="Picture 12" descr="22.PNG"/>
          <p:cNvPicPr/>
          <p:nvPr/>
        </p:nvPicPr>
        <p:blipFill>
          <a:blip r:embed="rId5"/>
          <a:stretch>
            <a:fillRect/>
          </a:stretch>
        </p:blipFill>
        <p:spPr>
          <a:xfrm>
            <a:off x="811751" y="3485261"/>
            <a:ext cx="1104900" cy="914400"/>
          </a:xfrm>
          <a:prstGeom prst="rect">
            <a:avLst/>
          </a:prstGeom>
        </p:spPr>
      </p:pic>
      <p:sp>
        <p:nvSpPr>
          <p:cNvPr id="4" name="Rectangle 3"/>
          <p:cNvSpPr/>
          <p:nvPr/>
        </p:nvSpPr>
        <p:spPr>
          <a:xfrm>
            <a:off x="1916651" y="3576212"/>
            <a:ext cx="9951314" cy="646331"/>
          </a:xfrm>
          <a:prstGeom prst="rect">
            <a:avLst/>
          </a:prstGeom>
        </p:spPr>
        <p:txBody>
          <a:bodyPr wrap="square">
            <a:spAutoFit/>
          </a:bodyPr>
          <a:lstStyle/>
          <a:p>
            <a:r>
              <a:rPr lang="en-US" dirty="0" err="1">
                <a:latin typeface="Times New Roman" panose="02020603050405020304" pitchFamily="18" charset="0"/>
                <a:ea typeface="Calibri" panose="020F0502020204030204" pitchFamily="34" charset="0"/>
              </a:rPr>
              <a:t>Công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dụng</a:t>
            </a:r>
            <a:r>
              <a:rPr lang="en-US" dirty="0">
                <a:latin typeface="Times New Roman" panose="02020603050405020304" pitchFamily="18" charset="0"/>
                <a:ea typeface="Calibri" panose="020F0502020204030204" pitchFamily="34" charset="0"/>
              </a:rPr>
              <a:t> RD_SYS_T (Read System Time) </a:t>
            </a:r>
            <a:r>
              <a:rPr lang="en-US" dirty="0" err="1">
                <a:latin typeface="Times New Roman" panose="02020603050405020304" pitchFamily="18" charset="0"/>
                <a:ea typeface="Calibri" panose="020F0502020204030204" pitchFamily="34" charset="0"/>
              </a:rPr>
              <a:t>để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đọc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thời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gian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hiện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của</a:t>
            </a:r>
            <a:r>
              <a:rPr lang="en-US" dirty="0">
                <a:latin typeface="Times New Roman" panose="02020603050405020304" pitchFamily="18" charset="0"/>
                <a:ea typeface="Calibri" panose="020F0502020204030204" pitchFamily="34" charset="0"/>
              </a:rPr>
              <a:t> CPU </a:t>
            </a:r>
            <a:r>
              <a:rPr lang="en-US" dirty="0" err="1">
                <a:latin typeface="Times New Roman" panose="02020603050405020304" pitchFamily="18" charset="0"/>
                <a:ea typeface="Calibri" panose="020F0502020204030204" pitchFamily="34" charset="0"/>
              </a:rPr>
              <a:t>và</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xuất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thời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gian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1 </a:t>
            </a:r>
            <a:r>
              <a:rPr lang="en-US" dirty="0" err="1">
                <a:latin typeface="Times New Roman" panose="02020603050405020304" pitchFamily="18" charset="0"/>
                <a:ea typeface="Calibri" panose="020F0502020204030204" pitchFamily="34" charset="0"/>
              </a:rPr>
              <a:t>giá</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trị</a:t>
            </a:r>
            <a:r>
              <a:rPr lang="en-US" dirty="0">
                <a:latin typeface="Times New Roman" panose="02020603050405020304" pitchFamily="18" charset="0"/>
                <a:ea typeface="Calibri" panose="020F0502020204030204" pitchFamily="34" charset="0"/>
              </a:rPr>
              <a:t> DTL </a:t>
            </a:r>
            <a:r>
              <a:rPr lang="en-US" dirty="0" err="1">
                <a:latin typeface="Times New Roman" panose="02020603050405020304" pitchFamily="18" charset="0"/>
                <a:ea typeface="Calibri" panose="020F0502020204030204" pitchFamily="34" charset="0"/>
              </a:rPr>
              <a:t>tại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thông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số</a:t>
            </a:r>
            <a:r>
              <a:rPr lang="en-US" dirty="0">
                <a:latin typeface="Times New Roman" panose="02020603050405020304" pitchFamily="18" charset="0"/>
                <a:ea typeface="Calibri" panose="020F0502020204030204" pitchFamily="34" charset="0"/>
              </a:rPr>
              <a:t> OUT.</a:t>
            </a:r>
            <a:endParaRPr lang="en-US" dirty="0"/>
          </a:p>
        </p:txBody>
      </p:sp>
    </p:spTree>
    <p:extLst>
      <p:ext uri="{BB962C8B-B14F-4D97-AF65-F5344CB8AC3E}">
        <p14:creationId xmlns:p14="http://schemas.microsoft.com/office/powerpoint/2010/main" val="874840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80742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KHỐI</a:t>
            </a:r>
            <a:r>
              <a:rPr kumimoji="0" lang="en-US" altLang="en-US" sz="1800" b="1" i="0" u="none" strike="noStrike" kern="1200" cap="none" spc="0" normalizeH="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HÀM CƠ BẢN TRONG CHỨC NĂNG THỜI GIAN THỰC</a:t>
            </a: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p:txBody>
      </p:sp>
      <p:sp>
        <p:nvSpPr>
          <p:cNvPr id="9" name="Rectangle 8"/>
          <p:cNvSpPr/>
          <p:nvPr/>
        </p:nvSpPr>
        <p:spPr>
          <a:xfrm>
            <a:off x="3648214" y="1439577"/>
            <a:ext cx="4895571" cy="369332"/>
          </a:xfrm>
          <a:prstGeom prst="rect">
            <a:avLst/>
          </a:prstGeom>
        </p:spPr>
        <p:txBody>
          <a:bodyPr wrap="none">
            <a:spAutoFit/>
          </a:bodyPr>
          <a:lstStyle/>
          <a:p>
            <a:r>
              <a:rPr lang="en-US" b="1" dirty="0" err="1">
                <a:latin typeface="Times New Roman" panose="02020603050405020304" pitchFamily="18" charset="0"/>
                <a:ea typeface="Calibri" panose="020F0502020204030204" pitchFamily="34" charset="0"/>
              </a:rPr>
              <a:t>Khối</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hàm</a:t>
            </a:r>
            <a:r>
              <a:rPr lang="en-US" b="1" dirty="0">
                <a:latin typeface="Times New Roman" panose="02020603050405020304" pitchFamily="18" charset="0"/>
                <a:ea typeface="Calibri" panose="020F0502020204030204" pitchFamily="34" charset="0"/>
              </a:rPr>
              <a:t> RD_SYS_T </a:t>
            </a:r>
            <a:r>
              <a:rPr lang="en-US" b="1" dirty="0" err="1">
                <a:latin typeface="Times New Roman" panose="02020603050405020304" pitchFamily="18" charset="0"/>
                <a:ea typeface="Calibri" panose="020F0502020204030204" pitchFamily="34" charset="0"/>
              </a:rPr>
              <a:t>và</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khối</a:t>
            </a:r>
            <a:r>
              <a:rPr lang="en-US" b="1" dirty="0">
                <a:latin typeface="Times New Roman" panose="02020603050405020304" pitchFamily="18" charset="0"/>
                <a:ea typeface="Calibri" panose="020F0502020204030204" pitchFamily="34" charset="0"/>
              </a:rPr>
              <a:t> </a:t>
            </a:r>
            <a:r>
              <a:rPr lang="en-US" b="1" dirty="0" err="1">
                <a:latin typeface="Times New Roman" panose="02020603050405020304" pitchFamily="18" charset="0"/>
                <a:ea typeface="Calibri" panose="020F0502020204030204" pitchFamily="34" charset="0"/>
              </a:rPr>
              <a:t>hàm</a:t>
            </a:r>
            <a:r>
              <a:rPr lang="en-US" b="1" dirty="0">
                <a:latin typeface="Times New Roman" panose="02020603050405020304" pitchFamily="18" charset="0"/>
                <a:ea typeface="Calibri" panose="020F0502020204030204" pitchFamily="34" charset="0"/>
              </a:rPr>
              <a:t> WR_SYS_T</a:t>
            </a:r>
            <a:endParaRPr lang="en-US" dirty="0"/>
          </a:p>
        </p:txBody>
      </p:sp>
      <p:sp>
        <p:nvSpPr>
          <p:cNvPr id="2" name="Rectangle 1"/>
          <p:cNvSpPr/>
          <p:nvPr/>
        </p:nvSpPr>
        <p:spPr>
          <a:xfrm>
            <a:off x="524489" y="3068222"/>
            <a:ext cx="4147417" cy="410882"/>
          </a:xfrm>
          <a:prstGeom prst="rect">
            <a:avLst/>
          </a:prstGeom>
        </p:spPr>
        <p:txBody>
          <a:bodyPr wrap="none">
            <a:spAutoFit/>
          </a:bodyPr>
          <a:lstStyle/>
          <a:p>
            <a:pPr algn="just">
              <a:lnSpc>
                <a:spcPct val="115000"/>
              </a:lnSpc>
              <a:spcAft>
                <a:spcPts val="1000"/>
              </a:spcAft>
            </a:pP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mã</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trạng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thái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của</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số</a:t>
            </a:r>
            <a:r>
              <a:rPr lang="en-US" dirty="0">
                <a:latin typeface="Times New Roman" panose="02020603050405020304" pitchFamily="18" charset="0"/>
                <a:ea typeface="Calibri" panose="020F0502020204030204" pitchFamily="34" charset="0"/>
                <a:cs typeface="Times New Roman" panose="02020603050405020304" pitchFamily="18" charset="0"/>
              </a:rPr>
              <a:t> RET_VAL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descr="24.PNG"/>
          <p:cNvPicPr/>
          <p:nvPr/>
        </p:nvPicPr>
        <p:blipFill rotWithShape="1">
          <a:blip r:embed="rId4"/>
          <a:srcRect t="9463"/>
          <a:stretch/>
        </p:blipFill>
        <p:spPr>
          <a:xfrm>
            <a:off x="2810891" y="3559946"/>
            <a:ext cx="6570216" cy="2901178"/>
          </a:xfrm>
          <a:prstGeom prst="rect">
            <a:avLst/>
          </a:prstGeom>
        </p:spPr>
      </p:pic>
      <p:graphicFrame>
        <p:nvGraphicFramePr>
          <p:cNvPr id="14" name="Table 13"/>
          <p:cNvGraphicFramePr>
            <a:graphicFrameLocks noGrp="1"/>
          </p:cNvGraphicFramePr>
          <p:nvPr>
            <p:extLst>
              <p:ext uri="{D42A27DB-BD31-4B8C-83A1-F6EECF244321}">
                <p14:modId xmlns:p14="http://schemas.microsoft.com/office/powerpoint/2010/main" val="3220242208"/>
              </p:ext>
            </p:extLst>
          </p:nvPr>
        </p:nvGraphicFramePr>
        <p:xfrm>
          <a:off x="1474277" y="2034257"/>
          <a:ext cx="8959357" cy="903587"/>
        </p:xfrm>
        <a:graphic>
          <a:graphicData uri="http://schemas.openxmlformats.org/drawingml/2006/table">
            <a:tbl>
              <a:tblPr firstRow="1" firstCol="1" bandRow="1">
                <a:tableStyleId>{5C22544A-7EE6-4342-B048-85BDC9FD1C3A}</a:tableStyleId>
              </a:tblPr>
              <a:tblGrid>
                <a:gridCol w="1762211">
                  <a:extLst>
                    <a:ext uri="{9D8B030D-6E8A-4147-A177-3AD203B41FA5}">
                      <a16:colId xmlns:a16="http://schemas.microsoft.com/office/drawing/2014/main" val="935970713"/>
                    </a:ext>
                  </a:extLst>
                </a:gridCol>
                <a:gridCol w="1308573">
                  <a:extLst>
                    <a:ext uri="{9D8B030D-6E8A-4147-A177-3AD203B41FA5}">
                      <a16:colId xmlns:a16="http://schemas.microsoft.com/office/drawing/2014/main" val="2904270435"/>
                    </a:ext>
                  </a:extLst>
                </a:gridCol>
                <a:gridCol w="5888573">
                  <a:extLst>
                    <a:ext uri="{9D8B030D-6E8A-4147-A177-3AD203B41FA5}">
                      <a16:colId xmlns:a16="http://schemas.microsoft.com/office/drawing/2014/main" val="422212789"/>
                    </a:ext>
                  </a:extLst>
                </a:gridCol>
              </a:tblGrid>
              <a:tr h="342755">
                <a:tc>
                  <a:txBody>
                    <a:bodyPr/>
                    <a:lstStyle/>
                    <a:p>
                      <a:pPr algn="just">
                        <a:lnSpc>
                          <a:spcPct val="1150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IN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IN</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Thời gian của ngày được thiết lập vào đồng hồ hệ thống của CPU</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extLst>
                  <a:ext uri="{0D108BD9-81ED-4DB2-BD59-A6C34878D82A}">
                    <a16:rowId xmlns:a16="http://schemas.microsoft.com/office/drawing/2014/main" val="1646017668"/>
                  </a:ext>
                </a:extLst>
              </a:tr>
              <a:tr h="171378">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RET_VAL</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OUT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Mã trạng thái thực thi</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extLst>
                  <a:ext uri="{0D108BD9-81ED-4DB2-BD59-A6C34878D82A}">
                    <a16:rowId xmlns:a16="http://schemas.microsoft.com/office/drawing/2014/main" val="987480468"/>
                  </a:ext>
                </a:extLst>
              </a:tr>
              <a:tr h="171378">
                <a:tc>
                  <a:txBody>
                    <a:bodyPr/>
                    <a:lstStyle/>
                    <a:p>
                      <a:pPr algn="just">
                        <a:lnSpc>
                          <a:spcPct val="115000"/>
                        </a:lnSpc>
                        <a:spcBef>
                          <a:spcPts val="600"/>
                        </a:spcBef>
                        <a:spcAft>
                          <a:spcPts val="600"/>
                        </a:spcAft>
                      </a:pPr>
                      <a:r>
                        <a:rPr lang="en-US" sz="1600">
                          <a:effectLst/>
                          <a:latin typeface="Times New Roman" panose="02020603050405020304" pitchFamily="18" charset="0"/>
                          <a:cs typeface="Times New Roman" panose="02020603050405020304" pitchFamily="18" charset="0"/>
                        </a:rPr>
                        <a:t>OUT</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dirty="0">
                          <a:effectLst/>
                          <a:latin typeface="Times New Roman" panose="02020603050405020304" pitchFamily="18" charset="0"/>
                          <a:cs typeface="Times New Roman" panose="02020603050405020304" pitchFamily="18" charset="0"/>
                        </a:rPr>
                        <a:t>OUT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tc>
                  <a:txBody>
                    <a:bodyPr/>
                    <a:lstStyle/>
                    <a:p>
                      <a:pPr algn="just">
                        <a:lnSpc>
                          <a:spcPct val="115000"/>
                        </a:lnSpc>
                        <a:spcBef>
                          <a:spcPts val="600"/>
                        </a:spcBef>
                        <a:spcAft>
                          <a:spcPts val="600"/>
                        </a:spcAft>
                      </a:pPr>
                      <a:r>
                        <a:rPr lang="en-US" sz="1600" dirty="0" err="1">
                          <a:effectLst/>
                          <a:latin typeface="Times New Roman" panose="02020603050405020304" pitchFamily="18" charset="0"/>
                          <a:cs typeface="Times New Roman" panose="02020603050405020304" pitchFamily="18" charset="0"/>
                        </a:rPr>
                        <a:t>Giờ</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hiện</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tại</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của</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hệ</a:t>
                      </a:r>
                      <a:r>
                        <a:rPr lang="en-US" sz="1600" dirty="0">
                          <a:effectLst/>
                          <a:latin typeface="Times New Roman" panose="02020603050405020304" pitchFamily="18" charset="0"/>
                          <a:cs typeface="Times New Roman" panose="02020603050405020304" pitchFamily="18" charset="0"/>
                        </a:rPr>
                        <a:t> </a:t>
                      </a:r>
                      <a:r>
                        <a:rPr lang="en-US" sz="1600" dirty="0" err="1">
                          <a:effectLst/>
                          <a:latin typeface="Times New Roman" panose="02020603050405020304" pitchFamily="18" charset="0"/>
                          <a:cs typeface="Times New Roman" panose="02020603050405020304" pitchFamily="18" charset="0"/>
                        </a:rPr>
                        <a:t>thống</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585" marR="51585" marT="0" marB="0"/>
                </a:tc>
                <a:extLst>
                  <a:ext uri="{0D108BD9-81ED-4DB2-BD59-A6C34878D82A}">
                    <a16:rowId xmlns:a16="http://schemas.microsoft.com/office/drawing/2014/main" val="3202999080"/>
                  </a:ext>
                </a:extLst>
              </a:tr>
            </a:tbl>
          </a:graphicData>
        </a:graphic>
      </p:graphicFrame>
    </p:spTree>
    <p:extLst>
      <p:ext uri="{BB962C8B-B14F-4D97-AF65-F5344CB8AC3E}">
        <p14:creationId xmlns:p14="http://schemas.microsoft.com/office/powerpoint/2010/main" val="246307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2" name="Rectangle 1"/>
          <p:cNvSpPr/>
          <p:nvPr/>
        </p:nvSpPr>
        <p:spPr>
          <a:xfrm>
            <a:off x="457199" y="1300535"/>
            <a:ext cx="4878259" cy="385362"/>
          </a:xfrm>
          <a:prstGeom prst="rect">
            <a:avLst/>
          </a:prstGeom>
        </p:spPr>
        <p:txBody>
          <a:bodyPr wrap="none">
            <a:spAutoFit/>
          </a:bodyPr>
          <a:lstStyle/>
          <a:p>
            <a:pPr marL="342900" lvl="0" indent="-342900" algn="just">
              <a:lnSpc>
                <a:spcPct val="115000"/>
              </a:lnSpc>
              <a:spcAft>
                <a:spcPts val="1000"/>
              </a:spcAft>
              <a:buFont typeface="+mj-lt"/>
              <a:buAutoNum type="arabicPeriod"/>
            </a:pPr>
            <a:r>
              <a:rPr lang="en-US" b="1" i="1" dirty="0" err="1">
                <a:latin typeface="Times New Roman" panose="02020603050405020304" pitchFamily="18" charset="0"/>
                <a:ea typeface="Calibri" panose="020F0502020204030204" pitchFamily="34" charset="0"/>
                <a:cs typeface="Times New Roman" panose="02020603050405020304" pitchFamily="18" charset="0"/>
              </a:rPr>
              <a:t>Đọc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và</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sử</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dụng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thực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của</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hệ</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thống</a:t>
            </a:r>
            <a:r>
              <a:rPr lang="en-US" b="1" i="1"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p:cNvSpPr/>
          <p:nvPr/>
        </p:nvSpPr>
        <p:spPr>
          <a:xfrm>
            <a:off x="798450" y="1724116"/>
            <a:ext cx="4895636" cy="410882"/>
          </a:xfrm>
          <a:prstGeom prst="rect">
            <a:avLst/>
          </a:prstGeom>
        </p:spPr>
        <p:txBody>
          <a:bodyPr wrap="none">
            <a:spAutoFit/>
          </a:bodyPr>
          <a:lstStyle/>
          <a:p>
            <a:pPr algn="just">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B1: </a:t>
            </a:r>
            <a:r>
              <a:rPr lang="en-US" dirty="0" err="1">
                <a:latin typeface="Times New Roman" panose="02020603050405020304" pitchFamily="18" charset="0"/>
                <a:ea typeface="Calibri" panose="020F0502020204030204" pitchFamily="34" charset="0"/>
                <a:cs typeface="Times New Roman" panose="02020603050405020304" pitchFamily="18" charset="0"/>
              </a:rPr>
              <a:t>Tạo</a:t>
            </a:r>
            <a:r>
              <a:rPr lang="en-US" dirty="0">
                <a:latin typeface="Times New Roman" panose="02020603050405020304" pitchFamily="18" charset="0"/>
                <a:ea typeface="Calibri" panose="020F0502020204030204" pitchFamily="34" charset="0"/>
                <a:cs typeface="Times New Roman" panose="02020603050405020304" pitchFamily="18" charset="0"/>
              </a:rPr>
              <a:t> 1 project </a:t>
            </a:r>
            <a:r>
              <a:rPr lang="en-US" dirty="0" err="1">
                <a:latin typeface="Times New Roman" panose="02020603050405020304" pitchFamily="18" charset="0"/>
                <a:ea typeface="Calibri" panose="020F0502020204030204" pitchFamily="34" charset="0"/>
                <a:cs typeface="Times New Roman" panose="02020603050405020304" pitchFamily="18" charset="0"/>
              </a:rPr>
              <a:t>với</a:t>
            </a:r>
            <a:r>
              <a:rPr lang="en-US" dirty="0">
                <a:latin typeface="Times New Roman" panose="02020603050405020304" pitchFamily="18" charset="0"/>
                <a:ea typeface="Calibri" panose="020F0502020204030204" pitchFamily="34" charset="0"/>
                <a:cs typeface="Times New Roman" panose="02020603050405020304" pitchFamily="18" charset="0"/>
              </a:rPr>
              <a:t> TIA Portal </a:t>
            </a:r>
            <a:r>
              <a:rPr lang="en-US" dirty="0" err="1">
                <a:latin typeface="Times New Roman" panose="02020603050405020304" pitchFamily="18" charset="0"/>
                <a:ea typeface="Calibri" panose="020F0502020204030204" pitchFamily="34" charset="0"/>
                <a:cs typeface="Times New Roman" panose="02020603050405020304" pitchFamily="18" charset="0"/>
              </a:rPr>
              <a:t>dùng</a:t>
            </a:r>
            <a:r>
              <a:rPr lang="en-US" dirty="0">
                <a:latin typeface="Times New Roman" panose="02020603050405020304" pitchFamily="18" charset="0"/>
                <a:ea typeface="Calibri" panose="020F0502020204030204" pitchFamily="34" charset="0"/>
                <a:cs typeface="Times New Roman" panose="02020603050405020304" pitchFamily="18" charset="0"/>
              </a:rPr>
              <a:t> plc S7-1200</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Rectangle 3"/>
          <p:cNvSpPr/>
          <p:nvPr/>
        </p:nvSpPr>
        <p:spPr>
          <a:xfrm>
            <a:off x="798450" y="2134998"/>
            <a:ext cx="4583819" cy="410882"/>
          </a:xfrm>
          <a:prstGeom prst="rect">
            <a:avLst/>
          </a:prstGeom>
        </p:spPr>
        <p:txBody>
          <a:bodyPr wrap="none">
            <a:spAutoFit/>
          </a:bodyPr>
          <a:lstStyle/>
          <a:p>
            <a:pPr algn="just">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B2: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OB1, </a:t>
            </a:r>
            <a:r>
              <a:rPr lang="en-US" dirty="0" err="1">
                <a:latin typeface="Times New Roman" panose="02020603050405020304" pitchFamily="18" charset="0"/>
                <a:ea typeface="Calibri" panose="020F0502020204030204" pitchFamily="34" charset="0"/>
                <a:cs typeface="Times New Roman" panose="02020603050405020304" pitchFamily="18" charset="0"/>
              </a:rPr>
              <a:t>lấy</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hàm</a:t>
            </a:r>
            <a:r>
              <a:rPr lang="en-US" dirty="0">
                <a:latin typeface="Times New Roman" panose="02020603050405020304" pitchFamily="18" charset="0"/>
                <a:ea typeface="Calibri" panose="020F0502020204030204" pitchFamily="34" charset="0"/>
                <a:cs typeface="Times New Roman" panose="02020603050405020304" pitchFamily="18" charset="0"/>
              </a:rPr>
              <a:t> RD_SYS_T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descr="25.PNG"/>
          <p:cNvPicPr/>
          <p:nvPr/>
        </p:nvPicPr>
        <p:blipFill>
          <a:blip r:embed="rId4"/>
          <a:stretch>
            <a:fillRect/>
          </a:stretch>
        </p:blipFill>
        <p:spPr>
          <a:xfrm>
            <a:off x="1284800" y="2819871"/>
            <a:ext cx="8818572" cy="2830604"/>
          </a:xfrm>
          <a:prstGeom prst="rect">
            <a:avLst/>
          </a:prstGeom>
        </p:spPr>
      </p:pic>
    </p:spTree>
    <p:extLst>
      <p:ext uri="{BB962C8B-B14F-4D97-AF65-F5344CB8AC3E}">
        <p14:creationId xmlns:p14="http://schemas.microsoft.com/office/powerpoint/2010/main" val="2913304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8"/>
          <p:cNvSpPr/>
          <p:nvPr/>
        </p:nvSpPr>
        <p:spPr>
          <a:xfrm>
            <a:off x="457199" y="1300535"/>
            <a:ext cx="4878259" cy="385362"/>
          </a:xfrm>
          <a:prstGeom prst="rect">
            <a:avLst/>
          </a:prstGeom>
        </p:spPr>
        <p:txBody>
          <a:bodyPr wrap="none">
            <a:spAutoFit/>
          </a:bodyPr>
          <a:lstStyle/>
          <a:p>
            <a:pPr marL="342900" lvl="0" indent="-342900" algn="just">
              <a:lnSpc>
                <a:spcPct val="115000"/>
              </a:lnSpc>
              <a:spcAft>
                <a:spcPts val="1000"/>
              </a:spcAft>
              <a:buFont typeface="+mj-lt"/>
              <a:buAutoNum type="arabicPeriod"/>
            </a:pPr>
            <a:r>
              <a:rPr lang="en-US" b="1" i="1" dirty="0" err="1">
                <a:latin typeface="Times New Roman" panose="02020603050405020304" pitchFamily="18" charset="0"/>
                <a:ea typeface="Calibri" panose="020F0502020204030204" pitchFamily="34" charset="0"/>
                <a:cs typeface="Times New Roman" panose="02020603050405020304" pitchFamily="18" charset="0"/>
              </a:rPr>
              <a:t>Đọc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và</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sử</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dụng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thực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của</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hệ</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thống</a:t>
            </a:r>
            <a:r>
              <a:rPr lang="en-US" b="1" i="1"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93238" y="1698596"/>
            <a:ext cx="3290324" cy="410882"/>
          </a:xfrm>
          <a:prstGeom prst="rect">
            <a:avLst/>
          </a:prstGeom>
        </p:spPr>
        <p:txBody>
          <a:bodyPr wrap="none">
            <a:spAutoFit/>
          </a:bodyPr>
          <a:lstStyle/>
          <a:p>
            <a:pPr algn="just">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B3: </a:t>
            </a:r>
            <a:r>
              <a:rPr lang="en-US" dirty="0" err="1">
                <a:latin typeface="Times New Roman" panose="02020603050405020304" pitchFamily="18" charset="0"/>
                <a:ea typeface="Calibri" panose="020F0502020204030204" pitchFamily="34" charset="0"/>
                <a:cs typeface="Times New Roman" panose="02020603050405020304" pitchFamily="18" charset="0"/>
              </a:rPr>
              <a:t>Tạo</a:t>
            </a:r>
            <a:r>
              <a:rPr lang="en-US" dirty="0">
                <a:latin typeface="Times New Roman" panose="02020603050405020304" pitchFamily="18" charset="0"/>
                <a:ea typeface="Calibri" panose="020F0502020204030204" pitchFamily="34" charset="0"/>
                <a:cs typeface="Times New Roman" panose="02020603050405020304" pitchFamily="18" charset="0"/>
              </a:rPr>
              <a:t> 1 </a:t>
            </a:r>
            <a:r>
              <a:rPr lang="en-US" dirty="0" err="1">
                <a:latin typeface="Times New Roman" panose="02020603050405020304" pitchFamily="18" charset="0"/>
                <a:ea typeface="Calibri" panose="020F0502020204030204" pitchFamily="34" charset="0"/>
                <a:cs typeface="Times New Roman" panose="02020603050405020304" pitchFamily="18" charset="0"/>
              </a:rPr>
              <a:t>khối</a:t>
            </a:r>
            <a:r>
              <a:rPr lang="en-US" dirty="0">
                <a:latin typeface="Times New Roman" panose="02020603050405020304" pitchFamily="18" charset="0"/>
                <a:ea typeface="Calibri" panose="020F0502020204030204" pitchFamily="34" charset="0"/>
                <a:cs typeface="Times New Roman" panose="02020603050405020304" pitchFamily="18" charset="0"/>
              </a:rPr>
              <a:t> DB </a:t>
            </a:r>
            <a:r>
              <a:rPr lang="en-US" dirty="0" err="1">
                <a:latin typeface="Times New Roman" panose="02020603050405020304" pitchFamily="18" charset="0"/>
                <a:ea typeface="Calibri" panose="020F0502020204030204" pitchFamily="34" charset="0"/>
                <a:cs typeface="Times New Roman" panose="02020603050405020304" pitchFamily="18" charset="0"/>
              </a:rPr>
              <a:t>để</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lưu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dữ</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liệu</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descr="26.PNG"/>
          <p:cNvPicPr/>
          <p:nvPr/>
        </p:nvPicPr>
        <p:blipFill>
          <a:blip r:embed="rId4"/>
          <a:stretch>
            <a:fillRect/>
          </a:stretch>
        </p:blipFill>
        <p:spPr>
          <a:xfrm>
            <a:off x="3150486" y="2191080"/>
            <a:ext cx="5572910" cy="4212255"/>
          </a:xfrm>
          <a:prstGeom prst="rect">
            <a:avLst/>
          </a:prstGeom>
        </p:spPr>
      </p:pic>
    </p:spTree>
    <p:extLst>
      <p:ext uri="{BB962C8B-B14F-4D97-AF65-F5344CB8AC3E}">
        <p14:creationId xmlns:p14="http://schemas.microsoft.com/office/powerpoint/2010/main" val="3768354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8"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9" name="Rectangle 8"/>
          <p:cNvSpPr/>
          <p:nvPr/>
        </p:nvSpPr>
        <p:spPr>
          <a:xfrm>
            <a:off x="457199" y="1300535"/>
            <a:ext cx="4878259" cy="385362"/>
          </a:xfrm>
          <a:prstGeom prst="rect">
            <a:avLst/>
          </a:prstGeom>
        </p:spPr>
        <p:txBody>
          <a:bodyPr wrap="none">
            <a:spAutoFit/>
          </a:bodyPr>
          <a:lstStyle/>
          <a:p>
            <a:pPr marL="342900" lvl="0" indent="-342900" algn="just">
              <a:lnSpc>
                <a:spcPct val="115000"/>
              </a:lnSpc>
              <a:spcAft>
                <a:spcPts val="1000"/>
              </a:spcAft>
              <a:buFont typeface="+mj-lt"/>
              <a:buAutoNum type="arabicPeriod"/>
            </a:pPr>
            <a:r>
              <a:rPr lang="en-US" b="1" i="1" dirty="0" err="1">
                <a:latin typeface="Times New Roman" panose="02020603050405020304" pitchFamily="18" charset="0"/>
                <a:ea typeface="Calibri" panose="020F0502020204030204" pitchFamily="34" charset="0"/>
                <a:cs typeface="Times New Roman" panose="02020603050405020304" pitchFamily="18" charset="0"/>
              </a:rPr>
              <a:t>Đọc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và</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sử</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dụng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thực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của</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hệ</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thống</a:t>
            </a:r>
            <a:r>
              <a:rPr lang="en-US" b="1" i="1"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30928" y="1685897"/>
            <a:ext cx="11003872" cy="729430"/>
          </a:xfrm>
          <a:prstGeom prst="rect">
            <a:avLst/>
          </a:prstGeom>
        </p:spPr>
        <p:txBody>
          <a:bodyPr wrap="square">
            <a:spAutoFit/>
          </a:bodyPr>
          <a:lstStyle/>
          <a:p>
            <a:pPr algn="just">
              <a:lnSpc>
                <a:spcPct val="115000"/>
              </a:lnSpc>
              <a:spcAft>
                <a:spcPts val="1000"/>
              </a:spcAft>
            </a:pPr>
            <a:r>
              <a:rPr lang="en-US" dirty="0">
                <a:latin typeface="Times New Roman" panose="02020603050405020304" pitchFamily="18" charset="0"/>
                <a:ea typeface="Calibri" panose="020F0502020204030204" pitchFamily="34" charset="0"/>
                <a:cs typeface="Times New Roman" panose="02020603050405020304" pitchFamily="18" charset="0"/>
              </a:rPr>
              <a:t>B4: </a:t>
            </a:r>
            <a:r>
              <a:rPr lang="en-US" dirty="0" err="1">
                <a:latin typeface="Times New Roman" panose="02020603050405020304" pitchFamily="18" charset="0"/>
                <a:ea typeface="Calibri" panose="020F0502020204030204" pitchFamily="34" charset="0"/>
                <a:cs typeface="Times New Roman" panose="02020603050405020304" pitchFamily="18" charset="0"/>
              </a:rPr>
              <a:t>Trong</a:t>
            </a:r>
            <a:r>
              <a:rPr lang="en-US" dirty="0">
                <a:latin typeface="Times New Roman" panose="02020603050405020304" pitchFamily="18" charset="0"/>
                <a:ea typeface="Calibri" panose="020F0502020204030204" pitchFamily="34" charset="0"/>
                <a:cs typeface="Times New Roman" panose="02020603050405020304" pitchFamily="18" charset="0"/>
              </a:rPr>
              <a:t> DB1, </a:t>
            </a:r>
            <a:r>
              <a:rPr lang="en-US" dirty="0" err="1">
                <a:latin typeface="Times New Roman" panose="02020603050405020304" pitchFamily="18" charset="0"/>
                <a:ea typeface="Calibri" panose="020F0502020204030204" pitchFamily="34" charset="0"/>
                <a:cs typeface="Times New Roman" panose="02020603050405020304" pitchFamily="18" charset="0"/>
              </a:rPr>
              <a:t>tạo</a:t>
            </a:r>
            <a:r>
              <a:rPr lang="en-US" dirty="0">
                <a:latin typeface="Times New Roman" panose="02020603050405020304" pitchFamily="18" charset="0"/>
                <a:ea typeface="Calibri" panose="020F0502020204030204" pitchFamily="34" charset="0"/>
                <a:cs typeface="Times New Roman" panose="02020603050405020304" pitchFamily="18" charset="0"/>
              </a:rPr>
              <a:t> 1 </a:t>
            </a:r>
            <a:r>
              <a:rPr lang="en-US" dirty="0" err="1">
                <a:latin typeface="Times New Roman" panose="02020603050405020304" pitchFamily="18" charset="0"/>
                <a:ea typeface="Calibri" panose="020F0502020204030204" pitchFamily="34" charset="0"/>
                <a:cs typeface="Times New Roman" panose="02020603050405020304" pitchFamily="18" charset="0"/>
              </a:rPr>
              <a:t>biến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Current_Time</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dạng</a:t>
            </a:r>
            <a:r>
              <a:rPr lang="en-US" dirty="0">
                <a:latin typeface="Times New Roman" panose="02020603050405020304" pitchFamily="18" charset="0"/>
                <a:ea typeface="Calibri" panose="020F0502020204030204" pitchFamily="34" charset="0"/>
                <a:cs typeface="Times New Roman" panose="02020603050405020304" pitchFamily="18" charset="0"/>
              </a:rPr>
              <a:t> DTL </a:t>
            </a:r>
            <a:r>
              <a:rPr lang="en-US" dirty="0" err="1">
                <a:latin typeface="Times New Roman" panose="02020603050405020304" pitchFamily="18" charset="0"/>
                <a:ea typeface="Calibri" panose="020F0502020204030204" pitchFamily="34" charset="0"/>
                <a:cs typeface="Times New Roman" panose="02020603050405020304" pitchFamily="18" charset="0"/>
              </a:rPr>
              <a:t>như</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sau</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các</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số</a:t>
            </a:r>
            <a:r>
              <a:rPr lang="en-US" dirty="0">
                <a:latin typeface="Times New Roman" panose="02020603050405020304" pitchFamily="18" charset="0"/>
                <a:ea typeface="Calibri" panose="020F0502020204030204" pitchFamily="34" charset="0"/>
                <a:cs typeface="Times New Roman" panose="02020603050405020304" pitchFamily="18" charset="0"/>
              </a:rPr>
              <a:t> YEAR, MONTH, … </a:t>
            </a:r>
            <a:r>
              <a:rPr lang="en-US" dirty="0" err="1">
                <a:latin typeface="Times New Roman" panose="02020603050405020304" pitchFamily="18" charset="0"/>
                <a:ea typeface="Calibri" panose="020F0502020204030204" pitchFamily="34" charset="0"/>
                <a:cs typeface="Times New Roman" panose="02020603050405020304" pitchFamily="18" charset="0"/>
              </a:rPr>
              <a:t>là</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thông</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số</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tự</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đi</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kèm</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theo</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biến</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có</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định</a:t>
            </a:r>
            <a:r>
              <a:rPr lang="en-US" dirty="0">
                <a:latin typeface="Times New Roman" panose="02020603050405020304" pitchFamily="18" charset="0"/>
                <a:ea typeface="Calibri" panose="020F0502020204030204" pitchFamily="34" charset="0"/>
                <a:cs typeface="Times New Roman" panose="02020603050405020304" pitchFamily="18" charset="0"/>
              </a:rPr>
              <a:t> </a:t>
            </a:r>
            <a:r>
              <a:rPr lang="en-US" dirty="0" err="1">
                <a:latin typeface="Times New Roman" panose="02020603050405020304" pitchFamily="18" charset="0"/>
                <a:ea typeface="Calibri" panose="020F0502020204030204" pitchFamily="34" charset="0"/>
                <a:cs typeface="Times New Roman" panose="02020603050405020304" pitchFamily="18" charset="0"/>
              </a:rPr>
              <a:t>dạng</a:t>
            </a:r>
            <a:r>
              <a:rPr lang="en-US" dirty="0">
                <a:latin typeface="Times New Roman" panose="02020603050405020304" pitchFamily="18" charset="0"/>
                <a:ea typeface="Calibri" panose="020F0502020204030204" pitchFamily="34" charset="0"/>
                <a:cs typeface="Times New Roman" panose="02020603050405020304" pitchFamily="18" charset="0"/>
              </a:rPr>
              <a:t> DTL.</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descr="27.PNG"/>
          <p:cNvPicPr/>
          <p:nvPr/>
        </p:nvPicPr>
        <p:blipFill>
          <a:blip r:embed="rId4"/>
          <a:stretch>
            <a:fillRect/>
          </a:stretch>
        </p:blipFill>
        <p:spPr>
          <a:xfrm>
            <a:off x="1366421" y="2636780"/>
            <a:ext cx="8665345" cy="3550956"/>
          </a:xfrm>
          <a:prstGeom prst="rect">
            <a:avLst/>
          </a:prstGeom>
        </p:spPr>
      </p:pic>
    </p:spTree>
    <p:extLst>
      <p:ext uri="{BB962C8B-B14F-4D97-AF65-F5344CB8AC3E}">
        <p14:creationId xmlns:p14="http://schemas.microsoft.com/office/powerpoint/2010/main" val="283881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7"/>
          <p:cNvSpPr/>
          <p:nvPr/>
        </p:nvSpPr>
        <p:spPr>
          <a:xfrm>
            <a:off x="457199" y="1300535"/>
            <a:ext cx="4878259" cy="385362"/>
          </a:xfrm>
          <a:prstGeom prst="rect">
            <a:avLst/>
          </a:prstGeom>
        </p:spPr>
        <p:txBody>
          <a:bodyPr wrap="none">
            <a:spAutoFit/>
          </a:bodyPr>
          <a:lstStyle/>
          <a:p>
            <a:pPr marL="342900" lvl="0" indent="-342900" algn="just">
              <a:lnSpc>
                <a:spcPct val="115000"/>
              </a:lnSpc>
              <a:spcAft>
                <a:spcPts val="1000"/>
              </a:spcAft>
              <a:buFont typeface="+mj-lt"/>
              <a:buAutoNum type="arabicPeriod"/>
            </a:pPr>
            <a:r>
              <a:rPr lang="en-US" b="1" i="1" dirty="0" err="1">
                <a:latin typeface="Times New Roman" panose="02020603050405020304" pitchFamily="18" charset="0"/>
                <a:ea typeface="Calibri" panose="020F0502020204030204" pitchFamily="34" charset="0"/>
                <a:cs typeface="Times New Roman" panose="02020603050405020304" pitchFamily="18" charset="0"/>
              </a:rPr>
              <a:t>Đọc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và</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sử</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dụng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thực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của</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hệ</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thống</a:t>
            </a:r>
            <a:r>
              <a:rPr lang="en-US" b="1" i="1"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63997" y="1698596"/>
            <a:ext cx="3934731"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rPr>
              <a:t>B5: </a:t>
            </a:r>
            <a:r>
              <a:rPr lang="en-US" dirty="0" err="1">
                <a:latin typeface="Times New Roman" panose="02020603050405020304" pitchFamily="18" charset="0"/>
                <a:ea typeface="Calibri" panose="020F0502020204030204" pitchFamily="34" charset="0"/>
              </a:rPr>
              <a:t>Khai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báo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RD_SYS_T </a:t>
            </a:r>
            <a:r>
              <a:rPr lang="en-US" dirty="0" err="1">
                <a:latin typeface="Times New Roman" panose="02020603050405020304" pitchFamily="18" charset="0"/>
                <a:ea typeface="Calibri" panose="020F0502020204030204" pitchFamily="34" charset="0"/>
              </a:rPr>
              <a:t>như</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hình</a:t>
            </a:r>
            <a:endParaRPr lang="en-US" dirty="0"/>
          </a:p>
        </p:txBody>
      </p:sp>
      <p:pic>
        <p:nvPicPr>
          <p:cNvPr id="10" name="Picture 9" descr="28.PNG"/>
          <p:cNvPicPr/>
          <p:nvPr/>
        </p:nvPicPr>
        <p:blipFill>
          <a:blip r:embed="rId4"/>
          <a:stretch>
            <a:fillRect/>
          </a:stretch>
        </p:blipFill>
        <p:spPr>
          <a:xfrm>
            <a:off x="2359888" y="2230144"/>
            <a:ext cx="6402372" cy="3701972"/>
          </a:xfrm>
          <a:prstGeom prst="rect">
            <a:avLst/>
          </a:prstGeom>
        </p:spPr>
      </p:pic>
    </p:spTree>
    <p:extLst>
      <p:ext uri="{BB962C8B-B14F-4D97-AF65-F5344CB8AC3E}">
        <p14:creationId xmlns:p14="http://schemas.microsoft.com/office/powerpoint/2010/main" val="480507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7"/>
          <p:cNvSpPr/>
          <p:nvPr/>
        </p:nvSpPr>
        <p:spPr>
          <a:xfrm>
            <a:off x="457199" y="1300535"/>
            <a:ext cx="4878259" cy="385362"/>
          </a:xfrm>
          <a:prstGeom prst="rect">
            <a:avLst/>
          </a:prstGeom>
        </p:spPr>
        <p:txBody>
          <a:bodyPr wrap="none">
            <a:spAutoFit/>
          </a:bodyPr>
          <a:lstStyle/>
          <a:p>
            <a:pPr marL="342900" lvl="0" indent="-342900" algn="just">
              <a:lnSpc>
                <a:spcPct val="115000"/>
              </a:lnSpc>
              <a:spcAft>
                <a:spcPts val="1000"/>
              </a:spcAft>
              <a:buFont typeface="+mj-lt"/>
              <a:buAutoNum type="arabicPeriod"/>
            </a:pPr>
            <a:r>
              <a:rPr lang="en-US" b="1" i="1" dirty="0" err="1">
                <a:latin typeface="Times New Roman" panose="02020603050405020304" pitchFamily="18" charset="0"/>
                <a:ea typeface="Calibri" panose="020F0502020204030204" pitchFamily="34" charset="0"/>
                <a:cs typeface="Times New Roman" panose="02020603050405020304" pitchFamily="18" charset="0"/>
              </a:rPr>
              <a:t>Đọc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và</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sử</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dụng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thực</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của</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hệ</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thống</a:t>
            </a:r>
            <a:r>
              <a:rPr lang="en-US" b="1" i="1" dirty="0">
                <a:latin typeface="Times New Roman" panose="02020603050405020304" pitchFamily="18" charset="0"/>
                <a:ea typeface="Calibri" panose="020F0502020204030204" pitchFamily="34" charset="0"/>
                <a:cs typeface="Times New Roman" panose="02020603050405020304" pitchFamily="18" charset="0"/>
              </a:rPr>
              <a: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93072" y="1685897"/>
            <a:ext cx="10941728" cy="646331"/>
          </a:xfrm>
          <a:prstGeom prst="rect">
            <a:avLst/>
          </a:prstGeom>
        </p:spPr>
        <p:txBody>
          <a:bodyPr wrap="square">
            <a:spAutoFit/>
          </a:bodyPr>
          <a:lstStyle/>
          <a:p>
            <a:r>
              <a:rPr lang="en-US" dirty="0">
                <a:latin typeface="Times New Roman" panose="02020603050405020304" pitchFamily="18" charset="0"/>
                <a:ea typeface="Calibri" panose="020F0502020204030204" pitchFamily="34" charset="0"/>
              </a:rPr>
              <a:t>B6: </a:t>
            </a:r>
            <a:r>
              <a:rPr lang="en-US" dirty="0" err="1">
                <a:latin typeface="Times New Roman" panose="02020603050405020304" pitchFamily="18" charset="0"/>
                <a:ea typeface="Calibri" panose="020F0502020204030204" pitchFamily="34" charset="0"/>
              </a:rPr>
              <a:t>Sử</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thời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gian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thực</a:t>
            </a:r>
            <a:r>
              <a:rPr lang="en-US" dirty="0">
                <a:latin typeface="Times New Roman" panose="02020603050405020304" pitchFamily="18" charset="0"/>
                <a:ea typeface="Calibri" panose="020F0502020204030204" pitchFamily="34" charset="0"/>
              </a:rPr>
              <a:t> </a:t>
            </a:r>
          </a:p>
          <a:p>
            <a:r>
              <a:rPr lang="en-US" dirty="0" err="1">
                <a:latin typeface="Times New Roman" panose="02020603050405020304" pitchFamily="18" charset="0"/>
                <a:ea typeface="Calibri" panose="020F0502020204030204" pitchFamily="34" charset="0"/>
              </a:rPr>
              <a:t>Ví</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dụ</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đèn</a:t>
            </a:r>
            <a:r>
              <a:rPr lang="en-US" dirty="0">
                <a:latin typeface="Times New Roman" panose="02020603050405020304" pitchFamily="18" charset="0"/>
                <a:ea typeface="Calibri" panose="020F0502020204030204" pitchFamily="34" charset="0"/>
              </a:rPr>
              <a:t> Q0.0 </a:t>
            </a:r>
            <a:r>
              <a:rPr lang="en-US" dirty="0" err="1">
                <a:latin typeface="Times New Roman" panose="02020603050405020304" pitchFamily="18" charset="0"/>
                <a:ea typeface="Calibri" panose="020F0502020204030204" pitchFamily="34" charset="0"/>
              </a:rPr>
              <a:t>sáng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lúc</a:t>
            </a:r>
            <a:r>
              <a:rPr lang="en-US" dirty="0">
                <a:latin typeface="Times New Roman" panose="02020603050405020304" pitchFamily="18" charset="0"/>
                <a:ea typeface="Calibri" panose="020F0502020204030204" pitchFamily="34" charset="0"/>
              </a:rPr>
              <a:t> 19g30 </a:t>
            </a:r>
            <a:r>
              <a:rPr lang="en-US" dirty="0" err="1">
                <a:latin typeface="Times New Roman" panose="02020603050405020304" pitchFamily="18" charset="0"/>
                <a:ea typeface="Calibri" panose="020F0502020204030204" pitchFamily="34" charset="0"/>
              </a:rPr>
              <a:t>tối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tắt</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lúc</a:t>
            </a:r>
            <a:r>
              <a:rPr lang="en-US" dirty="0">
                <a:latin typeface="Times New Roman" panose="02020603050405020304" pitchFamily="18" charset="0"/>
                <a:ea typeface="Calibri" panose="020F0502020204030204" pitchFamily="34" charset="0"/>
              </a:rPr>
              <a:t> 5g10 </a:t>
            </a:r>
            <a:r>
              <a:rPr lang="en-US" dirty="0" err="1">
                <a:latin typeface="Times New Roman" panose="02020603050405020304" pitchFamily="18" charset="0"/>
                <a:ea typeface="Calibri" panose="020F0502020204030204" pitchFamily="34" charset="0"/>
              </a:rPr>
              <a:t>sáng</a:t>
            </a:r>
            <a:r>
              <a:rPr lang="en-US" dirty="0">
                <a:latin typeface="Times New Roman" panose="02020603050405020304" pitchFamily="18" charset="0"/>
                <a:ea typeface="Calibri" panose="020F0502020204030204" pitchFamily="34" charset="0"/>
              </a:rPr>
              <a:t>.</a:t>
            </a:r>
            <a:endParaRPr lang="en-US" dirty="0"/>
          </a:p>
        </p:txBody>
      </p:sp>
      <p:pic>
        <p:nvPicPr>
          <p:cNvPr id="10" name="Picture 9" descr="29.PNG"/>
          <p:cNvPicPr/>
          <p:nvPr/>
        </p:nvPicPr>
        <p:blipFill>
          <a:blip r:embed="rId4"/>
          <a:stretch>
            <a:fillRect/>
          </a:stretch>
        </p:blipFill>
        <p:spPr>
          <a:xfrm>
            <a:off x="531495" y="2401137"/>
            <a:ext cx="5725160" cy="2333625"/>
          </a:xfrm>
          <a:prstGeom prst="rect">
            <a:avLst/>
          </a:prstGeom>
        </p:spPr>
      </p:pic>
      <p:pic>
        <p:nvPicPr>
          <p:cNvPr id="11" name="Picture 10" descr="30.PNG"/>
          <p:cNvPicPr/>
          <p:nvPr/>
        </p:nvPicPr>
        <p:blipFill>
          <a:blip r:embed="rId5"/>
          <a:stretch>
            <a:fillRect/>
          </a:stretch>
        </p:blipFill>
        <p:spPr>
          <a:xfrm>
            <a:off x="6096000" y="3962997"/>
            <a:ext cx="5820410" cy="2438400"/>
          </a:xfrm>
          <a:prstGeom prst="rect">
            <a:avLst/>
          </a:prstGeom>
        </p:spPr>
      </p:pic>
    </p:spTree>
    <p:extLst>
      <p:ext uri="{BB962C8B-B14F-4D97-AF65-F5344CB8AC3E}">
        <p14:creationId xmlns:p14="http://schemas.microsoft.com/office/powerpoint/2010/main" val="3359154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7"/>
          <p:cNvSpPr/>
          <p:nvPr/>
        </p:nvSpPr>
        <p:spPr>
          <a:xfrm>
            <a:off x="457199" y="1265885"/>
            <a:ext cx="6448753" cy="410882"/>
          </a:xfrm>
          <a:prstGeom prst="rect">
            <a:avLst/>
          </a:prstGeom>
        </p:spPr>
        <p:txBody>
          <a:bodyPr wrap="none">
            <a:spAutoFit/>
          </a:bodyPr>
          <a:lstStyle/>
          <a:p>
            <a:pPr lvl="0" algn="just">
              <a:lnSpc>
                <a:spcPct val="115000"/>
              </a:lnSpc>
              <a:spcAft>
                <a:spcPts val="1000"/>
              </a:spcAft>
            </a:pPr>
            <a:r>
              <a:rPr lang="en-US" b="1" i="1" dirty="0">
                <a:latin typeface="Times New Roman" panose="02020603050405020304" pitchFamily="18" charset="0"/>
                <a:ea typeface="Calibri" panose="020F0502020204030204" pitchFamily="34" charset="0"/>
                <a:cs typeface="Times New Roman" panose="02020603050405020304" pitchFamily="18" charset="0"/>
              </a:rPr>
              <a:t>2. </a:t>
            </a:r>
            <a:r>
              <a:rPr lang="en-US" b="1" i="1" dirty="0" err="1">
                <a:latin typeface="Times New Roman" panose="02020603050405020304" pitchFamily="18" charset="0"/>
                <a:ea typeface="Calibri" panose="020F0502020204030204" pitchFamily="34" charset="0"/>
                <a:cs typeface="Times New Roman" panose="02020603050405020304" pitchFamily="18" charset="0"/>
              </a:rPr>
              <a:t>Chỉnh</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trong</a:t>
            </a:r>
            <a:r>
              <a:rPr lang="en-US" b="1" i="1" dirty="0">
                <a:latin typeface="Times New Roman" panose="02020603050405020304" pitchFamily="18" charset="0"/>
                <a:ea typeface="Calibri" panose="020F0502020204030204" pitchFamily="34" charset="0"/>
                <a:cs typeface="Times New Roman" panose="02020603050405020304" pitchFamily="18" charset="0"/>
              </a:rPr>
              <a:t> S7-1200, ta </a:t>
            </a:r>
            <a:r>
              <a:rPr lang="en-US" b="1" i="1" dirty="0" err="1">
                <a:latin typeface="Times New Roman" panose="02020603050405020304" pitchFamily="18" charset="0"/>
                <a:ea typeface="Calibri" panose="020F0502020204030204" pitchFamily="34" charset="0"/>
                <a:cs typeface="Times New Roman" panose="02020603050405020304" pitchFamily="18" charset="0"/>
              </a:rPr>
              <a:t>dùng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khối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hàm</a:t>
            </a:r>
            <a:r>
              <a:rPr lang="en-US" b="1" i="1" dirty="0">
                <a:latin typeface="Times New Roman" panose="02020603050405020304" pitchFamily="18" charset="0"/>
                <a:ea typeface="Calibri" panose="020F0502020204030204" pitchFamily="34" charset="0"/>
                <a:cs typeface="Times New Roman" panose="02020603050405020304" pitchFamily="18" charset="0"/>
              </a:rPr>
              <a:t> WR_SYS_T: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03727" y="1689466"/>
            <a:ext cx="3078728"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rPr>
              <a:t>B1: </a:t>
            </a:r>
            <a:r>
              <a:rPr lang="en-US" dirty="0" err="1">
                <a:latin typeface="Times New Roman" panose="02020603050405020304" pitchFamily="18" charset="0"/>
                <a:ea typeface="Calibri" panose="020F0502020204030204" pitchFamily="34" charset="0"/>
              </a:rPr>
              <a:t>Lấy</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hàm</a:t>
            </a:r>
            <a:r>
              <a:rPr lang="en-US" dirty="0">
                <a:latin typeface="Times New Roman" panose="02020603050405020304" pitchFamily="18" charset="0"/>
                <a:ea typeface="Calibri" panose="020F0502020204030204" pitchFamily="34" charset="0"/>
              </a:rPr>
              <a:t> WR_SYS_T</a:t>
            </a:r>
            <a:endParaRPr lang="en-US" dirty="0"/>
          </a:p>
        </p:txBody>
      </p:sp>
      <p:pic>
        <p:nvPicPr>
          <p:cNvPr id="10" name="Picture 9" descr="31.PNG"/>
          <p:cNvPicPr/>
          <p:nvPr/>
        </p:nvPicPr>
        <p:blipFill>
          <a:blip r:embed="rId4"/>
          <a:stretch>
            <a:fillRect/>
          </a:stretch>
        </p:blipFill>
        <p:spPr>
          <a:xfrm>
            <a:off x="2010243" y="2497120"/>
            <a:ext cx="8048156" cy="2900503"/>
          </a:xfrm>
          <a:prstGeom prst="rect">
            <a:avLst/>
          </a:prstGeom>
        </p:spPr>
      </p:pic>
    </p:spTree>
    <p:extLst>
      <p:ext uri="{BB962C8B-B14F-4D97-AF65-F5344CB8AC3E}">
        <p14:creationId xmlns:p14="http://schemas.microsoft.com/office/powerpoint/2010/main" val="2482895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defTabSz="685800" eaLnBrk="0" fontAlgn="base" hangingPunct="0">
              <a:lnSpc>
                <a:spcPct val="100000"/>
              </a:lnSpc>
              <a:spcBef>
                <a:spcPct val="0"/>
              </a:spcBef>
              <a:spcAft>
                <a:spcPct val="0"/>
              </a:spcAft>
              <a:buNone/>
              <a:defRPr/>
            </a:pPr>
            <a:r>
              <a:rPr lang="en-US" altLang="en-US" sz="1800" b="1" dirty="0">
                <a:solidFill>
                  <a:prstClr val="black"/>
                </a:solidFill>
                <a:latin typeface="Times New Roman" panose="02020603050405020304" pitchFamily="18" charset="0"/>
                <a:cs typeface="Times New Roman" panose="02020603050405020304" pitchFamily="18" charset="0"/>
              </a:rPr>
              <a:t>CÁCH SỬ DỤNG THỜI GIAN THỰC TRONG TIA PORTAL VỚI S7-1200</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7"/>
          <p:cNvSpPr/>
          <p:nvPr/>
        </p:nvSpPr>
        <p:spPr>
          <a:xfrm>
            <a:off x="457199" y="1265885"/>
            <a:ext cx="6448753" cy="410882"/>
          </a:xfrm>
          <a:prstGeom prst="rect">
            <a:avLst/>
          </a:prstGeom>
        </p:spPr>
        <p:txBody>
          <a:bodyPr wrap="none">
            <a:spAutoFit/>
          </a:bodyPr>
          <a:lstStyle/>
          <a:p>
            <a:pPr lvl="0" algn="just">
              <a:lnSpc>
                <a:spcPct val="115000"/>
              </a:lnSpc>
              <a:spcAft>
                <a:spcPts val="1000"/>
              </a:spcAft>
            </a:pPr>
            <a:r>
              <a:rPr lang="en-US" b="1" i="1" dirty="0">
                <a:latin typeface="Times New Roman" panose="02020603050405020304" pitchFamily="18" charset="0"/>
                <a:ea typeface="Calibri" panose="020F0502020204030204" pitchFamily="34" charset="0"/>
                <a:cs typeface="Times New Roman" panose="02020603050405020304" pitchFamily="18" charset="0"/>
              </a:rPr>
              <a:t>2. </a:t>
            </a:r>
            <a:r>
              <a:rPr lang="en-US" b="1" i="1" dirty="0" err="1">
                <a:latin typeface="Times New Roman" panose="02020603050405020304" pitchFamily="18" charset="0"/>
                <a:ea typeface="Calibri" panose="020F0502020204030204" pitchFamily="34" charset="0"/>
                <a:cs typeface="Times New Roman" panose="02020603050405020304" pitchFamily="18" charset="0"/>
              </a:rPr>
              <a:t>Chỉnh</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thời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gian</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trong</a:t>
            </a:r>
            <a:r>
              <a:rPr lang="en-US" b="1" i="1" dirty="0">
                <a:latin typeface="Times New Roman" panose="02020603050405020304" pitchFamily="18" charset="0"/>
                <a:ea typeface="Calibri" panose="020F0502020204030204" pitchFamily="34" charset="0"/>
                <a:cs typeface="Times New Roman" panose="02020603050405020304" pitchFamily="18" charset="0"/>
              </a:rPr>
              <a:t> S7-1200, ta </a:t>
            </a:r>
            <a:r>
              <a:rPr lang="en-US" b="1" i="1" dirty="0" err="1">
                <a:latin typeface="Times New Roman" panose="02020603050405020304" pitchFamily="18" charset="0"/>
                <a:ea typeface="Calibri" panose="020F0502020204030204" pitchFamily="34" charset="0"/>
                <a:cs typeface="Times New Roman" panose="02020603050405020304" pitchFamily="18" charset="0"/>
              </a:rPr>
              <a:t>dùng</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khối</a:t>
            </a:r>
            <a:r>
              <a:rPr lang="en-US" b="1" i="1" dirty="0">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latin typeface="Times New Roman" panose="02020603050405020304" pitchFamily="18" charset="0"/>
                <a:ea typeface="Calibri" panose="020F0502020204030204" pitchFamily="34" charset="0"/>
                <a:cs typeface="Times New Roman" panose="02020603050405020304" pitchFamily="18" charset="0"/>
              </a:rPr>
              <a:t>hàm</a:t>
            </a:r>
            <a:r>
              <a:rPr lang="en-US" b="1" i="1" dirty="0">
                <a:latin typeface="Times New Roman" panose="02020603050405020304" pitchFamily="18" charset="0"/>
                <a:ea typeface="Calibri" panose="020F0502020204030204" pitchFamily="34" charset="0"/>
                <a:cs typeface="Times New Roman" panose="02020603050405020304" pitchFamily="18" charset="0"/>
              </a:rPr>
              <a:t> WR_SYS_T:</a:t>
            </a:r>
            <a:endParaRPr lang="en-US" sz="1600" b="1" i="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704294" y="1689466"/>
            <a:ext cx="11030505" cy="646331"/>
          </a:xfrm>
          <a:prstGeom prst="rect">
            <a:avLst/>
          </a:prstGeom>
        </p:spPr>
        <p:txBody>
          <a:bodyPr wrap="square">
            <a:spAutoFit/>
          </a:bodyPr>
          <a:lstStyle/>
          <a:p>
            <a:r>
              <a:rPr lang="en-US" dirty="0">
                <a:latin typeface="Times New Roman" panose="02020603050405020304" pitchFamily="18" charset="0"/>
                <a:ea typeface="Calibri" panose="020F0502020204030204" pitchFamily="34" charset="0"/>
              </a:rPr>
              <a:t>B2: </a:t>
            </a: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DB1, </a:t>
            </a:r>
            <a:r>
              <a:rPr lang="en-US" dirty="0" err="1">
                <a:latin typeface="Times New Roman" panose="02020603050405020304" pitchFamily="18" charset="0"/>
                <a:ea typeface="Calibri" panose="020F0502020204030204" pitchFamily="34" charset="0"/>
              </a:rPr>
              <a:t>tạo</a:t>
            </a:r>
            <a:r>
              <a:rPr lang="en-US" dirty="0">
                <a:latin typeface="Times New Roman" panose="02020603050405020304" pitchFamily="18" charset="0"/>
                <a:ea typeface="Calibri" panose="020F0502020204030204" pitchFamily="34" charset="0"/>
              </a:rPr>
              <a:t> 1 </a:t>
            </a:r>
            <a:r>
              <a:rPr lang="en-US" dirty="0" err="1">
                <a:latin typeface="Times New Roman" panose="02020603050405020304" pitchFamily="18" charset="0"/>
                <a:ea typeface="Calibri" panose="020F0502020204030204" pitchFamily="34" charset="0"/>
              </a:rPr>
              <a:t>biến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Set_time</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định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dạng</a:t>
            </a:r>
            <a:r>
              <a:rPr lang="en-US" dirty="0">
                <a:latin typeface="Times New Roman" panose="02020603050405020304" pitchFamily="18" charset="0"/>
                <a:ea typeface="Calibri" panose="020F0502020204030204" pitchFamily="34" charset="0"/>
              </a:rPr>
              <a:t> DTL </a:t>
            </a:r>
            <a:r>
              <a:rPr lang="en-US" dirty="0" err="1">
                <a:latin typeface="Times New Roman" panose="02020603050405020304" pitchFamily="18" charset="0"/>
                <a:ea typeface="Calibri" panose="020F0502020204030204" pitchFamily="34" charset="0"/>
              </a:rPr>
              <a:t>và</a:t>
            </a:r>
            <a:r>
              <a:rPr lang="en-US" dirty="0">
                <a:latin typeface="Times New Roman" panose="02020603050405020304" pitchFamily="18" charset="0"/>
                <a:ea typeface="Calibri" panose="020F0502020204030204" pitchFamily="34" charset="0"/>
              </a:rPr>
              <a:t> ta </a:t>
            </a:r>
            <a:r>
              <a:rPr lang="en-US" dirty="0" err="1">
                <a:latin typeface="Times New Roman" panose="02020603050405020304" pitchFamily="18" charset="0"/>
                <a:ea typeface="Calibri" panose="020F0502020204030204" pitchFamily="34" charset="0"/>
              </a:rPr>
              <a:t>có</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thể</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trực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tiếp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thời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gian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mà</a:t>
            </a:r>
            <a:r>
              <a:rPr lang="en-US" dirty="0">
                <a:latin typeface="Times New Roman" panose="02020603050405020304" pitchFamily="18" charset="0"/>
                <a:ea typeface="Calibri" panose="020F0502020204030204" pitchFamily="34" charset="0"/>
              </a:rPr>
              <a:t> ta </a:t>
            </a:r>
            <a:r>
              <a:rPr lang="en-US" dirty="0" err="1">
                <a:latin typeface="Times New Roman" panose="02020603050405020304" pitchFamily="18" charset="0"/>
                <a:ea typeface="Calibri" panose="020F0502020204030204" pitchFamily="34" charset="0"/>
              </a:rPr>
              <a:t>muốn</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chỉnh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ô </a:t>
            </a:r>
            <a:r>
              <a:rPr lang="en-US" dirty="0" err="1">
                <a:latin typeface="Times New Roman" panose="02020603050405020304" pitchFamily="18" charset="0"/>
                <a:ea typeface="Calibri" panose="020F0502020204030204" pitchFamily="34" charset="0"/>
              </a:rPr>
              <a:t>sau</a:t>
            </a:r>
            <a:r>
              <a:rPr lang="en-US" dirty="0">
                <a:latin typeface="Times New Roman" panose="02020603050405020304" pitchFamily="18" charset="0"/>
                <a:ea typeface="Calibri" panose="020F0502020204030204" pitchFamily="34" charset="0"/>
              </a:rPr>
              <a:t>:</a:t>
            </a:r>
            <a:endParaRPr lang="en-US" dirty="0"/>
          </a:p>
        </p:txBody>
      </p:sp>
      <p:pic>
        <p:nvPicPr>
          <p:cNvPr id="10" name="Picture 9" descr="32.PNG"/>
          <p:cNvPicPr/>
          <p:nvPr/>
        </p:nvPicPr>
        <p:blipFill rotWithShape="1">
          <a:blip r:embed="rId4"/>
          <a:srcRect b="16773"/>
          <a:stretch/>
        </p:blipFill>
        <p:spPr>
          <a:xfrm>
            <a:off x="2074045" y="2494573"/>
            <a:ext cx="8043909" cy="3024798"/>
          </a:xfrm>
          <a:prstGeom prst="rect">
            <a:avLst/>
          </a:prstGeom>
        </p:spPr>
      </p:pic>
    </p:spTree>
    <p:extLst>
      <p:ext uri="{BB962C8B-B14F-4D97-AF65-F5344CB8AC3E}">
        <p14:creationId xmlns:p14="http://schemas.microsoft.com/office/powerpoint/2010/main" val="1779975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CÁCH SỬ DỤNG THỜI GIAN THỰC TRONG TIA PORTAL VỚI S7-1200</a:t>
            </a:r>
          </a:p>
        </p:txBody>
      </p:sp>
      <p:sp>
        <p:nvSpPr>
          <p:cNvPr id="8" name="Rectangle 7"/>
          <p:cNvSpPr/>
          <p:nvPr/>
        </p:nvSpPr>
        <p:spPr>
          <a:xfrm>
            <a:off x="457199" y="1265885"/>
            <a:ext cx="6448753" cy="410882"/>
          </a:xfrm>
          <a:prstGeom prst="rect">
            <a:avLst/>
          </a:prstGeom>
        </p:spPr>
        <p:txBody>
          <a:bodyPr wrap="none">
            <a:spAutoFit/>
          </a:bodyPr>
          <a:lstStyle/>
          <a:p>
            <a:pPr marL="0" marR="0" lvl="0" indent="0" algn="just" defTabSz="914400" rtl="0" eaLnBrk="1" fontAlgn="auto" latinLnBrk="0" hangingPunct="1">
              <a:lnSpc>
                <a:spcPct val="115000"/>
              </a:lnSpc>
              <a:spcBef>
                <a:spcPts val="0"/>
              </a:spcBef>
              <a:spcAft>
                <a:spcPts val="1000"/>
              </a:spcAft>
              <a:buClrTx/>
              <a:buSzTx/>
              <a:buFontTx/>
              <a:buNone/>
              <a:tabLst/>
              <a:defRPr/>
            </a:pP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2.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Chỉnh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thời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gian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trong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S7-1200, ta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dùng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khối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hàm</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WR_SYS_T:</a:t>
            </a:r>
            <a:endParaRPr kumimoji="0" lang="en-US" sz="1600" b="1" i="1"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ectangle 1"/>
          <p:cNvSpPr/>
          <p:nvPr/>
        </p:nvSpPr>
        <p:spPr>
          <a:xfrm>
            <a:off x="633574" y="1700982"/>
            <a:ext cx="11101225" cy="369332"/>
          </a:xfrm>
          <a:prstGeom prst="rect">
            <a:avLst/>
          </a:prstGeom>
        </p:spPr>
        <p:txBody>
          <a:bodyPr wrap="square">
            <a:spAutoFit/>
          </a:bodyPr>
          <a:lstStyle/>
          <a:p>
            <a:r>
              <a:rPr lang="en-US" dirty="0">
                <a:latin typeface="Times New Roman" panose="02020603050405020304" pitchFamily="18" charset="0"/>
                <a:ea typeface="Calibri" panose="020F0502020204030204" pitchFamily="34" charset="0"/>
              </a:rPr>
              <a:t>B3: </a:t>
            </a:r>
            <a:r>
              <a:rPr lang="en-US" dirty="0" err="1">
                <a:latin typeface="Times New Roman" panose="02020603050405020304" pitchFamily="18" charset="0"/>
                <a:ea typeface="Calibri" panose="020F0502020204030204" pitchFamily="34" charset="0"/>
              </a:rPr>
              <a:t>Khai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báo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khối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hàm</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như</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hình</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khi</a:t>
            </a:r>
            <a:r>
              <a:rPr lang="en-US" dirty="0">
                <a:latin typeface="Times New Roman" panose="02020603050405020304" pitchFamily="18" charset="0"/>
                <a:ea typeface="Calibri" panose="020F0502020204030204" pitchFamily="34" charset="0"/>
              </a:rPr>
              <a:t> Start CPU, </a:t>
            </a:r>
            <a:r>
              <a:rPr lang="en-US" dirty="0" err="1">
                <a:latin typeface="Times New Roman" panose="02020603050405020304" pitchFamily="18" charset="0"/>
                <a:ea typeface="Calibri" panose="020F0502020204030204" pitchFamily="34" charset="0"/>
              </a:rPr>
              <a:t>giờ</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trong</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Set_time</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sẽ</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lập</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tức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được</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cài</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vào</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giờ</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hệ</a:t>
            </a:r>
            <a:r>
              <a:rPr lang="en-US" dirty="0">
                <a:latin typeface="Times New Roman" panose="02020603050405020304" pitchFamily="18" charset="0"/>
                <a:ea typeface="Calibri" panose="020F0502020204030204" pitchFamily="34" charset="0"/>
              </a:rPr>
              <a:t> </a:t>
            </a:r>
            <a:r>
              <a:rPr lang="en-US" dirty="0" err="1">
                <a:latin typeface="Times New Roman" panose="02020603050405020304" pitchFamily="18" charset="0"/>
                <a:ea typeface="Calibri" panose="020F0502020204030204" pitchFamily="34" charset="0"/>
              </a:rPr>
              <a:t>thống</a:t>
            </a:r>
            <a:endParaRPr lang="en-US" dirty="0"/>
          </a:p>
        </p:txBody>
      </p:sp>
      <p:pic>
        <p:nvPicPr>
          <p:cNvPr id="10" name="Picture 9" descr="33.PNG"/>
          <p:cNvPicPr/>
          <p:nvPr/>
        </p:nvPicPr>
        <p:blipFill>
          <a:blip r:embed="rId4"/>
          <a:stretch>
            <a:fillRect/>
          </a:stretch>
        </p:blipFill>
        <p:spPr>
          <a:xfrm>
            <a:off x="1934591" y="2626626"/>
            <a:ext cx="7786457" cy="2499198"/>
          </a:xfrm>
          <a:prstGeom prst="rect">
            <a:avLst/>
          </a:prstGeom>
        </p:spPr>
      </p:pic>
    </p:spTree>
    <p:extLst>
      <p:ext uri="{BB962C8B-B14F-4D97-AF65-F5344CB8AC3E}">
        <p14:creationId xmlns:p14="http://schemas.microsoft.com/office/powerpoint/2010/main" val="2353898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lang="en-US" altLang="en-US" sz="1800" b="1" dirty="0">
                <a:solidFill>
                  <a:prstClr val="black"/>
                </a:solidFill>
                <a:latin typeface="Times New Roman" panose="02020603050405020304" pitchFamily="18" charset="0"/>
                <a:cs typeface="Times New Roman" panose="02020603050405020304" pitchFamily="18" charset="0"/>
              </a:rPr>
              <a:t>CÁC ỨNG DỤNG</a:t>
            </a:r>
            <a:endPar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9272" y="2413581"/>
            <a:ext cx="5619048" cy="3161905"/>
          </a:xfrm>
          <a:prstGeom prst="rect">
            <a:avLst/>
          </a:prstGeom>
        </p:spPr>
      </p:pic>
      <p:sp>
        <p:nvSpPr>
          <p:cNvPr id="10" name="Rectangle 9"/>
          <p:cNvSpPr/>
          <p:nvPr/>
        </p:nvSpPr>
        <p:spPr>
          <a:xfrm>
            <a:off x="869272" y="1484136"/>
            <a:ext cx="5067669" cy="646331"/>
          </a:xfrm>
          <a:prstGeom prst="rect">
            <a:avLst/>
          </a:prstGeom>
        </p:spPr>
        <p:txBody>
          <a:bodyPr wrap="square">
            <a:spAutoFit/>
          </a:bodyPr>
          <a:lstStyle/>
          <a:p>
            <a:pPr algn="ctr"/>
            <a:r>
              <a:rPr lang="en-US" dirty="0">
                <a:latin typeface="Times New Roman" panose="02020603050405020304" pitchFamily="18" charset="0"/>
              </a:rPr>
              <a:t>ỨNG DỤNG BỘ PID TRONG ĐIỀU KHIỂN HỆ THỐNG ÉP ĐÙN VẬT LIỆU.</a:t>
            </a:r>
            <a:endParaRPr lang="en-US" dirty="0"/>
          </a:p>
        </p:txBody>
      </p:sp>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0710" y="2517824"/>
            <a:ext cx="4244081" cy="3390478"/>
          </a:xfrm>
          <a:prstGeom prst="rect">
            <a:avLst/>
          </a:prstGeom>
        </p:spPr>
      </p:pic>
      <p:sp>
        <p:nvSpPr>
          <p:cNvPr id="13" name="Rectangle 12"/>
          <p:cNvSpPr/>
          <p:nvPr/>
        </p:nvSpPr>
        <p:spPr>
          <a:xfrm>
            <a:off x="6667131" y="1481021"/>
            <a:ext cx="5067669" cy="923330"/>
          </a:xfrm>
          <a:prstGeom prst="rect">
            <a:avLst/>
          </a:prstGeom>
        </p:spPr>
        <p:txBody>
          <a:bodyPr wrap="square">
            <a:spAutoFit/>
          </a:bodyPr>
          <a:lstStyle/>
          <a:p>
            <a:pPr algn="ctr"/>
            <a:r>
              <a:rPr lang="en-US" dirty="0">
                <a:latin typeface="Times New Roman" panose="02020603050405020304" pitchFamily="18" charset="0"/>
              </a:rPr>
              <a:t>ỨNG DỤNG BỘ LẬP TRÌNH ĐẾM XUNG VÀ PHÁT XUNG TỐC ĐỘ CAO TRONG ĐIỀU KHIỂN HỆ THỐNG CÁN</a:t>
            </a:r>
            <a:endParaRPr lang="en-US" dirty="0"/>
          </a:p>
        </p:txBody>
      </p:sp>
    </p:spTree>
    <p:extLst>
      <p:ext uri="{BB962C8B-B14F-4D97-AF65-F5344CB8AC3E}">
        <p14:creationId xmlns:p14="http://schemas.microsoft.com/office/powerpoint/2010/main" val="954879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ỨNG DỤNG</a:t>
            </a:r>
          </a:p>
        </p:txBody>
      </p:sp>
      <p:sp>
        <p:nvSpPr>
          <p:cNvPr id="10" name="Rectangle 9"/>
          <p:cNvSpPr/>
          <p:nvPr/>
        </p:nvSpPr>
        <p:spPr>
          <a:xfrm>
            <a:off x="869272" y="1484136"/>
            <a:ext cx="5067669"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ỨNG DỤNG BỘ GIẢI</a:t>
            </a:r>
            <a:r>
              <a:rPr kumimoji="0" lang="en-US" sz="1800" b="0" i="0" u="none" strike="noStrike" kern="1200" cap="none" spc="0" normalizeH="0" noProof="0" dirty="0">
                <a:ln>
                  <a:noFill/>
                </a:ln>
                <a:solidFill>
                  <a:prstClr val="black"/>
                </a:solidFill>
                <a:effectLst/>
                <a:uLnTx/>
                <a:uFillTx/>
                <a:latin typeface="Times New Roman" panose="02020603050405020304" pitchFamily="18" charset="0"/>
                <a:ea typeface="+mn-ea"/>
                <a:cs typeface="+mn-cs"/>
              </a:rPr>
              <a:t> MÃ ANALOG TRONG VIỆC ĐIỀU KHIỂN ÁP SUẤT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3" name="Rectangle 12"/>
          <p:cNvSpPr/>
          <p:nvPr/>
        </p:nvSpPr>
        <p:spPr>
          <a:xfrm>
            <a:off x="6667131" y="1481021"/>
            <a:ext cx="5067669"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ỨNG DỤNG TRUYỀN</a:t>
            </a:r>
            <a:r>
              <a:rPr kumimoji="0" lang="en-US" sz="1800" b="0" i="0" u="none" strike="noStrike" kern="1200" cap="none" spc="0" normalizeH="0" noProof="0" dirty="0">
                <a:ln>
                  <a:noFill/>
                </a:ln>
                <a:solidFill>
                  <a:prstClr val="black"/>
                </a:solidFill>
                <a:effectLst/>
                <a:uLnTx/>
                <a:uFillTx/>
                <a:latin typeface="Times New Roman" panose="02020603050405020304" pitchFamily="18" charset="0"/>
                <a:ea typeface="+mn-ea"/>
                <a:cs typeface="+mn-cs"/>
              </a:rPr>
              <a:t> THÔNG VÀ ĐIỀU KHIỂN HỆ THỐNG SCADA CHO NHÀ MÁY</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504" y="2404351"/>
            <a:ext cx="5527141" cy="3109017"/>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2452" y="2731501"/>
            <a:ext cx="5144693" cy="2893890"/>
          </a:xfrm>
          <a:prstGeom prst="rect">
            <a:avLst/>
          </a:prstGeom>
        </p:spPr>
      </p:pic>
    </p:spTree>
    <p:extLst>
      <p:ext uri="{BB962C8B-B14F-4D97-AF65-F5344CB8AC3E}">
        <p14:creationId xmlns:p14="http://schemas.microsoft.com/office/powerpoint/2010/main" val="2443540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10.2.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Sử</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dụng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thời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gian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thực</a:t>
            </a:r>
            <a:endPar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endParaRPr>
          </a:p>
        </p:txBody>
      </p:sp>
      <p:sp>
        <p:nvSpPr>
          <p:cNvPr id="7"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199" y="918504"/>
            <a:ext cx="1095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CÁC ỨNG DỤNG</a:t>
            </a:r>
          </a:p>
        </p:txBody>
      </p:sp>
      <p:pic>
        <p:nvPicPr>
          <p:cNvPr id="2" name="S7-1200 working with FACTORY I_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890944" y="1471326"/>
            <a:ext cx="8401974" cy="4726110"/>
          </a:xfrm>
          <a:prstGeom prst="rect">
            <a:avLst/>
          </a:prstGeom>
        </p:spPr>
      </p:pic>
    </p:spTree>
    <p:extLst>
      <p:ext uri="{BB962C8B-B14F-4D97-AF65-F5344CB8AC3E}">
        <p14:creationId xmlns:p14="http://schemas.microsoft.com/office/powerpoint/2010/main" val="34437737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1305</TotalTime>
  <Words>1727</Words>
  <Application>Microsoft Office PowerPoint</Application>
  <PresentationFormat>Widescreen</PresentationFormat>
  <Paragraphs>140</Paragraphs>
  <Slides>24</Slides>
  <Notes>19</Notes>
  <HiddenSlides>0</HiddenSlides>
  <MMClips>1</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24</vt:i4>
      </vt:variant>
    </vt:vector>
  </HeadingPairs>
  <TitlesOfParts>
    <vt:vector size="33" baseType="lpstr">
      <vt:lpstr>Arial</vt:lpstr>
      <vt:lpstr>Calibri</vt:lpstr>
      <vt:lpstr>Calibri Light</vt:lpstr>
      <vt:lpstr>Segoe UI</vt:lpstr>
      <vt:lpstr>Segoe UI Light</vt:lpstr>
      <vt:lpstr>Times New Roman</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Giang</cp:lastModifiedBy>
  <cp:revision>251</cp:revision>
  <dcterms:created xsi:type="dcterms:W3CDTF">2021-07-02T09:40:39Z</dcterms:created>
  <dcterms:modified xsi:type="dcterms:W3CDTF">2021-12-03T07:03:02Z</dcterms:modified>
</cp:coreProperties>
</file>