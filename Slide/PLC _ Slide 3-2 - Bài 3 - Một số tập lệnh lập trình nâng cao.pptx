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7" r:id="rId3"/>
  </p:sldMasterIdLst>
  <p:notesMasterIdLst>
    <p:notesMasterId r:id="rId27"/>
  </p:notesMasterIdLst>
  <p:sldIdLst>
    <p:sldId id="257" r:id="rId4"/>
    <p:sldId id="341" r:id="rId5"/>
    <p:sldId id="339" r:id="rId6"/>
    <p:sldId id="387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  <p:sldId id="382" r:id="rId16"/>
    <p:sldId id="383" r:id="rId17"/>
    <p:sldId id="384" r:id="rId18"/>
    <p:sldId id="385" r:id="rId19"/>
    <p:sldId id="386" r:id="rId20"/>
    <p:sldId id="354" r:id="rId21"/>
    <p:sldId id="355" r:id="rId22"/>
    <p:sldId id="356" r:id="rId23"/>
    <p:sldId id="357" r:id="rId24"/>
    <p:sldId id="358" r:id="rId25"/>
    <p:sldId id="30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2897" autoAdjust="0"/>
  </p:normalViewPr>
  <p:slideViewPr>
    <p:cSldViewPr snapToGrid="0">
      <p:cViewPr varScale="1">
        <p:scale>
          <a:sx n="108" d="100"/>
          <a:sy n="108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EF37C-3239-4CC1-9458-1F4F89E202E7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67F6F-AC6B-4134-8A12-A6DFC3D57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2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581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802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206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245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268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987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851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640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972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791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816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>
                <a:solidFill>
                  <a:srgbClr val="00000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s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765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48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4774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518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105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234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61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6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3E0FCE-8BAB-41A6-9695-3E5F75C21E8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82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54E70C-47C2-4482-8988-74AF4DA451C8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7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3DC5AC-A2C3-434D-9582-E0EC0F6FAA16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42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51F59-BE09-49EF-946D-237576B9685B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69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7DB86A-4D3F-4176-86D2-120FC381B7C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33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8AA00D-68EE-4067-BF52-4AAB8CCFAC3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25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A71BA5-2B67-4F9A-91BC-1DB91DB7E825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72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E06C07-1723-4142-A5DC-829C5D45E06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06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370940-1979-4244-9AD8-282EE740D23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7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4EF4D-25D8-42A0-896B-A7FD1DB7D984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38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F2807B-369F-4B8A-9F9F-3093857B5C9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1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AAE3A-2ACC-48DC-A270-F0C60EC6FDA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451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blackWhite">
          <a:xfrm>
            <a:off x="254000" y="263525"/>
            <a:ext cx="11684000" cy="63309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2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11" y="448056"/>
            <a:ext cx="6877120" cy="6400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9" y="1435608"/>
            <a:ext cx="4416552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D3BA31E0-D02B-4C72-92FB-E6211966027E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11/29/2021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370888" y="6203950"/>
            <a:ext cx="32766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2A99E05D-9AF6-4DBB-8249-15FD60AE4BB7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586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54000" y="263525"/>
            <a:ext cx="11684000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 bwMode="blackWhite">
          <a:xfrm>
            <a:off x="254000" y="263525"/>
            <a:ext cx="11684000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9" y="1536192"/>
            <a:ext cx="6876288" cy="640080"/>
          </a:xfrm>
        </p:spPr>
        <p:txBody>
          <a:bodyPr>
            <a:normAutofit/>
          </a:bodyPr>
          <a:lstStyle>
            <a:lvl1pPr>
              <a:defRPr sz="270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501" y="2560320"/>
            <a:ext cx="9445753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2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930ADF8-94E5-4220-A61F-562A5FFF2652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11/29/2021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A0FCC8B3-8AA3-41AC-8D96-758D922C7515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65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54"/>
            <a:ext cx="103632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85028-6C43-4AEC-8A23-5D273E1885A2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579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"/>
          <p:cNvSpPr txBox="1">
            <a:spLocks/>
          </p:cNvSpPr>
          <p:nvPr userDrawn="1"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AUT206 - PLC CƠ BẢN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A845F-9870-47E0-86FF-D5B10359773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45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29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5C626-45A0-46EF-9E58-C3CA54F08697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533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8AB801-7BEA-45FE-9251-E37D29ADF49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382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6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9322F2-0EB2-4313-997B-CA345170667A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69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5B2490-8E55-4AAA-82F6-A3F7CF418A1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941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91D3B4-5A6F-40CA-BA29-7FF68EE686D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050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9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74517C-903C-43ED-95C3-A2AD809374E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109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3C90D4-9AED-4A31-BEA7-B4A13D9C0FA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452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408F8-F42D-44CD-8A8D-D9895C7851C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73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67"/>
            <a:ext cx="27432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67"/>
            <a:ext cx="80264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006642-6D9E-4802-B51E-4A3620ABCF0D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01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MEC116– CAE (ỨNG DỤNG PHẦN MỀN THIẾT KẾ 3D)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3A981B-C2C6-4DFD-8CB5-5FAE08E7F329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9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520700" y="447675"/>
            <a:ext cx="68770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35100"/>
            <a:ext cx="4414838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7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DBFA0E5-0631-4C6D-B27D-BF816283A6E3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11/29/2021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>
                <a:solidFill>
                  <a:srgbClr val="59595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5289B5E9-CF14-479A-B1BA-9851330519EC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8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6pPr>
      <a:lvl7pPr marL="9144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7pPr>
      <a:lvl8pPr marL="13716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8pPr>
      <a:lvl9pPr marL="18288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9pPr>
    </p:titleStyle>
    <p:bodyStyle>
      <a:lvl1pPr marL="342900" indent="-34290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1714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5143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8572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2001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154312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6038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95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870" indent="-171458" algn="l" defTabSz="685832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8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832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749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7496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40041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3328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AAEFA-6D00-4774-9254-65936C3AE48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76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818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82600"/>
            <a:ext cx="173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8613" y="1568450"/>
            <a:ext cx="9144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SYLLABUS</a:t>
            </a:r>
            <a:b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b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vi-VN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PLC </a:t>
            </a:r>
            <a:r>
              <a:rPr lang="en-GB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NÂNG CAO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59" y="3573462"/>
            <a:ext cx="5846108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186544" y="1034256"/>
            <a:ext cx="100345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KHI HỌC XONG MÔN HỌC NÀY, NGƯỜI HỌC CÓ KHẢ NĂNG: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140506" y="1731963"/>
            <a:ext cx="10080625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chuyền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G2: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G3: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lường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sô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vận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hành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thiết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bị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điện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domino, ...).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G5: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086725" y="247650"/>
            <a:ext cx="3648075" cy="487363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2000" dirty="0">
                <a:solidFill>
                  <a:srgbClr val="FF5A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ĐỀ CƯƠNG CHI TIẾT</a:t>
            </a:r>
          </a:p>
        </p:txBody>
      </p:sp>
    </p:spTree>
    <p:extLst>
      <p:ext uri="{BB962C8B-B14F-4D97-AF65-F5344CB8AC3E}">
        <p14:creationId xmlns:p14="http://schemas.microsoft.com/office/powerpoint/2010/main" val="266558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818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482600"/>
            <a:ext cx="173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24000" y="1135856"/>
            <a:ext cx="9144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3: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SỐ TẬP LỆNH LẬP TRÌNH NÂNG CAO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AutoShape 2" descr="SIMATIC SCADA Systems | Automation Software | Siemens Glob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035" y="3599102"/>
            <a:ext cx="5073930" cy="285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1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3850" y="1831975"/>
            <a:ext cx="953874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3.2 MỘT SỐ TẬP LỆNH KIỂU DỮ LIỆU CHUỖI VÀ KÝ TỰ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558925" y="534988"/>
            <a:ext cx="9144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3: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 SỐ TẬP LỆNH LẬP TRÌNH NÂNG CAO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81"/>
          <a:stretch/>
        </p:blipFill>
        <p:spPr>
          <a:xfrm>
            <a:off x="3000651" y="3222593"/>
            <a:ext cx="6717377" cy="28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9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LEN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AC5E0028-1A24-4795-B2B6-C18FD17BC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1635641"/>
            <a:ext cx="58293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112171-926F-46E2-84E9-07AC280F0586}"/>
              </a:ext>
            </a:extLst>
          </p:cNvPr>
          <p:cNvSpPr txBox="1"/>
          <p:nvPr/>
        </p:nvSpPr>
        <p:spPr>
          <a:xfrm>
            <a:off x="673100" y="2829540"/>
            <a:ext cx="11061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LEN </a:t>
            </a:r>
            <a:r>
              <a:rPr kumimoji="0" lang="vi-V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(Length of String)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đưa ra độ dài hiện thời của chuỗi IN tại ngõ ra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OUT. Một chuỗi trống có độ dài bằng 0. Bảng sau đây thể hiện các mã điều kiện của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lệnh.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3C4970-B693-4D3E-AD54-8FDC3FACEBAC}"/>
              </a:ext>
            </a:extLst>
          </p:cNvPr>
          <p:cNvSpPr txBox="1"/>
          <p:nvPr/>
        </p:nvSpPr>
        <p:spPr>
          <a:xfrm>
            <a:off x="673100" y="3483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CONCAT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233BBA-FB90-4F75-B5C7-4BCF8B2BA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9996" y="3904395"/>
            <a:ext cx="5792008" cy="14956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59D368-367B-4CBA-B3C6-1EE7E46CD861}"/>
              </a:ext>
            </a:extLst>
          </p:cNvPr>
          <p:cNvSpPr txBox="1"/>
          <p:nvPr/>
        </p:nvSpPr>
        <p:spPr>
          <a:xfrm>
            <a:off x="673100" y="5433833"/>
            <a:ext cx="11061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CONCAT </a:t>
            </a:r>
            <a:r>
              <a:rPr kumimoji="0" lang="vi-V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(Concatenate strings)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nối các thông số chuỗi IN1 và IN2 để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hình thành nên một chuỗi được đưa ra tại OUT. Sau sự ghép nối này chuỗi IN1 là phần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bên trái và chuỗi IN2 là phần bên phải của chuỗi được kết hợp. Bảng sau đây thể hiện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mã điều kiện của lệnh.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53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693B89-6C8C-48A7-9E40-D2E68A1B1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232" y="1534042"/>
            <a:ext cx="5801535" cy="16671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490555-64E1-4D89-AF48-2C9F8EF4CBFF}"/>
              </a:ext>
            </a:extLst>
          </p:cNvPr>
          <p:cNvSpPr txBox="1"/>
          <p:nvPr/>
        </p:nvSpPr>
        <p:spPr>
          <a:xfrm>
            <a:off x="673100" y="3229812"/>
            <a:ext cx="11061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LEFT </a:t>
            </a:r>
            <a:r>
              <a:rPr kumimoji="0" lang="vi-V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(Left substring)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mang lại một chuỗi con được tạo từ L các ký tự đầu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tiên của thông số chuỗi IN.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• Nếu L lớn hơn độ dài hiện thời của chuỗi IN, toàn bộ chuỗi IN sau đó được trả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 trong OUT.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• Nếu một chuỗi rỗng là ngõ vào, một chuỗi rỗng sau đó được trả về trong OUT.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Bảng sau đây thể hiện các mã điều kiện của lệnh.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A2A6B74-AED3-44EB-A176-521D0C45C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232" y="4436793"/>
            <a:ext cx="5801535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3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RIGHT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D6F08-8E5A-4B05-8AEA-8E7B5863F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996" y="1567568"/>
            <a:ext cx="5792008" cy="16575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5B6B29-4F85-4A05-ACA8-D5D337A8D308}"/>
              </a:ext>
            </a:extLst>
          </p:cNvPr>
          <p:cNvSpPr txBox="1"/>
          <p:nvPr/>
        </p:nvSpPr>
        <p:spPr>
          <a:xfrm>
            <a:off x="673100" y="3225149"/>
            <a:ext cx="11061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RIGHT </a:t>
            </a:r>
            <a:r>
              <a:rPr kumimoji="0" lang="vi-V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(Right substring)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mang lại L các ký tự cuối của chuỗi.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• Nếu L lớn hơn độ dài hiện thời của chuỗi IN, toàn bộ chuỗi IN sau đó được trả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 trong OUT.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• Nếu một chuỗi rỗng là ngõ vào, một chuỗi rỗng sau đó được trả về trong OUT.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Bảng sau đây thể hiện các mã điều kiện của lệnh.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512BCD-DCB9-4C52-A8BC-7140C616E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9996" y="4426213"/>
            <a:ext cx="5792008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1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MID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217EB0-D295-4533-B8DF-7FF03457A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591" y="1866799"/>
            <a:ext cx="8314819" cy="391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8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A172D-7723-42DB-9160-65A51551692E}"/>
              </a:ext>
            </a:extLst>
          </p:cNvPr>
          <p:cNvSpPr txBox="1"/>
          <p:nvPr/>
        </p:nvSpPr>
        <p:spPr>
          <a:xfrm>
            <a:off x="673100" y="1678504"/>
            <a:ext cx="11061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MID </a:t>
            </a:r>
            <a:r>
              <a:rPr kumimoji="0" lang="vi-V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(Middle substring)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mang lại phần nằm giữa của một chuỗi. Chuỗi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 ở giữa dài L ký tự và bắt đầu tại vị trí ký tự là P (bao gồm luôn ký tự này).</a:t>
            </a:r>
            <a:b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Nếu tổng của L và P vượt quá độ dài hiện thời của thông số chuỗi IN, một chuỗi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 bắt đầu tại vị trí ký tự là P và tiếp tục đến cuối chuỗi IN sẽ được trả về.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Bảng sau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đây thể hiện các mã điều kiện của lệnh.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370F82-B4AE-4788-AF59-690443ADD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489" y="3223633"/>
            <a:ext cx="7797023" cy="31136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MID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11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DELETE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2BA0A3-F0BC-44E6-A056-871EFD7E1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075" y="1831222"/>
            <a:ext cx="8631851" cy="30331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F4C6E3-5696-42D3-A983-A264FF6DE029}"/>
              </a:ext>
            </a:extLst>
          </p:cNvPr>
          <p:cNvSpPr txBox="1"/>
          <p:nvPr/>
        </p:nvSpPr>
        <p:spPr>
          <a:xfrm>
            <a:off x="673100" y="5007610"/>
            <a:ext cx="11061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DELETE </a:t>
            </a:r>
            <a:r>
              <a:rPr kumimoji="0" lang="vi-V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(Delete substring)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xóa L ký tự trong chuỗi IN. Việc xóa đi ký tự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bắt đầu tại vị trí ký tự là P (bao gồm cả ký tự này), và chuỗi con còn lại được mang lại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tại thông số OUT.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• Nếu L = 0, chuỗi ngõ vào được trả về trong OUT.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• Nếu tổng của L và P lớn hơn độ dài của chuỗi ngõ vào, chuỗi sẽ được xóa đến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hết.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23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9FD199-80BF-42E7-AAD7-4FFF02D7D9F2}"/>
              </a:ext>
            </a:extLst>
          </p:cNvPr>
          <p:cNvSpPr txBox="1"/>
          <p:nvPr/>
        </p:nvSpPr>
        <p:spPr>
          <a:xfrm>
            <a:off x="939800" y="16356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Bảng sau đây thể hiện các mã điều kiện của lệnh.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E31FB7-1393-4DA1-88D0-939056870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885" y="2207248"/>
            <a:ext cx="9714230" cy="35886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DELETE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47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INSERT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47C73D-9777-4818-AA1A-6B9BA1B63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308" y="1701630"/>
            <a:ext cx="4982121" cy="19748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65E5662-F2E5-47CD-973F-711EDF5BB300}"/>
              </a:ext>
            </a:extLst>
          </p:cNvPr>
          <p:cNvSpPr txBox="1"/>
          <p:nvPr/>
        </p:nvSpPr>
        <p:spPr>
          <a:xfrm>
            <a:off x="673100" y="3730774"/>
            <a:ext cx="11061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INSERT 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(Insert substring)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chèn chuỗi IN2 vào chuỗi IN1. Việc chèn bắt đầu sau ký tự tại vị trí P.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Bảng sau đây thể hiện các mã điều kiện của lệnh.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184FCF-BFE4-497E-86B5-9D6459F38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307" y="4497924"/>
            <a:ext cx="5005875" cy="189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9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REPLACE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2ACF54-52E2-49A3-BB7F-08F9E4D5B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720" y="1678504"/>
            <a:ext cx="6126561" cy="23641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4E2CF3-3D54-4725-8AF2-AD3A4095B298}"/>
              </a:ext>
            </a:extLst>
          </p:cNvPr>
          <p:cNvSpPr txBox="1"/>
          <p:nvPr/>
        </p:nvSpPr>
        <p:spPr>
          <a:xfrm>
            <a:off x="673100" y="4133529"/>
            <a:ext cx="110616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REPLACE </a:t>
            </a:r>
            <a:r>
              <a:rPr kumimoji="0" lang="vi-V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(Replace substring)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thay thế L ký tự trong thông số chuỗi IN.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Sự thay thế bắt đầu tại ký tự vị trí P (bao gồm cả ký tự này) của chuỗi IN1, với các ký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tự thay thế đến từ thông số chuỗi IN2.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• Nếu thông số L = 0, chuỗi IN2 được chèn vào tại vị trí P của chuỗi IN1 mà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xóa đi bất kỳ ký tự nào trong chuỗi IN1.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• Nếu P = 1, L các ký tự đầu tiên trong IN1 được thay thế với các ký tự chuỗi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IN2.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62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REPLACE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4A03DB-5788-456E-A7CE-6639F87A3865}"/>
              </a:ext>
            </a:extLst>
          </p:cNvPr>
          <p:cNvSpPr txBox="1"/>
          <p:nvPr/>
        </p:nvSpPr>
        <p:spPr>
          <a:xfrm>
            <a:off x="1058069" y="158444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Bảng sau đây thể hiện các mã điều kiện của lệnh.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B06453-FE25-49C1-9CA0-935E2EF7A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908" y="1976234"/>
            <a:ext cx="7600185" cy="37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3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FIND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8F6196-1367-4999-94E8-DE7EB9F85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197" y="1892450"/>
            <a:ext cx="4591606" cy="13269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36D26D-6991-42D5-B6D2-E2147457585B}"/>
              </a:ext>
            </a:extLst>
          </p:cNvPr>
          <p:cNvSpPr txBox="1"/>
          <p:nvPr/>
        </p:nvSpPr>
        <p:spPr>
          <a:xfrm>
            <a:off x="673100" y="3432119"/>
            <a:ext cx="11061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FIND </a:t>
            </a:r>
            <a:r>
              <a:rPr kumimoji="0" lang="vi-V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(Find substring)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mang lại vị trí ký tự của chuỗi con hay ký tự đượcxác định bởi IN2 nằm trong chuỗi IN1. Việc tìm kiếm bắt đầu ở bên trái. Vị trí ký tự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của lần xuất hiện đầu tiên của chuỗi IN2 thì được trả về tại OUT. Nếu chuỗi IN2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được tìm thấy trong chuỗi IN1 thì kết quả 0 được trả về.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Bảng sau đây thể hiện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mã điều kiện của lệnh.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4AAD34-41A6-4D71-A93D-BDEA8D655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470" y="4656197"/>
            <a:ext cx="5811061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7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kiểu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dữ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liệu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chuỗi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và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ký</a:t>
            </a: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tự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845746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 LỆNH CHUYỂN ĐỔI CHUỖI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F359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40472-7C5B-4A6E-9A2B-9C9879214A15}"/>
              </a:ext>
            </a:extLst>
          </p:cNvPr>
          <p:cNvSpPr txBox="1"/>
          <p:nvPr/>
        </p:nvSpPr>
        <p:spPr>
          <a:xfrm>
            <a:off x="673100" y="12536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cảnh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giới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lại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quét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AE95EAB-B0AE-423B-A629-A5E943F2B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638" y="1689938"/>
            <a:ext cx="1202881" cy="79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79030F-801D-4F73-912F-8661A54EC942}"/>
              </a:ext>
            </a:extLst>
          </p:cNvPr>
          <p:cNvSpPr txBox="1"/>
          <p:nvPr/>
        </p:nvSpPr>
        <p:spPr>
          <a:xfrm>
            <a:off x="948972" y="1792895"/>
            <a:ext cx="82932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RE_TRIGR </a:t>
            </a:r>
            <a:r>
              <a:rPr kumimoji="0" lang="vi-V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(Re – trigger scan time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watchdog)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được sử dụng để mở rộng thời gian tối đa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được cho phép trước khi bộ định thì cảnh giới chu kỳ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quét sinh ra một lỗi.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C5B25-0E7D-4D6F-B7F6-8930FBBFD7CE}"/>
              </a:ext>
            </a:extLst>
          </p:cNvPr>
          <p:cNvSpPr txBox="1"/>
          <p:nvPr/>
        </p:nvSpPr>
        <p:spPr>
          <a:xfrm>
            <a:off x="673100" y="2745965"/>
            <a:ext cx="11061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Sử dụng lệnh RE_TRIGR để khởi động lại bộ định thì chu kỳ quét trong suốt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 chu kỳ quét đơn. Điều này có sự ảnh hưởng của việc mở rộng thời gian chu kỳ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quét tối đa được cho phép bằng một giai đoạn thời gian chu kỳ cực đại, từ sự thực thi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cuối cùng của hàm RE_TRIGR.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411B8-3A73-4646-8E73-19A086C96C8F}"/>
              </a:ext>
            </a:extLst>
          </p:cNvPr>
          <p:cNvSpPr txBox="1"/>
          <p:nvPr/>
        </p:nvSpPr>
        <p:spPr>
          <a:xfrm>
            <a:off x="673100" y="4102120"/>
            <a:ext cx="11061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 giới hạn việc sử dụng của lệnh RE_TRIGR đối với chu kỳ chương trình,</a:t>
            </a:r>
            <a:b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ví dụ OB1 và các hàm mà được gọi từ chu kỳ chương trình. Điều này có nghĩa là bộ</a:t>
            </a:r>
            <a:b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định thì cảnh giới được đặt lại, và ENO = EN nếu RE_TRIGR được gọi từ bất kỳ một</a:t>
            </a:r>
            <a:b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 nào trong danh sách OB chu kỳ chương trình.</a:t>
            </a: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B0F7C3-0A0B-479A-A25C-B3708DA93E91}"/>
              </a:ext>
            </a:extLst>
          </p:cNvPr>
          <p:cNvSpPr txBox="1"/>
          <p:nvPr/>
        </p:nvSpPr>
        <p:spPr>
          <a:xfrm>
            <a:off x="674671" y="5565840"/>
            <a:ext cx="110601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ENO = FALSE và bộ định thì cảnh giới không được đặt lại nếu như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RE_TRIGR được thực thi từ một OB khởi động, một OB ngắt hay một OB lỗi.</a:t>
            </a:r>
            <a: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60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3850" y="1831975"/>
            <a:ext cx="953874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3.3 MỘT SỐ TẬP LỆNH XỬ LÝ NGẮT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558925" y="534988"/>
            <a:ext cx="9144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3: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MỘT SỐ TẬP LỆNH LẬP TRÌNH NÂNG CAO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81"/>
          <a:stretch/>
        </p:blipFill>
        <p:spPr>
          <a:xfrm>
            <a:off x="3000651" y="3222593"/>
            <a:ext cx="6717377" cy="28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6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lvl="0" fontAlgn="base">
              <a:spcAft>
                <a:spcPct val="0"/>
              </a:spcAft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ngắt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845746"/>
            <a:ext cx="2356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35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 XỬ LÝ NGẮT</a:t>
            </a:r>
            <a:endParaRPr lang="en-US" b="1" i="0" dirty="0">
              <a:solidFill>
                <a:srgbClr val="0F359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lang="en-US" altLang="en-US" sz="1200" dirty="0">
                <a:solidFill>
                  <a:srgbClr val="2D2D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979" y="1294061"/>
            <a:ext cx="3111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í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è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háo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gỡ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855214" y="1792540"/>
            <a:ext cx="10879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í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ạt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17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vô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ệu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gắ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ATTACH</a:t>
            </a:r>
            <a:r>
              <a:rPr lang="en-US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87875" y="2468967"/>
            <a:ext cx="103469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cho phép sự thực thi chương trình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ngắt đối với một sự kiện ngắt phần cứng.</a:t>
            </a: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DETACH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làm vô hiệu sự thực thi chương trình con OB ngắt đối với  một sự  kiện ngắt phần cứng.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935" y="3803841"/>
            <a:ext cx="2145221" cy="214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23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ngắt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845746"/>
            <a:ext cx="2356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XỬ LÝ NGẮT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663761"/>
              </p:ext>
            </p:extLst>
          </p:nvPr>
        </p:nvGraphicFramePr>
        <p:xfrm>
          <a:off x="498474" y="1782361"/>
          <a:ext cx="11195051" cy="451614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55118">
                  <a:extLst>
                    <a:ext uri="{9D8B030D-6E8A-4147-A177-3AD203B41FA5}">
                      <a16:colId xmlns:a16="http://schemas.microsoft.com/office/drawing/2014/main" val="4051639578"/>
                    </a:ext>
                  </a:extLst>
                </a:gridCol>
                <a:gridCol w="1457002">
                  <a:extLst>
                    <a:ext uri="{9D8B030D-6E8A-4147-A177-3AD203B41FA5}">
                      <a16:colId xmlns:a16="http://schemas.microsoft.com/office/drawing/2014/main" val="711627101"/>
                    </a:ext>
                  </a:extLst>
                </a:gridCol>
                <a:gridCol w="1410486">
                  <a:extLst>
                    <a:ext uri="{9D8B030D-6E8A-4147-A177-3AD203B41FA5}">
                      <a16:colId xmlns:a16="http://schemas.microsoft.com/office/drawing/2014/main" val="3464756329"/>
                    </a:ext>
                  </a:extLst>
                </a:gridCol>
                <a:gridCol w="7272445">
                  <a:extLst>
                    <a:ext uri="{9D8B030D-6E8A-4147-A177-3AD203B41FA5}">
                      <a16:colId xmlns:a16="http://schemas.microsoft.com/office/drawing/2014/main" val="2095785638"/>
                    </a:ext>
                  </a:extLst>
                </a:gridCol>
              </a:tblGrid>
              <a:tr h="583341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 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ô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5565"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Kiể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ô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Kiể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dữ</a:t>
                      </a:r>
                      <a:r>
                        <a:rPr lang="en-US" sz="1400" b="1" spc="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liệ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56715" marR="1655445" algn="ctr">
                        <a:spcAft>
                          <a:spcPts val="0"/>
                        </a:spcAft>
                      </a:pP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ê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b="1" spc="-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ả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390859"/>
                  </a:ext>
                </a:extLst>
              </a:tr>
              <a:tr h="101669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148590" algn="ctr">
                        <a:spcAft>
                          <a:spcPts val="0"/>
                        </a:spcAft>
                      </a:pP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_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146685" marR="151765" algn="ctr"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204470" marR="209550" algn="ctr"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2339975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400" spc="-5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4770" marR="2339975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400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ị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kh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ổ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hứ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: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6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64770" marR="38100" algn="just">
                        <a:lnSpc>
                          <a:spcPct val="149000"/>
                        </a:lnSpc>
                        <a:spcAft>
                          <a:spcPts val="0"/>
                        </a:spcAft>
                      </a:pPr>
                      <a:r>
                        <a:rPr lang="en-US" sz="1400" spc="-2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ựa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họn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ừ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cá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ắ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ầ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ứng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ẵ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đã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ợ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tạ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ằ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hức</a:t>
                      </a:r>
                      <a:r>
                        <a:rPr lang="en-US" sz="14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ă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“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dd</a:t>
                      </a:r>
                      <a:r>
                        <a:rPr lang="en-US" sz="14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</a:t>
                      </a:r>
                      <a:r>
                        <a:rPr lang="en-US" sz="14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blo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”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r>
                        <a:rPr lang="en-US" sz="14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4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đôi</a:t>
                      </a:r>
                      <a:r>
                        <a:rPr lang="en-US" sz="14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</a:t>
                      </a:r>
                      <a:r>
                        <a:rPr lang="en-US" sz="14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ờ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thông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ê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ể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ợ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trợ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iúp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để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á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sẵ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386027"/>
                  </a:ext>
                </a:extLst>
              </a:tr>
              <a:tr h="1367161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153035" algn="ctr">
                        <a:spcAft>
                          <a:spcPts val="0"/>
                        </a:spcAft>
                      </a:pP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146685" marR="151765" algn="ctr"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90805" algn="ctr">
                        <a:spcAft>
                          <a:spcPts val="0"/>
                        </a:spcAft>
                      </a:pP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400" spc="-2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2642235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400" spc="-5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4770" marR="2642235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400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ị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ự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:</a:t>
                      </a:r>
                    </a:p>
                    <a:p>
                      <a:pPr>
                        <a:lnSpc>
                          <a:spcPts val="6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64770" marR="3683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spc="-2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ựa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họn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ừ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cá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sự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iệ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ắ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ầ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ứng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ẵ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ã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đư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ợ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é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trong</a:t>
                      </a:r>
                      <a:r>
                        <a:rPr lang="en-US" sz="1400" spc="1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hì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thi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ế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1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bị</a:t>
                      </a:r>
                      <a:r>
                        <a:rPr lang="en-US" sz="1400" spc="1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đối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ớ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spc="1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cá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1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õ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spc="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cá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</a:t>
                      </a:r>
                      <a:r>
                        <a:rPr lang="en-US" sz="1400" spc="1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ế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độ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r>
                        <a:rPr lang="en-US" sz="1400" spc="1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400" spc="1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đôi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ê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1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en-US" sz="14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ờ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spc="1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thông</a:t>
                      </a:r>
                      <a:r>
                        <a:rPr lang="en-US" sz="1400" spc="1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số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ể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ợ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trợ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iúp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để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á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ự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iệ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ẵ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151909"/>
                  </a:ext>
                </a:extLst>
              </a:tr>
              <a:tr h="1269507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101600" algn="ctr">
                        <a:spcAft>
                          <a:spcPts val="0"/>
                        </a:spcAft>
                      </a:pP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hỉ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6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71120" algn="ctr">
                        <a:spcAft>
                          <a:spcPts val="0"/>
                        </a:spcAft>
                      </a:pP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TT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146685" marR="151765" algn="ctr"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167640"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Bool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400" spc="-5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477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spc="-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</a:t>
                      </a: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400" spc="14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=</a:t>
                      </a:r>
                      <a:r>
                        <a:rPr lang="en-US" sz="1400" spc="14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r>
                        <a:rPr lang="en-US" sz="1400" spc="1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ặ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ị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):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ự</a:t>
                      </a:r>
                      <a:r>
                        <a:rPr lang="en-US" sz="1400" spc="1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iệ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13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là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r>
                        <a:rPr lang="en-US" sz="1400" spc="1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ế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ả</a:t>
                      </a:r>
                      <a:r>
                        <a:rPr lang="en-US" sz="14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những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6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64770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đính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è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sự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iệ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ớ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đó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đối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ớ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spc="-2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</a:p>
                    <a:p>
                      <a:pPr>
                        <a:lnSpc>
                          <a:spcPts val="6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64770">
                        <a:spcAft>
                          <a:spcPts val="0"/>
                        </a:spcAft>
                      </a:pP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400" spc="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=</a:t>
                      </a:r>
                      <a:r>
                        <a:rPr lang="en-US" sz="1400" spc="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1:</a:t>
                      </a:r>
                      <a:r>
                        <a:rPr lang="en-US" sz="1400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sự</a:t>
                      </a:r>
                      <a:r>
                        <a:rPr lang="en-US" sz="1400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iệ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3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r>
                        <a:rPr lang="en-US" sz="1400" spc="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spc="6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ê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spc="4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4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ả</a:t>
                      </a:r>
                      <a:r>
                        <a:rPr lang="en-US" sz="1400" spc="4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ữ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</a:t>
                      </a:r>
                      <a:r>
                        <a:rPr lang="en-US" sz="1400" spc="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đính</a:t>
                      </a:r>
                      <a:r>
                        <a:rPr lang="en-US" sz="1400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è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spc="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sự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6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64770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iệ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ớ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đối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ớ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112618"/>
                  </a:ext>
                </a:extLst>
              </a:tr>
              <a:tr h="279445">
                <a:tc>
                  <a:txBody>
                    <a:bodyPr/>
                    <a:lstStyle/>
                    <a:p>
                      <a:pPr marL="67945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</a:t>
                      </a:r>
                      <a:r>
                        <a:rPr lang="en-US" sz="1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_</a:t>
                      </a: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4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OUT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4470" marR="20955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1400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ã</a:t>
                      </a:r>
                      <a:r>
                        <a:rPr lang="en-US" sz="1400" spc="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iề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4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iệ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thực</a:t>
                      </a:r>
                      <a:r>
                        <a:rPr lang="en-US" sz="14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thi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640829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71979" y="1294061"/>
            <a:ext cx="3111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í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è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háo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7617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ngắt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845746"/>
            <a:ext cx="2356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XỬ LÝ NGẮT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631258" y="1253610"/>
            <a:ext cx="5380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ỏ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qua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ngắt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ã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631258" y="1622942"/>
            <a:ext cx="111035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hởi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ỏ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qua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iệc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ắt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hoãn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ian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ới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SRT_DI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Mỗi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ngắt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ãn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kiện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lần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xuất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hoãn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ếu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hoãn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ỏ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qua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ớc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oãn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hết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ắt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ông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uấ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468436" y="2649678"/>
            <a:ext cx="102663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SRT_D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ngắt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ãn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ó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ì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 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ganiza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ion</a:t>
            </a:r>
            <a:r>
              <a:rPr lang="en-US" i="1" spc="27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ock:</a:t>
            </a:r>
            <a:r>
              <a:rPr lang="en-US" i="1" spc="3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ối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tổ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</a:t>
            </a:r>
            <a:r>
              <a:rPr lang="en-US" i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i="1" spc="3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pc="3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hoãn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ịnh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DTIME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ôi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qua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68436" y="3399415"/>
            <a:ext cx="102663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N_DINT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ỏ</a:t>
            </a:r>
            <a:r>
              <a:rPr lang="en-US" spc="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ua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ột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ắt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hoãn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nó</a:t>
            </a:r>
            <a:r>
              <a:rPr lang="en-US" spc="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ừ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ới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ắt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hoãn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ô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ợc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rong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ờng</a:t>
            </a:r>
            <a:r>
              <a:rPr lang="en-US" spc="-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ợ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-2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887" y="4396128"/>
            <a:ext cx="1800225" cy="173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89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ngắt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845746"/>
            <a:ext cx="2356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XỬ LÝ NGẮT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206866"/>
              </p:ext>
            </p:extLst>
          </p:nvPr>
        </p:nvGraphicFramePr>
        <p:xfrm>
          <a:off x="498474" y="1782361"/>
          <a:ext cx="11195051" cy="359286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55118">
                  <a:extLst>
                    <a:ext uri="{9D8B030D-6E8A-4147-A177-3AD203B41FA5}">
                      <a16:colId xmlns:a16="http://schemas.microsoft.com/office/drawing/2014/main" val="4051639578"/>
                    </a:ext>
                  </a:extLst>
                </a:gridCol>
                <a:gridCol w="1457002">
                  <a:extLst>
                    <a:ext uri="{9D8B030D-6E8A-4147-A177-3AD203B41FA5}">
                      <a16:colId xmlns:a16="http://schemas.microsoft.com/office/drawing/2014/main" val="711627101"/>
                    </a:ext>
                  </a:extLst>
                </a:gridCol>
                <a:gridCol w="1410486">
                  <a:extLst>
                    <a:ext uri="{9D8B030D-6E8A-4147-A177-3AD203B41FA5}">
                      <a16:colId xmlns:a16="http://schemas.microsoft.com/office/drawing/2014/main" val="3464756329"/>
                    </a:ext>
                  </a:extLst>
                </a:gridCol>
                <a:gridCol w="7272445">
                  <a:extLst>
                    <a:ext uri="{9D8B030D-6E8A-4147-A177-3AD203B41FA5}">
                      <a16:colId xmlns:a16="http://schemas.microsoft.com/office/drawing/2014/main" val="2095785638"/>
                    </a:ext>
                  </a:extLst>
                </a:gridCol>
              </a:tblGrid>
              <a:tr h="583341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 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ô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5565"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Kiể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ô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Kiể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b="1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dữ</a:t>
                      </a:r>
                      <a:r>
                        <a:rPr lang="en-US" sz="1400" b="1" spc="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liệ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56715" marR="1655445" algn="ctr">
                        <a:spcAft>
                          <a:spcPts val="0"/>
                        </a:spcAft>
                      </a:pP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ê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400" b="1" spc="-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400" b="1" spc="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400" b="1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ả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390859"/>
                  </a:ext>
                </a:extLst>
              </a:tr>
              <a:tr h="84801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spc="-1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_NR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r>
                        <a:rPr lang="en-US" sz="1200" spc="-1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 marR="203835" algn="ctr">
                        <a:spcAft>
                          <a:spcPts val="0"/>
                        </a:spcAft>
                      </a:pPr>
                      <a:r>
                        <a:rPr lang="en-US" sz="1200" spc="-1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nt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43815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Khối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ổ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ứ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r>
                        <a:rPr lang="en-US" sz="1200" spc="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dù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để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khởi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độ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200" spc="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ột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trì</a:t>
                      </a:r>
                      <a:r>
                        <a:rPr lang="en-US" sz="1200" spc="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</a:t>
                      </a:r>
                      <a:r>
                        <a:rPr lang="en-US" sz="1200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ã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thời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: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6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4770" marR="3873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spc="-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ự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họn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ừ</a:t>
                      </a:r>
                      <a:r>
                        <a:rPr lang="en-US" sz="1200" spc="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á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 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ắ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trì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ã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ời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ian</a:t>
                      </a:r>
                      <a:r>
                        <a:rPr lang="en-US" sz="1200" spc="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ẵ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đã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được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ạ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spc="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ử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dụ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hức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ă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“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bloc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”</a:t>
                      </a:r>
                      <a:r>
                        <a:rPr lang="en-US" sz="1200" spc="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ở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spc="2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â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đề</a:t>
                      </a:r>
                      <a:r>
                        <a:rPr lang="en-US" sz="1200" spc="26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á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r>
                        <a:rPr lang="en-US" sz="1200" spc="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200" spc="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đôi</a:t>
                      </a:r>
                      <a:r>
                        <a:rPr lang="en-US" sz="1200" spc="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ột</a:t>
                      </a:r>
                      <a:r>
                        <a:rPr lang="en-US" sz="1200" spc="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lên</a:t>
                      </a:r>
                      <a:r>
                        <a:rPr lang="en-US" sz="1200" spc="26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ư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ờng</a:t>
                      </a:r>
                      <a:r>
                        <a:rPr lang="en-US" sz="1200" spc="2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thô</a:t>
                      </a:r>
                      <a:r>
                        <a:rPr lang="en-US" sz="12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2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ố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</a:t>
                      </a:r>
                      <a:r>
                        <a:rPr lang="en-US" sz="1200" spc="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200" spc="2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đó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bi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ể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tượ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trợ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iúp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để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á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OB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2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ẵ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386027"/>
                  </a:ext>
                </a:extLst>
              </a:tr>
              <a:tr h="843378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200" spc="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-1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0825" marR="257810" algn="ctr">
                        <a:spcAft>
                          <a:spcPts val="0"/>
                        </a:spcAft>
                      </a:pPr>
                      <a:r>
                        <a:rPr lang="en-US" sz="1200" spc="-1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Time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664210" algn="just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Giá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trị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trì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ã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ời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ian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từ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1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ế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60000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ms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6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4770" marR="3873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thể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ạ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á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ời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ian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trì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ã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à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hơn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</a:t>
                      </a:r>
                      <a:r>
                        <a:rPr lang="en-US" sz="1200" spc="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ví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ụ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ằ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ác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ử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dụ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ột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ế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ê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trong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ột</a:t>
                      </a:r>
                      <a:r>
                        <a:rPr lang="en-US" sz="1200" spc="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OB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ắ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trì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ã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thời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151909"/>
                  </a:ext>
                </a:extLst>
              </a:tr>
              <a:tr h="292963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r>
                        <a:rPr lang="en-US" sz="1200" spc="1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spc="-3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0825" marR="257810" algn="ctr">
                        <a:spcAft>
                          <a:spcPts val="0"/>
                        </a:spcAft>
                      </a:pPr>
                      <a:r>
                        <a:rPr lang="en-US" sz="1200" spc="-1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algn="ctr">
                        <a:spcAft>
                          <a:spcPts val="0"/>
                        </a:spcAft>
                      </a:pPr>
                      <a:r>
                        <a:rPr lang="en-US" sz="1200" spc="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spc="-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Không</a:t>
                      </a:r>
                      <a:r>
                        <a:rPr lang="en-US" sz="12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được</a:t>
                      </a:r>
                      <a:r>
                        <a:rPr lang="en-US" sz="12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ử</a:t>
                      </a:r>
                      <a:r>
                        <a:rPr lang="en-US" sz="1200" spc="16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dụ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1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ở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spc="15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r>
                        <a:rPr lang="en-US" sz="1200" spc="16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–</a:t>
                      </a:r>
                      <a:r>
                        <a:rPr lang="en-US" sz="1200" spc="15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1200;</a:t>
                      </a:r>
                      <a:r>
                        <a:rPr lang="en-US" sz="1200" spc="15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ọi</a:t>
                      </a:r>
                      <a:r>
                        <a:rPr lang="en-US" sz="1200" spc="15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á</a:t>
                      </a:r>
                      <a:r>
                        <a:rPr lang="en-US" sz="1200" spc="1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trị</a:t>
                      </a:r>
                      <a:r>
                        <a:rPr lang="en-US" sz="1200" spc="17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200" spc="-5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ề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được</a:t>
                      </a:r>
                      <a:r>
                        <a:rPr lang="en-US" sz="1200" spc="-5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ấ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ậ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112618"/>
                  </a:ext>
                </a:extLst>
              </a:tr>
              <a:tr h="27944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RET_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OUT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 marR="203835" algn="ctr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200" spc="-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nt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Mã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ề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ki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ực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640829"/>
                  </a:ext>
                </a:extLst>
              </a:tr>
              <a:tr h="466279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_NR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250825" marR="257810" algn="ctr">
                        <a:spcAft>
                          <a:spcPts val="0"/>
                        </a:spcAft>
                      </a:pPr>
                      <a:r>
                        <a:rPr lang="en-US" sz="12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L="202565" marR="203835" algn="ctr">
                        <a:spcAft>
                          <a:spcPts val="0"/>
                        </a:spcAft>
                      </a:pPr>
                      <a:r>
                        <a:rPr lang="en-US" sz="12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Định</a:t>
                      </a:r>
                      <a:r>
                        <a:rPr lang="en-US" sz="1200" spc="19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nh</a:t>
                      </a:r>
                      <a:r>
                        <a:rPr lang="en-US" sz="1200" spc="19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spc="18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ắ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19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trì</a:t>
                      </a:r>
                      <a:r>
                        <a:rPr lang="en-US" sz="1200" spc="20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ã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spc="19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ời</a:t>
                      </a:r>
                      <a:r>
                        <a:rPr lang="en-US" sz="1200" spc="19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r>
                        <a:rPr lang="en-US" sz="1200" spc="19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</a:t>
                      </a:r>
                      <a:r>
                        <a:rPr lang="en-US" sz="1200" spc="19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ó</a:t>
                      </a:r>
                      <a:r>
                        <a:rPr lang="en-US" sz="1200" spc="19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hể</a:t>
                      </a:r>
                      <a:r>
                        <a:rPr lang="en-US" sz="1200" spc="18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sử</a:t>
                      </a: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dụng</a:t>
                      </a:r>
                      <a:r>
                        <a:rPr lang="en-US" sz="1200" spc="-1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một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số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  <a:r>
                        <a:rPr lang="en-US" sz="12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</a:t>
                      </a:r>
                      <a:r>
                        <a:rPr lang="en-US" sz="12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tên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ọi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2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ý</a:t>
                      </a:r>
                      <a:r>
                        <a:rPr lang="en-US" sz="12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68595"/>
                  </a:ext>
                </a:extLst>
              </a:tr>
              <a:tr h="27944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RET_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</a:t>
                      </a:r>
                      <a:r>
                        <a:rPr lang="en-US" sz="1200" spc="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OUT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2565" marR="203835" algn="ctr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200" spc="-1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nt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Mã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ề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ki</a:t>
                      </a:r>
                      <a:r>
                        <a:rPr lang="en-US" sz="1200" spc="-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ệ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  <a:r>
                        <a:rPr lang="en-US" sz="1200" spc="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ực</a:t>
                      </a:r>
                      <a:r>
                        <a:rPr lang="en-US" sz="1200" spc="-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37842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1258" y="1253610"/>
            <a:ext cx="5380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b="1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ởi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ỏ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qua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ngắt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ã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ời</a:t>
            </a:r>
            <a:r>
              <a:rPr lang="en-US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8722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Một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số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tập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lệnh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xử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lý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ngắt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240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845746"/>
            <a:ext cx="2356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359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LỆNH XỬ LÝ NGẮT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BDC7C6F-94B9-4BDC-A6E8-C86AA907B9F2}"/>
              </a:ext>
            </a:extLst>
          </p:cNvPr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53610"/>
            <a:ext cx="4485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vô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ệu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phép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ngắt</a:t>
            </a:r>
            <a:r>
              <a:rPr lang="en-US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ảnh</a:t>
            </a:r>
            <a:r>
              <a:rPr lang="en-US" b="1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b="1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461963" y="1661474"/>
            <a:ext cx="11272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pc="1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ệnh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_AIRT</a:t>
            </a:r>
            <a:r>
              <a:rPr lang="en-US" spc="10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N_AIRT</a:t>
            </a:r>
            <a:r>
              <a:rPr lang="en-US" spc="1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vô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hiệu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pc="1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pc="1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é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pc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spc="16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ngắt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cảnh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56444" y="2106350"/>
            <a:ext cx="106783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S_AIRT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trì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ãn</a:t>
            </a:r>
            <a:r>
              <a:rPr lang="en-US" spc="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ệc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pc="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spc="3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ủ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5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ngắt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ể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</a:t>
            </a:r>
            <a:r>
              <a:rPr lang="en-US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DIS_AIRT</a:t>
            </a:r>
            <a:r>
              <a:rPr lang="en-US" spc="-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lần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56444" y="2861692"/>
            <a:ext cx="106783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N_AIRT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hép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ệc</a:t>
            </a:r>
            <a:r>
              <a:rPr lang="en-US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ý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ự</a:t>
            </a:r>
            <a:r>
              <a:rPr lang="en-US" spc="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iện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ngắt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vô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pc="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ớc</a:t>
            </a:r>
            <a:r>
              <a:rPr lang="en-US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spc="-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pc="1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ệ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</a:t>
            </a:r>
            <a:r>
              <a:rPr lang="en-US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S_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AIRT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659" y="3489740"/>
            <a:ext cx="1136650" cy="719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304" y="3488342"/>
            <a:ext cx="1136650" cy="719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541076"/>
              </p:ext>
            </p:extLst>
          </p:nvPr>
        </p:nvGraphicFramePr>
        <p:xfrm>
          <a:off x="2613327" y="4721102"/>
          <a:ext cx="7564590" cy="1440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Document" r:id="rId7" imgW="6555206" imgH="1248107" progId="Word.Document.12">
                  <p:embed/>
                </p:oleObj>
              </mc:Choice>
              <mc:Fallback>
                <p:oleObj name="Document" r:id="rId7" imgW="6555206" imgH="1248107" progId="Word.Documen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13327" y="4721102"/>
                        <a:ext cx="7564590" cy="14400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603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0"/>
            <a:ext cx="9132887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61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Default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3.xml><?xml version="1.0" encoding="utf-8"?>
<a:theme xmlns:a="http://schemas.openxmlformats.org/drawingml/2006/main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1472</Words>
  <Application>Microsoft Office PowerPoint</Application>
  <PresentationFormat>Widescreen</PresentationFormat>
  <Paragraphs>240</Paragraphs>
  <Slides>23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Segoe UI</vt:lpstr>
      <vt:lpstr>Segoe UI Light</vt:lpstr>
      <vt:lpstr>Times New Roman</vt:lpstr>
      <vt:lpstr>4_Default Design</vt:lpstr>
      <vt:lpstr>WelcomeDoc</vt:lpstr>
      <vt:lpstr>5_Default Design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1.3 THIẾT BỊ ĐIỀU KHIỂN LẬP TRÌNH S7-1200  1.4 XỬ LÝ CHƯƠNG TRÌNH  1.5 KẾT NỐI DÂY GIỮA PLC VÀ CÁC THIẾT BỊ NGOẠI VI  1.6 KIỂM TRA VIỆC KẾT NỐI DÂY BẰNG PHẦN MỀM</dc:title>
  <dc:creator>ngha14051997@gmail.com</dc:creator>
  <cp:lastModifiedBy>Nguyen Bao Chau</cp:lastModifiedBy>
  <cp:revision>120</cp:revision>
  <dcterms:created xsi:type="dcterms:W3CDTF">2021-07-02T09:40:39Z</dcterms:created>
  <dcterms:modified xsi:type="dcterms:W3CDTF">2021-11-29T16:03:30Z</dcterms:modified>
</cp:coreProperties>
</file>