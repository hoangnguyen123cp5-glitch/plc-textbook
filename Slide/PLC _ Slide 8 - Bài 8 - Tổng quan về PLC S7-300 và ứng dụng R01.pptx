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33"/>
  </p:notesMasterIdLst>
  <p:sldIdLst>
    <p:sldId id="257" r:id="rId3"/>
    <p:sldId id="341" r:id="rId4"/>
    <p:sldId id="339" r:id="rId5"/>
    <p:sldId id="353" r:id="rId6"/>
    <p:sldId id="379" r:id="rId7"/>
    <p:sldId id="380" r:id="rId8"/>
    <p:sldId id="381" r:id="rId9"/>
    <p:sldId id="382" r:id="rId10"/>
    <p:sldId id="383" r:id="rId11"/>
    <p:sldId id="384" r:id="rId12"/>
    <p:sldId id="385" r:id="rId13"/>
    <p:sldId id="386" r:id="rId14"/>
    <p:sldId id="363" r:id="rId15"/>
    <p:sldId id="387" r:id="rId16"/>
    <p:sldId id="388" r:id="rId17"/>
    <p:sldId id="389" r:id="rId18"/>
    <p:sldId id="390" r:id="rId19"/>
    <p:sldId id="391" r:id="rId20"/>
    <p:sldId id="392" r:id="rId21"/>
    <p:sldId id="393" r:id="rId22"/>
    <p:sldId id="394" r:id="rId23"/>
    <p:sldId id="395" r:id="rId24"/>
    <p:sldId id="396" r:id="rId25"/>
    <p:sldId id="397" r:id="rId26"/>
    <p:sldId id="398" r:id="rId27"/>
    <p:sldId id="399" r:id="rId28"/>
    <p:sldId id="376" r:id="rId29"/>
    <p:sldId id="400" r:id="rId30"/>
    <p:sldId id="401" r:id="rId31"/>
    <p:sldId id="30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2897" autoAdjust="0"/>
  </p:normalViewPr>
  <p:slideViewPr>
    <p:cSldViewPr snapToGrid="0">
      <p:cViewPr>
        <p:scale>
          <a:sx n="100" d="100"/>
          <a:sy n="100" d="100"/>
        </p:scale>
        <p:origin x="912" y="8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12/6/2021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022099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27000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09895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42499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59791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09544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62535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26524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59292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11075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31114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43253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857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68830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9149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70475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40159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921671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34872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693161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38189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864346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74377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9Slide.vn - 2019">
            <a:extLst>
              <a:ext uri="{FF2B5EF4-FFF2-40B4-BE49-F238E27FC236}">
                <a16:creationId xmlns:a16="http://schemas.microsoft.com/office/drawing/2014/main" id="{0B2BCE58-77AD-4690-BEFD-AB63AF467CA1}"/>
              </a:ext>
            </a:extLst>
          </p:cNvPr>
          <p:cNvSpPr txBox="1"/>
          <p:nvPr userDrawn="1"/>
        </p:nvSpPr>
        <p:spPr>
          <a:xfrm>
            <a:off x="0" y="-1604665"/>
            <a:ext cx="12192000" cy="461665"/>
          </a:xfrm>
          <a:prstGeom prst="rect">
            <a:avLst/>
          </a:prstGeom>
          <a:noFill/>
        </p:spPr>
        <p:txBody>
          <a:bodyPr vert="horz" rtlCol="0">
            <a:spAutoFit/>
          </a:bodyPr>
          <a:lstStyle/>
          <a:p>
            <a:pPr algn="ctr"/>
            <a:r>
              <a:rPr lang="en-US" sz="2400">
                <a:solidFill>
                  <a:srgbClr val="CFCFCF"/>
                </a:solidFill>
              </a:rPr>
              <a:t>www.9slide.vn</a:t>
            </a:r>
          </a:p>
        </p:txBody>
      </p:sp>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9Slide.vn - 2019">
            <a:extLst>
              <a:ext uri="{FF2B5EF4-FFF2-40B4-BE49-F238E27FC236}">
                <a16:creationId xmlns:a16="http://schemas.microsoft.com/office/drawing/2014/main" id="{F7DB1C88-F6E7-4060-8999-FE7C19CFB5FF}"/>
              </a:ext>
            </a:extLst>
          </p:cNvPr>
          <p:cNvSpPr txBox="1"/>
          <p:nvPr userDrawn="1"/>
        </p:nvSpPr>
        <p:spPr>
          <a:xfrm>
            <a:off x="0" y="-1604665"/>
            <a:ext cx="12192000" cy="461665"/>
          </a:xfrm>
          <a:prstGeom prst="rect">
            <a:avLst/>
          </a:prstGeom>
          <a:noFill/>
        </p:spPr>
        <p:txBody>
          <a:bodyPr vert="horz" rtlCol="0">
            <a:spAutoFit/>
          </a:bodyPr>
          <a:lstStyle/>
          <a:p>
            <a:pPr algn="ctr"/>
            <a:r>
              <a:rPr lang="en-US" sz="2400">
                <a:solidFill>
                  <a:srgbClr val="CFCFCF"/>
                </a:solidFill>
              </a:rPr>
              <a:t>www.9slide.vn</a:t>
            </a:r>
          </a:p>
        </p:txBody>
      </p:sp>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3.jpe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14</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216240" y="1135856"/>
            <a:ext cx="9759518"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8:</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TỔNG QUAN VỀ PLC S7-300 VÀ ỨNG DỤNG</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6325" y="3573463"/>
            <a:ext cx="5280734" cy="2858197"/>
          </a:xfrm>
          <a:prstGeom prst="rect">
            <a:avLst/>
          </a:prstGeom>
        </p:spPr>
      </p:pic>
    </p:spTree>
    <p:extLst>
      <p:ext uri="{BB962C8B-B14F-4D97-AF65-F5344CB8AC3E}">
        <p14:creationId xmlns:p14="http://schemas.microsoft.com/office/powerpoint/2010/main" val="347781825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TỔNG QUAN VỀ PLC S7-300 VÀ ỨNG DỤNG</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1572" y="2939734"/>
            <a:ext cx="6208543" cy="3493340"/>
          </a:xfrm>
          <a:prstGeom prst="rect">
            <a:avLst/>
          </a:prstGeom>
        </p:spPr>
      </p:pic>
      <p:sp>
        <p:nvSpPr>
          <p:cNvPr id="4" name="Rectangle 3"/>
          <p:cNvSpPr/>
          <p:nvPr/>
        </p:nvSpPr>
        <p:spPr>
          <a:xfrm>
            <a:off x="1047565" y="1883638"/>
            <a:ext cx="10156054" cy="369332"/>
          </a:xfrm>
          <a:prstGeom prst="rect">
            <a:avLst/>
          </a:prstGeom>
        </p:spPr>
        <p:txBody>
          <a:bodyPr wrap="square">
            <a:spAutoFit/>
          </a:bodyPr>
          <a:lstStyle/>
          <a:p>
            <a:pPr algn="ctr"/>
            <a:r>
              <a:rPr lang="en-US" b="1" dirty="0">
                <a:latin typeface="Times New Roman" panose="02020603050405020304" pitchFamily="18" charset="0"/>
                <a:cs typeface="Times New Roman" panose="02020603050405020304" pitchFamily="18" charset="0"/>
              </a:rPr>
              <a:t>8.1. </a:t>
            </a:r>
            <a:r>
              <a:rPr lang="en-US" b="1" dirty="0" err="1">
                <a:latin typeface="Times New Roman" panose="02020603050405020304" pitchFamily="18" charset="0"/>
                <a:cs typeface="Times New Roman" panose="02020603050405020304" pitchFamily="18" charset="0"/>
              </a:rPr>
              <a:t>Giới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chung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về</a:t>
            </a:r>
            <a:r>
              <a:rPr lang="en-US" b="1" dirty="0">
                <a:latin typeface="Times New Roman" panose="02020603050405020304" pitchFamily="18" charset="0"/>
                <a:cs typeface="Times New Roman" panose="02020603050405020304" pitchFamily="18" charset="0"/>
              </a:rPr>
              <a:t> PLC S7-300</a:t>
            </a:r>
          </a:p>
        </p:txBody>
      </p:sp>
    </p:spTree>
    <p:extLst>
      <p:ext uri="{BB962C8B-B14F-4D97-AF65-F5344CB8AC3E}">
        <p14:creationId xmlns:p14="http://schemas.microsoft.com/office/powerpoint/2010/main" val="211185217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9" name="TextBox 8">
            <a:extLst>
              <a:ext uri="{FF2B5EF4-FFF2-40B4-BE49-F238E27FC236}">
                <a16:creationId xmlns:a16="http://schemas.microsoft.com/office/drawing/2014/main" id="{237C2929-53B5-49DA-9836-2ABD471F95F0}"/>
              </a:ext>
            </a:extLst>
          </p:cNvPr>
          <p:cNvSpPr txBox="1"/>
          <p:nvPr/>
        </p:nvSpPr>
        <p:spPr>
          <a:xfrm>
            <a:off x="457200" y="1287836"/>
            <a:ext cx="11277599" cy="1754326"/>
          </a:xfrm>
          <a:prstGeom prst="rect">
            <a:avLst/>
          </a:prstGeom>
          <a:noFill/>
        </p:spPr>
        <p:txBody>
          <a:bodyPr wrap="square">
            <a:spAutoFit/>
          </a:bodyPr>
          <a:lstStyle/>
          <a:p>
            <a:pPr algn="just">
              <a:lnSpc>
                <a:spcPct val="150000"/>
              </a:lnSpc>
              <a:spcAft>
                <a:spcPts val="800"/>
              </a:spcAft>
            </a:pP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	PLC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S7-300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thiết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bị</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lập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trình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hãng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Siemen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Đức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sau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S7-200,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chức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năng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mạnh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hơn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rất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với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PLC S7-200. PLC S7-300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dùng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những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ứng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dụng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lớn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cần</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ngõ</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gian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đáp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ứng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nhanh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yêu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cầu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kết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nối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mạng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năng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mở</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sau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này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PLC S7-300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dạng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khối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cũng</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cấu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trúc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dạng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module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module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mở</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về</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phía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bên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rPr>
              <a:t>gồm</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các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thành</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phần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sau</a:t>
            </a:r>
            <a:r>
              <a:rPr lang="en-US" sz="1800" dirty="0">
                <a:effectLst/>
                <a:latin typeface="Times New Roman" panose="02020603050405020304" pitchFamily="18" charset="0"/>
                <a:ea typeface="Calibri" panose="020F0502020204030204" pitchFamily="34" charset="0"/>
              </a:rPr>
              <a:t>:</a:t>
            </a:r>
            <a:endParaRPr lang="en-US" dirty="0"/>
          </a:p>
        </p:txBody>
      </p:sp>
      <p:sp>
        <p:nvSpPr>
          <p:cNvPr id="13" name="TextBox 12">
            <a:extLst>
              <a:ext uri="{FF2B5EF4-FFF2-40B4-BE49-F238E27FC236}">
                <a16:creationId xmlns:a16="http://schemas.microsoft.com/office/drawing/2014/main" id="{674F2A16-D9D7-45DF-8EA4-84C52C80FAB3}"/>
              </a:ext>
            </a:extLst>
          </p:cNvPr>
          <p:cNvSpPr txBox="1"/>
          <p:nvPr/>
        </p:nvSpPr>
        <p:spPr>
          <a:xfrm>
            <a:off x="803635" y="3089297"/>
            <a:ext cx="10931164" cy="3000821"/>
          </a:xfrm>
          <a:prstGeom prst="rect">
            <a:avLst/>
          </a:prstGeom>
          <a:noFill/>
        </p:spPr>
        <p:txBody>
          <a:bodyPr wrap="square">
            <a:spAutoFit/>
          </a:bodyPr>
          <a:lstStyle/>
          <a:p>
            <a:pPr>
              <a:lnSpc>
                <a:spcPct val="150000"/>
              </a:lnSpc>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1800" dirty="0">
                <a:solidFill>
                  <a:srgbClr val="000000"/>
                </a:solidFill>
                <a:effectLst/>
                <a:latin typeface="Times New Roman" panose="02020603050405020304" pitchFamily="18" charset="0"/>
                <a:ea typeface="Times New Roman" panose="02020603050405020304" pitchFamily="18" charset="0"/>
              </a:rPr>
              <a:t> CPU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loại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nhau</a:t>
            </a:r>
            <a:r>
              <a:rPr lang="en-US" sz="1800" dirty="0">
                <a:solidFill>
                  <a:srgbClr val="000000"/>
                </a:solidFill>
                <a:effectLst/>
                <a:latin typeface="Times New Roman" panose="02020603050405020304" pitchFamily="18" charset="0"/>
                <a:ea typeface="Times New Roman" panose="02020603050405020304" pitchFamily="18" charset="0"/>
              </a:rPr>
              <a:t>: 312IFM, 312C, 313, 313C, 314, 314IFM, 314C, 315, 315-2 DP, 316-2 DP, 318-2,</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tín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hiệu</a:t>
            </a:r>
            <a:r>
              <a:rPr lang="en-US" sz="1800" dirty="0">
                <a:solidFill>
                  <a:srgbClr val="000000"/>
                </a:solidFill>
                <a:effectLst/>
                <a:latin typeface="Times New Roman" panose="02020603050405020304" pitchFamily="18" charset="0"/>
                <a:ea typeface="Times New Roman" panose="02020603050405020304" pitchFamily="18" charset="0"/>
              </a:rPr>
              <a:t> SM </a:t>
            </a:r>
            <a:r>
              <a:rPr lang="en-US" sz="1800" dirty="0" err="1">
                <a:solidFill>
                  <a:srgbClr val="000000"/>
                </a:solidFill>
                <a:effectLst/>
                <a:latin typeface="Times New Roman" panose="02020603050405020304" pitchFamily="18" charset="0"/>
                <a:ea typeface="Times New Roman" panose="02020603050405020304" pitchFamily="18" charset="0"/>
              </a:rPr>
              <a:t>xuất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nhập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tín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tự</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dirty="0" err="1">
                <a:solidFill>
                  <a:srgbClr val="000000"/>
                </a:solidFill>
                <a:effectLst/>
                <a:latin typeface="Times New Roman" panose="02020603050405020304" pitchFamily="18" charset="0"/>
                <a:ea typeface="Times New Roman" panose="02020603050405020304" pitchFamily="18" charset="0"/>
              </a:rPr>
              <a:t>số</a:t>
            </a:r>
            <a:r>
              <a:rPr lang="en-US" sz="1800" dirty="0">
                <a:solidFill>
                  <a:srgbClr val="000000"/>
                </a:solidFill>
                <a:effectLst/>
                <a:latin typeface="Times New Roman" panose="02020603050405020304" pitchFamily="18" charset="0"/>
                <a:ea typeface="Times New Roman" panose="02020603050405020304" pitchFamily="18" charset="0"/>
              </a:rPr>
              <a:t>: SM321, SM322, SM323, SM331, SM332,SM334, SM338,     </a:t>
            </a:r>
          </a:p>
          <a:p>
            <a:pPr>
              <a:lnSpc>
                <a:spcPct val="150000"/>
              </a:lnSpc>
            </a:pPr>
            <a:r>
              <a:rPr lang="en-US" dirty="0">
                <a:solidFill>
                  <a:srgbClr val="000000"/>
                </a:solidFill>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SM374</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năng</a:t>
            </a:r>
            <a:r>
              <a:rPr lang="en-US" sz="1800" dirty="0">
                <a:solidFill>
                  <a:srgbClr val="000000"/>
                </a:solidFill>
                <a:effectLst/>
                <a:latin typeface="Times New Roman" panose="02020603050405020304" pitchFamily="18" charset="0"/>
                <a:ea typeface="Times New Roman" panose="02020603050405020304" pitchFamily="18" charset="0"/>
              </a:rPr>
              <a:t> FM</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truyền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thông</a:t>
            </a:r>
            <a:r>
              <a:rPr lang="en-US" sz="1800" dirty="0">
                <a:solidFill>
                  <a:srgbClr val="000000"/>
                </a:solidFill>
                <a:effectLst/>
                <a:latin typeface="Times New Roman" panose="02020603050405020304" pitchFamily="18" charset="0"/>
                <a:ea typeface="Times New Roman" panose="02020603050405020304" pitchFamily="18" charset="0"/>
              </a:rPr>
              <a:t> CP</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nguồn</a:t>
            </a:r>
            <a:r>
              <a:rPr lang="en-US" sz="1800" dirty="0">
                <a:solidFill>
                  <a:srgbClr val="000000"/>
                </a:solidFill>
                <a:effectLst/>
                <a:latin typeface="Times New Roman" panose="02020603050405020304" pitchFamily="18" charset="0"/>
                <a:ea typeface="Times New Roman" panose="02020603050405020304" pitchFamily="18" charset="0"/>
              </a:rPr>
              <a:t> PS307 </a:t>
            </a:r>
            <a:r>
              <a:rPr lang="en-US" sz="1800" dirty="0" err="1">
                <a:solidFill>
                  <a:srgbClr val="000000"/>
                </a:solidFill>
                <a:effectLst/>
                <a:latin typeface="Times New Roman" panose="02020603050405020304" pitchFamily="18" charset="0"/>
                <a:ea typeface="Times New Roman" panose="02020603050405020304" pitchFamily="18" charset="0"/>
              </a:rPr>
              <a:t>cấp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nguồn</a:t>
            </a:r>
            <a:r>
              <a:rPr lang="en-US" sz="1800" dirty="0">
                <a:solidFill>
                  <a:srgbClr val="000000"/>
                </a:solidFill>
                <a:effectLst/>
                <a:latin typeface="Times New Roman" panose="02020603050405020304" pitchFamily="18" charset="0"/>
                <a:ea typeface="Times New Roman" panose="02020603050405020304" pitchFamily="18" charset="0"/>
              </a:rPr>
              <a:t> 24VDC </a:t>
            </a:r>
            <a:r>
              <a:rPr lang="en-US" sz="1800" dirty="0" err="1">
                <a:solidFill>
                  <a:srgbClr val="000000"/>
                </a:solidFill>
                <a:effectLst/>
                <a:latin typeface="Times New Roman" panose="02020603050405020304" pitchFamily="18" charset="0"/>
                <a:ea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khác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dòng</a:t>
            </a:r>
            <a:r>
              <a:rPr lang="en-US" sz="1800" dirty="0">
                <a:solidFill>
                  <a:srgbClr val="000000"/>
                </a:solidFill>
                <a:effectLst/>
                <a:latin typeface="Times New Roman" panose="02020603050405020304" pitchFamily="18" charset="0"/>
                <a:ea typeface="Times New Roman" panose="02020603050405020304" pitchFamily="18" charset="0"/>
              </a:rPr>
              <a:t> 2A, 5A, 10A</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ghép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nối</a:t>
            </a:r>
            <a:r>
              <a:rPr lang="en-US" sz="1800" dirty="0">
                <a:solidFill>
                  <a:srgbClr val="000000"/>
                </a:solidFill>
                <a:effectLst/>
                <a:latin typeface="Times New Roman" panose="02020603050405020304" pitchFamily="18" charset="0"/>
                <a:ea typeface="Times New Roman" panose="02020603050405020304" pitchFamily="18" charset="0"/>
              </a:rPr>
              <a:t> IM: IM360, IM361, IM365</a:t>
            </a:r>
            <a:endParaRPr lang="en-US" dirty="0"/>
          </a:p>
        </p:txBody>
      </p:sp>
      <p:sp>
        <p:nvSpPr>
          <p:cNvPr id="15" name="TextBox 5">
            <a:extLst>
              <a:ext uri="{FF2B5EF4-FFF2-40B4-BE49-F238E27FC236}">
                <a16:creationId xmlns:a16="http://schemas.microsoft.com/office/drawing/2014/main" id="{C645D452-1A6A-4DA5-884B-02EB0FEC666C}"/>
              </a:ext>
            </a:extLst>
          </p:cNvPr>
          <p:cNvSpPr txBox="1">
            <a:spLocks noChangeArrowheads="1"/>
          </p:cNvSpPr>
          <p:nvPr/>
        </p:nvSpPr>
        <p:spPr bwMode="auto">
          <a:xfrm>
            <a:off x="457200" y="871369"/>
            <a:ext cx="19053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1</a:t>
            </a:r>
            <a:r>
              <a:rPr lang="en-US" altLang="en-US" sz="1800" b="1">
                <a:solidFill>
                  <a:prstClr val="black"/>
                </a:solidFill>
                <a:latin typeface="Times New Roman" panose="02020603050405020304" pitchFamily="18" charset="0"/>
                <a:cs typeface="Times New Roman" panose="02020603050405020304" pitchFamily="18" charset="0"/>
              </a:rPr>
              <a:t>. TỔNG QUAN:</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74129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871369"/>
            <a:ext cx="19053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1</a:t>
            </a:r>
            <a:r>
              <a:rPr lang="en-US" altLang="en-US" sz="1800" b="1">
                <a:solidFill>
                  <a:prstClr val="black"/>
                </a:solidFill>
                <a:latin typeface="Times New Roman" panose="02020603050405020304" pitchFamily="18" charset="0"/>
                <a:cs typeface="Times New Roman" panose="02020603050405020304" pitchFamily="18" charset="0"/>
              </a:rPr>
              <a:t>. TỔNG QUAN:</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4" name="TextBox 13">
            <a:extLst>
              <a:ext uri="{FF2B5EF4-FFF2-40B4-BE49-F238E27FC236}">
                <a16:creationId xmlns:a16="http://schemas.microsoft.com/office/drawing/2014/main" id="{83C81DB1-DC4C-4A9B-B27E-89ABF5E5FD25}"/>
              </a:ext>
            </a:extLst>
          </p:cNvPr>
          <p:cNvSpPr txBox="1"/>
          <p:nvPr/>
        </p:nvSpPr>
        <p:spPr>
          <a:xfrm>
            <a:off x="457199" y="1287836"/>
            <a:ext cx="11277600" cy="923330"/>
          </a:xfrm>
          <a:prstGeom prst="rect">
            <a:avLst/>
          </a:prstGeom>
          <a:noFill/>
        </p:spPr>
        <p:txBody>
          <a:bodyPr wrap="square">
            <a:spAutoFit/>
          </a:bodyPr>
          <a:lstStyle/>
          <a:p>
            <a:pPr algn="just"/>
            <a:r>
              <a:rPr lang="en-US" sz="1800" dirty="0" smtClean="0">
                <a:solidFill>
                  <a:srgbClr val="000000"/>
                </a:solidFill>
                <a:effectLst/>
                <a:latin typeface="Times New Roman" panose="02020603050405020304" pitchFamily="18" charset="0"/>
                <a:ea typeface="Times New Roman" panose="02020603050405020304" pitchFamily="18" charset="0"/>
              </a:rPr>
              <a:t>	</a:t>
            </a:r>
            <a:r>
              <a:rPr lang="en-US" sz="1800" dirty="0" err="1" smtClean="0">
                <a:solidFill>
                  <a:srgbClr val="000000"/>
                </a:solidFill>
                <a:effectLst/>
                <a:latin typeface="Times New Roman" panose="02020603050405020304" pitchFamily="18" charset="0"/>
                <a:ea typeface="Times New Roman" panose="02020603050405020304" pitchFamily="18" charset="0"/>
              </a:rPr>
              <a:t>Các</a:t>
            </a:r>
            <a:r>
              <a:rPr lang="en-US" sz="1800" dirty="0" smtClean="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module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gắn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thanh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rây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dưới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đa</a:t>
            </a:r>
            <a:r>
              <a:rPr lang="en-US" sz="1800" dirty="0">
                <a:solidFill>
                  <a:srgbClr val="000000"/>
                </a:solidFill>
                <a:effectLst/>
                <a:latin typeface="Times New Roman" panose="02020603050405020304" pitchFamily="18" charset="0"/>
                <a:ea typeface="Times New Roman" panose="02020603050405020304" pitchFamily="18" charset="0"/>
              </a:rPr>
              <a:t> 8 module SM/FM/CP ở </a:t>
            </a:r>
            <a:r>
              <a:rPr lang="en-US" sz="1800" dirty="0" err="1">
                <a:solidFill>
                  <a:srgbClr val="000000"/>
                </a:solidFill>
                <a:effectLst/>
                <a:latin typeface="Times New Roman" panose="02020603050405020304" pitchFamily="18" charset="0"/>
                <a:ea typeface="Times New Roman" panose="02020603050405020304" pitchFamily="18" charset="0"/>
              </a:rPr>
              <a:t>bên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phải</a:t>
            </a:r>
            <a:r>
              <a:rPr lang="en-US" sz="1800" dirty="0">
                <a:solidFill>
                  <a:srgbClr val="000000"/>
                </a:solidFill>
                <a:effectLst/>
                <a:latin typeface="Times New Roman" panose="02020603050405020304" pitchFamily="18" charset="0"/>
                <a:ea typeface="Times New Roman" panose="02020603050405020304" pitchFamily="18" charset="0"/>
              </a:rPr>
              <a:t> CPU, </a:t>
            </a:r>
            <a:r>
              <a:rPr lang="en-US" sz="1800" dirty="0" err="1">
                <a:solidFill>
                  <a:srgbClr val="000000"/>
                </a:solidFill>
                <a:effectLst/>
                <a:latin typeface="Times New Roman" panose="02020603050405020304" pitchFamily="18" charset="0"/>
                <a:ea typeface="Times New Roman" panose="02020603050405020304" pitchFamily="18" charset="0"/>
              </a:rPr>
              <a:t>tạo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thành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một</a:t>
            </a:r>
            <a:r>
              <a:rPr lang="en-US" sz="1800" dirty="0">
                <a:solidFill>
                  <a:srgbClr val="000000"/>
                </a:solidFill>
                <a:effectLst/>
                <a:latin typeface="Times New Roman" panose="02020603050405020304" pitchFamily="18" charset="0"/>
                <a:ea typeface="Times New Roman" panose="02020603050405020304" pitchFamily="18" charset="0"/>
              </a:rPr>
              <a:t> rack, </a:t>
            </a:r>
            <a:r>
              <a:rPr lang="en-US" sz="1800" dirty="0" err="1">
                <a:solidFill>
                  <a:srgbClr val="000000"/>
                </a:solidFill>
                <a:effectLst/>
                <a:latin typeface="Times New Roman" panose="02020603050405020304" pitchFamily="18" charset="0"/>
                <a:ea typeface="Times New Roman" panose="02020603050405020304" pitchFamily="18" charset="0"/>
              </a:rPr>
              <a:t>kết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nhau</a:t>
            </a:r>
            <a:r>
              <a:rPr lang="en-US" sz="1800" dirty="0">
                <a:solidFill>
                  <a:srgbClr val="000000"/>
                </a:solidFill>
                <a:effectLst/>
                <a:latin typeface="Times New Roman" panose="02020603050405020304" pitchFamily="18" charset="0"/>
                <a:ea typeface="Times New Roman" panose="02020603050405020304" pitchFamily="18" charset="0"/>
              </a:rPr>
              <a:t> qua bus connector </a:t>
            </a:r>
            <a:r>
              <a:rPr lang="en-US" sz="1800" dirty="0" err="1">
                <a:solidFill>
                  <a:srgbClr val="000000"/>
                </a:solidFill>
                <a:effectLst/>
                <a:latin typeface="Times New Roman" panose="02020603050405020304" pitchFamily="18" charset="0"/>
                <a:ea typeface="Times New Roman" panose="02020603050405020304" pitchFamily="18" charset="0"/>
              </a:rPr>
              <a:t>gắn</a:t>
            </a:r>
            <a:r>
              <a:rPr lang="en-US" sz="1800" dirty="0">
                <a:solidFill>
                  <a:srgbClr val="000000"/>
                </a:solidFill>
                <a:effectLst/>
                <a:latin typeface="Times New Roman" panose="02020603050405020304" pitchFamily="18" charset="0"/>
                <a:ea typeface="Times New Roman" panose="02020603050405020304" pitchFamily="18" charset="0"/>
              </a:rPr>
              <a:t> ở </a:t>
            </a:r>
            <a:r>
              <a:rPr lang="en-US" sz="1800" dirty="0" err="1">
                <a:solidFill>
                  <a:srgbClr val="000000"/>
                </a:solidFill>
                <a:effectLst/>
                <a:latin typeface="Times New Roman" panose="02020603050405020304" pitchFamily="18" charset="0"/>
                <a:ea typeface="Times New Roman" panose="02020603050405020304" pitchFamily="18" charset="0"/>
              </a:rPr>
              <a:t>mặt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sau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Mỗi</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gán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một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số</a:t>
            </a:r>
            <a:r>
              <a:rPr lang="en-US" sz="1800" dirty="0">
                <a:solidFill>
                  <a:srgbClr val="000000"/>
                </a:solidFill>
                <a:effectLst/>
                <a:latin typeface="Times New Roman" panose="02020603050405020304" pitchFamily="18" charset="0"/>
                <a:ea typeface="Times New Roman" panose="02020603050405020304" pitchFamily="18" charset="0"/>
              </a:rPr>
              <a:t> slot </a:t>
            </a:r>
            <a:r>
              <a:rPr lang="en-US" sz="1800" dirty="0" err="1">
                <a:solidFill>
                  <a:srgbClr val="000000"/>
                </a:solidFill>
                <a:effectLst/>
                <a:latin typeface="Times New Roman" panose="02020603050405020304" pitchFamily="18" charset="0"/>
                <a:ea typeface="Times New Roman" panose="02020603050405020304" pitchFamily="18" charset="0"/>
              </a:rPr>
              <a:t>tính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từ</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trái</a:t>
            </a:r>
            <a:r>
              <a:rPr lang="en-US" sz="1800" dirty="0">
                <a:solidFill>
                  <a:srgbClr val="000000"/>
                </a:solidFill>
                <a:effectLst/>
                <a:latin typeface="Times New Roman" panose="02020603050405020304" pitchFamily="18" charset="0"/>
                <a:ea typeface="Times New Roman" panose="02020603050405020304" pitchFamily="18" charset="0"/>
              </a:rPr>
              <a:t> sang </a:t>
            </a:r>
            <a:r>
              <a:rPr lang="en-US" sz="1800" dirty="0" err="1">
                <a:solidFill>
                  <a:srgbClr val="000000"/>
                </a:solidFill>
                <a:effectLst/>
                <a:latin typeface="Times New Roman" panose="02020603050405020304" pitchFamily="18" charset="0"/>
                <a:ea typeface="Times New Roman" panose="02020603050405020304" pitchFamily="18" charset="0"/>
              </a:rPr>
              <a:t>phải</a:t>
            </a:r>
            <a:r>
              <a:rPr lang="en-US" sz="1800" dirty="0">
                <a:solidFill>
                  <a:srgbClr val="000000"/>
                </a:solidFill>
                <a:effectLst/>
                <a:latin typeface="Times New Roman" panose="02020603050405020304" pitchFamily="18" charset="0"/>
                <a:ea typeface="Times New Roman" panose="02020603050405020304" pitchFamily="18" charset="0"/>
              </a:rPr>
              <a:t>, module </a:t>
            </a:r>
            <a:r>
              <a:rPr lang="en-US" sz="1800" dirty="0" err="1">
                <a:solidFill>
                  <a:srgbClr val="000000"/>
                </a:solidFill>
                <a:effectLst/>
                <a:latin typeface="Times New Roman" panose="02020603050405020304" pitchFamily="18" charset="0"/>
                <a:ea typeface="Times New Roman" panose="02020603050405020304" pitchFamily="18" charset="0"/>
              </a:rPr>
              <a:t>nguồn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slot 1, </a:t>
            </a:r>
            <a:r>
              <a:rPr lang="en-US" sz="1800" dirty="0" err="1">
                <a:solidFill>
                  <a:srgbClr val="000000"/>
                </a:solidFill>
                <a:effectLst/>
                <a:latin typeface="Times New Roman" panose="02020603050405020304" pitchFamily="18" charset="0"/>
                <a:ea typeface="Times New Roman" panose="02020603050405020304" pitchFamily="18" charset="0"/>
              </a:rPr>
              <a:t>moduleCPU</a:t>
            </a:r>
            <a:r>
              <a:rPr lang="en-US" sz="1800" dirty="0">
                <a:solidFill>
                  <a:srgbClr val="000000"/>
                </a:solidFill>
                <a:effectLst/>
                <a:latin typeface="Times New Roman" panose="02020603050405020304" pitchFamily="18" charset="0"/>
                <a:ea typeface="Times New Roman" panose="02020603050405020304" pitchFamily="18" charset="0"/>
              </a:rPr>
              <a:t> slot 2, module </a:t>
            </a:r>
            <a:r>
              <a:rPr lang="en-US" sz="1800" dirty="0" err="1">
                <a:solidFill>
                  <a:srgbClr val="000000"/>
                </a:solidFill>
                <a:effectLst/>
                <a:latin typeface="Times New Roman" panose="02020603050405020304" pitchFamily="18" charset="0"/>
                <a:ea typeface="Times New Roman" panose="02020603050405020304" pitchFamily="18" charset="0"/>
              </a:rPr>
              <a:t>kế</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mang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số</a:t>
            </a:r>
            <a:r>
              <a:rPr lang="en-US" sz="1800" dirty="0">
                <a:solidFill>
                  <a:srgbClr val="000000"/>
                </a:solidFill>
                <a:effectLst/>
                <a:latin typeface="Times New Roman" panose="02020603050405020304" pitchFamily="18" charset="0"/>
                <a:ea typeface="Times New Roman" panose="02020603050405020304" pitchFamily="18" charset="0"/>
              </a:rPr>
              <a:t> 4…</a:t>
            </a:r>
            <a:endParaRPr lang="en-US" dirty="0"/>
          </a:p>
        </p:txBody>
      </p:sp>
      <p:pic>
        <p:nvPicPr>
          <p:cNvPr id="15" name="Picture 14">
            <a:extLst>
              <a:ext uri="{FF2B5EF4-FFF2-40B4-BE49-F238E27FC236}">
                <a16:creationId xmlns:a16="http://schemas.microsoft.com/office/drawing/2014/main" id="{6CBB424D-9AC9-4662-85CD-C67AE5EE849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037805" y="2292779"/>
            <a:ext cx="6116390" cy="1865868"/>
          </a:xfrm>
          <a:prstGeom prst="rect">
            <a:avLst/>
          </a:prstGeom>
          <a:noFill/>
          <a:ln>
            <a:noFill/>
          </a:ln>
        </p:spPr>
      </p:pic>
      <p:sp>
        <p:nvSpPr>
          <p:cNvPr id="16" name="TextBox 15">
            <a:extLst>
              <a:ext uri="{FF2B5EF4-FFF2-40B4-BE49-F238E27FC236}">
                <a16:creationId xmlns:a16="http://schemas.microsoft.com/office/drawing/2014/main" id="{7C39DDC8-7E13-4CFE-9593-711CE329B022}"/>
              </a:ext>
            </a:extLst>
          </p:cNvPr>
          <p:cNvSpPr txBox="1"/>
          <p:nvPr/>
        </p:nvSpPr>
        <p:spPr>
          <a:xfrm>
            <a:off x="457198" y="4697967"/>
            <a:ext cx="11734801" cy="1657505"/>
          </a:xfrm>
          <a:prstGeom prst="rect">
            <a:avLst/>
          </a:prstGeom>
          <a:noFill/>
        </p:spPr>
        <p:txBody>
          <a:bodyPr wrap="square">
            <a:spAutoFit/>
          </a:bodyPr>
          <a:lstStyle/>
          <a:p>
            <a:pPr marL="89535" marR="467995" algn="just">
              <a:lnSpc>
                <a:spcPct val="113000"/>
              </a:lnSpc>
              <a:spcBef>
                <a:spcPts val="980"/>
              </a:spcBef>
              <a:spcAft>
                <a:spcPts val="800"/>
              </a:spcAft>
            </a:pP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Nếu có nhiều module thì bố trí thành nhiều rack (trừ CPU312IFM và</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CPU313</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chỉ</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có</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một</a:t>
            </a:r>
            <a:r>
              <a:rPr lang="vi-VN" sz="18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rack),</a:t>
            </a:r>
            <a:r>
              <a:rPr lang="vi-VN" sz="1800" spc="1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CPU</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ở</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rack</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slot</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kế</a:t>
            </a:r>
            <a:r>
              <a:rPr lang="vi-VN" sz="18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đó</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là</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 phát</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IM360,</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slot</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vi-VN" sz="1800" spc="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có</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nhiệm</a:t>
            </a:r>
            <a:r>
              <a:rPr lang="vi-VN" sz="1800" spc="-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vụ</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kết</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nối</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rack</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với</a:t>
            </a:r>
            <a:r>
              <a:rPr lang="vi-VN" sz="18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các</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rack</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3, trên</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mỗi</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rack</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này</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có</a:t>
            </a:r>
            <a:r>
              <a:rPr lang="vi-VN"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kết</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nối</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thu</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IM361,</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bên</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phải</a:t>
            </a:r>
            <a:r>
              <a:rPr lang="vi-VN" sz="1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mỗi module</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IM</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là</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các</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a:t>
            </a:r>
            <a:r>
              <a:rPr lang="vi-VN" sz="1800" spc="1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SM/FM/CP.</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Cáp</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nối</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hai</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IM</a:t>
            </a:r>
            <a:r>
              <a:rPr lang="vi-VN" sz="18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dài tối</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đa</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10m.</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Các</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đánh</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số</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theo</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slot</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và</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dùng</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làm</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cơ</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sở</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để đặt</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địa</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chỉ</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đầu</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cho</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các</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ngõ</a:t>
            </a:r>
            <a:r>
              <a:rPr lang="vi-VN" sz="18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vào</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ra</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tín</a:t>
            </a:r>
            <a:r>
              <a:rPr lang="vi-VN" sz="18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hiệu.</a:t>
            </a:r>
            <a:r>
              <a:rPr lang="vi-VN" sz="18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spc="-5" dirty="0">
                <a:effectLst/>
                <a:latin typeface="Times New Roman" panose="02020603050405020304" pitchFamily="18" charset="0"/>
                <a:ea typeface="Times New Roman" panose="02020603050405020304" pitchFamily="18" charset="0"/>
                <a:cs typeface="Times New Roman" panose="02020603050405020304" pitchFamily="18" charset="0"/>
              </a:rPr>
              <a:t>Đ</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ố</a:t>
            </a:r>
            <a:r>
              <a:rPr lang="vi-VN" sz="1800" spc="-5" dirty="0">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pc="45" dirty="0">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pc="50" dirty="0">
                <a:latin typeface="Times New Roman" panose="02020603050405020304" pitchFamily="18" charset="0"/>
                <a:ea typeface="Times New Roman" panose="02020603050405020304" pitchFamily="18" charset="0"/>
                <a:cs typeface="Times New Roman" panose="02020603050405020304" pitchFamily="18" charset="0"/>
              </a:rPr>
              <a:t> </a:t>
            </a:r>
            <a:r>
              <a:rPr lang="vi-VN" sz="1800" spc="-25" dirty="0">
                <a:effectLst/>
                <a:latin typeface="Times New Roman" panose="02020603050405020304" pitchFamily="18" charset="0"/>
                <a:ea typeface="Times New Roman" panose="02020603050405020304" pitchFamily="18" charset="0"/>
                <a:cs typeface="Times New Roman" panose="02020603050405020304" pitchFamily="18" charset="0"/>
              </a:rPr>
              <a:t>CPU</a:t>
            </a:r>
            <a:r>
              <a:rPr lang="en-US" spc="-25" dirty="0">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315-2DP,</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316-2DP,</a:t>
            </a:r>
            <a:r>
              <a:rPr lang="vi-VN" sz="1800" spc="-4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318-2</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có</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thể</a:t>
            </a:r>
            <a:r>
              <a:rPr lang="vi-VN" sz="1800" spc="-4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gán</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địa</a:t>
            </a:r>
            <a:r>
              <a:rPr lang="vi-VN" sz="1800" spc="-4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chỉ</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tùy</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ý</a:t>
            </a:r>
            <a:r>
              <a:rPr lang="vi-VN" sz="1800" spc="-4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cho</a:t>
            </a:r>
            <a:r>
              <a:rPr lang="vi-VN" sz="1800" spc="-4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các</a:t>
            </a:r>
            <a:r>
              <a:rPr lang="vi-VN" sz="1800" spc="-50" dirty="0">
                <a:effectLst/>
                <a:latin typeface="Times New Roman" panose="02020603050405020304" pitchFamily="18" charset="0"/>
                <a:ea typeface="Times New Roman" panose="02020603050405020304" pitchFamily="18" charset="0"/>
              </a:rPr>
              <a:t> </a:t>
            </a:r>
            <a:r>
              <a:rPr lang="vi-VN" sz="1800" spc="-10" dirty="0">
                <a:effectLst/>
                <a:latin typeface="Times New Roman" panose="02020603050405020304" pitchFamily="18" charset="0"/>
                <a:ea typeface="Times New Roman" panose="02020603050405020304" pitchFamily="18" charset="0"/>
              </a:rPr>
              <a:t>module.</a:t>
            </a:r>
            <a:endParaRPr lang="en-US" dirty="0"/>
          </a:p>
        </p:txBody>
      </p:sp>
    </p:spTree>
    <p:extLst>
      <p:ext uri="{BB962C8B-B14F-4D97-AF65-F5344CB8AC3E}">
        <p14:creationId xmlns:p14="http://schemas.microsoft.com/office/powerpoint/2010/main" val="597803233"/>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871369"/>
            <a:ext cx="4459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2. </a:t>
            </a:r>
            <a:r>
              <a:rPr lang="vi-VN" sz="1800" b="1" spc="-20">
                <a:effectLst/>
                <a:latin typeface="Times New Roman" panose="02020603050405020304" pitchFamily="18" charset="0"/>
                <a:ea typeface="Times New Roman" panose="02020603050405020304" pitchFamily="18" charset="0"/>
              </a:rPr>
              <a:t>CẤU </a:t>
            </a:r>
            <a:r>
              <a:rPr lang="vi-VN" sz="1800" b="1" spc="-10">
                <a:effectLst/>
                <a:latin typeface="Times New Roman" panose="02020603050405020304" pitchFamily="18" charset="0"/>
                <a:ea typeface="Times New Roman" panose="02020603050405020304" pitchFamily="18" charset="0"/>
              </a:rPr>
              <a:t>TRÚC, CHỨC NĂNG </a:t>
            </a:r>
            <a:r>
              <a:rPr lang="vi-VN" sz="1800" b="1" spc="-20">
                <a:effectLst/>
                <a:latin typeface="Times New Roman" panose="02020603050405020304" pitchFamily="18" charset="0"/>
                <a:ea typeface="Times New Roman" panose="02020603050405020304" pitchFamily="18" charset="0"/>
              </a:rPr>
              <a:t>PLC S7_300</a:t>
            </a:r>
            <a:r>
              <a:rPr lang="en-US" sz="1800" b="1" spc="-2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7" name="TextBox 16">
            <a:extLst>
              <a:ext uri="{FF2B5EF4-FFF2-40B4-BE49-F238E27FC236}">
                <a16:creationId xmlns:a16="http://schemas.microsoft.com/office/drawing/2014/main" id="{4A73F1AB-97AD-4ACB-9021-C24519695F96}"/>
              </a:ext>
            </a:extLst>
          </p:cNvPr>
          <p:cNvSpPr txBox="1"/>
          <p:nvPr/>
        </p:nvSpPr>
        <p:spPr>
          <a:xfrm>
            <a:off x="457200" y="1345307"/>
            <a:ext cx="11277600" cy="1477328"/>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(SM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singnal</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module)</a:t>
            </a:r>
          </a:p>
          <a:p>
            <a:pPr marL="176213"/>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ngõ</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digital: 24VDC, 120/230VAC</a:t>
            </a:r>
          </a:p>
          <a:p>
            <a:pPr marL="176213"/>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ngõ</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digital: 24VDC</a:t>
            </a:r>
          </a:p>
          <a:p>
            <a:pPr marL="176213"/>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ngõ</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analog: </a:t>
            </a:r>
            <a:r>
              <a:rPr lang="en-US" dirty="0" err="1">
                <a:latin typeface="Times New Roman" panose="02020603050405020304" pitchFamily="18" charset="0"/>
                <a:cs typeface="Times New Roman" panose="02020603050405020304" pitchFamily="18" charset="0"/>
              </a:rPr>
              <a:t>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dòng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trở</a:t>
            </a:r>
            <a:r>
              <a:rPr lang="en-US" dirty="0">
                <a:latin typeface="Times New Roman" panose="02020603050405020304" pitchFamily="18" charset="0"/>
                <a:cs typeface="Times New Roman" panose="02020603050405020304" pitchFamily="18" charset="0"/>
              </a:rPr>
              <a:t>, thermocouple.</a:t>
            </a:r>
          </a:p>
        </p:txBody>
      </p:sp>
      <p:sp>
        <p:nvSpPr>
          <p:cNvPr id="18" name="TextBox 17">
            <a:extLst>
              <a:ext uri="{FF2B5EF4-FFF2-40B4-BE49-F238E27FC236}">
                <a16:creationId xmlns:a16="http://schemas.microsoft.com/office/drawing/2014/main" id="{DB43D5B6-4D62-4A71-8B93-76EAFDA866E9}"/>
              </a:ext>
            </a:extLst>
          </p:cNvPr>
          <p:cNvSpPr txBox="1"/>
          <p:nvPr/>
        </p:nvSpPr>
        <p:spPr>
          <a:xfrm>
            <a:off x="457200" y="2827656"/>
            <a:ext cx="11277600" cy="3139321"/>
          </a:xfrm>
          <a:prstGeom prst="rect">
            <a:avLst/>
          </a:prstGeom>
          <a:noFill/>
        </p:spPr>
        <p:txBody>
          <a:bodyPr wrap="square">
            <a:spAutoFit/>
          </a:bodyPr>
          <a:lstStyle/>
          <a:p>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Khối giao tiếp (IM):</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Khối IM360/IM361 dùng để nối nhiều cấu hình.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Chúng điều khiển nhiều thanh ghi của hệ thống.</a:t>
            </a:r>
          </a:p>
          <a:p>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Khối giả lập (DM): Khối giả lập DM370 dự phòng các khối tín hiệu chưa được chỉ định.</a:t>
            </a:r>
          </a:p>
          <a:p>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Khối chức năng (FM): thể hiện những chức năng đặc biệt sau:</a:t>
            </a:r>
          </a:p>
          <a:p>
            <a:pPr marL="176213"/>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Đếm</a:t>
            </a:r>
          </a:p>
          <a:p>
            <a:pPr marL="176213"/>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Định vị</a:t>
            </a:r>
          </a:p>
          <a:p>
            <a:pPr marL="176213"/>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Điều khiển hồi tiếp</a:t>
            </a:r>
          </a:p>
          <a:p>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Xử lý liên lạc </a:t>
            </a:r>
            <a:r>
              <a:rPr lang="vi-VN" dirty="0" smtClean="0">
                <a:latin typeface="Times New Roman" panose="02020603050405020304" pitchFamily="18" charset="0"/>
                <a:cs typeface="Times New Roman" panose="02020603050405020304" pitchFamily="18" charset="0"/>
              </a:rPr>
              <a:t>(CP</a:t>
            </a:r>
            <a:r>
              <a:rPr lang="vi-VN" dirty="0">
                <a:latin typeface="Times New Roman" panose="02020603050405020304" pitchFamily="18" charset="0"/>
                <a:cs typeface="Times New Roman" panose="02020603050405020304" pitchFamily="18" charset="0"/>
              </a:rPr>
              <a:t>):</a:t>
            </a:r>
          </a:p>
          <a:p>
            <a:pPr marL="176213"/>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Nối điểm-điểm</a:t>
            </a:r>
          </a:p>
          <a:p>
            <a:pPr marL="176213"/>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Mạng PROFIBUS</a:t>
            </a:r>
          </a:p>
          <a:p>
            <a:pPr marL="176213"/>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Ethernet công nghiệp</a:t>
            </a:r>
          </a:p>
        </p:txBody>
      </p:sp>
    </p:spTree>
    <p:extLst>
      <p:ext uri="{BB962C8B-B14F-4D97-AF65-F5344CB8AC3E}">
        <p14:creationId xmlns:p14="http://schemas.microsoft.com/office/powerpoint/2010/main" val="13132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871369"/>
            <a:ext cx="20735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spc="-10">
                <a:effectLst/>
                <a:latin typeface="Times New Roman" panose="02020603050405020304" pitchFamily="18" charset="0"/>
                <a:ea typeface="Times New Roman" panose="02020603050405020304" pitchFamily="18" charset="0"/>
                <a:cs typeface="Times New Roman" panose="02020603050405020304" pitchFamily="18" charset="0"/>
              </a:rPr>
              <a:t>MODULE </a:t>
            </a:r>
            <a:r>
              <a:rPr lang="vi-VN" sz="1800" b="1" spc="-20">
                <a:effectLst/>
                <a:latin typeface="Times New Roman" panose="02020603050405020304" pitchFamily="18" charset="0"/>
                <a:ea typeface="Times New Roman" panose="02020603050405020304" pitchFamily="18" charset="0"/>
                <a:cs typeface="Times New Roman" panose="02020603050405020304" pitchFamily="18" charset="0"/>
              </a:rPr>
              <a:t>CPU</a:t>
            </a:r>
            <a:r>
              <a:rPr lang="en-US" sz="1800" b="1" spc="-2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3" name="TextBox 12">
            <a:extLst>
              <a:ext uri="{FF2B5EF4-FFF2-40B4-BE49-F238E27FC236}">
                <a16:creationId xmlns:a16="http://schemas.microsoft.com/office/drawing/2014/main" id="{CD14C9A7-A5CF-4B0B-A38E-42C493CE1E21}"/>
              </a:ext>
            </a:extLst>
          </p:cNvPr>
          <p:cNvSpPr txBox="1"/>
          <p:nvPr/>
        </p:nvSpPr>
        <p:spPr>
          <a:xfrm>
            <a:off x="457200" y="1268409"/>
            <a:ext cx="11277600" cy="2862322"/>
          </a:xfrm>
          <a:prstGeom prst="rect">
            <a:avLst/>
          </a:prstGeom>
          <a:noFill/>
        </p:spPr>
        <p:txBody>
          <a:bodyPr wrap="square">
            <a:spAutoFit/>
          </a:bodyPr>
          <a:lstStyle/>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Module </a:t>
            </a:r>
            <a:r>
              <a:rPr lang="vi-VN" dirty="0">
                <a:latin typeface="Times New Roman" panose="02020603050405020304" pitchFamily="18" charset="0"/>
                <a:cs typeface="Times New Roman" panose="02020603050405020304" pitchFamily="18" charset="0"/>
              </a:rPr>
              <a:t>CPU là loại module có chứa bộ vi xử lý, hệ điều hành, bộ nhớ, các bộ thời gian, bộ đếm, cổng truyền thông (RS485)… và có thể có 1 vài cổng vào ra số. Các cổng vào ra số có trên module CPU được gọi là cổng vào/ra onboard.</a:t>
            </a: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PLC </a:t>
            </a:r>
            <a:r>
              <a:rPr lang="vi-VN" dirty="0">
                <a:latin typeface="Times New Roman" panose="02020603050405020304" pitchFamily="18" charset="0"/>
                <a:cs typeface="Times New Roman" panose="02020603050405020304" pitchFamily="18" charset="0"/>
              </a:rPr>
              <a:t>S7_300 có nhiều loại module CPU khác nhau. Chúng được đặt tên theo bộ vi xử lý có trong nó như module CPU312, module CPU314, module CPU315…</a:t>
            </a:r>
            <a:endParaRPr lang="en-US" dirty="0">
              <a:latin typeface="Times New Roman" panose="02020603050405020304" pitchFamily="18" charset="0"/>
              <a:cs typeface="Times New Roman" panose="02020603050405020304" pitchFamily="18" charset="0"/>
            </a:endParaRPr>
          </a:p>
          <a:p>
            <a:pPr algn="just"/>
            <a:endParaRPr lang="vi-VN"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Những </a:t>
            </a:r>
            <a:r>
              <a:rPr lang="vi-VN" dirty="0">
                <a:latin typeface="Times New Roman" panose="02020603050405020304" pitchFamily="18" charset="0"/>
                <a:cs typeface="Times New Roman" panose="02020603050405020304" pitchFamily="18" charset="0"/>
              </a:rPr>
              <a:t>module cùng sử dụng 1 loại bộ vi xử lý, nhưng khác nhau về cổng vào/ra onboard cũng như các khối hàm đặc biệt được tích hợp sẵn trong thư viện của hệ điều hành phục vụ việc sử dụng các cổng vào/ra onboard này sẽ được phân biệt với nhau trong tên gọi bằng thêm cụm chữ IFM(Intergrated Function Module). Ví dụ như Module CPU312 IFM, Module CPU314 IFM…</a:t>
            </a:r>
          </a:p>
        </p:txBody>
      </p:sp>
      <p:sp>
        <p:nvSpPr>
          <p:cNvPr id="14" name="TextBox 13">
            <a:extLst>
              <a:ext uri="{FF2B5EF4-FFF2-40B4-BE49-F238E27FC236}">
                <a16:creationId xmlns:a16="http://schemas.microsoft.com/office/drawing/2014/main" id="{FC5DECE3-B6E0-477A-B3F6-10E53681C6CD}"/>
              </a:ext>
            </a:extLst>
          </p:cNvPr>
          <p:cNvSpPr txBox="1"/>
          <p:nvPr/>
        </p:nvSpPr>
        <p:spPr>
          <a:xfrm>
            <a:off x="457200" y="4202461"/>
            <a:ext cx="11277600" cy="923330"/>
          </a:xfrm>
          <a:prstGeom prst="rect">
            <a:avLst/>
          </a:prstGeom>
          <a:noFill/>
        </p:spPr>
        <p:txBody>
          <a:bodyPr wrap="square">
            <a:spAutoFit/>
          </a:bodyPr>
          <a:lstStyle/>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Ngoài </a:t>
            </a:r>
            <a:r>
              <a:rPr lang="vi-VN" dirty="0">
                <a:latin typeface="Times New Roman" panose="02020603050405020304" pitchFamily="18" charset="0"/>
                <a:cs typeface="Times New Roman" panose="02020603050405020304" pitchFamily="18" charset="0"/>
              </a:rPr>
              <a:t>ra còn có các loại module CPU với 2 cổng truyền thông, trong đó cổng truyền thông thứ hai có chức năng chính là phục vụ việc nối mạng phân tán. Các loại module này phân biệt với các loại module khác bằng cụm từ DP (Distributed Port) như là module CPU315-DP.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721016"/>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871369"/>
            <a:ext cx="2720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4. </a:t>
            </a:r>
            <a:r>
              <a:rPr lang="vi-VN" sz="1800" b="1" spc="-10">
                <a:effectLst/>
                <a:latin typeface="Times New Roman" panose="02020603050405020304" pitchFamily="18" charset="0"/>
                <a:ea typeface="Times New Roman" panose="02020603050405020304" pitchFamily="18" charset="0"/>
              </a:rPr>
              <a:t>MODULE </a:t>
            </a:r>
            <a:r>
              <a:rPr lang="vi-VN" sz="1800" b="1">
                <a:effectLst/>
                <a:latin typeface="Times New Roman" panose="02020603050405020304" pitchFamily="18" charset="0"/>
                <a:ea typeface="Times New Roman" panose="02020603050405020304" pitchFamily="18" charset="0"/>
              </a:rPr>
              <a:t>MỞ</a:t>
            </a:r>
            <a:r>
              <a:rPr lang="vi-VN" sz="1800" b="1" spc="-2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RỘNG</a:t>
            </a:r>
            <a:r>
              <a:rPr lang="en-US" sz="1800" b="1" spc="-2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5" name="TextBox 14">
            <a:extLst>
              <a:ext uri="{FF2B5EF4-FFF2-40B4-BE49-F238E27FC236}">
                <a16:creationId xmlns:a16="http://schemas.microsoft.com/office/drawing/2014/main" id="{6C7C809C-C8D5-4094-BBD5-0DEEA310A535}"/>
              </a:ext>
            </a:extLst>
          </p:cNvPr>
          <p:cNvSpPr txBox="1"/>
          <p:nvPr/>
        </p:nvSpPr>
        <p:spPr>
          <a:xfrm>
            <a:off x="577264" y="1263474"/>
            <a:ext cx="6096000" cy="369332"/>
          </a:xfrm>
          <a:prstGeom prst="rect">
            <a:avLst/>
          </a:prstGeom>
          <a:noFill/>
        </p:spPr>
        <p:txBody>
          <a:bodyPr wrap="square">
            <a:spAutoFit/>
          </a:bodyPr>
          <a:lstStyle/>
          <a:p>
            <a:r>
              <a:rPr lang="vi-VN">
                <a:latin typeface="Times New Roman" panose="02020603050405020304" pitchFamily="18" charset="0"/>
                <a:cs typeface="Times New Roman" panose="02020603050405020304" pitchFamily="18" charset="0"/>
              </a:rPr>
              <a:t>Các module mở rộng được chia thành 5 loại chính:</a:t>
            </a:r>
            <a:endParaRPr lang="en-US">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F7DB1EE-3A22-4A03-9823-34F3CE9CAC35}"/>
              </a:ext>
            </a:extLst>
          </p:cNvPr>
          <p:cNvSpPr txBox="1"/>
          <p:nvPr/>
        </p:nvSpPr>
        <p:spPr>
          <a:xfrm>
            <a:off x="577264" y="1632806"/>
            <a:ext cx="11277601" cy="782137"/>
          </a:xfrm>
          <a:prstGeom prst="rect">
            <a:avLst/>
          </a:prstGeom>
          <a:noFill/>
        </p:spPr>
        <p:txBody>
          <a:bodyPr wrap="square">
            <a:spAutoFit/>
          </a:bodyPr>
          <a:lstStyle/>
          <a:p>
            <a:pPr marR="471805" lvl="0" algn="just">
              <a:lnSpc>
                <a:spcPct val="112000"/>
              </a:lnSpc>
              <a:spcBef>
                <a:spcPts val="695"/>
              </a:spcBef>
              <a:spcAft>
                <a:spcPts val="800"/>
              </a:spcAft>
              <a:buSzPts val="1400"/>
              <a:tabLst>
                <a:tab pos="482600" algn="l"/>
              </a:tabLst>
            </a:pPr>
            <a:r>
              <a:rPr lang="vi-VN" sz="1800" b="1" dirty="0">
                <a:effectLst/>
                <a:latin typeface="Times New Roman" panose="02020603050405020304" pitchFamily="18" charset="0"/>
                <a:ea typeface="Times New Roman" panose="02020603050405020304" pitchFamily="18" charset="0"/>
                <a:cs typeface="Times New Roman" panose="02020603050405020304" pitchFamily="18" charset="0"/>
              </a:rPr>
              <a:t>PS (Power supply):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Module nguồn nuôi. Có 3 loại:2A, 5A, </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10A.</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p>
            <a:r>
              <a:rPr lang="vi-VN" sz="1800" b="1" dirty="0">
                <a:effectLst/>
                <a:latin typeface="Times New Roman" panose="02020603050405020304" pitchFamily="18" charset="0"/>
                <a:ea typeface="Times New Roman" panose="02020603050405020304" pitchFamily="18" charset="0"/>
              </a:rPr>
              <a:t>SM</a:t>
            </a:r>
            <a:r>
              <a:rPr lang="vi-VN" sz="1800" b="1" spc="-25" dirty="0">
                <a:effectLst/>
                <a:latin typeface="Times New Roman" panose="02020603050405020304" pitchFamily="18" charset="0"/>
                <a:ea typeface="Times New Roman" panose="02020603050405020304" pitchFamily="18" charset="0"/>
              </a:rPr>
              <a:t> </a:t>
            </a:r>
            <a:r>
              <a:rPr lang="vi-VN" sz="1800" b="1" dirty="0">
                <a:effectLst/>
                <a:latin typeface="Times New Roman" panose="02020603050405020304" pitchFamily="18" charset="0"/>
                <a:ea typeface="Times New Roman" panose="02020603050405020304" pitchFamily="18" charset="0"/>
              </a:rPr>
              <a:t>(Signal</a:t>
            </a:r>
            <a:r>
              <a:rPr lang="vi-VN" sz="1800" b="1" spc="-30" dirty="0">
                <a:effectLst/>
                <a:latin typeface="Times New Roman" panose="02020603050405020304" pitchFamily="18" charset="0"/>
                <a:ea typeface="Times New Roman" panose="02020603050405020304" pitchFamily="18" charset="0"/>
              </a:rPr>
              <a:t> </a:t>
            </a:r>
            <a:r>
              <a:rPr lang="vi-VN" sz="1800" b="1" dirty="0">
                <a:effectLst/>
                <a:latin typeface="Times New Roman" panose="02020603050405020304" pitchFamily="18" charset="0"/>
                <a:ea typeface="Times New Roman" panose="02020603050405020304" pitchFamily="18" charset="0"/>
              </a:rPr>
              <a:t>module):</a:t>
            </a:r>
            <a:r>
              <a:rPr lang="vi-VN" sz="1800" b="1"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Module</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mở</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rộng</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cổng</a:t>
            </a:r>
            <a:r>
              <a:rPr lang="vi-VN" sz="1800" spc="-2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tín</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hiệu</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vào/ra, bao gồm:</a:t>
            </a:r>
            <a:endParaRPr lang="en-US" dirty="0"/>
          </a:p>
        </p:txBody>
      </p:sp>
      <p:sp>
        <p:nvSpPr>
          <p:cNvPr id="17" name="TextBox 16">
            <a:extLst>
              <a:ext uri="{FF2B5EF4-FFF2-40B4-BE49-F238E27FC236}">
                <a16:creationId xmlns:a16="http://schemas.microsoft.com/office/drawing/2014/main" id="{67BA432E-701D-4B0D-91C7-5839FC05B5D7}"/>
              </a:ext>
            </a:extLst>
          </p:cNvPr>
          <p:cNvSpPr txBox="1"/>
          <p:nvPr/>
        </p:nvSpPr>
        <p:spPr>
          <a:xfrm>
            <a:off x="577264" y="2427642"/>
            <a:ext cx="11277601" cy="3416320"/>
          </a:xfrm>
          <a:prstGeom prst="rect">
            <a:avLst/>
          </a:prstGeom>
          <a:noFill/>
        </p:spPr>
        <p:txBody>
          <a:bodyPr wrap="square">
            <a:spAutoFit/>
          </a:bodyPr>
          <a:lstStyle/>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DI (Digital input): Module mở rộng các cổng vào số. Số các cổng vào số mở rộng có thể là 8, 16, 32 tuỳ từng loại module.</a:t>
            </a: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DO (Digital output): Module mở rộng các cổng ra số. . Số các cổng ra số mở rộng có thể là 8, 16, 32 tuỳ từng loại module.</a:t>
            </a: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DI/DO (Digital input/ Digital output): Module mở rộng các cổng vào/ra số.. Số các cổng vào/ra số mở rộng có thể là 8 vào/8ra hoặc 16 vào/ 16 ra tuỳ từng loại module.</a:t>
            </a: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AI (Analog input): Module mở rộng các cổng vào tương tự. Số các cổng vào tương tự có thể là 2, 4, 8 tuỳ từng loại module.</a:t>
            </a: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AO (Analog output): Module mở rộng các cổng ra tương tự. Số các cổng ra tương tự có thể là 2, 4 tuỳ từng loại module.</a:t>
            </a:r>
          </a:p>
          <a:p>
            <a:pPr algn="just"/>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AI/AO (Analog input/ Analog output): Module mở rộng các cổng vào/ra tương tự. Số các cổng vào/ra tương tự có thể là 4 vào/2 ra hay 4 vào/4 ra tuỳ từng loại module.</a:t>
            </a:r>
          </a:p>
        </p:txBody>
      </p:sp>
    </p:spTree>
    <p:extLst>
      <p:ext uri="{BB962C8B-B14F-4D97-AF65-F5344CB8AC3E}">
        <p14:creationId xmlns:p14="http://schemas.microsoft.com/office/powerpoint/2010/main" val="264559975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871369"/>
            <a:ext cx="27847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5. </a:t>
            </a:r>
            <a:r>
              <a:rPr lang="vi-VN" sz="1800" b="1" i="1">
                <a:effectLst/>
                <a:latin typeface="Times New Roman" panose="02020603050405020304" pitchFamily="18" charset="0"/>
                <a:ea typeface="Times New Roman" panose="02020603050405020304" pitchFamily="18" charset="0"/>
              </a:rPr>
              <a:t>MODULE</a:t>
            </a:r>
            <a:r>
              <a:rPr lang="vi-VN" sz="1800" b="1" i="1" spc="-6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ANALOG</a:t>
            </a:r>
            <a:r>
              <a:rPr lang="vi-VN" sz="1800" b="1" i="1" spc="-70">
                <a:effectLst/>
                <a:latin typeface="Times New Roman" panose="02020603050405020304" pitchFamily="18" charset="0"/>
                <a:ea typeface="Times New Roman" panose="02020603050405020304" pitchFamily="18" charset="0"/>
              </a:rPr>
              <a:t> </a:t>
            </a:r>
            <a:r>
              <a:rPr lang="vi-VN" sz="1800" b="1" i="1" spc="-25">
                <a:effectLst/>
                <a:latin typeface="Times New Roman" panose="02020603050405020304" pitchFamily="18" charset="0"/>
                <a:ea typeface="Times New Roman" panose="02020603050405020304" pitchFamily="18" charset="0"/>
              </a:rPr>
              <a:t>IN</a:t>
            </a:r>
            <a:r>
              <a:rPr lang="en-US" sz="1800" b="1" spc="-2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9" name="TextBox 18">
            <a:extLst>
              <a:ext uri="{FF2B5EF4-FFF2-40B4-BE49-F238E27FC236}">
                <a16:creationId xmlns:a16="http://schemas.microsoft.com/office/drawing/2014/main" id="{D0B06CC5-762F-4CD2-B2F6-74F5980DB9A5}"/>
              </a:ext>
            </a:extLst>
          </p:cNvPr>
          <p:cNvSpPr txBox="1"/>
          <p:nvPr/>
        </p:nvSpPr>
        <p:spPr>
          <a:xfrm>
            <a:off x="457199" y="1262836"/>
            <a:ext cx="11277600" cy="2031325"/>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Module</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analog</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in</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nhiều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vào,</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dùng</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để</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đo</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điện</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áp,</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dòng</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điện, điện trở ba dây, bốn dây, nhiệt độ. Có nhiều tầm đo, độ phân giải, thời</a:t>
            </a:r>
            <a:r>
              <a:rPr lang="vi-VN" sz="1800" spc="8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gian</a:t>
            </a:r>
            <a:r>
              <a:rPr lang="vi-VN" sz="1800" spc="8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chuyển</a:t>
            </a:r>
            <a:r>
              <a:rPr lang="vi-VN" sz="1800" spc="8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đổi</a:t>
            </a:r>
            <a:r>
              <a:rPr lang="vi-VN" sz="1800" spc="9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khác</a:t>
            </a:r>
            <a:r>
              <a:rPr lang="vi-VN" sz="1800" spc="8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nhau.</a:t>
            </a:r>
            <a:r>
              <a:rPr lang="vi-VN" sz="1800" spc="8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Cài</a:t>
            </a:r>
            <a:r>
              <a:rPr lang="vi-VN" sz="1800" spc="8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đặt</a:t>
            </a:r>
            <a:r>
              <a:rPr lang="vi-VN" sz="1800" spc="8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thông</a:t>
            </a:r>
            <a:r>
              <a:rPr lang="vi-VN" sz="1800" spc="8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8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hoạt</a:t>
            </a:r>
            <a:r>
              <a:rPr lang="vi-VN" sz="1800" spc="8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động</a:t>
            </a:r>
            <a:r>
              <a:rPr lang="vi-VN" sz="1800" spc="85">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cho</a:t>
            </a:r>
            <a:r>
              <a:rPr lang="en-US"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module bằng phần mềm S7- Simatic 300 Station – Hardware</a:t>
            </a:r>
            <a:r>
              <a:rPr lang="en-US" sz="18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và/hoặc</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chương</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trình</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người</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dùng</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sử</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dụng</a:t>
            </a:r>
            <a:r>
              <a:rPr lang="vi-VN" sz="1800" spc="-65">
                <a:effectLst/>
                <a:latin typeface="Times New Roman" panose="02020603050405020304" pitchFamily="18" charset="0"/>
                <a:ea typeface="Times New Roman" panose="02020603050405020304" pitchFamily="18" charset="0"/>
              </a:rPr>
              <a:t> </a:t>
            </a:r>
            <a:endParaRPr lang="en-US" sz="1800" spc="-65">
              <a:effectLst/>
              <a:latin typeface="Times New Roman" panose="02020603050405020304" pitchFamily="18" charset="0"/>
              <a:ea typeface="Times New Roman" panose="02020603050405020304" pitchFamily="18" charset="0"/>
            </a:endParaRPr>
          </a:p>
          <a:p>
            <a:r>
              <a:rPr lang="vi-VN" sz="1800">
                <a:effectLst/>
                <a:latin typeface="Times New Roman" panose="02020603050405020304" pitchFamily="18" charset="0"/>
                <a:ea typeface="Times New Roman" panose="02020603050405020304" pitchFamily="18" charset="0"/>
              </a:rPr>
              <a:t>hàm</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SFC</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55,</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56,</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57</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phù hợp (xem mục ) và/hoặc cài đặt nhờ </a:t>
            </a:r>
            <a:endParaRPr lang="en-US" sz="1800">
              <a:effectLst/>
              <a:latin typeface="Times New Roman" panose="02020603050405020304" pitchFamily="18" charset="0"/>
              <a:ea typeface="Times New Roman" panose="02020603050405020304" pitchFamily="18" charset="0"/>
            </a:endParaRPr>
          </a:p>
          <a:p>
            <a:r>
              <a:rPr lang="vi-VN" sz="1800">
                <a:effectLst/>
                <a:latin typeface="Times New Roman" panose="02020603050405020304" pitchFamily="18" charset="0"/>
                <a:ea typeface="Times New Roman" panose="02020603050405020304" pitchFamily="18" charset="0"/>
              </a:rPr>
              <a:t>modulle tầm đo (measuring range</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module)</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gắn</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trên</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module</a:t>
            </a:r>
            <a:endParaRPr lang="en-US" sz="1800">
              <a:effectLst/>
              <a:latin typeface="Times New Roman" panose="02020603050405020304" pitchFamily="18" charset="0"/>
              <a:ea typeface="Times New Roman" panose="02020603050405020304" pitchFamily="18" charset="0"/>
            </a:endParaRPr>
          </a:p>
          <a:p>
            <a:r>
              <a:rPr lang="vi-VN" sz="1800">
                <a:effectLst/>
                <a:latin typeface="Times New Roman" panose="02020603050405020304" pitchFamily="18" charset="0"/>
                <a:ea typeface="Times New Roman" panose="02020603050405020304" pitchFamily="18" charset="0"/>
              </a:rPr>
              <a:t>SM.</a:t>
            </a:r>
            <a:r>
              <a:rPr lang="vi-VN" sz="1800" spc="19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Kết</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quả</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chuyển</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đổi</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nhị phân</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phụ</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hai</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với</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MSB</a:t>
            </a:r>
            <a:r>
              <a:rPr lang="vi-VN" sz="1800" spc="-65">
                <a:effectLst/>
                <a:latin typeface="Times New Roman" panose="02020603050405020304" pitchFamily="18" charset="0"/>
                <a:ea typeface="Times New Roman" panose="02020603050405020304" pitchFamily="18" charset="0"/>
              </a:rPr>
              <a:t> </a:t>
            </a:r>
            <a:endParaRPr lang="en-US" sz="1800" spc="-65">
              <a:effectLst/>
              <a:latin typeface="Times New Roman" panose="02020603050405020304" pitchFamily="18" charset="0"/>
              <a:ea typeface="Times New Roman" panose="02020603050405020304" pitchFamily="18" charset="0"/>
            </a:endParaRPr>
          </a:p>
          <a:p>
            <a:r>
              <a:rPr lang="vi-VN" sz="1800">
                <a:effectLst/>
                <a:latin typeface="Times New Roman" panose="02020603050405020304" pitchFamily="18" charset="0"/>
                <a:ea typeface="Times New Roman" panose="02020603050405020304" pitchFamily="18" charset="0"/>
              </a:rPr>
              <a:t>là</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dấu.</a:t>
            </a:r>
            <a:endParaRPr lang="en-US"/>
          </a:p>
        </p:txBody>
      </p:sp>
      <p:pic>
        <p:nvPicPr>
          <p:cNvPr id="20" name="Picture 19">
            <a:extLst>
              <a:ext uri="{FF2B5EF4-FFF2-40B4-BE49-F238E27FC236}">
                <a16:creationId xmlns:a16="http://schemas.microsoft.com/office/drawing/2014/main" id="{68D28681-121B-41FF-AF54-06B31D18033B}"/>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825672" y="2116622"/>
            <a:ext cx="4836969" cy="3785026"/>
          </a:xfrm>
          <a:prstGeom prst="rect">
            <a:avLst/>
          </a:prstGeom>
          <a:noFill/>
          <a:ln>
            <a:noFill/>
          </a:ln>
        </p:spPr>
      </p:pic>
      <p:sp>
        <p:nvSpPr>
          <p:cNvPr id="25" name="TextBox 24">
            <a:extLst>
              <a:ext uri="{FF2B5EF4-FFF2-40B4-BE49-F238E27FC236}">
                <a16:creationId xmlns:a16="http://schemas.microsoft.com/office/drawing/2014/main" id="{74A5B14F-1661-48B1-A588-5EA5E35697E0}"/>
              </a:ext>
            </a:extLst>
          </p:cNvPr>
          <p:cNvSpPr txBox="1"/>
          <p:nvPr/>
        </p:nvSpPr>
        <p:spPr>
          <a:xfrm>
            <a:off x="457199" y="3294161"/>
            <a:ext cx="6096000" cy="3139321"/>
          </a:xfrm>
          <a:prstGeom prst="rect">
            <a:avLst/>
          </a:prstGeom>
          <a:noFill/>
        </p:spPr>
        <p:txBody>
          <a:bodyPr wrap="square">
            <a:spAutoFit/>
          </a:bodyPr>
          <a:lstStyle/>
          <a:p>
            <a:r>
              <a:rPr lang="en-US" sz="1800" b="0">
                <a:solidFill>
                  <a:srgbClr val="000000"/>
                </a:solidFill>
                <a:effectLst/>
                <a:latin typeface="VNI-Times" pitchFamily="2" charset="0"/>
              </a:rPr>
              <a:t>Module Analog Out:</a:t>
            </a:r>
            <a:br>
              <a:rPr lang="en-US" sz="1800" b="0">
                <a:solidFill>
                  <a:srgbClr val="000000"/>
                </a:solidFill>
                <a:effectLst/>
                <a:latin typeface="VNI-Times" pitchFamily="2" charset="0"/>
              </a:rPr>
            </a:br>
            <a:r>
              <a:rPr lang="en-US" sz="1800" b="0">
                <a:solidFill>
                  <a:srgbClr val="000000"/>
                </a:solidFill>
                <a:effectLst/>
                <a:latin typeface="VNI-Times" pitchFamily="2" charset="0"/>
              </a:rPr>
              <a:t>Cung caáp aùp hay doøng phuï thuoäc soá nhò phaân phuï hai</a:t>
            </a:r>
            <a:br>
              <a:rPr lang="en-US" sz="1800" b="0">
                <a:solidFill>
                  <a:srgbClr val="000000"/>
                </a:solidFill>
                <a:effectLst/>
                <a:latin typeface="VNI-Times" pitchFamily="2" charset="0"/>
              </a:rPr>
            </a:br>
            <a:r>
              <a:rPr lang="en-US" sz="1800" b="0">
                <a:solidFill>
                  <a:srgbClr val="000000"/>
                </a:solidFill>
                <a:effectLst/>
                <a:latin typeface="VNI-Times" pitchFamily="2" charset="0"/>
              </a:rPr>
              <a:t>- SM332 AO 4*12 bit: 4 ngoõ ra doøng hay aùp ñoä phaân giaûi </a:t>
            </a:r>
            <a:endParaRPr lang="en-US">
              <a:solidFill>
                <a:srgbClr val="000000"/>
              </a:solidFill>
              <a:latin typeface="VNI-Times" pitchFamily="2" charset="0"/>
            </a:endParaRPr>
          </a:p>
          <a:p>
            <a:r>
              <a:rPr lang="en-US" sz="1800" b="0">
                <a:solidFill>
                  <a:srgbClr val="000000"/>
                </a:solidFill>
                <a:effectLst/>
                <a:latin typeface="VNI-Times" pitchFamily="2" charset="0"/>
              </a:rPr>
              <a:t>12 bit, thôøi</a:t>
            </a:r>
            <a:br>
              <a:rPr lang="en-US" sz="1800" b="0">
                <a:solidFill>
                  <a:srgbClr val="000000"/>
                </a:solidFill>
                <a:effectLst/>
                <a:latin typeface="VNI-Times" pitchFamily="2" charset="0"/>
              </a:rPr>
            </a:br>
            <a:r>
              <a:rPr lang="en-US" sz="1800" b="0">
                <a:solidFill>
                  <a:srgbClr val="000000"/>
                </a:solidFill>
                <a:effectLst/>
                <a:latin typeface="VNI-Times" pitchFamily="2" charset="0"/>
              </a:rPr>
              <a:t>gian chuyeån ñoåi 0.8 ms</a:t>
            </a:r>
            <a:br>
              <a:rPr lang="en-US" sz="1800" b="0">
                <a:solidFill>
                  <a:srgbClr val="000000"/>
                </a:solidFill>
                <a:effectLst/>
                <a:latin typeface="VNI-Times" pitchFamily="2" charset="0"/>
              </a:rPr>
            </a:br>
            <a:r>
              <a:rPr lang="en-US" sz="1800" b="0">
                <a:solidFill>
                  <a:srgbClr val="000000"/>
                </a:solidFill>
                <a:effectLst/>
                <a:latin typeface="VNI-Times" pitchFamily="2" charset="0"/>
              </a:rPr>
              <a:t>- SM332 AO 2*12 bit</a:t>
            </a:r>
            <a:br>
              <a:rPr lang="en-US" sz="1800" b="0">
                <a:solidFill>
                  <a:srgbClr val="000000"/>
                </a:solidFill>
                <a:effectLst/>
                <a:latin typeface="VNI-Times" pitchFamily="2" charset="0"/>
              </a:rPr>
            </a:br>
            <a:r>
              <a:rPr lang="en-US" sz="1800" b="0">
                <a:solidFill>
                  <a:srgbClr val="000000"/>
                </a:solidFill>
                <a:effectLst/>
                <a:latin typeface="VNI-Times" pitchFamily="2" charset="0"/>
              </a:rPr>
              <a:t>- SM332 AO 4*16 bit</a:t>
            </a:r>
            <a:br>
              <a:rPr lang="en-US" sz="1800" b="0">
                <a:solidFill>
                  <a:srgbClr val="000000"/>
                </a:solidFill>
                <a:effectLst/>
                <a:latin typeface="VNI-Times" pitchFamily="2" charset="0"/>
              </a:rPr>
            </a:br>
            <a:r>
              <a:rPr lang="en-US" sz="1800" b="0">
                <a:solidFill>
                  <a:srgbClr val="000000"/>
                </a:solidFill>
                <a:effectLst/>
                <a:latin typeface="VNI-Times" pitchFamily="2" charset="0"/>
              </a:rPr>
              <a:t>Module Analog In/Out</a:t>
            </a:r>
            <a:br>
              <a:rPr lang="en-US" sz="1800" b="0">
                <a:solidFill>
                  <a:srgbClr val="000000"/>
                </a:solidFill>
                <a:effectLst/>
                <a:latin typeface="VNI-Times" pitchFamily="2" charset="0"/>
              </a:rPr>
            </a:br>
            <a:r>
              <a:rPr lang="en-US" sz="1800" b="0">
                <a:solidFill>
                  <a:srgbClr val="000000"/>
                </a:solidFill>
                <a:effectLst/>
                <a:latin typeface="VNI-Times" pitchFamily="2" charset="0"/>
              </a:rPr>
              <a:t>- SM 334; AI 4/AO 2 * 8 Bit</a:t>
            </a:r>
            <a:br>
              <a:rPr lang="en-US" sz="1800" b="0">
                <a:solidFill>
                  <a:srgbClr val="000000"/>
                </a:solidFill>
                <a:effectLst/>
                <a:latin typeface="VNI-Times" pitchFamily="2" charset="0"/>
              </a:rPr>
            </a:br>
            <a:r>
              <a:rPr lang="en-US" sz="1800" b="0">
                <a:solidFill>
                  <a:srgbClr val="000000"/>
                </a:solidFill>
                <a:effectLst/>
                <a:latin typeface="VNI-Times" pitchFamily="2" charset="0"/>
              </a:rPr>
              <a:t>- SM334; AI 4/AO 2* 12 Bit</a:t>
            </a:r>
            <a:r>
              <a:rPr lang="en-US"/>
              <a:t> </a:t>
            </a:r>
            <a:br>
              <a:rPr lang="en-US"/>
            </a:br>
            <a:endParaRPr lang="en-US"/>
          </a:p>
        </p:txBody>
      </p:sp>
    </p:spTree>
    <p:extLst>
      <p:ext uri="{BB962C8B-B14F-4D97-AF65-F5344CB8AC3E}">
        <p14:creationId xmlns:p14="http://schemas.microsoft.com/office/powerpoint/2010/main" val="3380740241"/>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871369"/>
            <a:ext cx="3052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5. </a:t>
            </a:r>
            <a:r>
              <a:rPr lang="vi-VN" sz="1800" b="1" i="1">
                <a:effectLst/>
                <a:latin typeface="Times New Roman" panose="02020603050405020304" pitchFamily="18" charset="0"/>
                <a:ea typeface="Times New Roman" panose="02020603050405020304" pitchFamily="18" charset="0"/>
              </a:rPr>
              <a:t>MODULE</a:t>
            </a:r>
            <a:r>
              <a:rPr lang="vi-VN" sz="1800" b="1" i="1" spc="-6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ANALOG</a:t>
            </a:r>
            <a:r>
              <a:rPr lang="vi-VN" sz="1800" b="1" i="1" spc="-70">
                <a:effectLst/>
                <a:latin typeface="Times New Roman" panose="02020603050405020304" pitchFamily="18" charset="0"/>
                <a:ea typeface="Times New Roman" panose="02020603050405020304" pitchFamily="18" charset="0"/>
              </a:rPr>
              <a:t> </a:t>
            </a:r>
            <a:r>
              <a:rPr lang="vi-VN" sz="1800" b="1" i="1" spc="-25">
                <a:effectLst/>
                <a:latin typeface="Times New Roman" panose="02020603050405020304" pitchFamily="18" charset="0"/>
                <a:ea typeface="Times New Roman" panose="02020603050405020304" pitchFamily="18" charset="0"/>
              </a:rPr>
              <a:t>IN</a:t>
            </a:r>
            <a:r>
              <a:rPr lang="en-US" sz="1800" b="1" spc="-2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3" name="TextBox 12">
            <a:extLst>
              <a:ext uri="{FF2B5EF4-FFF2-40B4-BE49-F238E27FC236}">
                <a16:creationId xmlns:a16="http://schemas.microsoft.com/office/drawing/2014/main" id="{376539CB-FC9C-4D2E-A2CA-8E927B937C0C}"/>
              </a:ext>
            </a:extLst>
          </p:cNvPr>
          <p:cNvSpPr txBox="1"/>
          <p:nvPr/>
        </p:nvSpPr>
        <p:spPr>
          <a:xfrm>
            <a:off x="461963" y="1253810"/>
            <a:ext cx="6096000" cy="369332"/>
          </a:xfrm>
          <a:prstGeom prst="rect">
            <a:avLst/>
          </a:prstGeom>
          <a:noFill/>
        </p:spPr>
        <p:txBody>
          <a:bodyPr wrap="square">
            <a:spAutoFit/>
          </a:bodyPr>
          <a:lstStyle/>
          <a:p>
            <a:r>
              <a:rPr lang="vi-VN" sz="1800" b="1" dirty="0">
                <a:effectLst/>
                <a:latin typeface="Times New Roman" panose="02020603050405020304" pitchFamily="18" charset="0"/>
                <a:ea typeface="Times New Roman" panose="02020603050405020304" pitchFamily="18" charset="0"/>
              </a:rPr>
              <a:t>IM</a:t>
            </a:r>
            <a:r>
              <a:rPr lang="vi-VN" sz="1800" b="1" spc="-20" dirty="0">
                <a:effectLst/>
                <a:latin typeface="Times New Roman" panose="02020603050405020304" pitchFamily="18" charset="0"/>
                <a:ea typeface="Times New Roman" panose="02020603050405020304" pitchFamily="18" charset="0"/>
              </a:rPr>
              <a:t> </a:t>
            </a:r>
            <a:r>
              <a:rPr lang="vi-VN" sz="1800" b="1" dirty="0">
                <a:effectLst/>
                <a:latin typeface="Times New Roman" panose="02020603050405020304" pitchFamily="18" charset="0"/>
                <a:ea typeface="Times New Roman" panose="02020603050405020304" pitchFamily="18" charset="0"/>
              </a:rPr>
              <a:t>(Interface</a:t>
            </a:r>
            <a:r>
              <a:rPr lang="vi-VN" sz="1800" b="1" spc="-15" dirty="0">
                <a:effectLst/>
                <a:latin typeface="Times New Roman" panose="02020603050405020304" pitchFamily="18" charset="0"/>
                <a:ea typeface="Times New Roman" panose="02020603050405020304" pitchFamily="18" charset="0"/>
              </a:rPr>
              <a:t> </a:t>
            </a:r>
            <a:r>
              <a:rPr lang="vi-VN" sz="1800" b="1" dirty="0">
                <a:effectLst/>
                <a:latin typeface="Times New Roman" panose="02020603050405020304" pitchFamily="18" charset="0"/>
                <a:ea typeface="Times New Roman" panose="02020603050405020304" pitchFamily="18" charset="0"/>
              </a:rPr>
              <a:t>module):</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a:t>
            </a:r>
            <a:r>
              <a:rPr lang="vi-VN" sz="1800" spc="-2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ghép</a:t>
            </a:r>
            <a:r>
              <a:rPr lang="vi-VN" sz="1800" spc="-10" dirty="0">
                <a:effectLst/>
                <a:latin typeface="Times New Roman" panose="02020603050405020304" pitchFamily="18" charset="0"/>
                <a:ea typeface="Times New Roman" panose="02020603050405020304" pitchFamily="18" charset="0"/>
              </a:rPr>
              <a:t> nối.</a:t>
            </a:r>
            <a:endParaRPr lang="en-US" dirty="0"/>
          </a:p>
        </p:txBody>
      </p:sp>
      <p:sp>
        <p:nvSpPr>
          <p:cNvPr id="17" name="TextBox 16">
            <a:extLst>
              <a:ext uri="{FF2B5EF4-FFF2-40B4-BE49-F238E27FC236}">
                <a16:creationId xmlns:a16="http://schemas.microsoft.com/office/drawing/2014/main" id="{88703D91-A898-4407-A25A-6442C754F1BC}"/>
              </a:ext>
            </a:extLst>
          </p:cNvPr>
          <p:cNvSpPr txBox="1"/>
          <p:nvPr/>
        </p:nvSpPr>
        <p:spPr>
          <a:xfrm>
            <a:off x="457199" y="1604670"/>
            <a:ext cx="11277601" cy="923330"/>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Đây là loại Modul chuyên dụng có nhiệm vụ nối từng nhóm các Modul mở rộng lại với nhau thành từng một khối và được quản lí chung bởi một module CPU. Thông thường</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các Modul mở rộng được gá</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liền</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với</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nhau</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trên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một</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thanh</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đỡ</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gọi</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Rack.</a:t>
            </a:r>
            <a:endParaRPr lang="en-US"/>
          </a:p>
        </p:txBody>
      </p:sp>
      <p:sp>
        <p:nvSpPr>
          <p:cNvPr id="21" name="TextBox 20">
            <a:extLst>
              <a:ext uri="{FF2B5EF4-FFF2-40B4-BE49-F238E27FC236}">
                <a16:creationId xmlns:a16="http://schemas.microsoft.com/office/drawing/2014/main" id="{C28B777D-9505-4881-BC28-4A2A213B3D05}"/>
              </a:ext>
            </a:extLst>
          </p:cNvPr>
          <p:cNvSpPr txBox="1"/>
          <p:nvPr/>
        </p:nvSpPr>
        <p:spPr>
          <a:xfrm>
            <a:off x="457200" y="2492798"/>
            <a:ext cx="7402946" cy="1200329"/>
          </a:xfrm>
          <a:prstGeom prst="rect">
            <a:avLst/>
          </a:prstGeom>
          <a:noFill/>
        </p:spPr>
        <p:txBody>
          <a:bodyPr wrap="square">
            <a:spAutoFit/>
          </a:bodyPr>
          <a:lstStyle/>
          <a:p>
            <a:r>
              <a:rPr lang="vi-VN" sz="1800" dirty="0">
                <a:effectLst/>
                <a:latin typeface="Times New Roman" panose="02020603050405020304" pitchFamily="18" charset="0"/>
                <a:ea typeface="Times New Roman" panose="02020603050405020304" pitchFamily="18" charset="0"/>
              </a:rPr>
              <a:t>Trên mỗi một Rack chỉ có thể gá được nhiều nhất 8 module </a:t>
            </a:r>
            <a:r>
              <a:rPr lang="vi-VN" sz="1800" spc="-10" dirty="0">
                <a:effectLst/>
                <a:latin typeface="Times New Roman" panose="02020603050405020304" pitchFamily="18" charset="0"/>
                <a:ea typeface="Times New Roman" panose="02020603050405020304" pitchFamily="18" charset="0"/>
              </a:rPr>
              <a:t>m</a:t>
            </a:r>
            <a:r>
              <a:rPr lang="vi-VN" sz="1800" spc="20" dirty="0">
                <a:effectLst/>
                <a:latin typeface="Times New Roman" panose="02020603050405020304" pitchFamily="18" charset="0"/>
                <a:ea typeface="Times New Roman" panose="02020603050405020304" pitchFamily="18" charset="0"/>
              </a:rPr>
              <a:t>ở</a:t>
            </a:r>
            <a:r>
              <a:rPr lang="vi-VN" sz="1800" dirty="0">
                <a:effectLst/>
                <a:latin typeface="Times New Roman" panose="02020603050405020304" pitchFamily="18" charset="0"/>
                <a:ea typeface="Times New Roman" panose="02020603050405020304" pitchFamily="18" charset="0"/>
              </a:rPr>
              <a:t> rộng</a:t>
            </a:r>
            <a:r>
              <a:rPr lang="vi-VN" sz="1800" spc="20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không</a:t>
            </a:r>
            <a:r>
              <a:rPr lang="vi-VN" sz="1800" spc="1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kể</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module</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CPU,</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module</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nguồn nuôi).</a:t>
            </a:r>
            <a:r>
              <a:rPr lang="vi-VN" sz="1800" spc="1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Một</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module</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CPU</a:t>
            </a:r>
            <a:r>
              <a:rPr lang="vi-VN" sz="1800" spc="10" dirty="0">
                <a:effectLst/>
                <a:latin typeface="Times New Roman" panose="02020603050405020304" pitchFamily="18" charset="0"/>
                <a:ea typeface="Times New Roman" panose="02020603050405020304" pitchFamily="18" charset="0"/>
              </a:rPr>
              <a:t> </a:t>
            </a:r>
            <a:r>
              <a:rPr lang="vi-VN" sz="1800" spc="-25" dirty="0">
                <a:effectLst/>
                <a:latin typeface="Times New Roman" panose="02020603050405020304" pitchFamily="18" charset="0"/>
                <a:ea typeface="Times New Roman" panose="02020603050405020304" pitchFamily="18" charset="0"/>
              </a:rPr>
              <a:t>có</a:t>
            </a:r>
            <a:r>
              <a:rPr lang="en-US" sz="1800" spc="-2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thể</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làm</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việc</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trực</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tiếp</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với</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nhiều</a:t>
            </a:r>
            <a:r>
              <a:rPr lang="vi-VN" sz="1800" spc="-2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nhất</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4</a:t>
            </a:r>
            <a:r>
              <a:rPr lang="vi-VN" sz="1800" spc="-2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Rack,và</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các</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Rack</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này</a:t>
            </a:r>
            <a:r>
              <a:rPr lang="vi-VN" sz="1800" spc="-3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phải được nối với nhau bằng Module IM (IM360 :truyền; IM361:nhận).</a:t>
            </a:r>
            <a:endParaRPr lang="en-US" dirty="0"/>
          </a:p>
        </p:txBody>
      </p:sp>
      <p:pic>
        <p:nvPicPr>
          <p:cNvPr id="26" name="Picture 25">
            <a:extLst>
              <a:ext uri="{FF2B5EF4-FFF2-40B4-BE49-F238E27FC236}">
                <a16:creationId xmlns:a16="http://schemas.microsoft.com/office/drawing/2014/main" id="{B0779CF2-48B2-4E6B-B1D3-16D160F2E49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8026400" y="2359022"/>
            <a:ext cx="3708400" cy="3763966"/>
          </a:xfrm>
          <a:prstGeom prst="rect">
            <a:avLst/>
          </a:prstGeom>
          <a:noFill/>
          <a:ln>
            <a:noFill/>
          </a:ln>
        </p:spPr>
      </p:pic>
      <p:sp>
        <p:nvSpPr>
          <p:cNvPr id="27" name="TextBox 26">
            <a:extLst>
              <a:ext uri="{FF2B5EF4-FFF2-40B4-BE49-F238E27FC236}">
                <a16:creationId xmlns:a16="http://schemas.microsoft.com/office/drawing/2014/main" id="{2761FCEB-7D48-4F9E-8963-2229F944383F}"/>
              </a:ext>
            </a:extLst>
          </p:cNvPr>
          <p:cNvSpPr txBox="1"/>
          <p:nvPr/>
        </p:nvSpPr>
        <p:spPr>
          <a:xfrm>
            <a:off x="457199" y="3693127"/>
            <a:ext cx="7264402" cy="923330"/>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Module</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IM360</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gắn</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ở</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rack</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0</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CPU</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dùng</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để</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ghép</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nối</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với</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module IM361</a:t>
            </a:r>
            <a:r>
              <a:rPr lang="vi-VN" sz="1800" spc="2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đặt ở các rack 1, 2, 3 giúp kết nối các module mở rộng với CPU</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khi</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module</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lớn</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hơn</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Cáp</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nối</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giữa</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hai</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rack</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 loại</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368.</a:t>
            </a:r>
            <a:endParaRPr lang="en-US"/>
          </a:p>
        </p:txBody>
      </p:sp>
      <p:sp>
        <p:nvSpPr>
          <p:cNvPr id="28" name="TextBox 27">
            <a:extLst>
              <a:ext uri="{FF2B5EF4-FFF2-40B4-BE49-F238E27FC236}">
                <a16:creationId xmlns:a16="http://schemas.microsoft.com/office/drawing/2014/main" id="{7025FA11-2AF8-4AF0-84D5-0A1BDC7245D8}"/>
              </a:ext>
            </a:extLst>
          </p:cNvPr>
          <p:cNvSpPr txBox="1"/>
          <p:nvPr/>
        </p:nvSpPr>
        <p:spPr>
          <a:xfrm>
            <a:off x="457197" y="4562783"/>
            <a:ext cx="7264402" cy="646331"/>
          </a:xfrm>
          <a:prstGeom prst="rect">
            <a:avLst/>
          </a:prstGeom>
          <a:noFill/>
        </p:spPr>
        <p:txBody>
          <a:bodyPr wrap="square">
            <a:spAutoFit/>
          </a:bodyPr>
          <a:lstStyle/>
          <a:p>
            <a:r>
              <a:rPr lang="vi-VN" sz="1800" b="1" dirty="0">
                <a:effectLst/>
                <a:latin typeface="Times New Roman" panose="02020603050405020304" pitchFamily="18" charset="0"/>
                <a:ea typeface="Times New Roman" panose="02020603050405020304" pitchFamily="18" charset="0"/>
              </a:rPr>
              <a:t>FM (Function module):</a:t>
            </a:r>
            <a:r>
              <a:rPr lang="vi-VN" sz="1800" dirty="0">
                <a:effectLst/>
                <a:latin typeface="Times New Roman" panose="02020603050405020304" pitchFamily="18" charset="0"/>
                <a:ea typeface="Times New Roman" panose="02020603050405020304" pitchFamily="18" charset="0"/>
              </a:rPr>
              <a:t> Module có chúc năng điều khiển riêng. Ví</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dụ</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như</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module</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PID,</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module</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điều</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khiển</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động</a:t>
            </a:r>
            <a:r>
              <a:rPr lang="vi-VN" sz="1800" spc="-3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cơ</a:t>
            </a:r>
            <a:r>
              <a:rPr lang="vi-VN" sz="1800" spc="-2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bước…</a:t>
            </a:r>
            <a:endParaRPr lang="en-US" dirty="0"/>
          </a:p>
        </p:txBody>
      </p:sp>
      <p:sp>
        <p:nvSpPr>
          <p:cNvPr id="29" name="TextBox 28">
            <a:extLst>
              <a:ext uri="{FF2B5EF4-FFF2-40B4-BE49-F238E27FC236}">
                <a16:creationId xmlns:a16="http://schemas.microsoft.com/office/drawing/2014/main" id="{E7271AC4-0EA4-4FC8-B53B-5ACF1B23EF05}"/>
              </a:ext>
            </a:extLst>
          </p:cNvPr>
          <p:cNvSpPr txBox="1"/>
          <p:nvPr/>
        </p:nvSpPr>
        <p:spPr>
          <a:xfrm>
            <a:off x="457197" y="5222223"/>
            <a:ext cx="7107386" cy="646331"/>
          </a:xfrm>
          <a:prstGeom prst="rect">
            <a:avLst/>
          </a:prstGeom>
          <a:noFill/>
        </p:spPr>
        <p:txBody>
          <a:bodyPr wrap="square">
            <a:spAutoFit/>
          </a:bodyPr>
          <a:lstStyle/>
          <a:p>
            <a:r>
              <a:rPr lang="vi-VN" sz="1800" b="1" dirty="0">
                <a:effectLst/>
                <a:latin typeface="Times New Roman" panose="02020603050405020304" pitchFamily="18" charset="0"/>
                <a:ea typeface="Times New Roman" panose="02020603050405020304" pitchFamily="18" charset="0"/>
              </a:rPr>
              <a:t>CP (Communication module): </a:t>
            </a:r>
            <a:r>
              <a:rPr lang="vi-VN" sz="1800" dirty="0">
                <a:effectLst/>
                <a:latin typeface="Times New Roman" panose="02020603050405020304" pitchFamily="18" charset="0"/>
                <a:ea typeface="Times New Roman" panose="02020603050405020304" pitchFamily="18" charset="0"/>
              </a:rPr>
              <a:t>Module phục vụ truyền thông trong mạng giừa các PLC với nhau hoặc giữa PLC với máy </a:t>
            </a:r>
            <a:r>
              <a:rPr lang="vi-VN" sz="1800" spc="-10" dirty="0">
                <a:effectLst/>
                <a:latin typeface="Times New Roman" panose="02020603050405020304" pitchFamily="18" charset="0"/>
                <a:ea typeface="Times New Roman" panose="02020603050405020304" pitchFamily="18" charset="0"/>
              </a:rPr>
              <a:t>tính.</a:t>
            </a:r>
            <a:endParaRPr lang="en-US" dirty="0"/>
          </a:p>
        </p:txBody>
      </p:sp>
    </p:spTree>
    <p:extLst>
      <p:ext uri="{BB962C8B-B14F-4D97-AF65-F5344CB8AC3E}">
        <p14:creationId xmlns:p14="http://schemas.microsoft.com/office/powerpoint/2010/main" val="2270123776"/>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32004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5. </a:t>
            </a:r>
            <a:r>
              <a:rPr lang="vi-VN" sz="1800" b="1" spc="-10">
                <a:effectLst/>
                <a:latin typeface="Times New Roman" panose="02020603050405020304" pitchFamily="18" charset="0"/>
                <a:ea typeface="Times New Roman" panose="02020603050405020304" pitchFamily="18" charset="0"/>
              </a:rPr>
              <a:t>NGÔN NGỮ</a:t>
            </a:r>
            <a:r>
              <a:rPr lang="vi-VN" sz="1800" b="1" spc="-80">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LẬP TRÌNH</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8.1.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PLC S7-300</a:t>
            </a:r>
          </a:p>
        </p:txBody>
      </p:sp>
      <p:sp>
        <p:nvSpPr>
          <p:cNvPr id="18" name="TextBox 17">
            <a:extLst>
              <a:ext uri="{FF2B5EF4-FFF2-40B4-BE49-F238E27FC236}">
                <a16:creationId xmlns:a16="http://schemas.microsoft.com/office/drawing/2014/main" id="{74931545-5D09-4D95-A535-0E381DD52CA5}"/>
              </a:ext>
            </a:extLst>
          </p:cNvPr>
          <p:cNvSpPr txBox="1"/>
          <p:nvPr/>
        </p:nvSpPr>
        <p:spPr>
          <a:xfrm>
            <a:off x="457199" y="1244271"/>
            <a:ext cx="11277602"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Tương</a:t>
            </a:r>
            <a:r>
              <a:rPr lang="vi-VN" sz="1800" b="1" i="1" spc="-6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tự</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như</a:t>
            </a:r>
            <a:r>
              <a:rPr lang="vi-VN" sz="1800" b="1" i="1" spc="-5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PLC</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S7-200</a:t>
            </a:r>
            <a:r>
              <a:rPr lang="vi-VN" sz="1800" b="1" i="1" spc="-6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thì</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PLC</a:t>
            </a:r>
            <a:r>
              <a:rPr lang="vi-VN" sz="1800" b="1" i="1" spc="-6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S7-300</a:t>
            </a:r>
            <a:r>
              <a:rPr lang="vi-VN" sz="1800" b="1" i="1" spc="-6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cũng</a:t>
            </a:r>
            <a:r>
              <a:rPr lang="vi-VN" sz="1800" b="1" i="1" spc="-5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có</a:t>
            </a:r>
            <a:r>
              <a:rPr lang="vi-VN" sz="1800" b="1" i="1" spc="-5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3</a:t>
            </a:r>
            <a:r>
              <a:rPr lang="vi-VN" sz="1800" b="1" i="1" spc="-6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ngôn</a:t>
            </a:r>
            <a:r>
              <a:rPr lang="vi-VN" sz="1800" b="1" i="1" spc="-5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ngữ</a:t>
            </a:r>
            <a:r>
              <a:rPr lang="vi-VN" sz="1800" b="1" i="1" spc="-5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lập trình cơ bản sau:</a:t>
            </a:r>
            <a:endParaRPr lang="en-US"/>
          </a:p>
        </p:txBody>
      </p:sp>
      <p:sp>
        <p:nvSpPr>
          <p:cNvPr id="19" name="TextBox 18">
            <a:extLst>
              <a:ext uri="{FF2B5EF4-FFF2-40B4-BE49-F238E27FC236}">
                <a16:creationId xmlns:a16="http://schemas.microsoft.com/office/drawing/2014/main" id="{E46448F6-9C8E-4BA4-9045-A30079FEB59D}"/>
              </a:ext>
            </a:extLst>
          </p:cNvPr>
          <p:cNvSpPr txBox="1"/>
          <p:nvPr/>
        </p:nvSpPr>
        <p:spPr>
          <a:xfrm>
            <a:off x="457199" y="1608075"/>
            <a:ext cx="11346874" cy="923330"/>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Ngôn ngữ “liệt kê lệnh”, ký hiệu là STL (Statement List). Đây là dạng ngôn ngữ lập trình thông thường của máy tính. Một chương</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trình</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được</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ghép</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bởi</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nhiều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câu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lệnh</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theo</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thuật</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toán</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nhất định,</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mỗi</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lệnh</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chiếm</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hàng</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đều</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cấu</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trúc</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chung</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“tên lệnh”+”toán hạng”.</a:t>
            </a:r>
            <a:endParaRPr lang="en-US"/>
          </a:p>
        </p:txBody>
      </p:sp>
      <p:pic>
        <p:nvPicPr>
          <p:cNvPr id="20" name="Picture 19">
            <a:extLst>
              <a:ext uri="{FF2B5EF4-FFF2-40B4-BE49-F238E27FC236}">
                <a16:creationId xmlns:a16="http://schemas.microsoft.com/office/drawing/2014/main" id="{3DC8A168-4B23-4E2F-BB33-808890F73CE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341726" y="2592475"/>
            <a:ext cx="1158875" cy="878840"/>
          </a:xfrm>
          <a:prstGeom prst="rect">
            <a:avLst/>
          </a:prstGeom>
          <a:noFill/>
          <a:ln>
            <a:noFill/>
          </a:ln>
        </p:spPr>
      </p:pic>
      <p:sp>
        <p:nvSpPr>
          <p:cNvPr id="25" name="TextBox 24">
            <a:extLst>
              <a:ext uri="{FF2B5EF4-FFF2-40B4-BE49-F238E27FC236}">
                <a16:creationId xmlns:a16="http://schemas.microsoft.com/office/drawing/2014/main" id="{49A1C7C0-2151-4881-B82A-38B73C750242}"/>
              </a:ext>
            </a:extLst>
          </p:cNvPr>
          <p:cNvSpPr txBox="1"/>
          <p:nvPr/>
        </p:nvSpPr>
        <p:spPr>
          <a:xfrm>
            <a:off x="466433" y="2533464"/>
            <a:ext cx="775855"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sp>
        <p:nvSpPr>
          <p:cNvPr id="30" name="TextBox 29">
            <a:extLst>
              <a:ext uri="{FF2B5EF4-FFF2-40B4-BE49-F238E27FC236}">
                <a16:creationId xmlns:a16="http://schemas.microsoft.com/office/drawing/2014/main" id="{6EA99526-556C-4FBF-85B6-425BD4044904}"/>
              </a:ext>
            </a:extLst>
          </p:cNvPr>
          <p:cNvSpPr txBox="1"/>
          <p:nvPr/>
        </p:nvSpPr>
        <p:spPr>
          <a:xfrm>
            <a:off x="457198" y="3490695"/>
            <a:ext cx="11277602" cy="646331"/>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Ngôn</a:t>
            </a:r>
            <a:r>
              <a:rPr lang="vi-VN" sz="1800" spc="-55">
                <a:effectLst/>
                <a:latin typeface="Times New Roman" panose="02020603050405020304" pitchFamily="18" charset="0"/>
                <a:ea typeface="Times New Roman" panose="02020603050405020304" pitchFamily="18" charset="0"/>
              </a:rPr>
              <a:t> </a:t>
            </a:r>
            <a:r>
              <a:rPr lang="vi-VN" sz="1800" spc="-5">
                <a:effectLst/>
                <a:latin typeface="Times New Roman" panose="02020603050405020304" pitchFamily="18" charset="0"/>
                <a:ea typeface="Times New Roman" panose="02020603050405020304" pitchFamily="18" charset="0"/>
              </a:rPr>
              <a:t>ng</a:t>
            </a:r>
            <a:r>
              <a:rPr lang="vi-VN" sz="1800">
                <a:effectLst/>
                <a:latin typeface="Times New Roman" panose="02020603050405020304" pitchFamily="18" charset="0"/>
                <a:ea typeface="Times New Roman" panose="02020603050405020304" pitchFamily="18" charset="0"/>
              </a:rPr>
              <a:t>ữ</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“hình</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thang”,</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ký</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LAD</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(Ladder</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Logic).</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Đây là dạng ngôn ngữ đồ hoạ thích hợp với những người quen thiết kế mạch điều khiển logic.</a:t>
            </a:r>
            <a:endParaRPr lang="en-US"/>
          </a:p>
        </p:txBody>
      </p:sp>
      <p:pic>
        <p:nvPicPr>
          <p:cNvPr id="31" name="Picture 30">
            <a:extLst>
              <a:ext uri="{FF2B5EF4-FFF2-40B4-BE49-F238E27FC236}">
                <a16:creationId xmlns:a16="http://schemas.microsoft.com/office/drawing/2014/main" id="{C9232E5D-4C71-4C75-9FB4-796F115B40E2}"/>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341726" y="4337199"/>
            <a:ext cx="3151505" cy="1009650"/>
          </a:xfrm>
          <a:prstGeom prst="rect">
            <a:avLst/>
          </a:prstGeom>
          <a:noFill/>
          <a:ln>
            <a:noFill/>
          </a:ln>
        </p:spPr>
      </p:pic>
      <p:sp>
        <p:nvSpPr>
          <p:cNvPr id="32" name="TextBox 31">
            <a:extLst>
              <a:ext uri="{FF2B5EF4-FFF2-40B4-BE49-F238E27FC236}">
                <a16:creationId xmlns:a16="http://schemas.microsoft.com/office/drawing/2014/main" id="{005B5CA0-42EF-4D8C-87DB-588721292CF0}"/>
              </a:ext>
            </a:extLst>
          </p:cNvPr>
          <p:cNvSpPr txBox="1"/>
          <p:nvPr/>
        </p:nvSpPr>
        <p:spPr>
          <a:xfrm>
            <a:off x="466433" y="4341347"/>
            <a:ext cx="775855"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sp>
        <p:nvSpPr>
          <p:cNvPr id="33" name="TextBox 32">
            <a:extLst>
              <a:ext uri="{FF2B5EF4-FFF2-40B4-BE49-F238E27FC236}">
                <a16:creationId xmlns:a16="http://schemas.microsoft.com/office/drawing/2014/main" id="{585C5988-DBFF-49EA-8B28-DCB91E999453}"/>
              </a:ext>
            </a:extLst>
          </p:cNvPr>
          <p:cNvSpPr txBox="1"/>
          <p:nvPr/>
        </p:nvSpPr>
        <p:spPr>
          <a:xfrm>
            <a:off x="457197" y="5362857"/>
            <a:ext cx="7125857" cy="923330"/>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Ngôn ngữ “hình khối”, ký</a:t>
            </a:r>
            <a:r>
              <a:rPr lang="vi-VN" sz="1800" spc="2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 là FBD (Function Block Diagram).</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Đây</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dạng</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ngôn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ngữ</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đồ</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hoạ</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thích</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hợp</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với</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những</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người quen thiết kế mạch điều khiển</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endParaRPr lang="en-US"/>
          </a:p>
        </p:txBody>
      </p:sp>
      <p:pic>
        <p:nvPicPr>
          <p:cNvPr id="34" name="Picture 33">
            <a:extLst>
              <a:ext uri="{FF2B5EF4-FFF2-40B4-BE49-F238E27FC236}">
                <a16:creationId xmlns:a16="http://schemas.microsoft.com/office/drawing/2014/main" id="{0DCAF014-53E5-49D4-843D-9B8F459A0326}"/>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7698771" y="4235891"/>
            <a:ext cx="3505200" cy="1720850"/>
          </a:xfrm>
          <a:prstGeom prst="rect">
            <a:avLst/>
          </a:prstGeom>
          <a:noFill/>
          <a:ln>
            <a:noFill/>
          </a:ln>
        </p:spPr>
      </p:pic>
      <p:sp>
        <p:nvSpPr>
          <p:cNvPr id="37" name="TextBox 36">
            <a:extLst>
              <a:ext uri="{FF2B5EF4-FFF2-40B4-BE49-F238E27FC236}">
                <a16:creationId xmlns:a16="http://schemas.microsoft.com/office/drawing/2014/main" id="{67FF9E8A-614D-421B-A0A6-D824A689B6DD}"/>
              </a:ext>
            </a:extLst>
          </p:cNvPr>
          <p:cNvSpPr txBox="1"/>
          <p:nvPr/>
        </p:nvSpPr>
        <p:spPr>
          <a:xfrm>
            <a:off x="8993981" y="6102907"/>
            <a:ext cx="775855" cy="369332"/>
          </a:xfrm>
          <a:prstGeom prst="rect">
            <a:avLst/>
          </a:prstGeom>
          <a:noFill/>
        </p:spPr>
        <p:txBody>
          <a:bodyPr wrap="square">
            <a:spAutoFit/>
          </a:bodyPr>
          <a:lstStyle/>
          <a:p>
            <a:r>
              <a:rPr lang="vi-VN" sz="1800" dirty="0">
                <a:effectLst/>
                <a:latin typeface="Times New Roman" panose="02020603050405020304" pitchFamily="18" charset="0"/>
                <a:ea typeface="Times New Roman" panose="02020603050405020304" pitchFamily="18" charset="0"/>
              </a:rPr>
              <a:t>Ví</a:t>
            </a:r>
            <a:r>
              <a:rPr lang="vi-VN" sz="1800" spc="-5" dirty="0">
                <a:effectLst/>
                <a:latin typeface="Times New Roman" panose="02020603050405020304" pitchFamily="18" charset="0"/>
                <a:ea typeface="Times New Roman" panose="02020603050405020304" pitchFamily="18" charset="0"/>
              </a:rPr>
              <a:t> </a:t>
            </a:r>
            <a:r>
              <a:rPr lang="vi-VN" sz="1800" spc="-20" dirty="0">
                <a:effectLst/>
                <a:latin typeface="Times New Roman" panose="02020603050405020304" pitchFamily="18" charset="0"/>
                <a:ea typeface="Times New Roman" panose="02020603050405020304" pitchFamily="18" charset="0"/>
              </a:rPr>
              <a:t>dụ:</a:t>
            </a:r>
            <a:endParaRPr lang="en-US" dirty="0"/>
          </a:p>
        </p:txBody>
      </p:sp>
    </p:spTree>
    <p:extLst>
      <p:ext uri="{BB962C8B-B14F-4D97-AF65-F5344CB8AC3E}">
        <p14:creationId xmlns:p14="http://schemas.microsoft.com/office/powerpoint/2010/main" val="246025518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1571" y="2901922"/>
            <a:ext cx="6208543" cy="3493340"/>
          </a:xfrm>
          <a:prstGeom prst="rect">
            <a:avLst/>
          </a:prstGeom>
        </p:spPr>
      </p:pic>
      <p:sp>
        <p:nvSpPr>
          <p:cNvPr id="4" name="Rectangle 3"/>
          <p:cNvSpPr/>
          <p:nvPr/>
        </p:nvSpPr>
        <p:spPr>
          <a:xfrm>
            <a:off x="1177816" y="2350651"/>
            <a:ext cx="1015605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8.2 TẬP LỆNH PLC S7-300</a:t>
            </a:r>
          </a:p>
        </p:txBody>
      </p:sp>
      <p:sp>
        <p:nvSpPr>
          <p:cNvPr id="6"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TỔNG QUAN VỀ PLC S7-300 VÀ ỨNG DỤNG</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82730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396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1. </a:t>
            </a:r>
            <a:r>
              <a:rPr lang="vi-VN" sz="1800" b="1">
                <a:effectLst/>
                <a:latin typeface="Times New Roman" panose="02020603050405020304" pitchFamily="18" charset="0"/>
                <a:ea typeface="Times New Roman" panose="02020603050405020304" pitchFamily="18" charset="0"/>
              </a:rPr>
              <a:t>CÁC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4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LOGIC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TIẾP</a:t>
            </a:r>
            <a:r>
              <a:rPr lang="vi-VN" sz="1800" b="1" spc="4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ĐIỂM</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852885F9-42E6-40CC-B925-750A1D0711A2}"/>
              </a:ext>
            </a:extLst>
          </p:cNvPr>
          <p:cNvSpPr txBox="1"/>
          <p:nvPr/>
        </p:nvSpPr>
        <p:spPr>
          <a:xfrm>
            <a:off x="618836" y="1253610"/>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Thanh</a:t>
            </a:r>
            <a:r>
              <a:rPr lang="vi-VN" sz="1800" b="1" i="1" spc="7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Ghi</a:t>
            </a:r>
            <a:r>
              <a:rPr lang="vi-VN" sz="1800" b="1" i="1" spc="7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Trạng</a:t>
            </a:r>
            <a:r>
              <a:rPr lang="vi-VN" sz="1800" b="1" i="1" spc="80">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Thái:</a:t>
            </a:r>
            <a:endParaRPr lang="en-US"/>
          </a:p>
        </p:txBody>
      </p:sp>
      <p:sp>
        <p:nvSpPr>
          <p:cNvPr id="27" name="TextBox 26">
            <a:extLst>
              <a:ext uri="{FF2B5EF4-FFF2-40B4-BE49-F238E27FC236}">
                <a16:creationId xmlns:a16="http://schemas.microsoft.com/office/drawing/2014/main" id="{F8A0CF1F-DF26-4FA9-A2AC-CC0072EB715E}"/>
              </a:ext>
            </a:extLst>
          </p:cNvPr>
          <p:cNvSpPr txBox="1"/>
          <p:nvPr/>
        </p:nvSpPr>
        <p:spPr>
          <a:xfrm>
            <a:off x="457198" y="1622942"/>
            <a:ext cx="11277602" cy="923330"/>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Khi thực hiện lệnh ,CPU </a:t>
            </a:r>
            <a:r>
              <a:rPr lang="vi-VN" sz="1800" spc="-5">
                <a:effectLst/>
                <a:latin typeface="Times New Roman" panose="02020603050405020304" pitchFamily="18" charset="0"/>
                <a:ea typeface="Times New Roman" panose="02020603050405020304" pitchFamily="18" charset="0"/>
              </a:rPr>
              <a:t>s</a:t>
            </a:r>
            <a:r>
              <a:rPr lang="vi-VN" sz="1800" spc="5">
                <a:effectLst/>
                <a:latin typeface="Times New Roman" panose="02020603050405020304" pitchFamily="18" charset="0"/>
                <a:ea typeface="Times New Roman" panose="02020603050405020304" pitchFamily="18" charset="0"/>
              </a:rPr>
              <a:t>ẽ</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ghi nhận lại trạng thái của phép tính trung gian cũng như của kết quả vào một thanh ghi đặc biệt 16 Bits,được gọi là thanh ghi trạng thái ( Status Word) &gt;Mặc dù thanh ghi</a:t>
            </a:r>
            <a:r>
              <a:rPr lang="vi-VN" sz="1800" spc="-6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trạng</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thái</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này</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độ</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dài</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Bits</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nhưng</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chỉ</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sử</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dụng</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9</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Bits</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với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cấu trúc như sau:</a:t>
            </a:r>
            <a:endParaRPr lang="en-US"/>
          </a:p>
        </p:txBody>
      </p:sp>
      <p:pic>
        <p:nvPicPr>
          <p:cNvPr id="28" name="Picture 27">
            <a:extLst>
              <a:ext uri="{FF2B5EF4-FFF2-40B4-BE49-F238E27FC236}">
                <a16:creationId xmlns:a16="http://schemas.microsoft.com/office/drawing/2014/main" id="{53D677EE-80AF-4589-AB5A-754DE473AB4B}"/>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970405" y="2276396"/>
            <a:ext cx="4838700" cy="282575"/>
          </a:xfrm>
          <a:prstGeom prst="rect">
            <a:avLst/>
          </a:prstGeom>
          <a:noFill/>
          <a:ln>
            <a:noFill/>
          </a:ln>
        </p:spPr>
      </p:pic>
      <p:sp>
        <p:nvSpPr>
          <p:cNvPr id="38" name="TextBox 37">
            <a:extLst>
              <a:ext uri="{FF2B5EF4-FFF2-40B4-BE49-F238E27FC236}">
                <a16:creationId xmlns:a16="http://schemas.microsoft.com/office/drawing/2014/main" id="{A45E6A25-396E-4CE0-8961-B14A48253A0E}"/>
              </a:ext>
            </a:extLst>
          </p:cNvPr>
          <p:cNvSpPr txBox="1"/>
          <p:nvPr/>
        </p:nvSpPr>
        <p:spPr>
          <a:xfrm>
            <a:off x="457198" y="2605347"/>
            <a:ext cx="11277602" cy="646331"/>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FC </a:t>
            </a:r>
            <a:r>
              <a:rPr lang="vi-VN" sz="1800">
                <a:effectLst/>
                <a:latin typeface="Times New Roman" panose="02020603050405020304" pitchFamily="18" charset="0"/>
                <a:ea typeface="Times New Roman" panose="02020603050405020304" pitchFamily="18" charset="0"/>
              </a:rPr>
              <a:t>( First check) : Khi phải thực hiện một dãy các lệnh logic liên tiếp nhau gồm các phép tính</a:t>
            </a:r>
            <a:r>
              <a:rPr lang="vi-VN" sz="1800" spc="2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giao ,hợp và nghịch đảo,bit FC có giá trị</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bằng</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1,hay</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nói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cách</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khác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,FC=0</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khi</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dãy</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lệnh</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Logic</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tiếp</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điểm</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vừa được</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kết</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thúc.</a:t>
            </a:r>
            <a:endParaRPr lang="en-US"/>
          </a:p>
        </p:txBody>
      </p:sp>
      <p:sp>
        <p:nvSpPr>
          <p:cNvPr id="39" name="TextBox 38">
            <a:extLst>
              <a:ext uri="{FF2B5EF4-FFF2-40B4-BE49-F238E27FC236}">
                <a16:creationId xmlns:a16="http://schemas.microsoft.com/office/drawing/2014/main" id="{C22F2509-1237-49F0-A1EE-73F4B028D705}"/>
              </a:ext>
            </a:extLst>
          </p:cNvPr>
          <p:cNvSpPr txBox="1"/>
          <p:nvPr/>
        </p:nvSpPr>
        <p:spPr>
          <a:xfrm>
            <a:off x="457198" y="3253746"/>
            <a:ext cx="11277602"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RLO</a:t>
            </a:r>
            <a:r>
              <a:rPr lang="vi-VN" sz="1800" b="1"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(Result</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of</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logic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operation)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Kết</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quả</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tức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thời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phép</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tính logicvừa</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được</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thực</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endParaRPr lang="en-US"/>
          </a:p>
        </p:txBody>
      </p:sp>
      <p:sp>
        <p:nvSpPr>
          <p:cNvPr id="40" name="TextBox 39">
            <a:extLst>
              <a:ext uri="{FF2B5EF4-FFF2-40B4-BE49-F238E27FC236}">
                <a16:creationId xmlns:a16="http://schemas.microsoft.com/office/drawing/2014/main" id="{6B138516-4404-4EE2-9550-E394106D1252}"/>
              </a:ext>
            </a:extLst>
          </p:cNvPr>
          <p:cNvSpPr txBox="1"/>
          <p:nvPr/>
        </p:nvSpPr>
        <p:spPr>
          <a:xfrm>
            <a:off x="457198" y="3625146"/>
            <a:ext cx="11277602"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STA </a:t>
            </a:r>
            <a:r>
              <a:rPr lang="vi-VN" sz="1800">
                <a:effectLst/>
                <a:latin typeface="Times New Roman" panose="02020603050405020304" pitchFamily="18" charset="0"/>
                <a:ea typeface="Times New Roman" panose="02020603050405020304" pitchFamily="18" charset="0"/>
              </a:rPr>
              <a:t>(Status bit) : Bit trạng thái này luôn có giá trị logic của tiếp điểm</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được</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chỉ</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định</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trong</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lệnh.</a:t>
            </a:r>
            <a:endParaRPr lang="en-US"/>
          </a:p>
        </p:txBody>
      </p:sp>
      <p:sp>
        <p:nvSpPr>
          <p:cNvPr id="41" name="TextBox 40">
            <a:extLst>
              <a:ext uri="{FF2B5EF4-FFF2-40B4-BE49-F238E27FC236}">
                <a16:creationId xmlns:a16="http://schemas.microsoft.com/office/drawing/2014/main" id="{D840C49B-1876-44CA-AEB1-2AB3F23A4AC0}"/>
              </a:ext>
            </a:extLst>
          </p:cNvPr>
          <p:cNvSpPr txBox="1"/>
          <p:nvPr/>
        </p:nvSpPr>
        <p:spPr>
          <a:xfrm>
            <a:off x="457198" y="3996546"/>
            <a:ext cx="11277602" cy="923330"/>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OR </a:t>
            </a:r>
            <a:r>
              <a:rPr lang="vi-VN" sz="1800">
                <a:effectLst/>
                <a:latin typeface="Times New Roman" panose="02020603050405020304" pitchFamily="18" charset="0"/>
                <a:ea typeface="Times New Roman" panose="02020603050405020304" pitchFamily="18" charset="0"/>
              </a:rPr>
              <a:t>:Ghi lại giá trị của phép tính logic giao cuối cùng được thực hiện để</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phụ</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giúp</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cho</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việc</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thực</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phép</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toán</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hợp</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sau</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đó.Điều</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này</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 cần</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thiết vì</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trong một</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biểu</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thức</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hàm 2</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,phép</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tính</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giao</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bao</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giờ cũng</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phải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được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thực</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trước</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các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phép</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tính</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hợp.</a:t>
            </a:r>
            <a:endParaRPr lang="en-US"/>
          </a:p>
        </p:txBody>
      </p:sp>
      <p:sp>
        <p:nvSpPr>
          <p:cNvPr id="42" name="TextBox 41">
            <a:extLst>
              <a:ext uri="{FF2B5EF4-FFF2-40B4-BE49-F238E27FC236}">
                <a16:creationId xmlns:a16="http://schemas.microsoft.com/office/drawing/2014/main" id="{50CB5441-E2F6-4F74-BDF3-7DABC3976FB0}"/>
              </a:ext>
            </a:extLst>
          </p:cNvPr>
          <p:cNvSpPr txBox="1"/>
          <p:nvPr/>
        </p:nvSpPr>
        <p:spPr>
          <a:xfrm>
            <a:off x="457198" y="4921944"/>
            <a:ext cx="11277602"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OS</a:t>
            </a:r>
            <a:r>
              <a:rPr lang="vi-VN" sz="1800" b="1"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(Stored</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overflow</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Ghi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lại</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giá</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bị</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tràn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ngoài</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mảng</a:t>
            </a:r>
            <a:r>
              <a:rPr lang="vi-VN" sz="1800" spc="-45">
                <a:effectLst/>
                <a:latin typeface="Times New Roman" panose="02020603050405020304" pitchFamily="18" charset="0"/>
                <a:ea typeface="Times New Roman" panose="02020603050405020304" pitchFamily="18" charset="0"/>
              </a:rPr>
              <a:t> </a:t>
            </a:r>
            <a:r>
              <a:rPr lang="vi-VN" sz="1800" spc="-5">
                <a:effectLst/>
                <a:latin typeface="Times New Roman" panose="02020603050405020304" pitchFamily="18" charset="0"/>
                <a:ea typeface="Times New Roman" panose="02020603050405020304" pitchFamily="18" charset="0"/>
              </a:rPr>
              <a:t>ô</a:t>
            </a:r>
            <a:r>
              <a:rPr lang="vi-VN" sz="1800">
                <a:effectLst/>
                <a:latin typeface="Times New Roman" panose="02020603050405020304" pitchFamily="18" charset="0"/>
                <a:ea typeface="Times New Roman" panose="02020603050405020304" pitchFamily="18" charset="0"/>
              </a:rPr>
              <a:t> </a:t>
            </a:r>
            <a:r>
              <a:rPr lang="vi-VN" sz="1800" spc="-10">
                <a:effectLst/>
                <a:latin typeface="Times New Roman" panose="02020603050405020304" pitchFamily="18" charset="0"/>
                <a:ea typeface="Times New Roman" panose="02020603050405020304" pitchFamily="18" charset="0"/>
              </a:rPr>
              <a:t>nhớ.</a:t>
            </a:r>
            <a:endParaRPr lang="en-US"/>
          </a:p>
        </p:txBody>
      </p:sp>
      <p:sp>
        <p:nvSpPr>
          <p:cNvPr id="43" name="TextBox 42">
            <a:extLst>
              <a:ext uri="{FF2B5EF4-FFF2-40B4-BE49-F238E27FC236}">
                <a16:creationId xmlns:a16="http://schemas.microsoft.com/office/drawing/2014/main" id="{B202BCAE-595D-4772-912C-8640C1BA33E8}"/>
              </a:ext>
            </a:extLst>
          </p:cNvPr>
          <p:cNvSpPr txBox="1"/>
          <p:nvPr/>
        </p:nvSpPr>
        <p:spPr>
          <a:xfrm>
            <a:off x="457198" y="5293346"/>
            <a:ext cx="11277602"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OV</a:t>
            </a:r>
            <a:r>
              <a:rPr lang="vi-VN" sz="1800">
                <a:effectLst/>
                <a:latin typeface="Times New Roman" panose="02020603050405020304" pitchFamily="18" charset="0"/>
                <a:ea typeface="Times New Roman" panose="02020603050405020304" pitchFamily="18" charset="0"/>
              </a:rPr>
              <a:t>(Overflow Bit): Bit báo cáo kết quả phép tính bị tràn ra ngoài mảng</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ô</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nhớ.</a:t>
            </a:r>
            <a:endParaRPr lang="en-US"/>
          </a:p>
        </p:txBody>
      </p:sp>
      <p:sp>
        <p:nvSpPr>
          <p:cNvPr id="45" name="TextBox 44">
            <a:extLst>
              <a:ext uri="{FF2B5EF4-FFF2-40B4-BE49-F238E27FC236}">
                <a16:creationId xmlns:a16="http://schemas.microsoft.com/office/drawing/2014/main" id="{FFF1BEF6-C443-454A-8FE5-235D5F96E592}"/>
              </a:ext>
            </a:extLst>
          </p:cNvPr>
          <p:cNvSpPr txBox="1"/>
          <p:nvPr/>
        </p:nvSpPr>
        <p:spPr>
          <a:xfrm>
            <a:off x="4035534" y="2206478"/>
            <a:ext cx="934871" cy="369332"/>
          </a:xfrm>
          <a:prstGeom prst="rect">
            <a:avLst/>
          </a:prstGeom>
          <a:noFill/>
        </p:spPr>
        <p:txBody>
          <a:bodyPr wrap="none" rtlCol="0">
            <a:spAutoFit/>
          </a:bodyPr>
          <a:lstStyle/>
          <a:p>
            <a:r>
              <a:rPr lang="en-US" b="1" u="sng">
                <a:latin typeface="Times New Roman" panose="02020603050405020304" pitchFamily="18" charset="0"/>
                <a:cs typeface="Times New Roman" panose="02020603050405020304" pitchFamily="18" charset="0"/>
              </a:rPr>
              <a:t>Hình 7:</a:t>
            </a:r>
          </a:p>
        </p:txBody>
      </p:sp>
    </p:spTree>
    <p:extLst>
      <p:ext uri="{BB962C8B-B14F-4D97-AF65-F5344CB8AC3E}">
        <p14:creationId xmlns:p14="http://schemas.microsoft.com/office/powerpoint/2010/main" val="418210875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396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1. </a:t>
            </a:r>
            <a:r>
              <a:rPr lang="vi-VN" sz="1800" b="1">
                <a:effectLst/>
                <a:latin typeface="Times New Roman" panose="02020603050405020304" pitchFamily="18" charset="0"/>
                <a:ea typeface="Times New Roman" panose="02020603050405020304" pitchFamily="18" charset="0"/>
              </a:rPr>
              <a:t>CÁC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4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LOGIC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TIẾP</a:t>
            </a:r>
            <a:r>
              <a:rPr lang="vi-VN" sz="1800" b="1" spc="4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ĐIỂM</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852885F9-42E6-40CC-B925-750A1D0711A2}"/>
              </a:ext>
            </a:extLst>
          </p:cNvPr>
          <p:cNvSpPr txBox="1"/>
          <p:nvPr/>
        </p:nvSpPr>
        <p:spPr>
          <a:xfrm>
            <a:off x="618836" y="1253610"/>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Thanh</a:t>
            </a:r>
            <a:r>
              <a:rPr lang="vi-VN" sz="1800" b="1" i="1" spc="7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Ghi</a:t>
            </a:r>
            <a:r>
              <a:rPr lang="vi-VN" sz="1800" b="1" i="1" spc="7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Trạng</a:t>
            </a:r>
            <a:r>
              <a:rPr lang="vi-VN" sz="1800" b="1" i="1" spc="80">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Thái:</a:t>
            </a:r>
            <a:endParaRPr lang="en-US"/>
          </a:p>
        </p:txBody>
      </p:sp>
      <p:sp>
        <p:nvSpPr>
          <p:cNvPr id="44" name="TextBox 43">
            <a:extLst>
              <a:ext uri="{FF2B5EF4-FFF2-40B4-BE49-F238E27FC236}">
                <a16:creationId xmlns:a16="http://schemas.microsoft.com/office/drawing/2014/main" id="{2C45D701-CA48-492C-A941-EDF300F0E33A}"/>
              </a:ext>
            </a:extLst>
          </p:cNvPr>
          <p:cNvSpPr txBox="1"/>
          <p:nvPr/>
        </p:nvSpPr>
        <p:spPr>
          <a:xfrm>
            <a:off x="457198" y="1622942"/>
            <a:ext cx="11277602" cy="646331"/>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CC0</a:t>
            </a:r>
            <a:r>
              <a:rPr lang="vi-VN" sz="1800" b="1" spc="-1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CC1</a:t>
            </a:r>
            <a:r>
              <a:rPr lang="vi-VN" sz="1800" b="1"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Condition</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code)</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Hai</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báo</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trạng</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thái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kết</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quả phép tính với số nguyên,số thực phép dịch chuyển hoặc phép tính logic trong ACCU.</a:t>
            </a:r>
            <a:endParaRPr lang="en-US"/>
          </a:p>
        </p:txBody>
      </p:sp>
      <p:pic>
        <p:nvPicPr>
          <p:cNvPr id="19" name="Picture 18">
            <a:extLst>
              <a:ext uri="{FF2B5EF4-FFF2-40B4-BE49-F238E27FC236}">
                <a16:creationId xmlns:a16="http://schemas.microsoft.com/office/drawing/2014/main" id="{B7B37FE0-5273-4051-A749-A1594CAFA3D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007311" y="2151243"/>
            <a:ext cx="5636711" cy="1184707"/>
          </a:xfrm>
          <a:prstGeom prst="rect">
            <a:avLst/>
          </a:prstGeom>
          <a:noFill/>
          <a:ln>
            <a:noFill/>
          </a:ln>
        </p:spPr>
      </p:pic>
      <p:sp>
        <p:nvSpPr>
          <p:cNvPr id="22" name="TextBox 21">
            <a:extLst>
              <a:ext uri="{FF2B5EF4-FFF2-40B4-BE49-F238E27FC236}">
                <a16:creationId xmlns:a16="http://schemas.microsoft.com/office/drawing/2014/main" id="{F6C29E96-5CDD-4B63-AFBA-4AC9461F106A}"/>
              </a:ext>
            </a:extLst>
          </p:cNvPr>
          <p:cNvSpPr txBox="1"/>
          <p:nvPr/>
        </p:nvSpPr>
        <p:spPr>
          <a:xfrm>
            <a:off x="457198" y="3521845"/>
            <a:ext cx="11277602" cy="1200329"/>
          </a:xfrm>
          <a:prstGeom prst="rect">
            <a:avLst/>
          </a:prstGeom>
          <a:noFill/>
        </p:spPr>
        <p:txBody>
          <a:bodyPr wrap="square">
            <a:spAutoFit/>
          </a:bodyPr>
          <a:lstStyle/>
          <a:p>
            <a:r>
              <a:rPr lang="vi-VN" sz="1800" b="1" dirty="0">
                <a:effectLst/>
                <a:latin typeface="Times New Roman" panose="02020603050405020304" pitchFamily="18" charset="0"/>
                <a:ea typeface="Times New Roman" panose="02020603050405020304" pitchFamily="18" charset="0"/>
              </a:rPr>
              <a:t>BR </a:t>
            </a:r>
            <a:r>
              <a:rPr lang="vi-VN" sz="1800" dirty="0">
                <a:effectLst/>
                <a:latin typeface="Times New Roman" panose="02020603050405020304" pitchFamily="18" charset="0"/>
                <a:ea typeface="Times New Roman" panose="02020603050405020304" pitchFamily="18" charset="0"/>
              </a:rPr>
              <a:t>( Binary result bit) : Bit trạng thái</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cho phép liên kết hai loại</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ngôn</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ngữ</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lập</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trình</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STL</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và</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LAD</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.Chẳng</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hạn</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cho</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phép</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người</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sử</a:t>
            </a:r>
            <a:r>
              <a:rPr lang="vi-VN" sz="1800" spc="55" dirty="0">
                <a:effectLst/>
                <a:latin typeface="Times New Roman" panose="02020603050405020304" pitchFamily="18" charset="0"/>
                <a:ea typeface="Times New Roman" panose="02020603050405020304" pitchFamily="18" charset="0"/>
              </a:rPr>
              <a:t> </a:t>
            </a:r>
            <a:r>
              <a:rPr lang="vi-VN" sz="1800" spc="-10" dirty="0">
                <a:effectLst/>
                <a:latin typeface="Times New Roman" panose="02020603050405020304" pitchFamily="18" charset="0"/>
                <a:ea typeface="Times New Roman" panose="02020603050405020304" pitchFamily="18" charset="0"/>
              </a:rPr>
              <a:t>dụng</a:t>
            </a:r>
            <a:r>
              <a:rPr lang="en-US"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có</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thể</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viết</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một</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khối</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chương</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trình</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FB</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hoặc</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FC</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trên</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ngôn</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ngữ</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STL nhưng</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gọi</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và</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sử</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dụng</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chúng</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trong</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một</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chương</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trình</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khác</a:t>
            </a:r>
            <a:r>
              <a:rPr lang="vi-VN" sz="1800" spc="-6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viết</a:t>
            </a:r>
            <a:r>
              <a:rPr lang="vi-VN" sz="1800" spc="-6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trên LAD</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.Để</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tao</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ra</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được</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mối</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liên</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kết</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đó,ta</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cần</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phải</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kết</a:t>
            </a:r>
            <a:r>
              <a:rPr lang="vi-VN" sz="1800" spc="-5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thúc</a:t>
            </a:r>
            <a:r>
              <a:rPr lang="vi-VN" sz="1800" spc="-5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chương trình trong FB,FC bằng lệnh ghi.</a:t>
            </a:r>
            <a:endParaRPr lang="en-US" dirty="0"/>
          </a:p>
        </p:txBody>
      </p:sp>
      <p:sp>
        <p:nvSpPr>
          <p:cNvPr id="25" name="TextBox 24">
            <a:extLst>
              <a:ext uri="{FF2B5EF4-FFF2-40B4-BE49-F238E27FC236}">
                <a16:creationId xmlns:a16="http://schemas.microsoft.com/office/drawing/2014/main" id="{C20388AD-3708-4352-9D27-AE034468890D}"/>
              </a:ext>
            </a:extLst>
          </p:cNvPr>
          <p:cNvSpPr txBox="1"/>
          <p:nvPr/>
        </p:nvSpPr>
        <p:spPr>
          <a:xfrm>
            <a:off x="457198" y="4968760"/>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BR</a:t>
            </a:r>
            <a:r>
              <a:rPr lang="vi-VN" sz="1800" b="1" spc="3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a:t>
            </a:r>
            <a:r>
              <a:rPr lang="vi-VN" sz="1800" b="1" spc="3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1</a:t>
            </a:r>
            <a:r>
              <a:rPr lang="vi-VN" sz="1800">
                <a:effectLst/>
                <a:latin typeface="Times New Roman" panose="02020603050405020304" pitchFamily="18" charset="0"/>
                <a:ea typeface="Times New Roman" panose="02020603050405020304" pitchFamily="18" charset="0"/>
              </a:rPr>
              <a:t>,</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chương</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trình</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chạy</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không</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3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lỗi</a:t>
            </a:r>
            <a:endParaRPr lang="en-US"/>
          </a:p>
        </p:txBody>
      </p:sp>
      <p:sp>
        <p:nvSpPr>
          <p:cNvPr id="29" name="TextBox 28">
            <a:extLst>
              <a:ext uri="{FF2B5EF4-FFF2-40B4-BE49-F238E27FC236}">
                <a16:creationId xmlns:a16="http://schemas.microsoft.com/office/drawing/2014/main" id="{5794A1B0-0A8C-4724-84CF-9ADD698EB696}"/>
              </a:ext>
            </a:extLst>
          </p:cNvPr>
          <p:cNvSpPr txBox="1"/>
          <p:nvPr/>
        </p:nvSpPr>
        <p:spPr>
          <a:xfrm>
            <a:off x="5061528" y="4978652"/>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BR</a:t>
            </a:r>
            <a:r>
              <a:rPr lang="vi-VN" sz="1800" b="1" spc="-4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a:t>
            </a:r>
            <a:r>
              <a:rPr lang="vi-VN" sz="1800" b="1" spc="-4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0</a:t>
            </a:r>
            <a:r>
              <a:rPr lang="vi-VN" sz="1800">
                <a:effectLst/>
                <a:latin typeface="Times New Roman" panose="02020603050405020304" pitchFamily="18" charset="0"/>
                <a:ea typeface="Times New Roman" panose="02020603050405020304" pitchFamily="18" charset="0"/>
              </a:rPr>
              <a:t>,</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chương</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trình</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chạy</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3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lỗi</a:t>
            </a:r>
            <a:endParaRPr lang="en-US"/>
          </a:p>
        </p:txBody>
      </p:sp>
      <p:sp>
        <p:nvSpPr>
          <p:cNvPr id="30" name="TextBox 29">
            <a:extLst>
              <a:ext uri="{FF2B5EF4-FFF2-40B4-BE49-F238E27FC236}">
                <a16:creationId xmlns:a16="http://schemas.microsoft.com/office/drawing/2014/main" id="{4C49ABC7-F9B3-40BC-BEB5-A8613E412A08}"/>
              </a:ext>
            </a:extLst>
          </p:cNvPr>
          <p:cNvSpPr txBox="1"/>
          <p:nvPr/>
        </p:nvSpPr>
        <p:spPr>
          <a:xfrm>
            <a:off x="457198" y="5347984"/>
            <a:ext cx="11277600" cy="664734"/>
          </a:xfrm>
          <a:prstGeom prst="rect">
            <a:avLst/>
          </a:prstGeom>
          <a:noFill/>
        </p:spPr>
        <p:txBody>
          <a:bodyPr wrap="square">
            <a:spAutoFit/>
          </a:bodyPr>
          <a:lstStyle/>
          <a:p>
            <a:pPr>
              <a:lnSpc>
                <a:spcPct val="107000"/>
              </a:lnSpc>
              <a:spcBef>
                <a:spcPts val="810"/>
              </a:spcBef>
              <a:spcAft>
                <a:spcPts val="800"/>
              </a:spcAft>
            </a:pP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Khi</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sử</a:t>
            </a:r>
            <a:r>
              <a:rPr lang="vi-VN" sz="18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các</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khối</a:t>
            </a:r>
            <a:r>
              <a:rPr lang="vi-VN" sz="18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hàm</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đặc</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biệt</a:t>
            </a:r>
            <a:r>
              <a:rPr lang="vi-VN" sz="18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của</a:t>
            </a:r>
            <a:r>
              <a:rPr lang="vi-VN" sz="18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hệ</a:t>
            </a:r>
            <a:r>
              <a:rPr lang="vi-VN" sz="18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a:t>
            </a:r>
            <a:r>
              <a:rPr lang="vi-VN" sz="1800" spc="8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SFC</a:t>
            </a:r>
            <a:r>
              <a:rPr lang="vi-VN" sz="1800" spc="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hoặc</a:t>
            </a:r>
            <a:r>
              <a:rPr lang="vi-VN" sz="1800" spc="8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cs typeface="Times New Roman" panose="02020603050405020304" pitchFamily="18" charset="0"/>
              </a:rPr>
              <a:t>SFB)</a:t>
            </a:r>
            <a:r>
              <a:rPr lang="vi-VN" sz="1800">
                <a:effectLst/>
                <a:latin typeface="Times New Roman" panose="02020603050405020304" pitchFamily="18" charset="0"/>
                <a:ea typeface="Times New Roman" panose="02020603050405020304" pitchFamily="18" charset="0"/>
              </a:rPr>
              <a:t>,</a:t>
            </a:r>
            <a:r>
              <a:rPr lang="en-US" sz="18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trạng thái làm việc của chương trình cũng được thông báo ra ngoài</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qua bit trạng thái BR như sau:</a:t>
            </a:r>
            <a:endParaRPr lang="en-US"/>
          </a:p>
        </p:txBody>
      </p:sp>
      <p:sp>
        <p:nvSpPr>
          <p:cNvPr id="31" name="TextBox 30">
            <a:extLst>
              <a:ext uri="{FF2B5EF4-FFF2-40B4-BE49-F238E27FC236}">
                <a16:creationId xmlns:a16="http://schemas.microsoft.com/office/drawing/2014/main" id="{0F16133B-626F-416B-9319-FA78A5313D6D}"/>
              </a:ext>
            </a:extLst>
          </p:cNvPr>
          <p:cNvSpPr txBox="1"/>
          <p:nvPr/>
        </p:nvSpPr>
        <p:spPr>
          <a:xfrm>
            <a:off x="457198" y="5984423"/>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BR=1</a:t>
            </a:r>
            <a:r>
              <a:rPr lang="vi-VN" sz="1800" b="1"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SFC hay</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SFB</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thực</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không</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 </a:t>
            </a:r>
            <a:r>
              <a:rPr lang="vi-VN" sz="1800" spc="-20">
                <a:effectLst/>
                <a:latin typeface="Times New Roman" panose="02020603050405020304" pitchFamily="18" charset="0"/>
                <a:ea typeface="Times New Roman" panose="02020603050405020304" pitchFamily="18" charset="0"/>
              </a:rPr>
              <a:t>lỗi</a:t>
            </a:r>
            <a:endParaRPr lang="en-US"/>
          </a:p>
        </p:txBody>
      </p:sp>
      <p:sp>
        <p:nvSpPr>
          <p:cNvPr id="32" name="TextBox 31">
            <a:extLst>
              <a:ext uri="{FF2B5EF4-FFF2-40B4-BE49-F238E27FC236}">
                <a16:creationId xmlns:a16="http://schemas.microsoft.com/office/drawing/2014/main" id="{BB6BB0CA-C660-46C9-99EB-83A610F66A2B}"/>
              </a:ext>
            </a:extLst>
          </p:cNvPr>
          <p:cNvSpPr txBox="1"/>
          <p:nvPr/>
        </p:nvSpPr>
        <p:spPr>
          <a:xfrm>
            <a:off x="5061528" y="5974531"/>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BR=0</a:t>
            </a:r>
            <a:r>
              <a:rPr lang="vi-VN" sz="1800" b="1"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lỗi</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khi</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thực</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SFC</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hay</a:t>
            </a:r>
            <a:r>
              <a:rPr lang="vi-VN" sz="1800" spc="-25">
                <a:effectLst/>
                <a:latin typeface="Times New Roman" panose="02020603050405020304" pitchFamily="18" charset="0"/>
                <a:ea typeface="Times New Roman" panose="02020603050405020304" pitchFamily="18" charset="0"/>
              </a:rPr>
              <a:t> SFB</a:t>
            </a:r>
            <a:endParaRPr lang="en-US"/>
          </a:p>
        </p:txBody>
      </p:sp>
    </p:spTree>
    <p:extLst>
      <p:ext uri="{BB962C8B-B14F-4D97-AF65-F5344CB8AC3E}">
        <p14:creationId xmlns:p14="http://schemas.microsoft.com/office/powerpoint/2010/main" val="98674184"/>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595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396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1. </a:t>
            </a:r>
            <a:r>
              <a:rPr lang="vi-VN" sz="1800" b="1">
                <a:effectLst/>
                <a:latin typeface="Times New Roman" panose="02020603050405020304" pitchFamily="18" charset="0"/>
                <a:ea typeface="Times New Roman" panose="02020603050405020304" pitchFamily="18" charset="0"/>
              </a:rPr>
              <a:t>CÁC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4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LOGIC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TIẾP</a:t>
            </a:r>
            <a:r>
              <a:rPr lang="vi-VN" sz="1800" b="1" spc="4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ĐIỂM</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C736A24-4527-4C0D-BB40-FFD55AF065C4}"/>
              </a:ext>
            </a:extLst>
          </p:cNvPr>
          <p:cNvSpPr txBox="1"/>
          <p:nvPr/>
        </p:nvSpPr>
        <p:spPr>
          <a:xfrm>
            <a:off x="541482" y="1393101"/>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30">
                <a:effectLst/>
                <a:latin typeface="Times New Roman" panose="02020603050405020304" pitchFamily="18" charset="0"/>
                <a:ea typeface="Times New Roman" panose="02020603050405020304" pitchFamily="18" charset="0"/>
              </a:rPr>
              <a:t> </a:t>
            </a:r>
            <a:r>
              <a:rPr lang="vi-VN" sz="1800" b="1" i="1" spc="-20">
                <a:effectLst/>
                <a:latin typeface="Times New Roman" panose="02020603050405020304" pitchFamily="18" charset="0"/>
                <a:ea typeface="Times New Roman" panose="02020603050405020304" pitchFamily="18" charset="0"/>
              </a:rPr>
              <a:t>GÁN</a:t>
            </a:r>
            <a:endParaRPr lang="en-US"/>
          </a:p>
        </p:txBody>
      </p:sp>
      <p:pic>
        <p:nvPicPr>
          <p:cNvPr id="27" name="Picture 26" descr="Shape, rectangle&#10;&#10;Description automatically generated">
            <a:extLst>
              <a:ext uri="{FF2B5EF4-FFF2-40B4-BE49-F238E27FC236}">
                <a16:creationId xmlns:a16="http://schemas.microsoft.com/office/drawing/2014/main" id="{BA33CDA3-EBBC-453D-BA79-EC159C34DE2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334554" y="1768847"/>
            <a:ext cx="4131310" cy="761365"/>
          </a:xfrm>
          <a:prstGeom prst="rect">
            <a:avLst/>
          </a:prstGeom>
          <a:noFill/>
          <a:ln>
            <a:noFill/>
          </a:ln>
        </p:spPr>
      </p:pic>
      <p:sp>
        <p:nvSpPr>
          <p:cNvPr id="28" name="TextBox 27">
            <a:extLst>
              <a:ext uri="{FF2B5EF4-FFF2-40B4-BE49-F238E27FC236}">
                <a16:creationId xmlns:a16="http://schemas.microsoft.com/office/drawing/2014/main" id="{3023D80F-46A4-4AF1-8FF8-5701E46A4C8E}"/>
              </a:ext>
            </a:extLst>
          </p:cNvPr>
          <p:cNvSpPr txBox="1"/>
          <p:nvPr/>
        </p:nvSpPr>
        <p:spPr>
          <a:xfrm>
            <a:off x="472282" y="1982564"/>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sp>
        <p:nvSpPr>
          <p:cNvPr id="33" name="TextBox 32">
            <a:extLst>
              <a:ext uri="{FF2B5EF4-FFF2-40B4-BE49-F238E27FC236}">
                <a16:creationId xmlns:a16="http://schemas.microsoft.com/office/drawing/2014/main" id="{9F6F9D1A-7C0F-4A7C-ABBB-FD1D6DDE4BCC}"/>
              </a:ext>
            </a:extLst>
          </p:cNvPr>
          <p:cNvSpPr txBox="1"/>
          <p:nvPr/>
        </p:nvSpPr>
        <p:spPr>
          <a:xfrm>
            <a:off x="6413428" y="1982564"/>
            <a:ext cx="4599709"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Khi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vào</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I0.0</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lên</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mức</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thì</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Q0.0</a:t>
            </a:r>
            <a:r>
              <a:rPr lang="vi-VN" sz="1800" spc="-10">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ON</a:t>
            </a:r>
            <a:endParaRPr lang="en-US"/>
          </a:p>
        </p:txBody>
      </p:sp>
      <p:sp>
        <p:nvSpPr>
          <p:cNvPr id="34" name="TextBox 33">
            <a:extLst>
              <a:ext uri="{FF2B5EF4-FFF2-40B4-BE49-F238E27FC236}">
                <a16:creationId xmlns:a16="http://schemas.microsoft.com/office/drawing/2014/main" id="{E462F627-0798-44B8-AA00-102EB024B17F}"/>
              </a:ext>
            </a:extLst>
          </p:cNvPr>
          <p:cNvSpPr txBox="1"/>
          <p:nvPr/>
        </p:nvSpPr>
        <p:spPr>
          <a:xfrm>
            <a:off x="541482" y="2572027"/>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25">
                <a:effectLst/>
                <a:latin typeface="Times New Roman" panose="02020603050405020304" pitchFamily="18" charset="0"/>
                <a:ea typeface="Times New Roman" panose="02020603050405020304" pitchFamily="18" charset="0"/>
              </a:rPr>
              <a:t> AND</a:t>
            </a:r>
            <a:endParaRPr lang="en-US"/>
          </a:p>
        </p:txBody>
      </p:sp>
      <p:sp>
        <p:nvSpPr>
          <p:cNvPr id="35" name="TextBox 34">
            <a:extLst>
              <a:ext uri="{FF2B5EF4-FFF2-40B4-BE49-F238E27FC236}">
                <a16:creationId xmlns:a16="http://schemas.microsoft.com/office/drawing/2014/main" id="{9FE450A0-551D-4343-9D5B-31C9E2B0419D}"/>
              </a:ext>
            </a:extLst>
          </p:cNvPr>
          <p:cNvSpPr txBox="1"/>
          <p:nvPr/>
        </p:nvSpPr>
        <p:spPr>
          <a:xfrm>
            <a:off x="472282" y="3166490"/>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pic>
        <p:nvPicPr>
          <p:cNvPr id="36" name="Picture 35">
            <a:extLst>
              <a:ext uri="{FF2B5EF4-FFF2-40B4-BE49-F238E27FC236}">
                <a16:creationId xmlns:a16="http://schemas.microsoft.com/office/drawing/2014/main" id="{D77ED910-DF95-4513-963D-A271634EC7AC}"/>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314711" y="3027045"/>
            <a:ext cx="4161790" cy="767080"/>
          </a:xfrm>
          <a:prstGeom prst="rect">
            <a:avLst/>
          </a:prstGeom>
          <a:noFill/>
          <a:ln>
            <a:noFill/>
          </a:ln>
        </p:spPr>
      </p:pic>
      <p:sp>
        <p:nvSpPr>
          <p:cNvPr id="38" name="TextBox 37">
            <a:extLst>
              <a:ext uri="{FF2B5EF4-FFF2-40B4-BE49-F238E27FC236}">
                <a16:creationId xmlns:a16="http://schemas.microsoft.com/office/drawing/2014/main" id="{0FB60044-0F1C-41F9-9394-3D5B6CE47C83}"/>
              </a:ext>
            </a:extLst>
          </p:cNvPr>
          <p:cNvSpPr txBox="1"/>
          <p:nvPr/>
        </p:nvSpPr>
        <p:spPr>
          <a:xfrm>
            <a:off x="6413428" y="3219722"/>
            <a:ext cx="60960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Khi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I0.0</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I0.1</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đồng</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thời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lên</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mức</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thì</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Q0.0</a:t>
            </a:r>
            <a:r>
              <a:rPr lang="vi-VN" sz="1800" spc="-10">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ON</a:t>
            </a:r>
            <a:endParaRPr lang="en-US"/>
          </a:p>
        </p:txBody>
      </p:sp>
      <p:sp>
        <p:nvSpPr>
          <p:cNvPr id="39" name="TextBox 38">
            <a:extLst>
              <a:ext uri="{FF2B5EF4-FFF2-40B4-BE49-F238E27FC236}">
                <a16:creationId xmlns:a16="http://schemas.microsoft.com/office/drawing/2014/main" id="{D66FC1B1-84F0-4434-92DF-BC7CF03DDA7A}"/>
              </a:ext>
            </a:extLst>
          </p:cNvPr>
          <p:cNvSpPr txBox="1"/>
          <p:nvPr/>
        </p:nvSpPr>
        <p:spPr>
          <a:xfrm>
            <a:off x="541482" y="3896809"/>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25">
                <a:effectLst/>
                <a:latin typeface="Times New Roman" panose="02020603050405020304" pitchFamily="18" charset="0"/>
                <a:ea typeface="Times New Roman" panose="02020603050405020304" pitchFamily="18" charset="0"/>
              </a:rPr>
              <a:t> </a:t>
            </a:r>
            <a:r>
              <a:rPr lang="en-US" b="1" i="1" spc="-25">
                <a:latin typeface="Times New Roman" panose="02020603050405020304" pitchFamily="18" charset="0"/>
                <a:ea typeface="Times New Roman" panose="02020603050405020304" pitchFamily="18" charset="0"/>
              </a:rPr>
              <a:t>OR</a:t>
            </a:r>
            <a:endParaRPr lang="en-US"/>
          </a:p>
        </p:txBody>
      </p:sp>
      <p:sp>
        <p:nvSpPr>
          <p:cNvPr id="40" name="TextBox 39">
            <a:extLst>
              <a:ext uri="{FF2B5EF4-FFF2-40B4-BE49-F238E27FC236}">
                <a16:creationId xmlns:a16="http://schemas.microsoft.com/office/drawing/2014/main" id="{0ED58244-F90D-419E-A4C7-D6055C282C59}"/>
              </a:ext>
            </a:extLst>
          </p:cNvPr>
          <p:cNvSpPr txBox="1"/>
          <p:nvPr/>
        </p:nvSpPr>
        <p:spPr>
          <a:xfrm>
            <a:off x="472282" y="4658664"/>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sp>
        <p:nvSpPr>
          <p:cNvPr id="43" name="TextBox 42">
            <a:extLst>
              <a:ext uri="{FF2B5EF4-FFF2-40B4-BE49-F238E27FC236}">
                <a16:creationId xmlns:a16="http://schemas.microsoft.com/office/drawing/2014/main" id="{22F75CEF-8709-4978-99E5-059A760FDE53}"/>
              </a:ext>
            </a:extLst>
          </p:cNvPr>
          <p:cNvSpPr txBox="1"/>
          <p:nvPr/>
        </p:nvSpPr>
        <p:spPr>
          <a:xfrm>
            <a:off x="6413428" y="4747115"/>
            <a:ext cx="5118172" cy="646331"/>
          </a:xfrm>
          <a:prstGeom prst="rect">
            <a:avLst/>
          </a:prstGeom>
          <a:noFill/>
        </p:spPr>
        <p:txBody>
          <a:bodyPr wrap="square">
            <a:spAutoFit/>
          </a:bodyPr>
          <a:lstStyle/>
          <a:p>
            <a:r>
              <a:rPr lang="vi-VN" sz="1800" dirty="0">
                <a:effectLst/>
                <a:latin typeface="Times New Roman" panose="02020603050405020304" pitchFamily="18" charset="0"/>
                <a:ea typeface="Times New Roman" panose="02020603050405020304" pitchFamily="18" charset="0"/>
              </a:rPr>
              <a:t>Khi 1</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trong</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2</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ngõ</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vào</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I0.0</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hoặc</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I0.1 lên</a:t>
            </a:r>
            <a:r>
              <a:rPr lang="vi-VN" sz="1800" spc="10"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mức</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1</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thì</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ngõ</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ra</a:t>
            </a:r>
            <a:r>
              <a:rPr lang="vi-VN" sz="1800" spc="-5" dirty="0">
                <a:effectLst/>
                <a:latin typeface="Times New Roman" panose="02020603050405020304" pitchFamily="18" charset="0"/>
                <a:ea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rPr>
              <a:t>Q0.0 </a:t>
            </a:r>
            <a:r>
              <a:rPr lang="vi-VN" sz="1800" spc="-25" dirty="0">
                <a:effectLst/>
                <a:latin typeface="Times New Roman" panose="02020603050405020304" pitchFamily="18" charset="0"/>
                <a:ea typeface="Times New Roman" panose="02020603050405020304" pitchFamily="18" charset="0"/>
              </a:rPr>
              <a:t>ON</a:t>
            </a:r>
            <a:endParaRPr lang="en-US" dirty="0"/>
          </a:p>
        </p:txBody>
      </p:sp>
      <p:pic>
        <p:nvPicPr>
          <p:cNvPr id="45" name="Picture 44">
            <a:extLst>
              <a:ext uri="{FF2B5EF4-FFF2-40B4-BE49-F238E27FC236}">
                <a16:creationId xmlns:a16="http://schemas.microsoft.com/office/drawing/2014/main" id="{39AB2594-06A9-4D2A-8706-99AB0B18D397}"/>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1314711" y="4329865"/>
            <a:ext cx="4163695" cy="1320165"/>
          </a:xfrm>
          <a:prstGeom prst="rect">
            <a:avLst/>
          </a:prstGeom>
          <a:noFill/>
          <a:ln>
            <a:noFill/>
          </a:ln>
        </p:spPr>
      </p:pic>
    </p:spTree>
    <p:extLst>
      <p:ext uri="{BB962C8B-B14F-4D97-AF65-F5344CB8AC3E}">
        <p14:creationId xmlns:p14="http://schemas.microsoft.com/office/powerpoint/2010/main" val="1248847513"/>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619458"/>
            <a:ext cx="8224837" cy="238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396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1. </a:t>
            </a:r>
            <a:r>
              <a:rPr lang="vi-VN" sz="1800" b="1">
                <a:effectLst/>
                <a:latin typeface="Times New Roman" panose="02020603050405020304" pitchFamily="18" charset="0"/>
                <a:ea typeface="Times New Roman" panose="02020603050405020304" pitchFamily="18" charset="0"/>
              </a:rPr>
              <a:t>CÁC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4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LOGIC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TIẾP</a:t>
            </a:r>
            <a:r>
              <a:rPr lang="vi-VN" sz="1800" b="1" spc="4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ĐIỂM</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C736A24-4527-4C0D-BB40-FFD55AF065C4}"/>
              </a:ext>
            </a:extLst>
          </p:cNvPr>
          <p:cNvSpPr txBox="1"/>
          <p:nvPr/>
        </p:nvSpPr>
        <p:spPr>
          <a:xfrm>
            <a:off x="541482" y="1266101"/>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AND </a:t>
            </a:r>
            <a:r>
              <a:rPr lang="vi-VN" sz="1800" b="1" i="1" spc="-25">
                <a:effectLst/>
                <a:latin typeface="Times New Roman" panose="02020603050405020304" pitchFamily="18" charset="0"/>
                <a:ea typeface="Times New Roman" panose="02020603050405020304" pitchFamily="18" charset="0"/>
              </a:rPr>
              <a:t>NOT</a:t>
            </a:r>
            <a:endParaRPr lang="en-US"/>
          </a:p>
        </p:txBody>
      </p:sp>
      <p:sp>
        <p:nvSpPr>
          <p:cNvPr id="28" name="TextBox 27">
            <a:extLst>
              <a:ext uri="{FF2B5EF4-FFF2-40B4-BE49-F238E27FC236}">
                <a16:creationId xmlns:a16="http://schemas.microsoft.com/office/drawing/2014/main" id="{3023D80F-46A4-4AF1-8FF8-5701E46A4C8E}"/>
              </a:ext>
            </a:extLst>
          </p:cNvPr>
          <p:cNvSpPr txBox="1"/>
          <p:nvPr/>
        </p:nvSpPr>
        <p:spPr>
          <a:xfrm>
            <a:off x="472282" y="1855564"/>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sp>
        <p:nvSpPr>
          <p:cNvPr id="33" name="TextBox 32">
            <a:extLst>
              <a:ext uri="{FF2B5EF4-FFF2-40B4-BE49-F238E27FC236}">
                <a16:creationId xmlns:a16="http://schemas.microsoft.com/office/drawing/2014/main" id="{9F6F9D1A-7C0F-4A7C-ABBB-FD1D6DDE4BCC}"/>
              </a:ext>
            </a:extLst>
          </p:cNvPr>
          <p:cNvSpPr txBox="1"/>
          <p:nvPr/>
        </p:nvSpPr>
        <p:spPr>
          <a:xfrm>
            <a:off x="6413428" y="1855564"/>
            <a:ext cx="4599709"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Khi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vào</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I0.0</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lên</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mức</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thì</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Q0.0</a:t>
            </a:r>
            <a:r>
              <a:rPr lang="vi-VN" sz="1800" spc="-10">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ON</a:t>
            </a:r>
            <a:endParaRPr lang="en-US"/>
          </a:p>
        </p:txBody>
      </p:sp>
      <p:pic>
        <p:nvPicPr>
          <p:cNvPr id="25" name="Picture 24">
            <a:extLst>
              <a:ext uri="{FF2B5EF4-FFF2-40B4-BE49-F238E27FC236}">
                <a16:creationId xmlns:a16="http://schemas.microsoft.com/office/drawing/2014/main" id="{F783D0E4-EC72-41ED-A21E-781B234D6124}"/>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277302" y="1659547"/>
            <a:ext cx="4131945" cy="761365"/>
          </a:xfrm>
          <a:prstGeom prst="rect">
            <a:avLst/>
          </a:prstGeom>
          <a:noFill/>
          <a:ln>
            <a:noFill/>
          </a:ln>
        </p:spPr>
      </p:pic>
      <p:sp>
        <p:nvSpPr>
          <p:cNvPr id="26" name="TextBox 25">
            <a:extLst>
              <a:ext uri="{FF2B5EF4-FFF2-40B4-BE49-F238E27FC236}">
                <a16:creationId xmlns:a16="http://schemas.microsoft.com/office/drawing/2014/main" id="{3BFDF0CB-239E-46D9-8CBE-3B1E01A7EFC2}"/>
              </a:ext>
            </a:extLst>
          </p:cNvPr>
          <p:cNvSpPr txBox="1"/>
          <p:nvPr/>
        </p:nvSpPr>
        <p:spPr>
          <a:xfrm>
            <a:off x="541482" y="2527411"/>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OR</a:t>
            </a:r>
            <a:r>
              <a:rPr lang="vi-VN" sz="1800" b="1" i="1" spc="-30">
                <a:effectLst/>
                <a:latin typeface="Times New Roman" panose="02020603050405020304" pitchFamily="18" charset="0"/>
                <a:ea typeface="Times New Roman" panose="02020603050405020304" pitchFamily="18" charset="0"/>
              </a:rPr>
              <a:t> </a:t>
            </a:r>
            <a:r>
              <a:rPr lang="vi-VN" sz="1800" b="1" i="1" spc="-25">
                <a:effectLst/>
                <a:latin typeface="Times New Roman" panose="02020603050405020304" pitchFamily="18" charset="0"/>
                <a:ea typeface="Times New Roman" panose="02020603050405020304" pitchFamily="18" charset="0"/>
              </a:rPr>
              <a:t>NOT</a:t>
            </a:r>
            <a:endParaRPr lang="en-US"/>
          </a:p>
        </p:txBody>
      </p:sp>
      <p:sp>
        <p:nvSpPr>
          <p:cNvPr id="29" name="TextBox 28">
            <a:extLst>
              <a:ext uri="{FF2B5EF4-FFF2-40B4-BE49-F238E27FC236}">
                <a16:creationId xmlns:a16="http://schemas.microsoft.com/office/drawing/2014/main" id="{BCB8ED14-4AA6-4B38-811D-3CF1F8D6524F}"/>
              </a:ext>
            </a:extLst>
          </p:cNvPr>
          <p:cNvSpPr txBox="1"/>
          <p:nvPr/>
        </p:nvSpPr>
        <p:spPr>
          <a:xfrm>
            <a:off x="472282" y="3374775"/>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pic>
        <p:nvPicPr>
          <p:cNvPr id="30" name="Picture 29">
            <a:extLst>
              <a:ext uri="{FF2B5EF4-FFF2-40B4-BE49-F238E27FC236}">
                <a16:creationId xmlns:a16="http://schemas.microsoft.com/office/drawing/2014/main" id="{B3F1B9F9-C2DD-463E-B65B-26ADB7BB143E}"/>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277302" y="3010010"/>
            <a:ext cx="4131945" cy="1322077"/>
          </a:xfrm>
          <a:prstGeom prst="rect">
            <a:avLst/>
          </a:prstGeom>
          <a:noFill/>
          <a:ln>
            <a:noFill/>
          </a:ln>
        </p:spPr>
      </p:pic>
      <p:sp>
        <p:nvSpPr>
          <p:cNvPr id="41" name="TextBox 40">
            <a:extLst>
              <a:ext uri="{FF2B5EF4-FFF2-40B4-BE49-F238E27FC236}">
                <a16:creationId xmlns:a16="http://schemas.microsoft.com/office/drawing/2014/main" id="{D54EC829-508F-408D-BEEA-28A60D8F4FF1}"/>
              </a:ext>
            </a:extLst>
          </p:cNvPr>
          <p:cNvSpPr txBox="1"/>
          <p:nvPr/>
        </p:nvSpPr>
        <p:spPr>
          <a:xfrm>
            <a:off x="6413428" y="3427537"/>
            <a:ext cx="4599709"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Khi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I0.0</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mức</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hay</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I0.1</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mức 0</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thì</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Q0.0</a:t>
            </a:r>
            <a:r>
              <a:rPr lang="vi-VN" sz="1800" spc="-5">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ON</a:t>
            </a:r>
            <a:endParaRPr lang="en-US"/>
          </a:p>
        </p:txBody>
      </p:sp>
      <p:sp>
        <p:nvSpPr>
          <p:cNvPr id="44" name="TextBox 43">
            <a:extLst>
              <a:ext uri="{FF2B5EF4-FFF2-40B4-BE49-F238E27FC236}">
                <a16:creationId xmlns:a16="http://schemas.microsoft.com/office/drawing/2014/main" id="{7A54222C-4200-4875-8370-F778E0EAE79C}"/>
              </a:ext>
            </a:extLst>
          </p:cNvPr>
          <p:cNvSpPr txBox="1"/>
          <p:nvPr/>
        </p:nvSpPr>
        <p:spPr>
          <a:xfrm>
            <a:off x="541482" y="4452437"/>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2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GÁN</a:t>
            </a:r>
            <a:r>
              <a:rPr lang="vi-VN" sz="1800" b="1" i="1" spc="2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có</a:t>
            </a:r>
            <a:r>
              <a:rPr lang="vi-VN" sz="1800" b="1" i="1" spc="2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điều</a:t>
            </a:r>
            <a:r>
              <a:rPr lang="vi-VN" sz="1800" b="1" i="1" spc="25">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kiện</a:t>
            </a:r>
            <a:endParaRPr lang="en-US"/>
          </a:p>
        </p:txBody>
      </p:sp>
      <p:sp>
        <p:nvSpPr>
          <p:cNvPr id="46" name="TextBox 45">
            <a:extLst>
              <a:ext uri="{FF2B5EF4-FFF2-40B4-BE49-F238E27FC236}">
                <a16:creationId xmlns:a16="http://schemas.microsoft.com/office/drawing/2014/main" id="{110A8B0D-B45A-4476-A406-778ED9B53D3D}"/>
              </a:ext>
            </a:extLst>
          </p:cNvPr>
          <p:cNvSpPr txBox="1"/>
          <p:nvPr/>
        </p:nvSpPr>
        <p:spPr>
          <a:xfrm>
            <a:off x="762000" y="4780289"/>
            <a:ext cx="60960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gán</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giá</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en-US" sz="1800">
                <a:effectLst/>
                <a:latin typeface="Times New Roman" panose="02020603050405020304" pitchFamily="18" charset="0"/>
                <a:ea typeface="Times New Roman" panose="02020603050405020304" pitchFamily="18" charset="0"/>
              </a:rPr>
              <a:t> 1</a:t>
            </a:r>
            <a:endParaRPr lang="en-US"/>
          </a:p>
        </p:txBody>
      </p:sp>
      <p:sp>
        <p:nvSpPr>
          <p:cNvPr id="47" name="TextBox 46">
            <a:extLst>
              <a:ext uri="{FF2B5EF4-FFF2-40B4-BE49-F238E27FC236}">
                <a16:creationId xmlns:a16="http://schemas.microsoft.com/office/drawing/2014/main" id="{9E573527-C836-42BA-B0FB-76868800437A}"/>
              </a:ext>
            </a:extLst>
          </p:cNvPr>
          <p:cNvSpPr txBox="1"/>
          <p:nvPr/>
        </p:nvSpPr>
        <p:spPr>
          <a:xfrm>
            <a:off x="472282" y="5427569"/>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pic>
        <p:nvPicPr>
          <p:cNvPr id="48" name="Picture 47">
            <a:extLst>
              <a:ext uri="{FF2B5EF4-FFF2-40B4-BE49-F238E27FC236}">
                <a16:creationId xmlns:a16="http://schemas.microsoft.com/office/drawing/2014/main" id="{4813FC2D-D4D3-46EC-967B-358F97F704ED}"/>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1281430" y="5282863"/>
            <a:ext cx="4225290" cy="778510"/>
          </a:xfrm>
          <a:prstGeom prst="rect">
            <a:avLst/>
          </a:prstGeom>
          <a:noFill/>
          <a:ln>
            <a:noFill/>
          </a:ln>
        </p:spPr>
      </p:pic>
      <p:sp>
        <p:nvSpPr>
          <p:cNvPr id="51" name="TextBox 50">
            <a:extLst>
              <a:ext uri="{FF2B5EF4-FFF2-40B4-BE49-F238E27FC236}">
                <a16:creationId xmlns:a16="http://schemas.microsoft.com/office/drawing/2014/main" id="{28EF135A-CE38-4C9B-BE2F-125C6A73B5FA}"/>
              </a:ext>
            </a:extLst>
          </p:cNvPr>
          <p:cNvSpPr txBox="1"/>
          <p:nvPr/>
        </p:nvSpPr>
        <p:spPr>
          <a:xfrm>
            <a:off x="6413428" y="4780289"/>
            <a:ext cx="60960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gán</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giá</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0</a:t>
            </a:r>
            <a:endParaRPr lang="en-US"/>
          </a:p>
        </p:txBody>
      </p:sp>
      <p:sp>
        <p:nvSpPr>
          <p:cNvPr id="52" name="TextBox 51">
            <a:extLst>
              <a:ext uri="{FF2B5EF4-FFF2-40B4-BE49-F238E27FC236}">
                <a16:creationId xmlns:a16="http://schemas.microsoft.com/office/drawing/2014/main" id="{FD42F147-F7A9-4F5F-9BA2-B5918F2C1A68}"/>
              </a:ext>
            </a:extLst>
          </p:cNvPr>
          <p:cNvSpPr txBox="1"/>
          <p:nvPr/>
        </p:nvSpPr>
        <p:spPr>
          <a:xfrm>
            <a:off x="6262110" y="5427569"/>
            <a:ext cx="13023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pic>
        <p:nvPicPr>
          <p:cNvPr id="53" name="Picture 52">
            <a:extLst>
              <a:ext uri="{FF2B5EF4-FFF2-40B4-BE49-F238E27FC236}">
                <a16:creationId xmlns:a16="http://schemas.microsoft.com/office/drawing/2014/main" id="{A5BD7B34-B158-4F6E-8B09-EA8DC9FBBDF0}"/>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7118350" y="5228058"/>
            <a:ext cx="4127500" cy="762000"/>
          </a:xfrm>
          <a:prstGeom prst="rect">
            <a:avLst/>
          </a:prstGeom>
          <a:noFill/>
          <a:ln>
            <a:noFill/>
          </a:ln>
        </p:spPr>
      </p:pic>
    </p:spTree>
    <p:extLst>
      <p:ext uri="{BB962C8B-B14F-4D97-AF65-F5344CB8AC3E}">
        <p14:creationId xmlns:p14="http://schemas.microsoft.com/office/powerpoint/2010/main" val="4058010035"/>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1. </a:t>
            </a:r>
            <a:r>
              <a:rPr lang="vi-VN" sz="1800" b="1">
                <a:effectLst/>
                <a:latin typeface="Times New Roman" panose="02020603050405020304" pitchFamily="18" charset="0"/>
                <a:ea typeface="Times New Roman" panose="02020603050405020304" pitchFamily="18" charset="0"/>
              </a:rPr>
              <a:t>NHÓM</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SO</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SÁNH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a:t>
            </a:r>
            <a:r>
              <a:rPr lang="vi-VN" sz="1800" b="1" spc="-10">
                <a:effectLst/>
                <a:latin typeface="Times New Roman" panose="02020603050405020304" pitchFamily="18" charset="0"/>
                <a:ea typeface="Times New Roman" panose="02020603050405020304" pitchFamily="18" charset="0"/>
              </a:rPr>
              <a:t>Ớ</a:t>
            </a:r>
            <a:r>
              <a:rPr lang="vi-VN" sz="1800" b="1">
                <a:effectLst/>
                <a:latin typeface="Times New Roman" panose="02020603050405020304" pitchFamily="18" charset="0"/>
                <a:ea typeface="Times New Roman" panose="02020603050405020304" pitchFamily="18" charset="0"/>
              </a:rPr>
              <a:t>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SỐ</a:t>
            </a:r>
            <a:r>
              <a:rPr lang="vi-VN" sz="1800" b="1" spc="1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NGUYÊN</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SỐ</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THỰC</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28FF09BC-522E-4D74-A8CA-71E8352E1FA1}"/>
              </a:ext>
            </a:extLst>
          </p:cNvPr>
          <p:cNvSpPr txBox="1"/>
          <p:nvPr/>
        </p:nvSpPr>
        <p:spPr>
          <a:xfrm>
            <a:off x="673100" y="1217790"/>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So sánh</a:t>
            </a:r>
            <a:r>
              <a:rPr lang="vi-VN" sz="1800" b="1" i="1" spc="5">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bằng</a:t>
            </a:r>
            <a:endParaRPr lang="en-US"/>
          </a:p>
        </p:txBody>
      </p:sp>
      <p:sp>
        <p:nvSpPr>
          <p:cNvPr id="34" name="TextBox 33">
            <a:extLst>
              <a:ext uri="{FF2B5EF4-FFF2-40B4-BE49-F238E27FC236}">
                <a16:creationId xmlns:a16="http://schemas.microsoft.com/office/drawing/2014/main" id="{92DA1DC8-5889-4B11-B759-28CDE517ED38}"/>
              </a:ext>
            </a:extLst>
          </p:cNvPr>
          <p:cNvSpPr txBox="1"/>
          <p:nvPr/>
        </p:nvSpPr>
        <p:spPr>
          <a:xfrm>
            <a:off x="1506538" y="2004872"/>
            <a:ext cx="9144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pic>
        <p:nvPicPr>
          <p:cNvPr id="35" name="Picture 34">
            <a:extLst>
              <a:ext uri="{FF2B5EF4-FFF2-40B4-BE49-F238E27FC236}">
                <a16:creationId xmlns:a16="http://schemas.microsoft.com/office/drawing/2014/main" id="{84DAD503-ECF6-485D-B610-C2867437C1B1}"/>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319020" y="1377056"/>
            <a:ext cx="4450080" cy="1624965"/>
          </a:xfrm>
          <a:prstGeom prst="rect">
            <a:avLst/>
          </a:prstGeom>
          <a:noFill/>
          <a:ln>
            <a:noFill/>
          </a:ln>
        </p:spPr>
      </p:pic>
      <p:sp>
        <p:nvSpPr>
          <p:cNvPr id="36" name="TextBox 35">
            <a:extLst>
              <a:ext uri="{FF2B5EF4-FFF2-40B4-BE49-F238E27FC236}">
                <a16:creationId xmlns:a16="http://schemas.microsoft.com/office/drawing/2014/main" id="{651F8D55-4CA1-4AA4-8174-6D8B2B4250B9}"/>
              </a:ext>
            </a:extLst>
          </p:cNvPr>
          <p:cNvSpPr txBox="1"/>
          <p:nvPr/>
        </p:nvSpPr>
        <p:spPr>
          <a:xfrm>
            <a:off x="6985002" y="1588866"/>
            <a:ext cx="4909820" cy="773032"/>
          </a:xfrm>
          <a:prstGeom prst="rect">
            <a:avLst/>
          </a:prstGeom>
          <a:noFill/>
        </p:spPr>
        <p:txBody>
          <a:bodyPr wrap="square">
            <a:spAutoFit/>
          </a:bodyPr>
          <a:lstStyle/>
          <a:p>
            <a:pPr>
              <a:lnSpc>
                <a:spcPct val="107000"/>
              </a:lnSpc>
              <a:spcBef>
                <a:spcPts val="745"/>
              </a:spcBef>
              <a:spcAft>
                <a:spcPts val="800"/>
              </a:spcAft>
            </a:pP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(KQ</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là</a:t>
            </a:r>
            <a:r>
              <a:rPr lang="vi-VN"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kết</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quả</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thu</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sau</a:t>
            </a:r>
            <a:r>
              <a:rPr lang="vi-VN"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phép</a:t>
            </a:r>
            <a:r>
              <a:rPr lang="vi-VN" sz="1800" spc="-20" dirty="0">
                <a:effectLst/>
                <a:latin typeface="Times New Roman" panose="02020603050405020304" pitchFamily="18" charset="0"/>
                <a:ea typeface="Times New Roman" panose="02020603050405020304" pitchFamily="18" charset="0"/>
                <a:cs typeface="Times New Roman" panose="02020603050405020304" pitchFamily="18" charset="0"/>
              </a:rPr>
              <a:t> tính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KT</a:t>
            </a:r>
            <a:r>
              <a:rPr lang="vi-VN" sz="18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là</a:t>
            </a:r>
            <a:r>
              <a:rPr lang="vi-VN" sz="18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kết</a:t>
            </a:r>
            <a:r>
              <a:rPr lang="vi-VN" sz="18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quả</a:t>
            </a:r>
            <a:r>
              <a:rPr lang="vi-VN" sz="18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trước</a:t>
            </a:r>
            <a:r>
              <a:rPr lang="vi-VN" sz="18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phép </a:t>
            </a:r>
            <a:r>
              <a:rPr lang="vi-VN" sz="1800" spc="-10" dirty="0">
                <a:effectLst/>
                <a:latin typeface="Times New Roman" panose="02020603050405020304" pitchFamily="18" charset="0"/>
                <a:ea typeface="Times New Roman" panose="02020603050405020304" pitchFamily="18" charset="0"/>
                <a:cs typeface="Times New Roman" panose="02020603050405020304" pitchFamily="18" charset="0"/>
              </a:rPr>
              <a:t>tính</a:t>
            </a:r>
            <a:r>
              <a:rPr lang="vi-VN" sz="1800" b="1" spc="-1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326A79D-327A-4BB6-A4BF-FF00D3DA3234}"/>
              </a:ext>
            </a:extLst>
          </p:cNvPr>
          <p:cNvSpPr txBox="1"/>
          <p:nvPr/>
        </p:nvSpPr>
        <p:spPr>
          <a:xfrm>
            <a:off x="457198" y="3493168"/>
            <a:ext cx="5295902" cy="923330"/>
          </a:xfrm>
          <a:prstGeom prst="rect">
            <a:avLst/>
          </a:prstGeom>
          <a:noFill/>
        </p:spPr>
        <p:txBody>
          <a:bodyPr wrap="square" rtlCol="0">
            <a:spAutoFit/>
          </a:bodyPr>
          <a:lstStyle/>
          <a:p>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Lệnh</a:t>
            </a:r>
            <a:r>
              <a:rPr lang="en-US">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EQ_I</a:t>
            </a:r>
            <a:r>
              <a:rPr lang="en-US">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(Equal Integer): So sánh MW100 và MW102, nếu 2 số nguyên</a:t>
            </a:r>
            <a:r>
              <a:rPr lang="vi-VN" sz="1800" spc="19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này</a:t>
            </a:r>
            <a:r>
              <a:rPr lang="vi-VN" sz="1800" spc="20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bằng</a:t>
            </a:r>
            <a:r>
              <a:rPr lang="vi-VN" sz="1800" spc="19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nhau</a:t>
            </a:r>
            <a:r>
              <a:rPr lang="vi-VN" sz="1800" spc="20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cs typeface="Times New Roman" panose="02020603050405020304" pitchFamily="18" charset="0"/>
              </a:rPr>
              <a:t>thì</a:t>
            </a:r>
            <a:r>
              <a:rPr lang="en-US" sz="1400">
                <a:latin typeface="Calibri" panose="020F0502020204030204" pitchFamily="34" charset="0"/>
                <a:ea typeface="Times New Roman" panose="02020603050405020304" pitchFamily="18" charset="0"/>
                <a:cs typeface="Times New Roman" panose="02020603050405020304" pitchFamily="18" charset="0"/>
              </a:rPr>
              <a:t> </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KQ=KT.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pic>
        <p:nvPicPr>
          <p:cNvPr id="40" name="Picture 39" descr="Diagram&#10;&#10;Description automatically generated">
            <a:extLst>
              <a:ext uri="{FF2B5EF4-FFF2-40B4-BE49-F238E27FC236}">
                <a16:creationId xmlns:a16="http://schemas.microsoft.com/office/drawing/2014/main" id="{F1EDEEFA-2256-4773-9463-AA0C71C7557E}"/>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797735" y="4212643"/>
            <a:ext cx="4078029" cy="1951276"/>
          </a:xfrm>
          <a:prstGeom prst="rect">
            <a:avLst/>
          </a:prstGeom>
          <a:noFill/>
          <a:ln>
            <a:noFill/>
          </a:ln>
        </p:spPr>
      </p:pic>
      <p:sp>
        <p:nvSpPr>
          <p:cNvPr id="42" name="TextBox 41">
            <a:extLst>
              <a:ext uri="{FF2B5EF4-FFF2-40B4-BE49-F238E27FC236}">
                <a16:creationId xmlns:a16="http://schemas.microsoft.com/office/drawing/2014/main" id="{AD42E1A8-0BA2-4921-91AE-865AEA56B889}"/>
              </a:ext>
            </a:extLst>
          </p:cNvPr>
          <p:cNvSpPr txBox="1"/>
          <p:nvPr/>
        </p:nvSpPr>
        <p:spPr>
          <a:xfrm>
            <a:off x="6096000" y="3511833"/>
            <a:ext cx="5295902" cy="646331"/>
          </a:xfrm>
          <a:prstGeom prst="rect">
            <a:avLst/>
          </a:prstGeom>
          <a:noFill/>
        </p:spPr>
        <p:txBody>
          <a:bodyPr wrap="square">
            <a:spAutoFit/>
          </a:bodyPr>
          <a:lstStyle/>
          <a:p>
            <a:r>
              <a:rPr lang="vi-VN" sz="1800" i="1">
                <a:effectLst/>
                <a:latin typeface="Times New Roman" panose="02020603050405020304" pitchFamily="18" charset="0"/>
                <a:ea typeface="Times New Roman" panose="02020603050405020304" pitchFamily="18" charset="0"/>
              </a:rPr>
              <a:t>Lệnh NE_I </a:t>
            </a:r>
            <a:r>
              <a:rPr lang="vi-VN" sz="1800">
                <a:effectLst/>
                <a:latin typeface="Times New Roman" panose="02020603050405020304" pitchFamily="18" charset="0"/>
                <a:ea typeface="Times New Roman" panose="02020603050405020304" pitchFamily="18" charset="0"/>
              </a:rPr>
              <a:t>( Not Equal Integer)</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 So sánh MW100 và</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MW102,</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2</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này khác nhau thì KQ=KT.</a:t>
            </a:r>
            <a:endParaRPr lang="en-US"/>
          </a:p>
        </p:txBody>
      </p:sp>
      <p:sp>
        <p:nvSpPr>
          <p:cNvPr id="43" name="TextBox 42">
            <a:extLst>
              <a:ext uri="{FF2B5EF4-FFF2-40B4-BE49-F238E27FC236}">
                <a16:creationId xmlns:a16="http://schemas.microsoft.com/office/drawing/2014/main" id="{FA75BF54-0779-4510-9978-44F4E47A9449}"/>
              </a:ext>
            </a:extLst>
          </p:cNvPr>
          <p:cNvSpPr txBox="1"/>
          <p:nvPr/>
        </p:nvSpPr>
        <p:spPr>
          <a:xfrm>
            <a:off x="5994400" y="3214006"/>
            <a:ext cx="6096000" cy="374077"/>
          </a:xfrm>
          <a:prstGeom prst="rect">
            <a:avLst/>
          </a:prstGeom>
          <a:noFill/>
        </p:spPr>
        <p:txBody>
          <a:bodyPr wrap="square">
            <a:spAutoFit/>
          </a:bodyPr>
          <a:lstStyle/>
          <a:p>
            <a:pPr marL="89535">
              <a:lnSpc>
                <a:spcPct val="107000"/>
              </a:lnSpc>
              <a:spcBef>
                <a:spcPts val="840"/>
              </a:spcBef>
              <a:spcAft>
                <a:spcPts val="800"/>
              </a:spcAft>
            </a:pPr>
            <a:r>
              <a:rPr lang="vi-VN" sz="1800" b="1" i="1" dirty="0">
                <a:effectLst/>
                <a:latin typeface="Times New Roman" panose="02020603050405020304" pitchFamily="18" charset="0"/>
                <a:ea typeface="Times New Roman" panose="02020603050405020304" pitchFamily="18" charset="0"/>
                <a:cs typeface="Times New Roman" panose="02020603050405020304" pitchFamily="18" charset="0"/>
              </a:rPr>
              <a:t>So sánh</a:t>
            </a:r>
            <a:r>
              <a:rPr lang="vi-VN" sz="1800" b="1" i="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b="1" i="1" spc="-10" dirty="0">
                <a:effectLst/>
                <a:latin typeface="Times New Roman" panose="02020603050405020304" pitchFamily="18" charset="0"/>
                <a:ea typeface="Times New Roman" panose="02020603050405020304" pitchFamily="18" charset="0"/>
                <a:cs typeface="Times New Roman" panose="02020603050405020304" pitchFamily="18" charset="0"/>
              </a:rPr>
              <a:t>khác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0" name="Picture 49">
            <a:extLst>
              <a:ext uri="{FF2B5EF4-FFF2-40B4-BE49-F238E27FC236}">
                <a16:creationId xmlns:a16="http://schemas.microsoft.com/office/drawing/2014/main" id="{A57FB284-6D96-4C65-91C1-661F06671685}"/>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6811210" y="4212643"/>
            <a:ext cx="3865481" cy="2013387"/>
          </a:xfrm>
          <a:prstGeom prst="rect">
            <a:avLst/>
          </a:prstGeom>
          <a:noFill/>
          <a:ln>
            <a:noFill/>
          </a:ln>
        </p:spPr>
      </p:pic>
    </p:spTree>
    <p:extLst>
      <p:ext uri="{BB962C8B-B14F-4D97-AF65-F5344CB8AC3E}">
        <p14:creationId xmlns:p14="http://schemas.microsoft.com/office/powerpoint/2010/main" val="4181999237"/>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2. </a:t>
            </a:r>
            <a:r>
              <a:rPr lang="vi-VN" sz="1800" b="1">
                <a:effectLst/>
                <a:latin typeface="Times New Roman" panose="02020603050405020304" pitchFamily="18" charset="0"/>
                <a:ea typeface="Times New Roman" panose="02020603050405020304" pitchFamily="18" charset="0"/>
              </a:rPr>
              <a:t>CÁC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TOÁN</a:t>
            </a:r>
            <a:r>
              <a:rPr lang="vi-VN" sz="1800" b="1" spc="45">
                <a:effectLst/>
                <a:latin typeface="Times New Roman" panose="02020603050405020304" pitchFamily="18" charset="0"/>
                <a:ea typeface="Times New Roman" panose="02020603050405020304" pitchFamily="18" charset="0"/>
              </a:rPr>
              <a:t> </a:t>
            </a:r>
            <a:r>
              <a:rPr lang="vi-VN" sz="1800" b="1" spc="-20">
                <a:effectLst/>
                <a:latin typeface="Times New Roman" panose="02020603050405020304" pitchFamily="18" charset="0"/>
                <a:ea typeface="Times New Roman" panose="02020603050405020304" pitchFamily="18" charset="0"/>
              </a:rPr>
              <a:t>HỌC</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253610"/>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cộng</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số</a:t>
            </a:r>
            <a:r>
              <a:rPr lang="vi-VN" sz="1800" b="1" i="1" spc="-55">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nguyên</a:t>
            </a:r>
            <a:endParaRPr lang="en-US"/>
          </a:p>
        </p:txBody>
      </p:sp>
      <p:grpSp>
        <p:nvGrpSpPr>
          <p:cNvPr id="3" name="Group 2">
            <a:extLst>
              <a:ext uri="{FF2B5EF4-FFF2-40B4-BE49-F238E27FC236}">
                <a16:creationId xmlns:a16="http://schemas.microsoft.com/office/drawing/2014/main" id="{9494AD0C-4867-4DD5-BE33-32B73AA9DFAB}"/>
              </a:ext>
            </a:extLst>
          </p:cNvPr>
          <p:cNvGrpSpPr/>
          <p:nvPr/>
        </p:nvGrpSpPr>
        <p:grpSpPr>
          <a:xfrm>
            <a:off x="4133993" y="1345307"/>
            <a:ext cx="5473414" cy="1554246"/>
            <a:chOff x="3843020" y="2753360"/>
            <a:chExt cx="4505960" cy="1279525"/>
          </a:xfrm>
        </p:grpSpPr>
        <p:pic>
          <p:nvPicPr>
            <p:cNvPr id="26" name="Picture 25">
              <a:extLst>
                <a:ext uri="{FF2B5EF4-FFF2-40B4-BE49-F238E27FC236}">
                  <a16:creationId xmlns:a16="http://schemas.microsoft.com/office/drawing/2014/main" id="{1F974036-EEAE-4164-954F-92D2D99B7C11}"/>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843020" y="2753360"/>
              <a:ext cx="2199005" cy="1279525"/>
            </a:xfrm>
            <a:prstGeom prst="rect">
              <a:avLst/>
            </a:prstGeom>
            <a:noFill/>
            <a:ln>
              <a:noFill/>
            </a:ln>
          </p:spPr>
        </p:pic>
        <p:pic>
          <p:nvPicPr>
            <p:cNvPr id="27" name="Picture 26">
              <a:extLst>
                <a:ext uri="{FF2B5EF4-FFF2-40B4-BE49-F238E27FC236}">
                  <a16:creationId xmlns:a16="http://schemas.microsoft.com/office/drawing/2014/main" id="{B4BC573E-E2B3-45FF-AE62-5129E1081C57}"/>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137275" y="2753360"/>
              <a:ext cx="2211705" cy="1233170"/>
            </a:xfrm>
            <a:prstGeom prst="rect">
              <a:avLst/>
            </a:prstGeom>
            <a:noFill/>
            <a:ln>
              <a:noFill/>
            </a:ln>
          </p:spPr>
        </p:pic>
      </p:grpSp>
      <p:sp>
        <p:nvSpPr>
          <p:cNvPr id="28" name="TextBox 27">
            <a:extLst>
              <a:ext uri="{FF2B5EF4-FFF2-40B4-BE49-F238E27FC236}">
                <a16:creationId xmlns:a16="http://schemas.microsoft.com/office/drawing/2014/main" id="{D77173DA-8152-4004-9F8B-D677693A7FC7}"/>
              </a:ext>
            </a:extLst>
          </p:cNvPr>
          <p:cNvSpPr txBox="1"/>
          <p:nvPr/>
        </p:nvSpPr>
        <p:spPr>
          <a:xfrm>
            <a:off x="4574381" y="2905700"/>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
        <p:nvSpPr>
          <p:cNvPr id="29" name="TextBox 28">
            <a:extLst>
              <a:ext uri="{FF2B5EF4-FFF2-40B4-BE49-F238E27FC236}">
                <a16:creationId xmlns:a16="http://schemas.microsoft.com/office/drawing/2014/main" id="{D22D4451-C4D5-4215-925C-01CB6EBEF19B}"/>
              </a:ext>
            </a:extLst>
          </p:cNvPr>
          <p:cNvSpPr txBox="1"/>
          <p:nvPr/>
        </p:nvSpPr>
        <p:spPr>
          <a:xfrm>
            <a:off x="7245524" y="2905700"/>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en-US" spc="-45">
                <a:latin typeface="Times New Roman" panose="02020603050405020304" pitchFamily="18" charset="0"/>
                <a:ea typeface="Times New Roman" panose="02020603050405020304" pitchFamily="18" charset="0"/>
              </a:rPr>
              <a:t>32</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
        <p:nvSpPr>
          <p:cNvPr id="41" name="TextBox 40">
            <a:extLst>
              <a:ext uri="{FF2B5EF4-FFF2-40B4-BE49-F238E27FC236}">
                <a16:creationId xmlns:a16="http://schemas.microsoft.com/office/drawing/2014/main" id="{C97862D5-91DF-47FA-8BCF-31F127B88B79}"/>
              </a:ext>
            </a:extLst>
          </p:cNvPr>
          <p:cNvSpPr txBox="1"/>
          <p:nvPr/>
        </p:nvSpPr>
        <p:spPr>
          <a:xfrm>
            <a:off x="615949" y="3667492"/>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50">
                <a:effectLst/>
                <a:latin typeface="Times New Roman" panose="02020603050405020304" pitchFamily="18" charset="0"/>
                <a:ea typeface="Times New Roman" panose="02020603050405020304" pitchFamily="18" charset="0"/>
              </a:rPr>
              <a:t> </a:t>
            </a:r>
            <a:r>
              <a:rPr lang="en-US" b="1" i="1" spc="-50">
                <a:latin typeface="Times New Roman" panose="02020603050405020304" pitchFamily="18" charset="0"/>
                <a:ea typeface="Times New Roman" panose="02020603050405020304" pitchFamily="18" charset="0"/>
              </a:rPr>
              <a:t>trừ</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số</a:t>
            </a:r>
            <a:r>
              <a:rPr lang="vi-VN" sz="1800" b="1" i="1" spc="-55">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nguyên</a:t>
            </a:r>
            <a:endParaRPr lang="en-US"/>
          </a:p>
        </p:txBody>
      </p:sp>
      <p:grpSp>
        <p:nvGrpSpPr>
          <p:cNvPr id="8" name="Group 7">
            <a:extLst>
              <a:ext uri="{FF2B5EF4-FFF2-40B4-BE49-F238E27FC236}">
                <a16:creationId xmlns:a16="http://schemas.microsoft.com/office/drawing/2014/main" id="{6FCBB505-6964-4358-A5C4-DA1BE0391738}"/>
              </a:ext>
            </a:extLst>
          </p:cNvPr>
          <p:cNvGrpSpPr/>
          <p:nvPr/>
        </p:nvGrpSpPr>
        <p:grpSpPr>
          <a:xfrm>
            <a:off x="4133993" y="3800553"/>
            <a:ext cx="5513740" cy="1596697"/>
            <a:chOff x="3846195" y="2770505"/>
            <a:chExt cx="4499610" cy="1303020"/>
          </a:xfrm>
        </p:grpSpPr>
        <p:pic>
          <p:nvPicPr>
            <p:cNvPr id="44" name="Picture 43">
              <a:extLst>
                <a:ext uri="{FF2B5EF4-FFF2-40B4-BE49-F238E27FC236}">
                  <a16:creationId xmlns:a16="http://schemas.microsoft.com/office/drawing/2014/main" id="{9677D71B-27EF-453F-B602-DB1E384A57B4}"/>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3846195" y="2770505"/>
              <a:ext cx="2219325" cy="1303020"/>
            </a:xfrm>
            <a:prstGeom prst="rect">
              <a:avLst/>
            </a:prstGeom>
            <a:noFill/>
            <a:ln>
              <a:noFill/>
            </a:ln>
          </p:spPr>
        </p:pic>
        <p:pic>
          <p:nvPicPr>
            <p:cNvPr id="46" name="Picture 45">
              <a:extLst>
                <a:ext uri="{FF2B5EF4-FFF2-40B4-BE49-F238E27FC236}">
                  <a16:creationId xmlns:a16="http://schemas.microsoft.com/office/drawing/2014/main" id="{248272B6-1AC2-4413-9B2B-8FEB5B60FD45}"/>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197600" y="2770505"/>
              <a:ext cx="2148205" cy="1267460"/>
            </a:xfrm>
            <a:prstGeom prst="rect">
              <a:avLst/>
            </a:prstGeom>
            <a:noFill/>
            <a:ln>
              <a:noFill/>
            </a:ln>
          </p:spPr>
        </p:pic>
      </p:grpSp>
      <p:sp>
        <p:nvSpPr>
          <p:cNvPr id="47" name="TextBox 46">
            <a:extLst>
              <a:ext uri="{FF2B5EF4-FFF2-40B4-BE49-F238E27FC236}">
                <a16:creationId xmlns:a16="http://schemas.microsoft.com/office/drawing/2014/main" id="{F519D42B-D49E-4A55-BFD0-4FBBF70F58B2}"/>
              </a:ext>
            </a:extLst>
          </p:cNvPr>
          <p:cNvSpPr txBox="1"/>
          <p:nvPr/>
        </p:nvSpPr>
        <p:spPr>
          <a:xfrm>
            <a:off x="4574381" y="5528742"/>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
        <p:nvSpPr>
          <p:cNvPr id="48" name="TextBox 47">
            <a:extLst>
              <a:ext uri="{FF2B5EF4-FFF2-40B4-BE49-F238E27FC236}">
                <a16:creationId xmlns:a16="http://schemas.microsoft.com/office/drawing/2014/main" id="{852040B5-3E62-4C05-9306-1541834C26CB}"/>
              </a:ext>
            </a:extLst>
          </p:cNvPr>
          <p:cNvSpPr txBox="1"/>
          <p:nvPr/>
        </p:nvSpPr>
        <p:spPr>
          <a:xfrm>
            <a:off x="7245524" y="5528742"/>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en-US" spc="-45">
                <a:latin typeface="Times New Roman" panose="02020603050405020304" pitchFamily="18" charset="0"/>
                <a:ea typeface="Times New Roman" panose="02020603050405020304" pitchFamily="18" charset="0"/>
              </a:rPr>
              <a:t>32</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Tree>
    <p:extLst>
      <p:ext uri="{BB962C8B-B14F-4D97-AF65-F5344CB8AC3E}">
        <p14:creationId xmlns:p14="http://schemas.microsoft.com/office/powerpoint/2010/main" val="1119703548"/>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2. </a:t>
            </a:r>
            <a:r>
              <a:rPr lang="vi-VN" sz="1800" b="1">
                <a:effectLst/>
                <a:latin typeface="Times New Roman" panose="02020603050405020304" pitchFamily="18" charset="0"/>
                <a:ea typeface="Times New Roman" panose="02020603050405020304" pitchFamily="18" charset="0"/>
              </a:rPr>
              <a:t>CÁC</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4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TOÁN</a:t>
            </a:r>
            <a:r>
              <a:rPr lang="vi-VN" sz="1800" b="1" spc="45">
                <a:effectLst/>
                <a:latin typeface="Times New Roman" panose="02020603050405020304" pitchFamily="18" charset="0"/>
                <a:ea typeface="Times New Roman" panose="02020603050405020304" pitchFamily="18" charset="0"/>
              </a:rPr>
              <a:t> </a:t>
            </a:r>
            <a:r>
              <a:rPr lang="vi-VN" sz="1800" b="1" spc="-20">
                <a:effectLst/>
                <a:latin typeface="Times New Roman" panose="02020603050405020304" pitchFamily="18" charset="0"/>
                <a:ea typeface="Times New Roman" panose="02020603050405020304" pitchFamily="18" charset="0"/>
              </a:rPr>
              <a:t>HỌC</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253610"/>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50">
                <a:effectLst/>
                <a:latin typeface="Times New Roman" panose="02020603050405020304" pitchFamily="18" charset="0"/>
                <a:ea typeface="Times New Roman" panose="02020603050405020304" pitchFamily="18" charset="0"/>
              </a:rPr>
              <a:t> </a:t>
            </a:r>
            <a:r>
              <a:rPr lang="en-US" b="1" i="1" spc="-50">
                <a:latin typeface="Times New Roman" panose="02020603050405020304" pitchFamily="18" charset="0"/>
                <a:ea typeface="Times New Roman" panose="02020603050405020304" pitchFamily="18" charset="0"/>
              </a:rPr>
              <a:t>nhân</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số</a:t>
            </a:r>
            <a:r>
              <a:rPr lang="vi-VN" sz="1800" b="1" i="1" spc="-55">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nguyên</a:t>
            </a:r>
            <a:endParaRPr lang="en-US"/>
          </a:p>
        </p:txBody>
      </p:sp>
      <p:sp>
        <p:nvSpPr>
          <p:cNvPr id="28" name="TextBox 27">
            <a:extLst>
              <a:ext uri="{FF2B5EF4-FFF2-40B4-BE49-F238E27FC236}">
                <a16:creationId xmlns:a16="http://schemas.microsoft.com/office/drawing/2014/main" id="{D77173DA-8152-4004-9F8B-D677693A7FC7}"/>
              </a:ext>
            </a:extLst>
          </p:cNvPr>
          <p:cNvSpPr txBox="1"/>
          <p:nvPr/>
        </p:nvSpPr>
        <p:spPr>
          <a:xfrm>
            <a:off x="4726781" y="2905700"/>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
        <p:nvSpPr>
          <p:cNvPr id="29" name="TextBox 28">
            <a:extLst>
              <a:ext uri="{FF2B5EF4-FFF2-40B4-BE49-F238E27FC236}">
                <a16:creationId xmlns:a16="http://schemas.microsoft.com/office/drawing/2014/main" id="{D22D4451-C4D5-4215-925C-01CB6EBEF19B}"/>
              </a:ext>
            </a:extLst>
          </p:cNvPr>
          <p:cNvSpPr txBox="1"/>
          <p:nvPr/>
        </p:nvSpPr>
        <p:spPr>
          <a:xfrm>
            <a:off x="7397924" y="2905700"/>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en-US" spc="-45">
                <a:latin typeface="Times New Roman" panose="02020603050405020304" pitchFamily="18" charset="0"/>
                <a:ea typeface="Times New Roman" panose="02020603050405020304" pitchFamily="18" charset="0"/>
              </a:rPr>
              <a:t>32</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
        <p:nvSpPr>
          <p:cNvPr id="41" name="TextBox 40">
            <a:extLst>
              <a:ext uri="{FF2B5EF4-FFF2-40B4-BE49-F238E27FC236}">
                <a16:creationId xmlns:a16="http://schemas.microsoft.com/office/drawing/2014/main" id="{C97862D5-91DF-47FA-8BCF-31F127B88B79}"/>
              </a:ext>
            </a:extLst>
          </p:cNvPr>
          <p:cNvSpPr txBox="1"/>
          <p:nvPr/>
        </p:nvSpPr>
        <p:spPr>
          <a:xfrm>
            <a:off x="615949" y="3769092"/>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Lệnh</a:t>
            </a:r>
            <a:r>
              <a:rPr lang="vi-VN" sz="1800" b="1" i="1" spc="-50">
                <a:effectLst/>
                <a:latin typeface="Times New Roman" panose="02020603050405020304" pitchFamily="18" charset="0"/>
                <a:ea typeface="Times New Roman" panose="02020603050405020304" pitchFamily="18" charset="0"/>
              </a:rPr>
              <a:t> </a:t>
            </a:r>
            <a:r>
              <a:rPr lang="en-US" sz="1800" b="1" i="1" spc="-50">
                <a:effectLst/>
                <a:latin typeface="Times New Roman" panose="02020603050405020304" pitchFamily="18" charset="0"/>
                <a:ea typeface="Times New Roman" panose="02020603050405020304" pitchFamily="18" charset="0"/>
              </a:rPr>
              <a:t>chia</a:t>
            </a:r>
            <a:r>
              <a:rPr lang="vi-VN" sz="1800" b="1" i="1" spc="-50">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số</a:t>
            </a:r>
            <a:r>
              <a:rPr lang="vi-VN" sz="1800" b="1" i="1" spc="-55">
                <a:effectLst/>
                <a:latin typeface="Times New Roman" panose="02020603050405020304" pitchFamily="18" charset="0"/>
                <a:ea typeface="Times New Roman" panose="02020603050405020304" pitchFamily="18" charset="0"/>
              </a:rPr>
              <a:t> </a:t>
            </a:r>
            <a:r>
              <a:rPr lang="vi-VN" sz="1800" b="1" i="1" spc="-10">
                <a:effectLst/>
                <a:latin typeface="Times New Roman" panose="02020603050405020304" pitchFamily="18" charset="0"/>
                <a:ea typeface="Times New Roman" panose="02020603050405020304" pitchFamily="18" charset="0"/>
              </a:rPr>
              <a:t>nguyên</a:t>
            </a:r>
            <a:endParaRPr lang="en-US"/>
          </a:p>
        </p:txBody>
      </p:sp>
      <p:sp>
        <p:nvSpPr>
          <p:cNvPr id="47" name="TextBox 46">
            <a:extLst>
              <a:ext uri="{FF2B5EF4-FFF2-40B4-BE49-F238E27FC236}">
                <a16:creationId xmlns:a16="http://schemas.microsoft.com/office/drawing/2014/main" id="{F519D42B-D49E-4A55-BFD0-4FBBF70F58B2}"/>
              </a:ext>
            </a:extLst>
          </p:cNvPr>
          <p:cNvSpPr txBox="1"/>
          <p:nvPr/>
        </p:nvSpPr>
        <p:spPr>
          <a:xfrm>
            <a:off x="4574381" y="5630342"/>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sp>
        <p:nvSpPr>
          <p:cNvPr id="48" name="TextBox 47">
            <a:extLst>
              <a:ext uri="{FF2B5EF4-FFF2-40B4-BE49-F238E27FC236}">
                <a16:creationId xmlns:a16="http://schemas.microsoft.com/office/drawing/2014/main" id="{852040B5-3E62-4C05-9306-1541834C26CB}"/>
              </a:ext>
            </a:extLst>
          </p:cNvPr>
          <p:cNvSpPr txBox="1"/>
          <p:nvPr/>
        </p:nvSpPr>
        <p:spPr>
          <a:xfrm>
            <a:off x="7245524" y="5630342"/>
            <a:ext cx="2137568"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Số</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45">
                <a:effectLst/>
                <a:latin typeface="Times New Roman" panose="02020603050405020304" pitchFamily="18" charset="0"/>
                <a:ea typeface="Times New Roman" panose="02020603050405020304" pitchFamily="18" charset="0"/>
              </a:rPr>
              <a:t> </a:t>
            </a:r>
            <a:r>
              <a:rPr lang="en-US" spc="-45">
                <a:latin typeface="Times New Roman" panose="02020603050405020304" pitchFamily="18" charset="0"/>
                <a:ea typeface="Times New Roman" panose="02020603050405020304" pitchFamily="18" charset="0"/>
              </a:rPr>
              <a:t>32</a:t>
            </a:r>
            <a:r>
              <a:rPr lang="vi-VN" sz="1800" spc="-4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bits</a:t>
            </a:r>
            <a:endParaRPr lang="en-US"/>
          </a:p>
        </p:txBody>
      </p:sp>
      <p:grpSp>
        <p:nvGrpSpPr>
          <p:cNvPr id="2" name="Group 1">
            <a:extLst>
              <a:ext uri="{FF2B5EF4-FFF2-40B4-BE49-F238E27FC236}">
                <a16:creationId xmlns:a16="http://schemas.microsoft.com/office/drawing/2014/main" id="{C318DD1E-FC37-462B-A571-4F04EC6A24D3}"/>
              </a:ext>
            </a:extLst>
          </p:cNvPr>
          <p:cNvGrpSpPr/>
          <p:nvPr/>
        </p:nvGrpSpPr>
        <p:grpSpPr>
          <a:xfrm>
            <a:off x="4170867" y="1236721"/>
            <a:ext cx="5399666" cy="1641184"/>
            <a:chOff x="4081753" y="1240702"/>
            <a:chExt cx="5827356" cy="1771177"/>
          </a:xfrm>
        </p:grpSpPr>
        <p:pic>
          <p:nvPicPr>
            <p:cNvPr id="22" name="Picture 21">
              <a:extLst>
                <a:ext uri="{FF2B5EF4-FFF2-40B4-BE49-F238E27FC236}">
                  <a16:creationId xmlns:a16="http://schemas.microsoft.com/office/drawing/2014/main" id="{F90ACED4-4C70-472D-971B-551530F8E0EB}"/>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081753" y="1240702"/>
              <a:ext cx="2972400" cy="1771177"/>
            </a:xfrm>
            <a:prstGeom prst="rect">
              <a:avLst/>
            </a:prstGeom>
            <a:noFill/>
            <a:ln>
              <a:noFill/>
            </a:ln>
          </p:spPr>
        </p:pic>
        <p:pic>
          <p:nvPicPr>
            <p:cNvPr id="30" name="Picture 29">
              <a:extLst>
                <a:ext uri="{FF2B5EF4-FFF2-40B4-BE49-F238E27FC236}">
                  <a16:creationId xmlns:a16="http://schemas.microsoft.com/office/drawing/2014/main" id="{8F0AD713-DBE1-4D36-800F-61FF346FFF81}"/>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7054153" y="1266693"/>
              <a:ext cx="2854956" cy="1677049"/>
            </a:xfrm>
            <a:prstGeom prst="rect">
              <a:avLst/>
            </a:prstGeom>
            <a:noFill/>
            <a:ln>
              <a:noFill/>
            </a:ln>
          </p:spPr>
        </p:pic>
      </p:grpSp>
      <p:grpSp>
        <p:nvGrpSpPr>
          <p:cNvPr id="4" name="Group 3">
            <a:extLst>
              <a:ext uri="{FF2B5EF4-FFF2-40B4-BE49-F238E27FC236}">
                <a16:creationId xmlns:a16="http://schemas.microsoft.com/office/drawing/2014/main" id="{3ACF859D-CA0A-4F81-B7A8-03832584BFDD}"/>
              </a:ext>
            </a:extLst>
          </p:cNvPr>
          <p:cNvGrpSpPr/>
          <p:nvPr/>
        </p:nvGrpSpPr>
        <p:grpSpPr>
          <a:xfrm>
            <a:off x="4170868" y="3945578"/>
            <a:ext cx="5399666" cy="1609501"/>
            <a:chOff x="3853815" y="2745740"/>
            <a:chExt cx="4484370" cy="1336675"/>
          </a:xfrm>
        </p:grpSpPr>
        <p:pic>
          <p:nvPicPr>
            <p:cNvPr id="31" name="Picture 30">
              <a:extLst>
                <a:ext uri="{FF2B5EF4-FFF2-40B4-BE49-F238E27FC236}">
                  <a16:creationId xmlns:a16="http://schemas.microsoft.com/office/drawing/2014/main" id="{6D42957E-A668-429E-99EE-9FC400ED8559}"/>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3853815" y="2745740"/>
              <a:ext cx="2221230" cy="1336675"/>
            </a:xfrm>
            <a:prstGeom prst="rect">
              <a:avLst/>
            </a:prstGeom>
            <a:noFill/>
            <a:ln>
              <a:noFill/>
            </a:ln>
          </p:spPr>
        </p:pic>
        <p:pic>
          <p:nvPicPr>
            <p:cNvPr id="32" name="Picture 31">
              <a:extLst>
                <a:ext uri="{FF2B5EF4-FFF2-40B4-BE49-F238E27FC236}">
                  <a16:creationId xmlns:a16="http://schemas.microsoft.com/office/drawing/2014/main" id="{51718BCD-81C6-48D1-9816-0C505136F417}"/>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198235" y="2745740"/>
              <a:ext cx="2139950" cy="1244600"/>
            </a:xfrm>
            <a:prstGeom prst="rect">
              <a:avLst/>
            </a:prstGeom>
            <a:noFill/>
            <a:ln>
              <a:noFill/>
            </a:ln>
          </p:spPr>
        </p:pic>
      </p:grpSp>
    </p:spTree>
    <p:extLst>
      <p:ext uri="{BB962C8B-B14F-4D97-AF65-F5344CB8AC3E}">
        <p14:creationId xmlns:p14="http://schemas.microsoft.com/office/powerpoint/2010/main" val="1969714085"/>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ĐỔI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KIỂU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DỮ</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LIỆU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DI</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CHUYỂN</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253610"/>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Số</a:t>
            </a:r>
            <a:r>
              <a:rPr lang="vi-VN" sz="1800" b="1" i="1" spc="1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BCD</a:t>
            </a:r>
            <a:r>
              <a:rPr lang="vi-VN" sz="1800" b="1" i="1" spc="-125">
                <a:effectLst/>
                <a:latin typeface="Times New Roman" panose="02020603050405020304" pitchFamily="18" charset="0"/>
                <a:ea typeface="Times New Roman" panose="02020603050405020304" pitchFamily="18" charset="0"/>
              </a:rPr>
              <a:t> </a:t>
            </a:r>
            <a:r>
              <a:rPr lang="en-US" sz="1800" b="1" i="1" spc="-125">
                <a:effectLst/>
                <a:latin typeface="Times New Roman" panose="02020603050405020304" pitchFamily="18" charset="0"/>
                <a:ea typeface="Times New Roman" panose="02020603050405020304" pitchFamily="18" charset="0"/>
                <a:sym typeface="Wingdings 3" panose="05040102010807070707" pitchFamily="18" charset="2"/>
              </a:rPr>
              <a:t></a:t>
            </a:r>
            <a:r>
              <a:rPr lang="en-US" b="1" i="1" spc="-125">
                <a:latin typeface="Times New Roman" panose="02020603050405020304" pitchFamily="18" charset="0"/>
                <a:ea typeface="Times New Roman" panose="02020603050405020304" pitchFamily="18" charset="0"/>
              </a:rPr>
              <a:t> </a:t>
            </a:r>
            <a:r>
              <a:rPr lang="vi-VN" sz="1800" spc="-125">
                <a:effectLst/>
                <a:latin typeface="Times New Roman" panose="02020603050405020304" pitchFamily="18" charset="0"/>
                <a:ea typeface="Times New Roman" panose="02020603050405020304" pitchFamily="18" charset="0"/>
              </a:rPr>
              <a:t> </a:t>
            </a:r>
            <a:r>
              <a:rPr lang="en-US" sz="1800" spc="-12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số</a:t>
            </a:r>
            <a:r>
              <a:rPr lang="vi-VN" sz="1800" b="1" i="1" spc="1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nguyên</a:t>
            </a:r>
            <a:r>
              <a:rPr lang="vi-VN" sz="1800" b="1" i="1" spc="25">
                <a:effectLst/>
                <a:latin typeface="Times New Roman" panose="02020603050405020304" pitchFamily="18" charset="0"/>
                <a:ea typeface="Times New Roman" panose="02020603050405020304" pitchFamily="18" charset="0"/>
              </a:rPr>
              <a:t> </a:t>
            </a:r>
            <a:r>
              <a:rPr lang="vi-VN" sz="1800" b="1" i="1">
                <a:effectLst/>
                <a:latin typeface="Times New Roman" panose="02020603050405020304" pitchFamily="18" charset="0"/>
                <a:ea typeface="Times New Roman" panose="02020603050405020304" pitchFamily="18" charset="0"/>
              </a:rPr>
              <a:t>16</a:t>
            </a:r>
            <a:r>
              <a:rPr lang="vi-VN" sz="1800" b="1" i="1" spc="20">
                <a:effectLst/>
                <a:latin typeface="Times New Roman" panose="02020603050405020304" pitchFamily="18" charset="0"/>
                <a:ea typeface="Times New Roman" panose="02020603050405020304" pitchFamily="18" charset="0"/>
              </a:rPr>
              <a:t> </a:t>
            </a:r>
            <a:r>
              <a:rPr lang="vi-VN" sz="1800" b="1" i="1" spc="-20">
                <a:effectLst/>
                <a:latin typeface="Times New Roman" panose="02020603050405020304" pitchFamily="18" charset="0"/>
                <a:ea typeface="Times New Roman" panose="02020603050405020304" pitchFamily="18" charset="0"/>
              </a:rPr>
              <a:t>bits</a:t>
            </a:r>
            <a:endParaRPr lang="en-US"/>
          </a:p>
        </p:txBody>
      </p:sp>
      <p:pic>
        <p:nvPicPr>
          <p:cNvPr id="19" name="Picture 18">
            <a:extLst>
              <a:ext uri="{FF2B5EF4-FFF2-40B4-BE49-F238E27FC236}">
                <a16:creationId xmlns:a16="http://schemas.microsoft.com/office/drawing/2014/main" id="{6135E206-2899-410A-A013-3298EC5201C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851910" y="1345307"/>
            <a:ext cx="2481580" cy="1475105"/>
          </a:xfrm>
          <a:prstGeom prst="rect">
            <a:avLst/>
          </a:prstGeom>
          <a:noFill/>
          <a:ln>
            <a:noFill/>
          </a:ln>
        </p:spPr>
      </p:pic>
      <p:sp>
        <p:nvSpPr>
          <p:cNvPr id="20" name="TextBox 19">
            <a:extLst>
              <a:ext uri="{FF2B5EF4-FFF2-40B4-BE49-F238E27FC236}">
                <a16:creationId xmlns:a16="http://schemas.microsoft.com/office/drawing/2014/main" id="{74C5DA80-C125-4171-B393-990BF9C2D20B}"/>
              </a:ext>
            </a:extLst>
          </p:cNvPr>
          <p:cNvSpPr txBox="1"/>
          <p:nvPr/>
        </p:nvSpPr>
        <p:spPr>
          <a:xfrm>
            <a:off x="3016251" y="2499545"/>
            <a:ext cx="9144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dụ:</a:t>
            </a:r>
            <a:endParaRPr lang="en-US"/>
          </a:p>
        </p:txBody>
      </p:sp>
      <p:sp>
        <p:nvSpPr>
          <p:cNvPr id="22" name="TextBox 21">
            <a:extLst>
              <a:ext uri="{FF2B5EF4-FFF2-40B4-BE49-F238E27FC236}">
                <a16:creationId xmlns:a16="http://schemas.microsoft.com/office/drawing/2014/main" id="{5207C309-D07D-4082-AD74-08A88C0E4788}"/>
              </a:ext>
            </a:extLst>
          </p:cNvPr>
          <p:cNvSpPr txBox="1"/>
          <p:nvPr/>
        </p:nvSpPr>
        <p:spPr>
          <a:xfrm>
            <a:off x="6578602" y="1317312"/>
            <a:ext cx="5422900" cy="1097993"/>
          </a:xfrm>
          <a:prstGeom prst="rect">
            <a:avLst/>
          </a:prstGeom>
          <a:noFill/>
        </p:spPr>
        <p:txBody>
          <a:bodyPr wrap="square">
            <a:spAutoFit/>
          </a:bodyPr>
          <a:lstStyle/>
          <a:p>
            <a:pPr>
              <a:lnSpc>
                <a:spcPct val="113000"/>
              </a:lnSpc>
              <a:spcBef>
                <a:spcPts val="1390"/>
              </a:spcBef>
              <a:spcAft>
                <a:spcPts val="800"/>
              </a:spcAft>
            </a:pP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Lệnh BCD_I :</a:t>
            </a:r>
            <a:r>
              <a:rPr lang="vi-VN" sz="1800" spc="39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Chuyển đổi từ số định dạng dưới dạng BCD (chứa 3 Digit)sang</a:t>
            </a:r>
            <a:r>
              <a:rPr lang="vi-VN" sz="18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số</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nguyên</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16</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Bit.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p>
            <a:r>
              <a:rPr lang="vi-VN" sz="1800">
                <a:effectLst/>
                <a:latin typeface="Times New Roman" panose="02020603050405020304" pitchFamily="18" charset="0"/>
                <a:ea typeface="Times New Roman" panose="02020603050405020304" pitchFamily="18" charset="0"/>
              </a:rPr>
              <a:t>Số</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BCD</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tầm</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999)</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chứa</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trong</a:t>
            </a:r>
            <a:r>
              <a:rPr lang="vi-VN" sz="1800" spc="-30">
                <a:effectLst/>
                <a:latin typeface="Times New Roman" panose="02020603050405020304" pitchFamily="18" charset="0"/>
                <a:ea typeface="Times New Roman" panose="02020603050405020304" pitchFamily="18" charset="0"/>
              </a:rPr>
              <a:t> </a:t>
            </a:r>
            <a:r>
              <a:rPr lang="vi-VN" sz="1800" spc="-10">
                <a:effectLst/>
                <a:latin typeface="Times New Roman" panose="02020603050405020304" pitchFamily="18" charset="0"/>
                <a:ea typeface="Times New Roman" panose="02020603050405020304" pitchFamily="18" charset="0"/>
              </a:rPr>
              <a:t>12Bit.</a:t>
            </a:r>
            <a:endParaRPr lang="en-US"/>
          </a:p>
        </p:txBody>
      </p:sp>
      <p:sp>
        <p:nvSpPr>
          <p:cNvPr id="32" name="TextBox 31">
            <a:extLst>
              <a:ext uri="{FF2B5EF4-FFF2-40B4-BE49-F238E27FC236}">
                <a16:creationId xmlns:a16="http://schemas.microsoft.com/office/drawing/2014/main" id="{3AB11313-621B-42F9-AFAB-C0F1E4BB341D}"/>
              </a:ext>
            </a:extLst>
          </p:cNvPr>
          <p:cNvSpPr txBox="1"/>
          <p:nvPr/>
        </p:nvSpPr>
        <p:spPr>
          <a:xfrm>
            <a:off x="615949" y="3387322"/>
            <a:ext cx="6096000" cy="369332"/>
          </a:xfrm>
          <a:prstGeom prst="rect">
            <a:avLst/>
          </a:prstGeom>
          <a:noFill/>
        </p:spPr>
        <p:txBody>
          <a:bodyPr wrap="square">
            <a:spAutoFit/>
          </a:bodyPr>
          <a:lstStyle/>
          <a:p>
            <a:r>
              <a:rPr lang="vi-VN" sz="1800" b="1" i="1">
                <a:effectLst/>
                <a:latin typeface="Times New Roman" panose="02020603050405020304" pitchFamily="18" charset="0"/>
                <a:ea typeface="Times New Roman" panose="02020603050405020304" pitchFamily="18" charset="0"/>
              </a:rPr>
              <a:t>Số</a:t>
            </a:r>
            <a:r>
              <a:rPr lang="vi-VN" sz="1800" b="1" i="1" spc="15">
                <a:effectLst/>
                <a:latin typeface="Times New Roman" panose="02020603050405020304" pitchFamily="18" charset="0"/>
                <a:ea typeface="Times New Roman" panose="02020603050405020304" pitchFamily="18" charset="0"/>
              </a:rPr>
              <a:t> </a:t>
            </a:r>
            <a:r>
              <a:rPr lang="en-US" sz="1800" b="1" i="1" spc="15">
                <a:effectLst/>
                <a:latin typeface="Times New Roman" panose="02020603050405020304" pitchFamily="18" charset="0"/>
                <a:ea typeface="Times New Roman" panose="02020603050405020304" pitchFamily="18" charset="0"/>
              </a:rPr>
              <a:t>đảo:</a:t>
            </a:r>
            <a:endParaRPr lang="en-US"/>
          </a:p>
        </p:txBody>
      </p:sp>
      <p:sp>
        <p:nvSpPr>
          <p:cNvPr id="34" name="TextBox 33">
            <a:extLst>
              <a:ext uri="{FF2B5EF4-FFF2-40B4-BE49-F238E27FC236}">
                <a16:creationId xmlns:a16="http://schemas.microsoft.com/office/drawing/2014/main" id="{25E42202-94E1-4B3E-A8E1-06AE8BB3B4DC}"/>
              </a:ext>
            </a:extLst>
          </p:cNvPr>
          <p:cNvSpPr txBox="1"/>
          <p:nvPr/>
        </p:nvSpPr>
        <p:spPr>
          <a:xfrm>
            <a:off x="1468437" y="3372241"/>
            <a:ext cx="6096000" cy="369332"/>
          </a:xfrm>
          <a:prstGeom prst="rect">
            <a:avLst/>
          </a:prstGeom>
          <a:noFill/>
        </p:spPr>
        <p:txBody>
          <a:bodyPr wrap="square">
            <a:spAutoFit/>
          </a:bodyPr>
          <a:lstStyle/>
          <a:p>
            <a:r>
              <a:rPr lang="vi-VN" sz="1800" i="1">
                <a:effectLst/>
                <a:latin typeface="Times New Roman" panose="02020603050405020304" pitchFamily="18" charset="0"/>
                <a:ea typeface="Times New Roman" panose="02020603050405020304" pitchFamily="18" charset="0"/>
              </a:rPr>
              <a:t>Lệnh</a:t>
            </a:r>
            <a:r>
              <a:rPr lang="vi-VN" sz="1800" i="1" spc="-25">
                <a:effectLst/>
                <a:latin typeface="Times New Roman" panose="02020603050405020304" pitchFamily="18" charset="0"/>
                <a:ea typeface="Times New Roman" panose="02020603050405020304" pitchFamily="18" charset="0"/>
              </a:rPr>
              <a:t> </a:t>
            </a:r>
            <a:r>
              <a:rPr lang="vi-VN" sz="1800" i="1">
                <a:effectLst/>
                <a:latin typeface="Times New Roman" panose="02020603050405020304" pitchFamily="18" charset="0"/>
                <a:ea typeface="Times New Roman" panose="02020603050405020304" pitchFamily="18" charset="0"/>
              </a:rPr>
              <a:t>INV_I</a:t>
            </a:r>
            <a:r>
              <a:rPr lang="vi-VN" sz="1800" i="1"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Đảo</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tất</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cả</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các</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3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a:t>
            </a:r>
            <a:endParaRPr lang="en-US"/>
          </a:p>
        </p:txBody>
      </p:sp>
      <p:sp>
        <p:nvSpPr>
          <p:cNvPr id="35" name="TextBox 34">
            <a:extLst>
              <a:ext uri="{FF2B5EF4-FFF2-40B4-BE49-F238E27FC236}">
                <a16:creationId xmlns:a16="http://schemas.microsoft.com/office/drawing/2014/main" id="{015AF56E-FF9D-46C5-8E68-0291215459BB}"/>
              </a:ext>
            </a:extLst>
          </p:cNvPr>
          <p:cNvSpPr txBox="1"/>
          <p:nvPr/>
        </p:nvSpPr>
        <p:spPr>
          <a:xfrm>
            <a:off x="615949" y="3715844"/>
            <a:ext cx="11118851"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Vd : MW100 ban đầu là	0101</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0111</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1000</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0101</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sau</a:t>
            </a:r>
            <a:r>
              <a:rPr lang="vi-VN" sz="1800" spc="-6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lệnh</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chuyển</a:t>
            </a:r>
            <a:endParaRPr lang="en-US"/>
          </a:p>
        </p:txBody>
      </p:sp>
      <p:sp>
        <p:nvSpPr>
          <p:cNvPr id="36" name="TextBox 35">
            <a:extLst>
              <a:ext uri="{FF2B5EF4-FFF2-40B4-BE49-F238E27FC236}">
                <a16:creationId xmlns:a16="http://schemas.microsoft.com/office/drawing/2014/main" id="{E7372080-B279-4E8F-AC74-A553E49C1DD3}"/>
              </a:ext>
            </a:extLst>
          </p:cNvPr>
          <p:cNvSpPr txBox="1"/>
          <p:nvPr/>
        </p:nvSpPr>
        <p:spPr>
          <a:xfrm>
            <a:off x="1083469" y="4066786"/>
            <a:ext cx="171831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MW100</a:t>
            </a:r>
            <a:r>
              <a:rPr lang="vi-VN" sz="1800" spc="3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lúc</a:t>
            </a:r>
            <a:r>
              <a:rPr lang="vi-VN" sz="1800" spc="35">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sau</a:t>
            </a:r>
            <a:endParaRPr lang="en-US"/>
          </a:p>
        </p:txBody>
      </p:sp>
      <p:sp>
        <p:nvSpPr>
          <p:cNvPr id="38" name="TextBox 37">
            <a:extLst>
              <a:ext uri="{FF2B5EF4-FFF2-40B4-BE49-F238E27FC236}">
                <a16:creationId xmlns:a16="http://schemas.microsoft.com/office/drawing/2014/main" id="{B4DBAB93-E13E-48B3-AA6F-67262EC1FE45}"/>
              </a:ext>
            </a:extLst>
          </p:cNvPr>
          <p:cNvSpPr txBox="1"/>
          <p:nvPr/>
        </p:nvSpPr>
        <p:spPr>
          <a:xfrm>
            <a:off x="3354387" y="4085176"/>
            <a:ext cx="2247900" cy="369332"/>
          </a:xfrm>
          <a:prstGeom prst="rect">
            <a:avLst/>
          </a:prstGeom>
          <a:noFill/>
        </p:spPr>
        <p:txBody>
          <a:bodyPr wrap="square">
            <a:spAutoFit/>
          </a:bodyPr>
          <a:lstStyle/>
          <a:p>
            <a:r>
              <a:rPr lang="vi-VN" sz="1800" spc="-20">
                <a:effectLst/>
                <a:latin typeface="Times New Roman" panose="02020603050405020304" pitchFamily="18" charset="0"/>
                <a:ea typeface="Times New Roman" panose="02020603050405020304" pitchFamily="18" charset="0"/>
              </a:rPr>
              <a:t>1010 </a:t>
            </a:r>
            <a:r>
              <a:rPr lang="vi-VN" sz="1800">
                <a:effectLst/>
                <a:latin typeface="Times New Roman" panose="02020603050405020304" pitchFamily="18" charset="0"/>
                <a:ea typeface="Times New Roman" panose="02020603050405020304" pitchFamily="18" charset="0"/>
              </a:rPr>
              <a:t>1000 0111 1010</a:t>
            </a:r>
            <a:endParaRPr lang="en-US"/>
          </a:p>
        </p:txBody>
      </p:sp>
      <p:pic>
        <p:nvPicPr>
          <p:cNvPr id="40" name="Picture 39">
            <a:extLst>
              <a:ext uri="{FF2B5EF4-FFF2-40B4-BE49-F238E27FC236}">
                <a16:creationId xmlns:a16="http://schemas.microsoft.com/office/drawing/2014/main" id="{F7F2E8E8-B7E0-419C-8975-AABC5D112268}"/>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7458075" y="3391481"/>
            <a:ext cx="2924175" cy="1125220"/>
          </a:xfrm>
          <a:prstGeom prst="rect">
            <a:avLst/>
          </a:prstGeom>
          <a:noFill/>
          <a:ln>
            <a:noFill/>
          </a:ln>
        </p:spPr>
      </p:pic>
      <p:sp>
        <p:nvSpPr>
          <p:cNvPr id="42" name="TextBox 41">
            <a:extLst>
              <a:ext uri="{FF2B5EF4-FFF2-40B4-BE49-F238E27FC236}">
                <a16:creationId xmlns:a16="http://schemas.microsoft.com/office/drawing/2014/main" id="{880B0418-3E6E-4386-B120-124121383DD6}"/>
              </a:ext>
            </a:extLst>
          </p:cNvPr>
          <p:cNvSpPr txBox="1"/>
          <p:nvPr/>
        </p:nvSpPr>
        <p:spPr>
          <a:xfrm>
            <a:off x="1468437" y="4827664"/>
            <a:ext cx="6096000" cy="369332"/>
          </a:xfrm>
          <a:prstGeom prst="rect">
            <a:avLst/>
          </a:prstGeom>
          <a:noFill/>
        </p:spPr>
        <p:txBody>
          <a:bodyPr wrap="square">
            <a:spAutoFit/>
          </a:bodyPr>
          <a:lstStyle/>
          <a:p>
            <a:r>
              <a:rPr lang="vi-VN" sz="1800" i="1">
                <a:effectLst/>
                <a:latin typeface="Times New Roman" panose="02020603050405020304" pitchFamily="18" charset="0"/>
                <a:ea typeface="Times New Roman" panose="02020603050405020304" pitchFamily="18" charset="0"/>
              </a:rPr>
              <a:t>Lệnh</a:t>
            </a:r>
            <a:r>
              <a:rPr lang="vi-VN" sz="1800" i="1" spc="-10">
                <a:effectLst/>
                <a:latin typeface="Times New Roman" panose="02020603050405020304" pitchFamily="18" charset="0"/>
                <a:ea typeface="Times New Roman" panose="02020603050405020304" pitchFamily="18" charset="0"/>
              </a:rPr>
              <a:t> </a:t>
            </a:r>
            <a:r>
              <a:rPr lang="vi-VN" sz="1800" i="1">
                <a:effectLst/>
                <a:latin typeface="Times New Roman" panose="02020603050405020304" pitchFamily="18" charset="0"/>
                <a:ea typeface="Times New Roman" panose="02020603050405020304" pitchFamily="18" charset="0"/>
              </a:rPr>
              <a:t>INV_DI</a:t>
            </a:r>
            <a:r>
              <a:rPr lang="vi-VN" sz="1800" i="1"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Đảo</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tất</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cả</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các</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nguyên</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32</a:t>
            </a:r>
            <a:r>
              <a:rPr lang="vi-VN" sz="1800" spc="-1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Bit.</a:t>
            </a:r>
            <a:endParaRPr lang="en-US"/>
          </a:p>
        </p:txBody>
      </p:sp>
      <p:pic>
        <p:nvPicPr>
          <p:cNvPr id="43" name="Picture 42">
            <a:extLst>
              <a:ext uri="{FF2B5EF4-FFF2-40B4-BE49-F238E27FC236}">
                <a16:creationId xmlns:a16="http://schemas.microsoft.com/office/drawing/2014/main" id="{ABA51EA9-E7FD-4FB2-853E-8C74FEC988AE}"/>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7439342" y="5140290"/>
            <a:ext cx="2961640" cy="1125220"/>
          </a:xfrm>
          <a:prstGeom prst="rect">
            <a:avLst/>
          </a:prstGeom>
          <a:noFill/>
          <a:ln>
            <a:noFill/>
          </a:ln>
        </p:spPr>
      </p:pic>
    </p:spTree>
    <p:extLst>
      <p:ext uri="{BB962C8B-B14F-4D97-AF65-F5344CB8AC3E}">
        <p14:creationId xmlns:p14="http://schemas.microsoft.com/office/powerpoint/2010/main" val="1838525051"/>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ĐỔI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KIỂU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DỮ</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LIỆU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DI</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CHUYỂN</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253610"/>
            <a:ext cx="6096000" cy="369332"/>
          </a:xfrm>
          <a:prstGeom prst="rect">
            <a:avLst/>
          </a:prstGeom>
          <a:noFill/>
        </p:spPr>
        <p:txBody>
          <a:bodyPr wrap="square">
            <a:spAutoFit/>
          </a:bodyPr>
          <a:lstStyle/>
          <a:p>
            <a:r>
              <a:rPr lang="en-US" sz="1800" b="1" i="1">
                <a:effectLst/>
                <a:latin typeface="Times New Roman" panose="02020603050405020304" pitchFamily="18" charset="0"/>
                <a:ea typeface="Times New Roman" panose="02020603050405020304" pitchFamily="18" charset="0"/>
              </a:rPr>
              <a:t>Lệnh MOVE</a:t>
            </a:r>
            <a:endParaRPr lang="en-US"/>
          </a:p>
        </p:txBody>
      </p:sp>
      <p:sp>
        <p:nvSpPr>
          <p:cNvPr id="26" name="TextBox 25">
            <a:extLst>
              <a:ext uri="{FF2B5EF4-FFF2-40B4-BE49-F238E27FC236}">
                <a16:creationId xmlns:a16="http://schemas.microsoft.com/office/drawing/2014/main" id="{A3D915AC-826C-4087-97FF-45EA04BAA8DD}"/>
              </a:ext>
            </a:extLst>
          </p:cNvPr>
          <p:cNvSpPr txBox="1"/>
          <p:nvPr/>
        </p:nvSpPr>
        <p:spPr>
          <a:xfrm>
            <a:off x="615949" y="1567438"/>
            <a:ext cx="11118851"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 đưa giá trị một ô nhớ sang 1 </a:t>
            </a:r>
            <a:r>
              <a:rPr lang="vi-VN" sz="1800" spc="5">
                <a:effectLst/>
                <a:latin typeface="Times New Roman" panose="02020603050405020304" pitchFamily="18" charset="0"/>
                <a:ea typeface="Times New Roman" panose="02020603050405020304" pitchFamily="18" charset="0"/>
              </a:rPr>
              <a:t>ô</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nhớ khác, có thể áp dụng cho mọi kiểu số khác nhau. (Int, Dint, Real, Byte….)</a:t>
            </a:r>
            <a:endParaRPr lang="en-US"/>
          </a:p>
        </p:txBody>
      </p:sp>
      <p:pic>
        <p:nvPicPr>
          <p:cNvPr id="27" name="Picture 26">
            <a:extLst>
              <a:ext uri="{FF2B5EF4-FFF2-40B4-BE49-F238E27FC236}">
                <a16:creationId xmlns:a16="http://schemas.microsoft.com/office/drawing/2014/main" id="{17FBD35F-BB39-483F-9F63-66E6420F76A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15949" y="1997266"/>
            <a:ext cx="3261360" cy="1157605"/>
          </a:xfrm>
          <a:prstGeom prst="rect">
            <a:avLst/>
          </a:prstGeom>
          <a:noFill/>
          <a:ln>
            <a:noFill/>
          </a:ln>
        </p:spPr>
      </p:pic>
      <p:sp>
        <p:nvSpPr>
          <p:cNvPr id="28" name="TextBox 27">
            <a:extLst>
              <a:ext uri="{FF2B5EF4-FFF2-40B4-BE49-F238E27FC236}">
                <a16:creationId xmlns:a16="http://schemas.microsoft.com/office/drawing/2014/main" id="{734293F4-89C2-4100-8FEE-57E9825ED851}"/>
              </a:ext>
            </a:extLst>
          </p:cNvPr>
          <p:cNvSpPr txBox="1"/>
          <p:nvPr/>
        </p:nvSpPr>
        <p:spPr>
          <a:xfrm>
            <a:off x="3877308" y="2185536"/>
            <a:ext cx="7857491" cy="646331"/>
          </a:xfrm>
          <a:prstGeom prst="rect">
            <a:avLst/>
          </a:prstGeom>
          <a:noFill/>
        </p:spPr>
        <p:txBody>
          <a:bodyPr wrap="square">
            <a:spAutoFit/>
          </a:bodyPr>
          <a:lstStyle/>
          <a:p>
            <a:r>
              <a:rPr lang="vi-VN" sz="1800" i="1">
                <a:effectLst/>
                <a:latin typeface="Times New Roman" panose="02020603050405020304" pitchFamily="18" charset="0"/>
                <a:ea typeface="Times New Roman" panose="02020603050405020304" pitchFamily="18" charset="0"/>
              </a:rPr>
              <a:t>Lệnh SHR_I</a:t>
            </a:r>
            <a:r>
              <a:rPr lang="vi-VN" sz="1800">
                <a:effectLst/>
                <a:latin typeface="Times New Roman" panose="02020603050405020304" pitchFamily="18" charset="0"/>
                <a:ea typeface="Times New Roman" panose="02020603050405020304" pitchFamily="18" charset="0"/>
              </a:rPr>
              <a:t>: Lệnh thực hiện việc dịch phải ô nhớ 16Bit, kết quả cất</a:t>
            </a:r>
            <a:r>
              <a:rPr lang="vi-VN" sz="1800" spc="4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vào ô</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nhớ</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 N</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 số</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 dịch.</a:t>
            </a:r>
            <a:endParaRPr lang="en-US"/>
          </a:p>
        </p:txBody>
      </p:sp>
      <p:pic>
        <p:nvPicPr>
          <p:cNvPr id="29" name="Picture 28">
            <a:extLst>
              <a:ext uri="{FF2B5EF4-FFF2-40B4-BE49-F238E27FC236}">
                <a16:creationId xmlns:a16="http://schemas.microsoft.com/office/drawing/2014/main" id="{A400F28C-6561-4EE8-B590-99DE7B208B0C}"/>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30365" y="3376569"/>
            <a:ext cx="3265996" cy="1464837"/>
          </a:xfrm>
          <a:prstGeom prst="rect">
            <a:avLst/>
          </a:prstGeom>
          <a:noFill/>
          <a:ln>
            <a:noFill/>
          </a:ln>
        </p:spPr>
      </p:pic>
      <p:sp>
        <p:nvSpPr>
          <p:cNvPr id="30" name="TextBox 29">
            <a:extLst>
              <a:ext uri="{FF2B5EF4-FFF2-40B4-BE49-F238E27FC236}">
                <a16:creationId xmlns:a16="http://schemas.microsoft.com/office/drawing/2014/main" id="{8A79A78C-E4D1-4CA4-9352-2B53CC8B29A7}"/>
              </a:ext>
            </a:extLst>
          </p:cNvPr>
          <p:cNvSpPr txBox="1"/>
          <p:nvPr/>
        </p:nvSpPr>
        <p:spPr>
          <a:xfrm>
            <a:off x="3896361" y="3888508"/>
            <a:ext cx="7838438" cy="646331"/>
          </a:xfrm>
          <a:prstGeom prst="rect">
            <a:avLst/>
          </a:prstGeom>
          <a:noFill/>
        </p:spPr>
        <p:txBody>
          <a:bodyPr wrap="square">
            <a:spAutoFit/>
          </a:bodyPr>
          <a:lstStyle/>
          <a:p>
            <a:r>
              <a:rPr lang="vi-VN" sz="1800" i="1">
                <a:effectLst/>
                <a:latin typeface="Times New Roman" panose="02020603050405020304" pitchFamily="18" charset="0"/>
                <a:ea typeface="Times New Roman" panose="02020603050405020304" pitchFamily="18" charset="0"/>
              </a:rPr>
              <a:t>Lệnh SHR_DI</a:t>
            </a:r>
            <a:r>
              <a:rPr lang="vi-VN" sz="1800">
                <a:effectLst/>
                <a:latin typeface="Times New Roman" panose="02020603050405020304" pitchFamily="18" charset="0"/>
                <a:ea typeface="Times New Roman" panose="02020603050405020304" pitchFamily="18" charset="0"/>
              </a:rPr>
              <a:t>: Lệnh thực hiện việc dịch phải ô nhớ 32Bit, kết quả cất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vào</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ô</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nhớ</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32</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số</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dịch.</a:t>
            </a:r>
            <a:endParaRPr lang="en-US"/>
          </a:p>
        </p:txBody>
      </p:sp>
      <p:pic>
        <p:nvPicPr>
          <p:cNvPr id="33" name="Picture 32">
            <a:extLst>
              <a:ext uri="{FF2B5EF4-FFF2-40B4-BE49-F238E27FC236}">
                <a16:creationId xmlns:a16="http://schemas.microsoft.com/office/drawing/2014/main" id="{604F2AA6-1578-4E41-AF5B-23219C623AB8}"/>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682624" y="5061686"/>
            <a:ext cx="2820670" cy="1388745"/>
          </a:xfrm>
          <a:prstGeom prst="rect">
            <a:avLst/>
          </a:prstGeom>
          <a:noFill/>
          <a:ln>
            <a:noFill/>
          </a:ln>
        </p:spPr>
      </p:pic>
      <p:sp>
        <p:nvSpPr>
          <p:cNvPr id="37" name="TextBox 36">
            <a:extLst>
              <a:ext uri="{FF2B5EF4-FFF2-40B4-BE49-F238E27FC236}">
                <a16:creationId xmlns:a16="http://schemas.microsoft.com/office/drawing/2014/main" id="{4C2937CC-AB5D-478C-BF93-DAFEF9ACE5C3}"/>
              </a:ext>
            </a:extLst>
          </p:cNvPr>
          <p:cNvSpPr txBox="1"/>
          <p:nvPr/>
        </p:nvSpPr>
        <p:spPr>
          <a:xfrm>
            <a:off x="3883657" y="5022962"/>
            <a:ext cx="7851142" cy="646331"/>
          </a:xfrm>
          <a:prstGeom prst="rect">
            <a:avLst/>
          </a:prstGeom>
          <a:noFill/>
        </p:spPr>
        <p:txBody>
          <a:bodyPr wrap="square">
            <a:spAutoFit/>
          </a:bodyPr>
          <a:lstStyle/>
          <a:p>
            <a:r>
              <a:rPr lang="vi-VN" sz="1800" i="1">
                <a:effectLst/>
                <a:latin typeface="Times New Roman" panose="02020603050405020304" pitchFamily="18" charset="0"/>
                <a:ea typeface="Times New Roman" panose="02020603050405020304" pitchFamily="18" charset="0"/>
              </a:rPr>
              <a:t>Lệnh</a:t>
            </a:r>
            <a:r>
              <a:rPr lang="vi-VN" sz="1800" i="1" spc="-45">
                <a:effectLst/>
                <a:latin typeface="Times New Roman" panose="02020603050405020304" pitchFamily="18" charset="0"/>
                <a:ea typeface="Times New Roman" panose="02020603050405020304" pitchFamily="18" charset="0"/>
              </a:rPr>
              <a:t> </a:t>
            </a:r>
            <a:r>
              <a:rPr lang="vi-VN" sz="1800" i="1">
                <a:effectLst/>
                <a:latin typeface="Times New Roman" panose="02020603050405020304" pitchFamily="18" charset="0"/>
                <a:ea typeface="Times New Roman" panose="02020603050405020304" pitchFamily="18" charset="0"/>
              </a:rPr>
              <a:t>SHL_W</a:t>
            </a:r>
            <a:r>
              <a:rPr lang="vi-VN" sz="1800">
                <a:effectLst/>
                <a:latin typeface="Times New Roman" panose="02020603050405020304" pitchFamily="18" charset="0"/>
                <a:ea typeface="Times New Roman" panose="02020603050405020304" pitchFamily="18" charset="0"/>
              </a:rPr>
              <a:t>:</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Lệnh</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thực</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việc</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dịch</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trái</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ô</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nhớ16Bit,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kết</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quả</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cất vào ô nhớ 16 Bit, N là số Bit dịch. Ô nhớ này được định dạng theo kiểu Word.</a:t>
            </a:r>
            <a:endParaRPr lang="en-US"/>
          </a:p>
        </p:txBody>
      </p:sp>
      <p:sp>
        <p:nvSpPr>
          <p:cNvPr id="45" name="TextBox 44">
            <a:extLst>
              <a:ext uri="{FF2B5EF4-FFF2-40B4-BE49-F238E27FC236}">
                <a16:creationId xmlns:a16="http://schemas.microsoft.com/office/drawing/2014/main" id="{88962753-6EAE-47BC-8C2C-9A4FEBAC4AA0}"/>
              </a:ext>
            </a:extLst>
          </p:cNvPr>
          <p:cNvSpPr txBox="1"/>
          <p:nvPr/>
        </p:nvSpPr>
        <p:spPr>
          <a:xfrm>
            <a:off x="3896361" y="5663811"/>
            <a:ext cx="7838438" cy="646331"/>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Nếu N lớn hơn 16 thì MW100 =0 và cờ CC0, OV trong thanh ghi trạng</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thái</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đều</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bằng</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0.</a:t>
            </a:r>
            <a:endParaRPr lang="en-US"/>
          </a:p>
        </p:txBody>
      </p:sp>
    </p:spTree>
    <p:extLst>
      <p:ext uri="{BB962C8B-B14F-4D97-AF65-F5344CB8AC3E}">
        <p14:creationId xmlns:p14="http://schemas.microsoft.com/office/powerpoint/2010/main" val="835941525"/>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ĐỔI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KIỂU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DỮ</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LIỆU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DI</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CHUYỂN</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253610"/>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Bộ</a:t>
            </a:r>
            <a:r>
              <a:rPr lang="vi-VN" sz="1800" b="1" spc="8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thời</a:t>
            </a:r>
            <a:r>
              <a:rPr lang="vi-VN" sz="1800" b="1" spc="8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gian</a:t>
            </a:r>
            <a:r>
              <a:rPr lang="vi-VN" sz="1800" b="1" spc="80">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(Timer)</a:t>
            </a:r>
            <a:endParaRPr lang="en-US"/>
          </a:p>
        </p:txBody>
      </p:sp>
      <p:sp>
        <p:nvSpPr>
          <p:cNvPr id="21" name="TextBox 20">
            <a:extLst>
              <a:ext uri="{FF2B5EF4-FFF2-40B4-BE49-F238E27FC236}">
                <a16:creationId xmlns:a16="http://schemas.microsoft.com/office/drawing/2014/main" id="{C9FC6919-C8E7-4B3F-861D-9F26D8028316}"/>
              </a:ext>
            </a:extLst>
          </p:cNvPr>
          <p:cNvSpPr txBox="1"/>
          <p:nvPr/>
        </p:nvSpPr>
        <p:spPr>
          <a:xfrm>
            <a:off x="615949" y="1671506"/>
            <a:ext cx="11277602"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Bộ</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thời</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gian</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bộ</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tạo</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thời</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gian</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trễ</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mong</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muốn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giữa</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logic đầu</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vào</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u(t)</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logic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đầu</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ra</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y(t).</a:t>
            </a:r>
            <a:endParaRPr lang="en-US"/>
          </a:p>
        </p:txBody>
      </p:sp>
      <p:sp>
        <p:nvSpPr>
          <p:cNvPr id="32" name="TextBox 31">
            <a:extLst>
              <a:ext uri="{FF2B5EF4-FFF2-40B4-BE49-F238E27FC236}">
                <a16:creationId xmlns:a16="http://schemas.microsoft.com/office/drawing/2014/main" id="{B5480CEB-8F3E-42E3-ACAE-AE504A22D316}"/>
              </a:ext>
            </a:extLst>
          </p:cNvPr>
          <p:cNvSpPr txBox="1"/>
          <p:nvPr/>
        </p:nvSpPr>
        <p:spPr>
          <a:xfrm>
            <a:off x="615949" y="2045460"/>
            <a:ext cx="11277602" cy="923330"/>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S7_300</a:t>
            </a:r>
            <a:r>
              <a:rPr lang="vi-VN" sz="1800" spc="-8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5</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loại</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Timer</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khác</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nhau.</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Thời</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gian</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trễ</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mong</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muốn</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được khai</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báo</a:t>
            </a:r>
            <a:r>
              <a:rPr lang="vi-VN" sz="1800" spc="-7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với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Timer</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bằng</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giá</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16</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bits</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trong</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đó</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2</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bits</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cao</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nhất không</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sử</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dụng,</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2bits</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cao</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kế</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tiếp</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độ</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phân</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giải</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Timer,</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12 bits thấp</a:t>
            </a:r>
            <a:r>
              <a:rPr lang="vi-VN" sz="1800" spc="-9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 1 số nguyên BCD trong khoảng 0</a:t>
            </a:r>
            <a:r>
              <a:rPr lang="vi-VN" sz="1800" spc="-90">
                <a:effectLst/>
                <a:latin typeface="Times New Roman" panose="02020603050405020304" pitchFamily="18" charset="0"/>
                <a:ea typeface="Times New Roman" panose="02020603050405020304" pitchFamily="18" charset="0"/>
              </a:rPr>
              <a:t> </a:t>
            </a:r>
            <a:r>
              <a:rPr lang="vi-VN" sz="1600">
                <a:effectLst/>
                <a:latin typeface="Times New Roman" panose="02020603050405020304" pitchFamily="18" charset="0"/>
                <a:ea typeface="Times New Roman" panose="02020603050405020304" pitchFamily="18" charset="0"/>
              </a:rPr>
              <a:t></a:t>
            </a:r>
            <a:r>
              <a:rPr lang="vi-VN" sz="1600" spc="-7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999 được gọi là PV(Preset Value).</a:t>
            </a:r>
            <a:endParaRPr lang="en-US"/>
          </a:p>
        </p:txBody>
      </p:sp>
      <p:sp>
        <p:nvSpPr>
          <p:cNvPr id="34" name="TextBox 33">
            <a:extLst>
              <a:ext uri="{FF2B5EF4-FFF2-40B4-BE49-F238E27FC236}">
                <a16:creationId xmlns:a16="http://schemas.microsoft.com/office/drawing/2014/main" id="{599B0783-10BD-410C-9044-3148304F9A92}"/>
              </a:ext>
            </a:extLst>
          </p:cNvPr>
          <p:cNvSpPr txBox="1"/>
          <p:nvPr/>
        </p:nvSpPr>
        <p:spPr>
          <a:xfrm>
            <a:off x="615949" y="2973412"/>
            <a:ext cx="60960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Thời</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gian</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trễ</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chính</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30">
                <a:effectLst/>
                <a:latin typeface="Times New Roman" panose="02020603050405020304" pitchFamily="18" charset="0"/>
                <a:ea typeface="Times New Roman" panose="02020603050405020304" pitchFamily="18" charset="0"/>
              </a:rPr>
              <a:t> </a:t>
            </a:r>
            <a:r>
              <a:rPr lang="vi-VN" sz="1800" spc="-10">
                <a:effectLst/>
                <a:latin typeface="Times New Roman" panose="02020603050405020304" pitchFamily="18" charset="0"/>
                <a:ea typeface="Times New Roman" panose="02020603050405020304" pitchFamily="18" charset="0"/>
              </a:rPr>
              <a:t>tích:</a:t>
            </a:r>
            <a:endParaRPr lang="en-US"/>
          </a:p>
        </p:txBody>
      </p:sp>
      <p:sp>
        <p:nvSpPr>
          <p:cNvPr id="35" name="TextBox 34">
            <a:extLst>
              <a:ext uri="{FF2B5EF4-FFF2-40B4-BE49-F238E27FC236}">
                <a16:creationId xmlns:a16="http://schemas.microsoft.com/office/drawing/2014/main" id="{279BB90C-75B7-4701-A48E-D6D995E374BE}"/>
              </a:ext>
            </a:extLst>
          </p:cNvPr>
          <p:cNvSpPr txBox="1"/>
          <p:nvPr/>
        </p:nvSpPr>
        <p:spPr>
          <a:xfrm>
            <a:off x="615949" y="3347367"/>
            <a:ext cx="60960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T</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Độ</a:t>
            </a:r>
            <a:r>
              <a:rPr lang="vi-VN" sz="1800" spc="-1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phân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giải</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20">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PV</a:t>
            </a:r>
            <a:endParaRPr lang="en-US"/>
          </a:p>
        </p:txBody>
      </p:sp>
      <p:graphicFrame>
        <p:nvGraphicFramePr>
          <p:cNvPr id="6" name="Table 5">
            <a:extLst>
              <a:ext uri="{FF2B5EF4-FFF2-40B4-BE49-F238E27FC236}">
                <a16:creationId xmlns:a16="http://schemas.microsoft.com/office/drawing/2014/main" id="{4E96CA81-B2ED-4D38-B979-B8D8F1D708AF}"/>
              </a:ext>
            </a:extLst>
          </p:cNvPr>
          <p:cNvGraphicFramePr>
            <a:graphicFrameLocks noGrp="1"/>
          </p:cNvGraphicFramePr>
          <p:nvPr>
            <p:extLst/>
          </p:nvPr>
        </p:nvGraphicFramePr>
        <p:xfrm>
          <a:off x="4402452" y="2780039"/>
          <a:ext cx="4414835" cy="565722"/>
        </p:xfrm>
        <a:graphic>
          <a:graphicData uri="http://schemas.openxmlformats.org/drawingml/2006/table">
            <a:tbl>
              <a:tblPr firstRow="1" firstCol="1" lastRow="1" lastCol="1" bandRow="1" bandCol="1">
                <a:tableStyleId>{5C22544A-7EE6-4342-B048-85BDC9FD1C3A}</a:tableStyleId>
              </a:tblPr>
              <a:tblGrid>
                <a:gridCol w="302370">
                  <a:extLst>
                    <a:ext uri="{9D8B030D-6E8A-4147-A177-3AD203B41FA5}">
                      <a16:colId xmlns:a16="http://schemas.microsoft.com/office/drawing/2014/main" val="376636265"/>
                    </a:ext>
                  </a:extLst>
                </a:gridCol>
                <a:gridCol w="301796">
                  <a:extLst>
                    <a:ext uri="{9D8B030D-6E8A-4147-A177-3AD203B41FA5}">
                      <a16:colId xmlns:a16="http://schemas.microsoft.com/office/drawing/2014/main" val="3081523995"/>
                    </a:ext>
                  </a:extLst>
                </a:gridCol>
                <a:gridCol w="302945">
                  <a:extLst>
                    <a:ext uri="{9D8B030D-6E8A-4147-A177-3AD203B41FA5}">
                      <a16:colId xmlns:a16="http://schemas.microsoft.com/office/drawing/2014/main" val="2043269872"/>
                    </a:ext>
                  </a:extLst>
                </a:gridCol>
                <a:gridCol w="302370">
                  <a:extLst>
                    <a:ext uri="{9D8B030D-6E8A-4147-A177-3AD203B41FA5}">
                      <a16:colId xmlns:a16="http://schemas.microsoft.com/office/drawing/2014/main" val="795455390"/>
                    </a:ext>
                  </a:extLst>
                </a:gridCol>
                <a:gridCol w="302370">
                  <a:extLst>
                    <a:ext uri="{9D8B030D-6E8A-4147-A177-3AD203B41FA5}">
                      <a16:colId xmlns:a16="http://schemas.microsoft.com/office/drawing/2014/main" val="322226465"/>
                    </a:ext>
                  </a:extLst>
                </a:gridCol>
                <a:gridCol w="302945">
                  <a:extLst>
                    <a:ext uri="{9D8B030D-6E8A-4147-A177-3AD203B41FA5}">
                      <a16:colId xmlns:a16="http://schemas.microsoft.com/office/drawing/2014/main" val="2631295516"/>
                    </a:ext>
                  </a:extLst>
                </a:gridCol>
                <a:gridCol w="258682">
                  <a:extLst>
                    <a:ext uri="{9D8B030D-6E8A-4147-A177-3AD203B41FA5}">
                      <a16:colId xmlns:a16="http://schemas.microsoft.com/office/drawing/2014/main" val="2435571964"/>
                    </a:ext>
                  </a:extLst>
                </a:gridCol>
                <a:gridCol w="259257">
                  <a:extLst>
                    <a:ext uri="{9D8B030D-6E8A-4147-A177-3AD203B41FA5}">
                      <a16:colId xmlns:a16="http://schemas.microsoft.com/office/drawing/2014/main" val="2627386550"/>
                    </a:ext>
                  </a:extLst>
                </a:gridCol>
                <a:gridCol w="260406">
                  <a:extLst>
                    <a:ext uri="{9D8B030D-6E8A-4147-A177-3AD203B41FA5}">
                      <a16:colId xmlns:a16="http://schemas.microsoft.com/office/drawing/2014/main" val="1944801998"/>
                    </a:ext>
                  </a:extLst>
                </a:gridCol>
                <a:gridCol w="260406">
                  <a:extLst>
                    <a:ext uri="{9D8B030D-6E8A-4147-A177-3AD203B41FA5}">
                      <a16:colId xmlns:a16="http://schemas.microsoft.com/office/drawing/2014/main" val="1305530440"/>
                    </a:ext>
                  </a:extLst>
                </a:gridCol>
                <a:gridCol w="259832">
                  <a:extLst>
                    <a:ext uri="{9D8B030D-6E8A-4147-A177-3AD203B41FA5}">
                      <a16:colId xmlns:a16="http://schemas.microsoft.com/office/drawing/2014/main" val="3776192157"/>
                    </a:ext>
                  </a:extLst>
                </a:gridCol>
                <a:gridCol w="260406">
                  <a:extLst>
                    <a:ext uri="{9D8B030D-6E8A-4147-A177-3AD203B41FA5}">
                      <a16:colId xmlns:a16="http://schemas.microsoft.com/office/drawing/2014/main" val="3241627248"/>
                    </a:ext>
                  </a:extLst>
                </a:gridCol>
                <a:gridCol w="260406">
                  <a:extLst>
                    <a:ext uri="{9D8B030D-6E8A-4147-A177-3AD203B41FA5}">
                      <a16:colId xmlns:a16="http://schemas.microsoft.com/office/drawing/2014/main" val="3523755303"/>
                    </a:ext>
                  </a:extLst>
                </a:gridCol>
                <a:gridCol w="259832">
                  <a:extLst>
                    <a:ext uri="{9D8B030D-6E8A-4147-A177-3AD203B41FA5}">
                      <a16:colId xmlns:a16="http://schemas.microsoft.com/office/drawing/2014/main" val="382416805"/>
                    </a:ext>
                  </a:extLst>
                </a:gridCol>
                <a:gridCol w="260406">
                  <a:extLst>
                    <a:ext uri="{9D8B030D-6E8A-4147-A177-3AD203B41FA5}">
                      <a16:colId xmlns:a16="http://schemas.microsoft.com/office/drawing/2014/main" val="477159284"/>
                    </a:ext>
                  </a:extLst>
                </a:gridCol>
                <a:gridCol w="260406">
                  <a:extLst>
                    <a:ext uri="{9D8B030D-6E8A-4147-A177-3AD203B41FA5}">
                      <a16:colId xmlns:a16="http://schemas.microsoft.com/office/drawing/2014/main" val="1227654501"/>
                    </a:ext>
                  </a:extLst>
                </a:gridCol>
              </a:tblGrid>
              <a:tr h="534264">
                <a:tc>
                  <a:txBody>
                    <a:bodyPr/>
                    <a:lstStyle/>
                    <a:p>
                      <a:pPr>
                        <a:lnSpc>
                          <a:spcPct val="107000"/>
                        </a:lnSpc>
                        <a:spcAft>
                          <a:spcPts val="800"/>
                        </a:spcAft>
                      </a:pPr>
                      <a:r>
                        <a:rPr lang="vi-VN" sz="1600">
                          <a:effectLst/>
                        </a:rPr>
                        <a:t> </a:t>
                      </a:r>
                      <a:endParaRPr lang="en-US" sz="1000">
                        <a:effectLst/>
                      </a:endParaRPr>
                    </a:p>
                    <a:p>
                      <a:pPr marL="67945">
                        <a:lnSpc>
                          <a:spcPts val="1550"/>
                        </a:lnSpc>
                        <a:spcAft>
                          <a:spcPts val="800"/>
                        </a:spcAft>
                      </a:pPr>
                      <a:r>
                        <a:rPr lang="vi-VN" sz="1300" spc="-25">
                          <a:effectLst/>
                        </a:rPr>
                        <a:t>15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310">
                        <a:lnSpc>
                          <a:spcPct val="107000"/>
                        </a:lnSpc>
                        <a:spcBef>
                          <a:spcPts val="185"/>
                        </a:spcBef>
                        <a:spcAft>
                          <a:spcPts val="800"/>
                        </a:spcAft>
                      </a:pPr>
                      <a:r>
                        <a:rPr lang="vi-VN" sz="1300" spc="-25">
                          <a:effectLst/>
                        </a:rPr>
                        <a:t>14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310">
                        <a:lnSpc>
                          <a:spcPct val="107000"/>
                        </a:lnSpc>
                        <a:spcBef>
                          <a:spcPts val="185"/>
                        </a:spcBef>
                        <a:spcAft>
                          <a:spcPts val="800"/>
                        </a:spcAft>
                      </a:pPr>
                      <a:r>
                        <a:rPr lang="vi-VN" sz="1300" spc="-25">
                          <a:effectLst/>
                        </a:rPr>
                        <a:t>13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675">
                        <a:lnSpc>
                          <a:spcPct val="107000"/>
                        </a:lnSpc>
                        <a:spcBef>
                          <a:spcPts val="185"/>
                        </a:spcBef>
                        <a:spcAft>
                          <a:spcPts val="800"/>
                        </a:spcAft>
                      </a:pPr>
                      <a:r>
                        <a:rPr lang="vi-VN" sz="1300" spc="-25">
                          <a:effectLst/>
                        </a:rPr>
                        <a:t>12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310">
                        <a:lnSpc>
                          <a:spcPct val="107000"/>
                        </a:lnSpc>
                        <a:spcBef>
                          <a:spcPts val="185"/>
                        </a:spcBef>
                        <a:spcAft>
                          <a:spcPts val="800"/>
                        </a:spcAft>
                      </a:pPr>
                      <a:r>
                        <a:rPr lang="vi-VN" sz="1300" spc="-25">
                          <a:effectLst/>
                        </a:rPr>
                        <a:t>11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675">
                        <a:lnSpc>
                          <a:spcPct val="107000"/>
                        </a:lnSpc>
                        <a:spcBef>
                          <a:spcPts val="185"/>
                        </a:spcBef>
                        <a:spcAft>
                          <a:spcPts val="800"/>
                        </a:spcAft>
                      </a:pPr>
                      <a:r>
                        <a:rPr lang="vi-VN" sz="1300" spc="-25">
                          <a:effectLst/>
                        </a:rPr>
                        <a:t>10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040">
                        <a:lnSpc>
                          <a:spcPct val="107000"/>
                        </a:lnSpc>
                        <a:spcBef>
                          <a:spcPts val="185"/>
                        </a:spcBef>
                        <a:spcAft>
                          <a:spcPts val="800"/>
                        </a:spcAft>
                      </a:pPr>
                      <a:r>
                        <a:rPr lang="vi-VN" sz="1300">
                          <a:effectLst/>
                        </a:rPr>
                        <a:t>9</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675">
                        <a:lnSpc>
                          <a:spcPct val="107000"/>
                        </a:lnSpc>
                        <a:spcBef>
                          <a:spcPts val="185"/>
                        </a:spcBef>
                        <a:spcAft>
                          <a:spcPts val="800"/>
                        </a:spcAft>
                      </a:pPr>
                      <a:r>
                        <a:rPr lang="vi-VN" sz="1300">
                          <a:effectLst/>
                        </a:rPr>
                        <a:t>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675">
                        <a:lnSpc>
                          <a:spcPct val="107000"/>
                        </a:lnSpc>
                        <a:spcBef>
                          <a:spcPts val="185"/>
                        </a:spcBef>
                        <a:spcAft>
                          <a:spcPts val="800"/>
                        </a:spcAft>
                      </a:pPr>
                      <a:r>
                        <a:rPr lang="vi-VN" sz="1300">
                          <a:effectLst/>
                        </a:rPr>
                        <a:t>7</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675">
                        <a:lnSpc>
                          <a:spcPct val="107000"/>
                        </a:lnSpc>
                        <a:spcBef>
                          <a:spcPts val="185"/>
                        </a:spcBef>
                        <a:spcAft>
                          <a:spcPts val="800"/>
                        </a:spcAft>
                      </a:pPr>
                      <a:r>
                        <a:rPr lang="vi-VN" sz="1300">
                          <a:effectLst/>
                        </a:rPr>
                        <a:t>6</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5405">
                        <a:lnSpc>
                          <a:spcPct val="107000"/>
                        </a:lnSpc>
                        <a:spcBef>
                          <a:spcPts val="185"/>
                        </a:spcBef>
                        <a:spcAft>
                          <a:spcPts val="800"/>
                        </a:spcAft>
                      </a:pPr>
                      <a:r>
                        <a:rPr lang="vi-VN" sz="13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6040">
                        <a:lnSpc>
                          <a:spcPct val="107000"/>
                        </a:lnSpc>
                        <a:spcBef>
                          <a:spcPts val="185"/>
                        </a:spcBef>
                        <a:spcAft>
                          <a:spcPts val="800"/>
                        </a:spcAft>
                      </a:pPr>
                      <a:r>
                        <a:rPr lang="vi-VN" sz="1300">
                          <a:effectLst/>
                        </a:rPr>
                        <a:t>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5405">
                        <a:lnSpc>
                          <a:spcPct val="107000"/>
                        </a:lnSpc>
                        <a:spcBef>
                          <a:spcPts val="185"/>
                        </a:spcBef>
                        <a:spcAft>
                          <a:spcPts val="800"/>
                        </a:spcAft>
                      </a:pPr>
                      <a:r>
                        <a:rPr lang="vi-VN" sz="1300">
                          <a:effectLst/>
                        </a:rPr>
                        <a:t>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4135">
                        <a:lnSpc>
                          <a:spcPct val="107000"/>
                        </a:lnSpc>
                        <a:spcBef>
                          <a:spcPts val="185"/>
                        </a:spcBef>
                        <a:spcAft>
                          <a:spcPts val="800"/>
                        </a:spcAft>
                      </a:pPr>
                      <a:r>
                        <a:rPr lang="vi-VN" sz="13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4770">
                        <a:lnSpc>
                          <a:spcPct val="107000"/>
                        </a:lnSpc>
                        <a:spcBef>
                          <a:spcPts val="185"/>
                        </a:spcBef>
                        <a:spcAft>
                          <a:spcPts val="800"/>
                        </a:spcAft>
                      </a:pPr>
                      <a:r>
                        <a:rPr lang="vi-VN" sz="13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4135">
                        <a:lnSpc>
                          <a:spcPct val="107000"/>
                        </a:lnSpc>
                        <a:spcBef>
                          <a:spcPts val="185"/>
                        </a:spcBef>
                        <a:spcAft>
                          <a:spcPts val="800"/>
                        </a:spcAft>
                      </a:pPr>
                      <a:r>
                        <a:rPr lang="vi-VN" sz="1300">
                          <a:effectLst/>
                        </a:rPr>
                        <a:t>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076602769"/>
                  </a:ext>
                </a:extLst>
              </a:tr>
            </a:tbl>
          </a:graphicData>
        </a:graphic>
      </p:graphicFrame>
      <p:sp>
        <p:nvSpPr>
          <p:cNvPr id="36" name="Freeform: Shape 35">
            <a:extLst>
              <a:ext uri="{FF2B5EF4-FFF2-40B4-BE49-F238E27FC236}">
                <a16:creationId xmlns:a16="http://schemas.microsoft.com/office/drawing/2014/main" id="{E03D3453-4185-499E-A79F-32EBC61E098C}"/>
              </a:ext>
            </a:extLst>
          </p:cNvPr>
          <p:cNvSpPr>
            <a:spLocks/>
          </p:cNvSpPr>
          <p:nvPr/>
        </p:nvSpPr>
        <p:spPr bwMode="auto">
          <a:xfrm>
            <a:off x="4567551" y="3348757"/>
            <a:ext cx="360045" cy="114300"/>
          </a:xfrm>
          <a:custGeom>
            <a:avLst/>
            <a:gdLst>
              <a:gd name="T0" fmla="+- 0 3441 3441"/>
              <a:gd name="T1" fmla="*/ T0 w 567"/>
              <a:gd name="T2" fmla="+- 0 -374 -374"/>
              <a:gd name="T3" fmla="*/ -374 h 180"/>
              <a:gd name="T4" fmla="+- 0 3445 3441"/>
              <a:gd name="T5" fmla="*/ T4 w 567"/>
              <a:gd name="T6" fmla="+- 0 -339 -374"/>
              <a:gd name="T7" fmla="*/ -339 h 180"/>
              <a:gd name="T8" fmla="+- 0 3455 3441"/>
              <a:gd name="T9" fmla="*/ T8 w 567"/>
              <a:gd name="T10" fmla="+- 0 -311 -374"/>
              <a:gd name="T11" fmla="*/ -311 h 180"/>
              <a:gd name="T12" fmla="+- 0 3470 3441"/>
              <a:gd name="T13" fmla="*/ T12 w 567"/>
              <a:gd name="T14" fmla="+- 0 -291 -374"/>
              <a:gd name="T15" fmla="*/ -291 h 180"/>
              <a:gd name="T16" fmla="+- 0 3488 3441"/>
              <a:gd name="T17" fmla="*/ T16 w 567"/>
              <a:gd name="T18" fmla="+- 0 -284 -374"/>
              <a:gd name="T19" fmla="*/ -284 h 180"/>
              <a:gd name="T20" fmla="+- 0 3677 3441"/>
              <a:gd name="T21" fmla="*/ T20 w 567"/>
              <a:gd name="T22" fmla="+- 0 -284 -374"/>
              <a:gd name="T23" fmla="*/ -284 h 180"/>
              <a:gd name="T24" fmla="+- 0 3696 3441"/>
              <a:gd name="T25" fmla="*/ T24 w 567"/>
              <a:gd name="T26" fmla="+- 0 -277 -374"/>
              <a:gd name="T27" fmla="*/ -277 h 180"/>
              <a:gd name="T28" fmla="+- 0 3711 3441"/>
              <a:gd name="T29" fmla="*/ T28 w 567"/>
              <a:gd name="T30" fmla="+- 0 -258 -374"/>
              <a:gd name="T31" fmla="*/ -258 h 180"/>
              <a:gd name="T32" fmla="+- 0 3721 3441"/>
              <a:gd name="T33" fmla="*/ T32 w 567"/>
              <a:gd name="T34" fmla="+- 0 -229 -374"/>
              <a:gd name="T35" fmla="*/ -229 h 180"/>
              <a:gd name="T36" fmla="+- 0 3724 3441"/>
              <a:gd name="T37" fmla="*/ T36 w 567"/>
              <a:gd name="T38" fmla="+- 0 -194 -374"/>
              <a:gd name="T39" fmla="*/ -194 h 180"/>
              <a:gd name="T40" fmla="+- 0 3728 3441"/>
              <a:gd name="T41" fmla="*/ T40 w 567"/>
              <a:gd name="T42" fmla="+- 0 -229 -374"/>
              <a:gd name="T43" fmla="*/ -229 h 180"/>
              <a:gd name="T44" fmla="+- 0 3738 3441"/>
              <a:gd name="T45" fmla="*/ T44 w 567"/>
              <a:gd name="T46" fmla="+- 0 -258 -374"/>
              <a:gd name="T47" fmla="*/ -258 h 180"/>
              <a:gd name="T48" fmla="+- 0 3753 3441"/>
              <a:gd name="T49" fmla="*/ T48 w 567"/>
              <a:gd name="T50" fmla="+- 0 -277 -374"/>
              <a:gd name="T51" fmla="*/ -277 h 180"/>
              <a:gd name="T52" fmla="+- 0 3772 3441"/>
              <a:gd name="T53" fmla="*/ T52 w 567"/>
              <a:gd name="T54" fmla="+- 0 -284 -374"/>
              <a:gd name="T55" fmla="*/ -284 h 180"/>
              <a:gd name="T56" fmla="+- 0 3961 3441"/>
              <a:gd name="T57" fmla="*/ T56 w 567"/>
              <a:gd name="T58" fmla="+- 0 -284 -374"/>
              <a:gd name="T59" fmla="*/ -284 h 180"/>
              <a:gd name="T60" fmla="+- 0 3979 3441"/>
              <a:gd name="T61" fmla="*/ T60 w 567"/>
              <a:gd name="T62" fmla="+- 0 -291 -374"/>
              <a:gd name="T63" fmla="*/ -291 h 180"/>
              <a:gd name="T64" fmla="+- 0 3994 3441"/>
              <a:gd name="T65" fmla="*/ T64 w 567"/>
              <a:gd name="T66" fmla="+- 0 -311 -374"/>
              <a:gd name="T67" fmla="*/ -311 h 180"/>
              <a:gd name="T68" fmla="+- 0 4004 3441"/>
              <a:gd name="T69" fmla="*/ T68 w 567"/>
              <a:gd name="T70" fmla="+- 0 -339 -374"/>
              <a:gd name="T71" fmla="*/ -339 h 180"/>
              <a:gd name="T72" fmla="+- 0 4008 3441"/>
              <a:gd name="T73" fmla="*/ T72 w 567"/>
              <a:gd name="T74" fmla="+- 0 -374 -374"/>
              <a:gd name="T75" fmla="*/ -374 h 1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567" h="180">
                <a:moveTo>
                  <a:pt x="0" y="0"/>
                </a:moveTo>
                <a:lnTo>
                  <a:pt x="4" y="35"/>
                </a:lnTo>
                <a:lnTo>
                  <a:pt x="14" y="63"/>
                </a:lnTo>
                <a:lnTo>
                  <a:pt x="29" y="83"/>
                </a:lnTo>
                <a:lnTo>
                  <a:pt x="47" y="90"/>
                </a:lnTo>
                <a:lnTo>
                  <a:pt x="236" y="90"/>
                </a:lnTo>
                <a:lnTo>
                  <a:pt x="255" y="97"/>
                </a:lnTo>
                <a:lnTo>
                  <a:pt x="270" y="116"/>
                </a:lnTo>
                <a:lnTo>
                  <a:pt x="280" y="145"/>
                </a:lnTo>
                <a:lnTo>
                  <a:pt x="283" y="180"/>
                </a:lnTo>
                <a:lnTo>
                  <a:pt x="287" y="145"/>
                </a:lnTo>
                <a:lnTo>
                  <a:pt x="297" y="116"/>
                </a:lnTo>
                <a:lnTo>
                  <a:pt x="312" y="97"/>
                </a:lnTo>
                <a:lnTo>
                  <a:pt x="331" y="90"/>
                </a:lnTo>
                <a:lnTo>
                  <a:pt x="520" y="90"/>
                </a:lnTo>
                <a:lnTo>
                  <a:pt x="538" y="83"/>
                </a:lnTo>
                <a:lnTo>
                  <a:pt x="553" y="63"/>
                </a:lnTo>
                <a:lnTo>
                  <a:pt x="563" y="35"/>
                </a:lnTo>
                <a:lnTo>
                  <a:pt x="567"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nvGrpSpPr>
          <p:cNvPr id="38" name="Group 37">
            <a:extLst>
              <a:ext uri="{FF2B5EF4-FFF2-40B4-BE49-F238E27FC236}">
                <a16:creationId xmlns:a16="http://schemas.microsoft.com/office/drawing/2014/main" id="{98005AAF-831B-46ED-AEF6-BE166D9B12A5}"/>
              </a:ext>
            </a:extLst>
          </p:cNvPr>
          <p:cNvGrpSpPr>
            <a:grpSpLocks/>
          </p:cNvGrpSpPr>
          <p:nvPr/>
        </p:nvGrpSpPr>
        <p:grpSpPr bwMode="auto">
          <a:xfrm>
            <a:off x="5115877" y="3357559"/>
            <a:ext cx="359410" cy="914400"/>
            <a:chOff x="4301" y="-375"/>
            <a:chExt cx="566" cy="1440"/>
          </a:xfrm>
        </p:grpSpPr>
        <p:sp>
          <p:nvSpPr>
            <p:cNvPr id="39" name="docshape47">
              <a:extLst>
                <a:ext uri="{FF2B5EF4-FFF2-40B4-BE49-F238E27FC236}">
                  <a16:creationId xmlns:a16="http://schemas.microsoft.com/office/drawing/2014/main" id="{DEE9BF5E-E382-49E8-9889-8C415C3880AB}"/>
                </a:ext>
              </a:extLst>
            </p:cNvPr>
            <p:cNvSpPr>
              <a:spLocks/>
            </p:cNvSpPr>
            <p:nvPr/>
          </p:nvSpPr>
          <p:spPr bwMode="auto">
            <a:xfrm>
              <a:off x="4301" y="-375"/>
              <a:ext cx="566" cy="180"/>
            </a:xfrm>
            <a:custGeom>
              <a:avLst/>
              <a:gdLst>
                <a:gd name="T0" fmla="+- 0 4301 4301"/>
                <a:gd name="T1" fmla="*/ T0 w 566"/>
                <a:gd name="T2" fmla="+- 0 -374 -374"/>
                <a:gd name="T3" fmla="*/ -374 h 180"/>
                <a:gd name="T4" fmla="+- 0 4305 4301"/>
                <a:gd name="T5" fmla="*/ T4 w 566"/>
                <a:gd name="T6" fmla="+- 0 -339 -374"/>
                <a:gd name="T7" fmla="*/ -339 h 180"/>
                <a:gd name="T8" fmla="+- 0 4315 4301"/>
                <a:gd name="T9" fmla="*/ T8 w 566"/>
                <a:gd name="T10" fmla="+- 0 -311 -374"/>
                <a:gd name="T11" fmla="*/ -311 h 180"/>
                <a:gd name="T12" fmla="+- 0 4330 4301"/>
                <a:gd name="T13" fmla="*/ T12 w 566"/>
                <a:gd name="T14" fmla="+- 0 -291 -374"/>
                <a:gd name="T15" fmla="*/ -291 h 180"/>
                <a:gd name="T16" fmla="+- 0 4348 4301"/>
                <a:gd name="T17" fmla="*/ T16 w 566"/>
                <a:gd name="T18" fmla="+- 0 -284 -374"/>
                <a:gd name="T19" fmla="*/ -284 h 180"/>
                <a:gd name="T20" fmla="+- 0 4537 4301"/>
                <a:gd name="T21" fmla="*/ T20 w 566"/>
                <a:gd name="T22" fmla="+- 0 -284 -374"/>
                <a:gd name="T23" fmla="*/ -284 h 180"/>
                <a:gd name="T24" fmla="+- 0 4555 4301"/>
                <a:gd name="T25" fmla="*/ T24 w 566"/>
                <a:gd name="T26" fmla="+- 0 -277 -374"/>
                <a:gd name="T27" fmla="*/ -277 h 180"/>
                <a:gd name="T28" fmla="+- 0 4570 4301"/>
                <a:gd name="T29" fmla="*/ T28 w 566"/>
                <a:gd name="T30" fmla="+- 0 -258 -374"/>
                <a:gd name="T31" fmla="*/ -258 h 180"/>
                <a:gd name="T32" fmla="+- 0 4580 4301"/>
                <a:gd name="T33" fmla="*/ T32 w 566"/>
                <a:gd name="T34" fmla="+- 0 -229 -374"/>
                <a:gd name="T35" fmla="*/ -229 h 180"/>
                <a:gd name="T36" fmla="+- 0 4584 4301"/>
                <a:gd name="T37" fmla="*/ T36 w 566"/>
                <a:gd name="T38" fmla="+- 0 -194 -374"/>
                <a:gd name="T39" fmla="*/ -194 h 180"/>
                <a:gd name="T40" fmla="+- 0 4588 4301"/>
                <a:gd name="T41" fmla="*/ T40 w 566"/>
                <a:gd name="T42" fmla="+- 0 -229 -374"/>
                <a:gd name="T43" fmla="*/ -229 h 180"/>
                <a:gd name="T44" fmla="+- 0 4598 4301"/>
                <a:gd name="T45" fmla="*/ T44 w 566"/>
                <a:gd name="T46" fmla="+- 0 -258 -374"/>
                <a:gd name="T47" fmla="*/ -258 h 180"/>
                <a:gd name="T48" fmla="+- 0 4613 4301"/>
                <a:gd name="T49" fmla="*/ T48 w 566"/>
                <a:gd name="T50" fmla="+- 0 -277 -374"/>
                <a:gd name="T51" fmla="*/ -277 h 180"/>
                <a:gd name="T52" fmla="+- 0 4631 4301"/>
                <a:gd name="T53" fmla="*/ T52 w 566"/>
                <a:gd name="T54" fmla="+- 0 -284 -374"/>
                <a:gd name="T55" fmla="*/ -284 h 180"/>
                <a:gd name="T56" fmla="+- 0 4820 4301"/>
                <a:gd name="T57" fmla="*/ T56 w 566"/>
                <a:gd name="T58" fmla="+- 0 -284 -374"/>
                <a:gd name="T59" fmla="*/ -284 h 180"/>
                <a:gd name="T60" fmla="+- 0 4838 4301"/>
                <a:gd name="T61" fmla="*/ T60 w 566"/>
                <a:gd name="T62" fmla="+- 0 -291 -374"/>
                <a:gd name="T63" fmla="*/ -291 h 180"/>
                <a:gd name="T64" fmla="+- 0 4853 4301"/>
                <a:gd name="T65" fmla="*/ T64 w 566"/>
                <a:gd name="T66" fmla="+- 0 -311 -374"/>
                <a:gd name="T67" fmla="*/ -311 h 180"/>
                <a:gd name="T68" fmla="+- 0 4863 4301"/>
                <a:gd name="T69" fmla="*/ T68 w 566"/>
                <a:gd name="T70" fmla="+- 0 -339 -374"/>
                <a:gd name="T71" fmla="*/ -339 h 180"/>
                <a:gd name="T72" fmla="+- 0 4867 4301"/>
                <a:gd name="T73" fmla="*/ T72 w 566"/>
                <a:gd name="T74" fmla="+- 0 -374 -374"/>
                <a:gd name="T75" fmla="*/ -374 h 1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566" h="180">
                  <a:moveTo>
                    <a:pt x="0" y="0"/>
                  </a:moveTo>
                  <a:lnTo>
                    <a:pt x="4" y="35"/>
                  </a:lnTo>
                  <a:lnTo>
                    <a:pt x="14" y="63"/>
                  </a:lnTo>
                  <a:lnTo>
                    <a:pt x="29" y="83"/>
                  </a:lnTo>
                  <a:lnTo>
                    <a:pt x="47" y="90"/>
                  </a:lnTo>
                  <a:lnTo>
                    <a:pt x="236" y="90"/>
                  </a:lnTo>
                  <a:lnTo>
                    <a:pt x="254" y="97"/>
                  </a:lnTo>
                  <a:lnTo>
                    <a:pt x="269" y="116"/>
                  </a:lnTo>
                  <a:lnTo>
                    <a:pt x="279" y="145"/>
                  </a:lnTo>
                  <a:lnTo>
                    <a:pt x="283" y="180"/>
                  </a:lnTo>
                  <a:lnTo>
                    <a:pt x="287" y="145"/>
                  </a:lnTo>
                  <a:lnTo>
                    <a:pt x="297" y="116"/>
                  </a:lnTo>
                  <a:lnTo>
                    <a:pt x="312" y="97"/>
                  </a:lnTo>
                  <a:lnTo>
                    <a:pt x="330" y="90"/>
                  </a:lnTo>
                  <a:lnTo>
                    <a:pt x="519" y="90"/>
                  </a:lnTo>
                  <a:lnTo>
                    <a:pt x="537" y="83"/>
                  </a:lnTo>
                  <a:lnTo>
                    <a:pt x="552" y="63"/>
                  </a:lnTo>
                  <a:lnTo>
                    <a:pt x="562" y="35"/>
                  </a:lnTo>
                  <a:lnTo>
                    <a:pt x="56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sp>
          <p:nvSpPr>
            <p:cNvPr id="40" name="docshape48">
              <a:extLst>
                <a:ext uri="{FF2B5EF4-FFF2-40B4-BE49-F238E27FC236}">
                  <a16:creationId xmlns:a16="http://schemas.microsoft.com/office/drawing/2014/main" id="{C9965D78-0651-4D7E-8B79-58AD76C77CD5}"/>
                </a:ext>
              </a:extLst>
            </p:cNvPr>
            <p:cNvSpPr>
              <a:spLocks/>
            </p:cNvSpPr>
            <p:nvPr/>
          </p:nvSpPr>
          <p:spPr bwMode="auto">
            <a:xfrm>
              <a:off x="4512" y="-205"/>
              <a:ext cx="120" cy="1270"/>
            </a:xfrm>
            <a:custGeom>
              <a:avLst/>
              <a:gdLst>
                <a:gd name="G0" fmla="+- 0 0 0"/>
                <a:gd name="G1" fmla="+- 0 0 0"/>
                <a:gd name="G2" fmla="+- 0 0 0"/>
                <a:gd name="G3" fmla="+- 10800 0 0"/>
                <a:gd name="G4" fmla="+- 0 0 0"/>
                <a:gd name="T0" fmla="*/ 360 256 1"/>
                <a:gd name="T1" fmla="*/ 0 256 1"/>
                <a:gd name="G5" fmla="+- G2 T0 T1"/>
                <a:gd name="G6" fmla="?: G2 G2 G5"/>
                <a:gd name="G7" fmla="+- 0 0 G6"/>
                <a:gd name="G8" fmla="+- 0 0 0"/>
                <a:gd name="G9" fmla="+- 0 0 0"/>
                <a:gd name="G10" fmla="+- 0 0 2700"/>
                <a:gd name="G11" fmla="cos G10 0"/>
                <a:gd name="G12" fmla="sin G10 0"/>
                <a:gd name="G13" fmla="cos 13500 0"/>
                <a:gd name="G14" fmla="sin 13500 0"/>
                <a:gd name="G15" fmla="+- G11 10800 0"/>
                <a:gd name="G16" fmla="+- G12 10800 0"/>
                <a:gd name="G17" fmla="+- G13 10800 0"/>
                <a:gd name="G18" fmla="+- G14 10800 0"/>
                <a:gd name="G19" fmla="*/ 0 1 2"/>
                <a:gd name="G20" fmla="+- G19 5400 0"/>
                <a:gd name="G21" fmla="cos G20 0"/>
                <a:gd name="G22" fmla="sin G20 0"/>
                <a:gd name="G23" fmla="+- G21 10800 0"/>
                <a:gd name="G24" fmla="+- G12 G23 G22"/>
                <a:gd name="G25" fmla="+- G22 G23 G11"/>
                <a:gd name="G26" fmla="cos 10800 0"/>
                <a:gd name="G27" fmla="sin 10800 0"/>
                <a:gd name="G28" fmla="cos 0 0"/>
                <a:gd name="G29" fmla="sin 0 0"/>
                <a:gd name="G30" fmla="+- G26 10800 0"/>
                <a:gd name="G31" fmla="+- G27 10800 0"/>
                <a:gd name="G32" fmla="+- G28 10800 0"/>
                <a:gd name="G33" fmla="+- G29 10800 0"/>
                <a:gd name="G34" fmla="+- G19 5400 0"/>
                <a:gd name="G35" fmla="cos G34 0"/>
                <a:gd name="G36" fmla="sin G34 0"/>
                <a:gd name="G37" fmla="+/ 0 0 2"/>
                <a:gd name="T2" fmla="*/ 180 256 1"/>
                <a:gd name="T3" fmla="*/ 0 256 1"/>
                <a:gd name="G38" fmla="+- G37 T2 T3"/>
                <a:gd name="G39" fmla="?: G2 G37 G38"/>
                <a:gd name="G40" fmla="cos 10800 G39"/>
                <a:gd name="G41" fmla="sin 10800 G39"/>
                <a:gd name="G42" fmla="cos 0 G39"/>
                <a:gd name="G43" fmla="sin 0 G39"/>
                <a:gd name="G44" fmla="+- G40 10800 0"/>
                <a:gd name="G45" fmla="+- G41 10800 0"/>
                <a:gd name="G46" fmla="+- G42 10800 0"/>
                <a:gd name="G47" fmla="+- G43 10800 0"/>
                <a:gd name="G48" fmla="+- G35 10800 0"/>
                <a:gd name="G49" fmla="+- G36 10800 0"/>
                <a:gd name="T4" fmla="+- 0 4562 4512"/>
                <a:gd name="T5" fmla="*/ T4 w 120"/>
                <a:gd name="T6" fmla="+- 0 946 -204"/>
                <a:gd name="T7" fmla="*/ 946 h 1270"/>
                <a:gd name="T8" fmla="+- 0 4512 4512"/>
                <a:gd name="T9" fmla="*/ T8 w 120"/>
                <a:gd name="T10" fmla="+- 0 946 -204"/>
                <a:gd name="T11" fmla="*/ 946 h 1270"/>
                <a:gd name="T12" fmla="+- 0 4572 4512"/>
                <a:gd name="T13" fmla="*/ T12 w 120"/>
                <a:gd name="T14" fmla="+- 0 1066 -204"/>
                <a:gd name="T15" fmla="*/ 1066 h 1270"/>
                <a:gd name="T16" fmla="+- 0 4617 4512"/>
                <a:gd name="T17" fmla="*/ T16 w 120"/>
                <a:gd name="T18" fmla="+- 0 976 -204"/>
                <a:gd name="T19" fmla="*/ 976 h 1270"/>
                <a:gd name="T20" fmla="+- 0 4566 4512"/>
                <a:gd name="T21" fmla="*/ T20 w 120"/>
                <a:gd name="T22" fmla="+- 0 976 -204"/>
                <a:gd name="T23" fmla="*/ 976 h 1270"/>
                <a:gd name="T24" fmla="+- 0 4562 4512"/>
                <a:gd name="T25" fmla="*/ T24 w 120"/>
                <a:gd name="T26" fmla="+- 0 971 -204"/>
                <a:gd name="T27" fmla="*/ 971 h 1270"/>
                <a:gd name="T28" fmla="+- 0 4562 4512"/>
                <a:gd name="T29" fmla="*/ T28 w 120"/>
                <a:gd name="T30" fmla="+- 0 946 -204"/>
                <a:gd name="T31" fmla="*/ 946 h 1270"/>
                <a:gd name="T32" fmla="+- 0 4578 4512"/>
                <a:gd name="T33" fmla="*/ T32 w 120"/>
                <a:gd name="T34" fmla="+- 0 -204 -204"/>
                <a:gd name="T35" fmla="*/ -204 h 1270"/>
                <a:gd name="T36" fmla="+- 0 4566 4512"/>
                <a:gd name="T37" fmla="*/ T36 w 120"/>
                <a:gd name="T38" fmla="+- 0 -204 -204"/>
                <a:gd name="T39" fmla="*/ -204 h 1270"/>
                <a:gd name="T40" fmla="+- 0 4562 4512"/>
                <a:gd name="T41" fmla="*/ T40 w 120"/>
                <a:gd name="T42" fmla="+- 0 -200 -204"/>
                <a:gd name="T43" fmla="*/ -200 h 1270"/>
                <a:gd name="T44" fmla="+- 0 4562 4512"/>
                <a:gd name="T45" fmla="*/ T44 w 120"/>
                <a:gd name="T46" fmla="+- 0 971 -204"/>
                <a:gd name="T47" fmla="*/ 971 h 1270"/>
                <a:gd name="T48" fmla="+- 0 4566 4512"/>
                <a:gd name="T49" fmla="*/ T48 w 120"/>
                <a:gd name="T50" fmla="+- 0 976 -204"/>
                <a:gd name="T51" fmla="*/ 976 h 1270"/>
                <a:gd name="T52" fmla="+- 0 4578 4512"/>
                <a:gd name="T53" fmla="*/ T52 w 120"/>
                <a:gd name="T54" fmla="+- 0 976 -204"/>
                <a:gd name="T55" fmla="*/ 976 h 1270"/>
                <a:gd name="T56" fmla="+- 0 4582 4512"/>
                <a:gd name="T57" fmla="*/ T56 w 120"/>
                <a:gd name="T58" fmla="+- 0 971 -204"/>
                <a:gd name="T59" fmla="*/ 971 h 1270"/>
                <a:gd name="T60" fmla="+- 0 4582 4512"/>
                <a:gd name="T61" fmla="*/ T60 w 120"/>
                <a:gd name="T62" fmla="+- 0 -200 -204"/>
                <a:gd name="T63" fmla="*/ -200 h 1270"/>
                <a:gd name="T64" fmla="+- 0 4578 4512"/>
                <a:gd name="T65" fmla="*/ T64 w 120"/>
                <a:gd name="T66" fmla="+- 0 -204 -204"/>
                <a:gd name="T67" fmla="*/ -204 h 1270"/>
                <a:gd name="T68" fmla="+- 0 4632 4512"/>
                <a:gd name="T69" fmla="*/ T68 w 120"/>
                <a:gd name="T70" fmla="+- 0 946 -204"/>
                <a:gd name="T71" fmla="*/ 946 h 1270"/>
                <a:gd name="T72" fmla="+- 0 4582 4512"/>
                <a:gd name="T73" fmla="*/ T72 w 120"/>
                <a:gd name="T74" fmla="+- 0 946 -204"/>
                <a:gd name="T75" fmla="*/ 946 h 1270"/>
                <a:gd name="T76" fmla="+- 0 4582 4512"/>
                <a:gd name="T77" fmla="*/ T76 w 120"/>
                <a:gd name="T78" fmla="+- 0 971 -204"/>
                <a:gd name="T79" fmla="*/ 971 h 1270"/>
                <a:gd name="T80" fmla="+- 0 4578 4512"/>
                <a:gd name="T81" fmla="*/ T80 w 120"/>
                <a:gd name="T82" fmla="+- 0 976 -204"/>
                <a:gd name="T83" fmla="*/ 976 h 1270"/>
                <a:gd name="T84" fmla="+- 0 4617 4512"/>
                <a:gd name="T85" fmla="*/ T84 w 120"/>
                <a:gd name="T86" fmla="+- 0 976 -204"/>
                <a:gd name="T87" fmla="*/ 976 h 1270"/>
                <a:gd name="T88" fmla="+- 0 4632 4512"/>
                <a:gd name="T89" fmla="*/ T88 w 120"/>
                <a:gd name="T90" fmla="+- 0 946 -204"/>
                <a:gd name="T91" fmla="*/ 946 h 1270"/>
                <a:gd name="T92" fmla="+- 0 3163 4512"/>
                <a:gd name="T93" fmla="*/ T92 w 120"/>
                <a:gd name="T94" fmla="+- 0 3163 -204"/>
                <a:gd name="T95" fmla="*/ 3163 h 1270"/>
                <a:gd name="T96" fmla="+- 0 18437 4512"/>
                <a:gd name="T97" fmla="*/ T96 w 120"/>
                <a:gd name="T98" fmla="+- 0 18437 -204"/>
                <a:gd name="T99" fmla="*/ 18437 h 1270"/>
              </a:gdLst>
              <a:ahLst/>
              <a:cxnLst>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T93" t="T95" r="T97" b="T99"/>
              <a:pathLst>
                <a:path w="120" h="1270">
                  <a:moveTo>
                    <a:pt x="50" y="1150"/>
                  </a:moveTo>
                  <a:lnTo>
                    <a:pt x="0" y="1150"/>
                  </a:lnTo>
                  <a:lnTo>
                    <a:pt x="60" y="1270"/>
                  </a:lnTo>
                  <a:lnTo>
                    <a:pt x="105" y="1180"/>
                  </a:lnTo>
                  <a:lnTo>
                    <a:pt x="54" y="1180"/>
                  </a:lnTo>
                  <a:lnTo>
                    <a:pt x="50" y="1175"/>
                  </a:lnTo>
                  <a:lnTo>
                    <a:pt x="50" y="1150"/>
                  </a:lnTo>
                  <a:close/>
                  <a:moveTo>
                    <a:pt x="66" y="0"/>
                  </a:moveTo>
                  <a:lnTo>
                    <a:pt x="54" y="0"/>
                  </a:lnTo>
                  <a:lnTo>
                    <a:pt x="50" y="4"/>
                  </a:lnTo>
                  <a:lnTo>
                    <a:pt x="50" y="1175"/>
                  </a:lnTo>
                  <a:lnTo>
                    <a:pt x="54" y="1180"/>
                  </a:lnTo>
                  <a:lnTo>
                    <a:pt x="66" y="1180"/>
                  </a:lnTo>
                  <a:lnTo>
                    <a:pt x="70" y="1175"/>
                  </a:lnTo>
                  <a:lnTo>
                    <a:pt x="70" y="4"/>
                  </a:lnTo>
                  <a:lnTo>
                    <a:pt x="66" y="0"/>
                  </a:lnTo>
                  <a:close/>
                  <a:moveTo>
                    <a:pt x="120" y="1150"/>
                  </a:moveTo>
                  <a:lnTo>
                    <a:pt x="70" y="1150"/>
                  </a:lnTo>
                  <a:lnTo>
                    <a:pt x="70" y="1175"/>
                  </a:lnTo>
                  <a:lnTo>
                    <a:pt x="66" y="1180"/>
                  </a:lnTo>
                  <a:lnTo>
                    <a:pt x="105" y="1180"/>
                  </a:lnTo>
                  <a:lnTo>
                    <a:pt x="120" y="1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41" name="docshape44">
            <a:extLst>
              <a:ext uri="{FF2B5EF4-FFF2-40B4-BE49-F238E27FC236}">
                <a16:creationId xmlns:a16="http://schemas.microsoft.com/office/drawing/2014/main" id="{5D3D24DD-24AE-49A0-807B-A4B628FEC8D4}"/>
              </a:ext>
            </a:extLst>
          </p:cNvPr>
          <p:cNvSpPr>
            <a:spLocks/>
          </p:cNvSpPr>
          <p:nvPr/>
        </p:nvSpPr>
        <p:spPr bwMode="auto">
          <a:xfrm>
            <a:off x="5710713" y="3360617"/>
            <a:ext cx="2963387" cy="209139"/>
          </a:xfrm>
          <a:custGeom>
            <a:avLst/>
            <a:gdLst>
              <a:gd name="T0" fmla="+- 0 8 8"/>
              <a:gd name="T1" fmla="*/ T0 w 5101"/>
              <a:gd name="T2" fmla="+- 0 8 8"/>
              <a:gd name="T3" fmla="*/ 8 h 360"/>
              <a:gd name="T4" fmla="+- 0 51 8"/>
              <a:gd name="T5" fmla="*/ T4 w 5101"/>
              <a:gd name="T6" fmla="+- 0 87 8"/>
              <a:gd name="T7" fmla="*/ 87 h 360"/>
              <a:gd name="T8" fmla="+- 0 101 8"/>
              <a:gd name="T9" fmla="*/ T8 w 5101"/>
              <a:gd name="T10" fmla="+- 0 120 8"/>
              <a:gd name="T11" fmla="*/ 120 h 360"/>
              <a:gd name="T12" fmla="+- 0 167 8"/>
              <a:gd name="T13" fmla="*/ T12 w 5101"/>
              <a:gd name="T14" fmla="+- 0 148 8"/>
              <a:gd name="T15" fmla="*/ 148 h 360"/>
              <a:gd name="T16" fmla="+- 0 246 8"/>
              <a:gd name="T17" fmla="*/ T16 w 5101"/>
              <a:gd name="T18" fmla="+- 0 169 8"/>
              <a:gd name="T19" fmla="*/ 169 h 360"/>
              <a:gd name="T20" fmla="+- 0 335 8"/>
              <a:gd name="T21" fmla="*/ T20 w 5101"/>
              <a:gd name="T22" fmla="+- 0 183 8"/>
              <a:gd name="T23" fmla="*/ 183 h 360"/>
              <a:gd name="T24" fmla="+- 0 432 8"/>
              <a:gd name="T25" fmla="*/ T24 w 5101"/>
              <a:gd name="T26" fmla="+- 0 188 8"/>
              <a:gd name="T27" fmla="*/ 188 h 360"/>
              <a:gd name="T28" fmla="+- 0 2132 8"/>
              <a:gd name="T29" fmla="*/ T28 w 5101"/>
              <a:gd name="T30" fmla="+- 0 188 8"/>
              <a:gd name="T31" fmla="*/ 188 h 360"/>
              <a:gd name="T32" fmla="+- 0 2229 8"/>
              <a:gd name="T33" fmla="*/ T32 w 5101"/>
              <a:gd name="T34" fmla="+- 0 192 8"/>
              <a:gd name="T35" fmla="*/ 192 h 360"/>
              <a:gd name="T36" fmla="+- 0 2319 8"/>
              <a:gd name="T37" fmla="*/ T36 w 5101"/>
              <a:gd name="T38" fmla="+- 0 206 8"/>
              <a:gd name="T39" fmla="*/ 206 h 360"/>
              <a:gd name="T40" fmla="+- 0 2398 8"/>
              <a:gd name="T41" fmla="*/ T40 w 5101"/>
              <a:gd name="T42" fmla="+- 0 227 8"/>
              <a:gd name="T43" fmla="*/ 227 h 360"/>
              <a:gd name="T44" fmla="+- 0 2464 8"/>
              <a:gd name="T45" fmla="*/ T44 w 5101"/>
              <a:gd name="T46" fmla="+- 0 255 8"/>
              <a:gd name="T47" fmla="*/ 255 h 360"/>
              <a:gd name="T48" fmla="+- 0 2514 8"/>
              <a:gd name="T49" fmla="*/ T48 w 5101"/>
              <a:gd name="T50" fmla="+- 0 288 8"/>
              <a:gd name="T51" fmla="*/ 288 h 360"/>
              <a:gd name="T52" fmla="+- 0 2557 8"/>
              <a:gd name="T53" fmla="*/ T52 w 5101"/>
              <a:gd name="T54" fmla="+- 0 368 8"/>
              <a:gd name="T55" fmla="*/ 368 h 360"/>
              <a:gd name="T56" fmla="+- 0 2568 8"/>
              <a:gd name="T57" fmla="*/ T56 w 5101"/>
              <a:gd name="T58" fmla="+- 0 326 8"/>
              <a:gd name="T59" fmla="*/ 326 h 360"/>
              <a:gd name="T60" fmla="+- 0 2650 8"/>
              <a:gd name="T61" fmla="*/ T60 w 5101"/>
              <a:gd name="T62" fmla="+- 0 255 8"/>
              <a:gd name="T63" fmla="*/ 255 h 360"/>
              <a:gd name="T64" fmla="+- 0 2716 8"/>
              <a:gd name="T65" fmla="*/ T64 w 5101"/>
              <a:gd name="T66" fmla="+- 0 227 8"/>
              <a:gd name="T67" fmla="*/ 227 h 360"/>
              <a:gd name="T68" fmla="+- 0 2795 8"/>
              <a:gd name="T69" fmla="*/ T68 w 5101"/>
              <a:gd name="T70" fmla="+- 0 206 8"/>
              <a:gd name="T71" fmla="*/ 206 h 360"/>
              <a:gd name="T72" fmla="+- 0 2885 8"/>
              <a:gd name="T73" fmla="*/ T72 w 5101"/>
              <a:gd name="T74" fmla="+- 0 192 8"/>
              <a:gd name="T75" fmla="*/ 192 h 360"/>
              <a:gd name="T76" fmla="+- 0 2982 8"/>
              <a:gd name="T77" fmla="*/ T76 w 5101"/>
              <a:gd name="T78" fmla="+- 0 188 8"/>
              <a:gd name="T79" fmla="*/ 188 h 360"/>
              <a:gd name="T80" fmla="+- 0 4684 8"/>
              <a:gd name="T81" fmla="*/ T80 w 5101"/>
              <a:gd name="T82" fmla="+- 0 188 8"/>
              <a:gd name="T83" fmla="*/ 188 h 360"/>
              <a:gd name="T84" fmla="+- 0 4781 8"/>
              <a:gd name="T85" fmla="*/ T84 w 5101"/>
              <a:gd name="T86" fmla="+- 0 183 8"/>
              <a:gd name="T87" fmla="*/ 183 h 360"/>
              <a:gd name="T88" fmla="+- 0 4870 8"/>
              <a:gd name="T89" fmla="*/ T88 w 5101"/>
              <a:gd name="T90" fmla="+- 0 169 8"/>
              <a:gd name="T91" fmla="*/ 169 h 360"/>
              <a:gd name="T92" fmla="+- 0 4949 8"/>
              <a:gd name="T93" fmla="*/ T92 w 5101"/>
              <a:gd name="T94" fmla="+- 0 148 8"/>
              <a:gd name="T95" fmla="*/ 148 h 360"/>
              <a:gd name="T96" fmla="+- 0 5015 8"/>
              <a:gd name="T97" fmla="*/ T96 w 5101"/>
              <a:gd name="T98" fmla="+- 0 120 8"/>
              <a:gd name="T99" fmla="*/ 120 h 360"/>
              <a:gd name="T100" fmla="+- 0 5065 8"/>
              <a:gd name="T101" fmla="*/ T100 w 5101"/>
              <a:gd name="T102" fmla="+- 0 87 8"/>
              <a:gd name="T103" fmla="*/ 87 h 360"/>
              <a:gd name="T104" fmla="+- 0 5097 8"/>
              <a:gd name="T105" fmla="*/ T104 w 5101"/>
              <a:gd name="T106" fmla="+- 0 49 8"/>
              <a:gd name="T107" fmla="*/ 49 h 360"/>
              <a:gd name="T108" fmla="+- 0 5109 8"/>
              <a:gd name="T109" fmla="*/ T108 w 5101"/>
              <a:gd name="T110" fmla="+- 0 8 8"/>
              <a:gd name="T111" fmla="*/ 8 h 36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Lst>
            <a:rect l="0" t="0" r="r" b="b"/>
            <a:pathLst>
              <a:path w="5101" h="360">
                <a:moveTo>
                  <a:pt x="0" y="0"/>
                </a:moveTo>
                <a:lnTo>
                  <a:pt x="43" y="79"/>
                </a:lnTo>
                <a:lnTo>
                  <a:pt x="93" y="112"/>
                </a:lnTo>
                <a:lnTo>
                  <a:pt x="159" y="140"/>
                </a:lnTo>
                <a:lnTo>
                  <a:pt x="238" y="161"/>
                </a:lnTo>
                <a:lnTo>
                  <a:pt x="327" y="175"/>
                </a:lnTo>
                <a:lnTo>
                  <a:pt x="424" y="180"/>
                </a:lnTo>
                <a:lnTo>
                  <a:pt x="2124" y="180"/>
                </a:lnTo>
                <a:lnTo>
                  <a:pt x="2221" y="184"/>
                </a:lnTo>
                <a:lnTo>
                  <a:pt x="2311" y="198"/>
                </a:lnTo>
                <a:lnTo>
                  <a:pt x="2390" y="219"/>
                </a:lnTo>
                <a:lnTo>
                  <a:pt x="2456" y="247"/>
                </a:lnTo>
                <a:lnTo>
                  <a:pt x="2506" y="280"/>
                </a:lnTo>
                <a:lnTo>
                  <a:pt x="2549" y="360"/>
                </a:lnTo>
                <a:lnTo>
                  <a:pt x="2560" y="318"/>
                </a:lnTo>
                <a:lnTo>
                  <a:pt x="2642" y="247"/>
                </a:lnTo>
                <a:lnTo>
                  <a:pt x="2708" y="219"/>
                </a:lnTo>
                <a:lnTo>
                  <a:pt x="2787" y="198"/>
                </a:lnTo>
                <a:lnTo>
                  <a:pt x="2877" y="184"/>
                </a:lnTo>
                <a:lnTo>
                  <a:pt x="2974" y="180"/>
                </a:lnTo>
                <a:lnTo>
                  <a:pt x="4676" y="180"/>
                </a:lnTo>
                <a:lnTo>
                  <a:pt x="4773" y="175"/>
                </a:lnTo>
                <a:lnTo>
                  <a:pt x="4862" y="161"/>
                </a:lnTo>
                <a:lnTo>
                  <a:pt x="4941" y="140"/>
                </a:lnTo>
                <a:lnTo>
                  <a:pt x="5007" y="112"/>
                </a:lnTo>
                <a:lnTo>
                  <a:pt x="5057" y="79"/>
                </a:lnTo>
                <a:lnTo>
                  <a:pt x="5089" y="41"/>
                </a:lnTo>
                <a:lnTo>
                  <a:pt x="5101"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sp>
        <p:nvSpPr>
          <p:cNvPr id="42" name="TextBox 41">
            <a:extLst>
              <a:ext uri="{FF2B5EF4-FFF2-40B4-BE49-F238E27FC236}">
                <a16:creationId xmlns:a16="http://schemas.microsoft.com/office/drawing/2014/main" id="{B5CF441C-A063-4048-ACE2-2320388E714E}"/>
              </a:ext>
            </a:extLst>
          </p:cNvPr>
          <p:cNvSpPr txBox="1"/>
          <p:nvPr/>
        </p:nvSpPr>
        <p:spPr>
          <a:xfrm>
            <a:off x="4343079" y="3472753"/>
            <a:ext cx="973455" cy="646331"/>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Không</a:t>
            </a:r>
            <a:r>
              <a:rPr lang="vi-VN" sz="1800" spc="2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sử</a:t>
            </a:r>
            <a:r>
              <a:rPr lang="vi-VN" sz="1800" spc="15">
                <a:effectLst/>
                <a:latin typeface="Times New Roman" panose="02020603050405020304" pitchFamily="18" charset="0"/>
                <a:ea typeface="Times New Roman" panose="02020603050405020304" pitchFamily="18" charset="0"/>
              </a:rPr>
              <a:t> </a:t>
            </a:r>
            <a:r>
              <a:rPr lang="vi-VN" sz="1800" spc="-10">
                <a:effectLst/>
                <a:latin typeface="Times New Roman" panose="02020603050405020304" pitchFamily="18" charset="0"/>
                <a:ea typeface="Times New Roman" panose="02020603050405020304" pitchFamily="18" charset="0"/>
              </a:rPr>
              <a:t>dụng</a:t>
            </a:r>
            <a:endParaRPr lang="en-US"/>
          </a:p>
        </p:txBody>
      </p:sp>
      <p:sp>
        <p:nvSpPr>
          <p:cNvPr id="43" name="TextBox 42">
            <a:extLst>
              <a:ext uri="{FF2B5EF4-FFF2-40B4-BE49-F238E27FC236}">
                <a16:creationId xmlns:a16="http://schemas.microsoft.com/office/drawing/2014/main" id="{3A077A35-9591-4618-BD19-F8BBF1613FDC}"/>
              </a:ext>
            </a:extLst>
          </p:cNvPr>
          <p:cNvSpPr txBox="1"/>
          <p:nvPr/>
        </p:nvSpPr>
        <p:spPr>
          <a:xfrm>
            <a:off x="4592951" y="4199078"/>
            <a:ext cx="1475427"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Độ</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phân</a:t>
            </a:r>
            <a:r>
              <a:rPr lang="vi-VN" sz="1800" spc="-5">
                <a:effectLst/>
                <a:latin typeface="Times New Roman" panose="02020603050405020304" pitchFamily="18" charset="0"/>
                <a:ea typeface="Times New Roman" panose="02020603050405020304" pitchFamily="18" charset="0"/>
              </a:rPr>
              <a:t> </a:t>
            </a:r>
            <a:r>
              <a:rPr lang="vi-VN" sz="1800" spc="-20">
                <a:effectLst/>
                <a:latin typeface="Times New Roman" panose="02020603050405020304" pitchFamily="18" charset="0"/>
                <a:ea typeface="Times New Roman" panose="02020603050405020304" pitchFamily="18" charset="0"/>
              </a:rPr>
              <a:t>giải</a:t>
            </a:r>
            <a:endParaRPr lang="en-US"/>
          </a:p>
        </p:txBody>
      </p:sp>
      <p:sp>
        <p:nvSpPr>
          <p:cNvPr id="47" name="TextBox 46">
            <a:extLst>
              <a:ext uri="{FF2B5EF4-FFF2-40B4-BE49-F238E27FC236}">
                <a16:creationId xmlns:a16="http://schemas.microsoft.com/office/drawing/2014/main" id="{1B7D4CBA-356C-4248-AE0E-204A95B4B1A1}"/>
              </a:ext>
            </a:extLst>
          </p:cNvPr>
          <p:cNvSpPr txBox="1"/>
          <p:nvPr/>
        </p:nvSpPr>
        <p:spPr>
          <a:xfrm>
            <a:off x="5853900" y="3663700"/>
            <a:ext cx="2963387" cy="602729"/>
          </a:xfrm>
          <a:prstGeom prst="rect">
            <a:avLst/>
          </a:prstGeom>
          <a:noFill/>
        </p:spPr>
        <p:txBody>
          <a:bodyPr wrap="square">
            <a:spAutoFit/>
          </a:bodyPr>
          <a:lstStyle/>
          <a:p>
            <a:pPr algn="ctr">
              <a:lnSpc>
                <a:spcPts val="1515"/>
              </a:lnSpc>
              <a:spcBef>
                <a:spcPts val="115"/>
              </a:spcBef>
              <a:spcAft>
                <a:spcPts val="800"/>
              </a:spcAft>
              <a:tabLst>
                <a:tab pos="2800985" algn="l"/>
              </a:tabLst>
            </a:pP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Giá</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trị</a:t>
            </a:r>
            <a:r>
              <a:rPr lang="vi-VN" sz="18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PV</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dưới</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dạng</a:t>
            </a:r>
            <a:r>
              <a:rPr lang="vi-VN" sz="18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mã</a:t>
            </a:r>
            <a:r>
              <a:rPr lang="vi-VN" sz="18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cs typeface="Times New Roman" panose="02020603050405020304" pitchFamily="18" charset="0"/>
              </a:rPr>
              <a:t>BCD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p>
            <a:pPr algn="ctr"/>
            <a:r>
              <a:rPr lang="vi-VN" sz="1400">
                <a:effectLst/>
                <a:latin typeface="Times New Roman" panose="02020603050405020304" pitchFamily="18" charset="0"/>
                <a:ea typeface="Times New Roman" panose="02020603050405020304" pitchFamily="18" charset="0"/>
              </a:rPr>
              <a:t>0</a:t>
            </a:r>
            <a:r>
              <a:rPr lang="vi-VN" sz="1400" spc="-40">
                <a:effectLst/>
                <a:latin typeface="Times New Roman" panose="02020603050405020304" pitchFamily="18" charset="0"/>
                <a:ea typeface="Times New Roman" panose="02020603050405020304" pitchFamily="18" charset="0"/>
              </a:rPr>
              <a:t> </a:t>
            </a:r>
            <a:r>
              <a:rPr lang="vi-VN" sz="1400">
                <a:effectLst/>
                <a:latin typeface="Times New Roman" panose="02020603050405020304" pitchFamily="18" charset="0"/>
                <a:ea typeface="Times New Roman" panose="02020603050405020304" pitchFamily="18" charset="0"/>
              </a:rPr>
              <a:t></a:t>
            </a:r>
            <a:r>
              <a:rPr lang="vi-VN" sz="1400" spc="25">
                <a:effectLst/>
                <a:latin typeface="Times New Roman" panose="02020603050405020304" pitchFamily="18" charset="0"/>
                <a:ea typeface="Times New Roman" panose="02020603050405020304" pitchFamily="18" charset="0"/>
              </a:rPr>
              <a:t> </a:t>
            </a:r>
            <a:r>
              <a:rPr lang="vi-VN" sz="1400" i="1">
                <a:effectLst/>
                <a:latin typeface="Times New Roman" panose="02020603050405020304" pitchFamily="18" charset="0"/>
                <a:ea typeface="Times New Roman" panose="02020603050405020304" pitchFamily="18" charset="0"/>
              </a:rPr>
              <a:t>PV</a:t>
            </a:r>
            <a:r>
              <a:rPr lang="vi-VN" sz="1400" i="1" spc="160">
                <a:effectLst/>
                <a:latin typeface="Times New Roman" panose="02020603050405020304" pitchFamily="18" charset="0"/>
                <a:ea typeface="Times New Roman" panose="02020603050405020304" pitchFamily="18" charset="0"/>
              </a:rPr>
              <a:t> </a:t>
            </a:r>
            <a:r>
              <a:rPr lang="vi-VN" sz="1400">
                <a:effectLst/>
                <a:latin typeface="Times New Roman" panose="02020603050405020304" pitchFamily="18" charset="0"/>
                <a:ea typeface="Times New Roman" panose="02020603050405020304" pitchFamily="18" charset="0"/>
              </a:rPr>
              <a:t></a:t>
            </a:r>
            <a:r>
              <a:rPr lang="vi-VN" sz="1400" spc="-35">
                <a:effectLst/>
                <a:latin typeface="Times New Roman" panose="02020603050405020304" pitchFamily="18" charset="0"/>
                <a:ea typeface="Times New Roman" panose="02020603050405020304" pitchFamily="18" charset="0"/>
              </a:rPr>
              <a:t> </a:t>
            </a:r>
            <a:r>
              <a:rPr lang="vi-VN" sz="1400" spc="-25">
                <a:effectLst/>
                <a:latin typeface="Times New Roman" panose="02020603050405020304" pitchFamily="18" charset="0"/>
                <a:ea typeface="Times New Roman" panose="02020603050405020304" pitchFamily="18" charset="0"/>
              </a:rPr>
              <a:t>999</a:t>
            </a:r>
            <a:endParaRPr lang="en-US"/>
          </a:p>
        </p:txBody>
      </p:sp>
      <p:pic>
        <p:nvPicPr>
          <p:cNvPr id="15" name="Picture 14">
            <a:extLst>
              <a:ext uri="{FF2B5EF4-FFF2-40B4-BE49-F238E27FC236}">
                <a16:creationId xmlns:a16="http://schemas.microsoft.com/office/drawing/2014/main" id="{8803E53E-76EA-4BC2-BFA2-8501353886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0670" y="4592941"/>
            <a:ext cx="3782557" cy="1983901"/>
          </a:xfrm>
          <a:prstGeom prst="rect">
            <a:avLst/>
          </a:prstGeom>
        </p:spPr>
      </p:pic>
    </p:spTree>
    <p:extLst>
      <p:ext uri="{BB962C8B-B14F-4D97-AF65-F5344CB8AC3E}">
        <p14:creationId xmlns:p14="http://schemas.microsoft.com/office/powerpoint/2010/main" val="52716697"/>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ĐỔI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KIỂU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DỮ</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LIỆU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DI</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CHUYỂN</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253610"/>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Bộ</a:t>
            </a:r>
            <a:r>
              <a:rPr lang="vi-VN" sz="1800" b="1" spc="22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đếm</a:t>
            </a:r>
            <a:r>
              <a:rPr lang="vi-VN" sz="1800" b="1" spc="200">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(Counter)</a:t>
            </a:r>
            <a:endParaRPr lang="en-US"/>
          </a:p>
        </p:txBody>
      </p:sp>
      <p:sp>
        <p:nvSpPr>
          <p:cNvPr id="26" name="TextBox 25">
            <a:extLst>
              <a:ext uri="{FF2B5EF4-FFF2-40B4-BE49-F238E27FC236}">
                <a16:creationId xmlns:a16="http://schemas.microsoft.com/office/drawing/2014/main" id="{9568C818-E7B9-4879-A0BC-15EBC6FFAEED}"/>
              </a:ext>
            </a:extLst>
          </p:cNvPr>
          <p:cNvSpPr txBox="1"/>
          <p:nvPr/>
        </p:nvSpPr>
        <p:spPr>
          <a:xfrm>
            <a:off x="615949" y="1622942"/>
            <a:ext cx="11277602"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Counter</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là</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bộ</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đếm</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chức</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năng</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đếm</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sườn</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xung</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a:t>
            </a:r>
            <a:r>
              <a:rPr lang="vi-VN" sz="1800" spc="-2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a:t>
            </a:r>
            <a:r>
              <a:rPr lang="vi-VN" sz="1800" spc="-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đầu vào.</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Có</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tối</a:t>
            </a:r>
            <a:r>
              <a:rPr lang="vi-VN" sz="1800" spc="-7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đa</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256</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Counter</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được</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kí</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từ</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C0</a:t>
            </a:r>
            <a:r>
              <a:rPr lang="vi-VN" sz="1800" spc="-145">
                <a:effectLst/>
                <a:latin typeface="Times New Roman" panose="02020603050405020304" pitchFamily="18" charset="0"/>
                <a:ea typeface="Times New Roman" panose="02020603050405020304" pitchFamily="18" charset="0"/>
              </a:rPr>
              <a:t> </a:t>
            </a:r>
            <a:r>
              <a:rPr lang="vi-VN" sz="1600">
                <a:effectLst/>
                <a:latin typeface="Times New Roman" panose="02020603050405020304" pitchFamily="18" charset="0"/>
                <a:ea typeface="Times New Roman" panose="02020603050405020304" pitchFamily="18" charset="0"/>
              </a:rPr>
              <a:t></a:t>
            </a:r>
            <a:r>
              <a:rPr lang="vi-VN" sz="1600" spc="-13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C255.</a:t>
            </a:r>
            <a:endParaRPr lang="en-US"/>
          </a:p>
        </p:txBody>
      </p:sp>
      <p:pic>
        <p:nvPicPr>
          <p:cNvPr id="27" name="Picture 26">
            <a:extLst>
              <a:ext uri="{FF2B5EF4-FFF2-40B4-BE49-F238E27FC236}">
                <a16:creationId xmlns:a16="http://schemas.microsoft.com/office/drawing/2014/main" id="{7F893EA7-A4A3-4523-9271-E128966AE2A9}"/>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30259" y="2070572"/>
            <a:ext cx="2585600" cy="2211143"/>
          </a:xfrm>
          <a:prstGeom prst="rect">
            <a:avLst/>
          </a:prstGeom>
          <a:noFill/>
          <a:ln>
            <a:noFill/>
          </a:ln>
        </p:spPr>
      </p:pic>
      <p:sp>
        <p:nvSpPr>
          <p:cNvPr id="28" name="TextBox 27">
            <a:extLst>
              <a:ext uri="{FF2B5EF4-FFF2-40B4-BE49-F238E27FC236}">
                <a16:creationId xmlns:a16="http://schemas.microsoft.com/office/drawing/2014/main" id="{8A42CBCB-E925-4188-B0AD-A876075C793B}"/>
              </a:ext>
            </a:extLst>
          </p:cNvPr>
          <p:cNvSpPr txBox="1"/>
          <p:nvPr/>
        </p:nvSpPr>
        <p:spPr>
          <a:xfrm>
            <a:off x="3394074" y="2070572"/>
            <a:ext cx="8340725"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Ví</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dụ:</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Loại</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Counter</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đếm</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lên</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và</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đếm</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xuống CU:</a:t>
            </a:r>
            <a:r>
              <a:rPr lang="vi-VN" sz="1800" spc="-9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a:t>
            </a:r>
            <a:r>
              <a:rPr lang="en-US" sz="18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hiệu</a:t>
            </a:r>
            <a:r>
              <a:rPr lang="vi-VN" sz="1800" spc="-9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đếm</a:t>
            </a:r>
            <a:r>
              <a:rPr lang="vi-VN" sz="1800" spc="-8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lên</a:t>
            </a:r>
            <a:r>
              <a:rPr lang="vi-VN" sz="1800" spc="-9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(BOOL)</a:t>
            </a:r>
            <a:endParaRPr lang="en-US"/>
          </a:p>
        </p:txBody>
      </p:sp>
      <p:sp>
        <p:nvSpPr>
          <p:cNvPr id="30" name="TextBox 29">
            <a:extLst>
              <a:ext uri="{FF2B5EF4-FFF2-40B4-BE49-F238E27FC236}">
                <a16:creationId xmlns:a16="http://schemas.microsoft.com/office/drawing/2014/main" id="{CA09368C-0DCC-460B-AD85-E018BA3942AD}"/>
              </a:ext>
            </a:extLst>
          </p:cNvPr>
          <p:cNvSpPr txBox="1"/>
          <p:nvPr/>
        </p:nvSpPr>
        <p:spPr>
          <a:xfrm>
            <a:off x="2577231" y="2439904"/>
            <a:ext cx="6096000" cy="305661"/>
          </a:xfrm>
          <a:prstGeom prst="rect">
            <a:avLst/>
          </a:prstGeom>
          <a:noFill/>
        </p:spPr>
        <p:txBody>
          <a:bodyPr wrap="square">
            <a:spAutoFit/>
          </a:bodyPr>
          <a:lstStyle/>
          <a:p>
            <a:pPr marL="1425575">
              <a:lnSpc>
                <a:spcPts val="1610"/>
              </a:lnSpc>
              <a:spcAft>
                <a:spcPts val="800"/>
              </a:spcAft>
            </a:pP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CD:</a:t>
            </a:r>
            <a:r>
              <a:rPr lang="vi-VN" sz="18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tín</a:t>
            </a:r>
            <a:r>
              <a:rPr lang="vi-VN" sz="18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hiệu</a:t>
            </a:r>
            <a:r>
              <a:rPr lang="vi-VN" sz="18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đếm </a:t>
            </a:r>
            <a:r>
              <a:rPr lang="vi-VN" sz="1800" spc="-10">
                <a:effectLst/>
                <a:latin typeface="Times New Roman" panose="02020603050405020304" pitchFamily="18" charset="0"/>
                <a:ea typeface="Times New Roman" panose="02020603050405020304" pitchFamily="18" charset="0"/>
                <a:cs typeface="Times New Roman" panose="02020603050405020304" pitchFamily="18" charset="0"/>
              </a:rPr>
              <a:t>(BOOL)</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264546A4-5FD4-4B53-B0DA-6722CCDAECC6}"/>
              </a:ext>
            </a:extLst>
          </p:cNvPr>
          <p:cNvSpPr txBox="1"/>
          <p:nvPr/>
        </p:nvSpPr>
        <p:spPr>
          <a:xfrm>
            <a:off x="4005943" y="2704132"/>
            <a:ext cx="7728855"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S:</a:t>
            </a:r>
            <a:r>
              <a:rPr lang="vi-VN" sz="1800" spc="2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tín hiệu đặt (BOOL), khi có sườn lên thì giá trị</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đặt được nạp cho </a:t>
            </a:r>
            <a:r>
              <a:rPr lang="vi-VN" sz="1800" spc="-30">
                <a:effectLst/>
                <a:latin typeface="Times New Roman" panose="02020603050405020304" pitchFamily="18" charset="0"/>
                <a:ea typeface="Times New Roman" panose="02020603050405020304" pitchFamily="18" charset="0"/>
              </a:rPr>
              <a:t>CV</a:t>
            </a:r>
            <a:endParaRPr lang="en-US"/>
          </a:p>
        </p:txBody>
      </p:sp>
      <p:sp>
        <p:nvSpPr>
          <p:cNvPr id="37" name="TextBox 36">
            <a:extLst>
              <a:ext uri="{FF2B5EF4-FFF2-40B4-BE49-F238E27FC236}">
                <a16:creationId xmlns:a16="http://schemas.microsoft.com/office/drawing/2014/main" id="{14CB2966-CA76-437F-B637-82E1847EEA34}"/>
              </a:ext>
            </a:extLst>
          </p:cNvPr>
          <p:cNvSpPr txBox="1"/>
          <p:nvPr/>
        </p:nvSpPr>
        <p:spPr>
          <a:xfrm>
            <a:off x="4005944" y="3047095"/>
            <a:ext cx="7728854"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P:</a:t>
            </a:r>
            <a:r>
              <a:rPr lang="vi-VN" sz="1800" spc="-1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giá</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đặt</a:t>
            </a:r>
            <a:r>
              <a:rPr lang="vi-VN" sz="1800" spc="-5">
                <a:effectLst/>
                <a:latin typeface="Times New Roman" panose="02020603050405020304" pitchFamily="18" charset="0"/>
                <a:ea typeface="Times New Roman" panose="02020603050405020304" pitchFamily="18" charset="0"/>
              </a:rPr>
              <a:t> </a:t>
            </a:r>
            <a:r>
              <a:rPr lang="vi-VN" sz="1800" spc="-10">
                <a:effectLst/>
                <a:latin typeface="Times New Roman" panose="02020603050405020304" pitchFamily="18" charset="0"/>
                <a:ea typeface="Times New Roman" panose="02020603050405020304" pitchFamily="18" charset="0"/>
              </a:rPr>
              <a:t>(WORD)</a:t>
            </a:r>
            <a:endParaRPr lang="en-US"/>
          </a:p>
        </p:txBody>
      </p:sp>
      <p:sp>
        <p:nvSpPr>
          <p:cNvPr id="44" name="TextBox 43">
            <a:extLst>
              <a:ext uri="{FF2B5EF4-FFF2-40B4-BE49-F238E27FC236}">
                <a16:creationId xmlns:a16="http://schemas.microsoft.com/office/drawing/2014/main" id="{227D53CA-4F1A-4695-80BA-E04C001B78A6}"/>
              </a:ext>
            </a:extLst>
          </p:cNvPr>
          <p:cNvSpPr txBox="1"/>
          <p:nvPr/>
        </p:nvSpPr>
        <p:spPr>
          <a:xfrm>
            <a:off x="4005944" y="3392320"/>
            <a:ext cx="7728854"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R: tín hiệu xoá (BOOL), khi có sườn lên thì giá trị</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CV được</a:t>
            </a:r>
            <a:r>
              <a:rPr lang="vi-VN" sz="1800" spc="-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xoá về </a:t>
            </a:r>
            <a:r>
              <a:rPr lang="vi-VN" sz="1800" spc="-30">
                <a:effectLst/>
                <a:latin typeface="Times New Roman" panose="02020603050405020304" pitchFamily="18" charset="0"/>
                <a:ea typeface="Times New Roman" panose="02020603050405020304" pitchFamily="18" charset="0"/>
              </a:rPr>
              <a:t>0.</a:t>
            </a:r>
            <a:endParaRPr lang="en-US"/>
          </a:p>
        </p:txBody>
      </p:sp>
      <p:sp>
        <p:nvSpPr>
          <p:cNvPr id="45" name="TextBox 44">
            <a:extLst>
              <a:ext uri="{FF2B5EF4-FFF2-40B4-BE49-F238E27FC236}">
                <a16:creationId xmlns:a16="http://schemas.microsoft.com/office/drawing/2014/main" id="{CADE4977-B1A5-464E-B3A8-E11BB9692346}"/>
              </a:ext>
            </a:extLst>
          </p:cNvPr>
          <p:cNvSpPr txBox="1"/>
          <p:nvPr/>
        </p:nvSpPr>
        <p:spPr>
          <a:xfrm>
            <a:off x="4005943" y="3691486"/>
            <a:ext cx="60960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Q</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ngõ</a:t>
            </a:r>
            <a:r>
              <a:rPr lang="vi-VN" sz="1800" spc="-50">
                <a:effectLst/>
                <a:latin typeface="Times New Roman" panose="02020603050405020304" pitchFamily="18" charset="0"/>
                <a:ea typeface="Times New Roman" panose="02020603050405020304" pitchFamily="18" charset="0"/>
              </a:rPr>
              <a:t> </a:t>
            </a:r>
            <a:r>
              <a:rPr lang="vi-VN" sz="1800" spc="-25">
                <a:effectLst/>
                <a:latin typeface="Times New Roman" panose="02020603050405020304" pitchFamily="18" charset="0"/>
                <a:ea typeface="Times New Roman" panose="02020603050405020304" pitchFamily="18" charset="0"/>
              </a:rPr>
              <a:t>ra</a:t>
            </a:r>
            <a:endParaRPr lang="en-US"/>
          </a:p>
        </p:txBody>
      </p:sp>
      <p:sp>
        <p:nvSpPr>
          <p:cNvPr id="48" name="TextBox 47">
            <a:extLst>
              <a:ext uri="{FF2B5EF4-FFF2-40B4-BE49-F238E27FC236}">
                <a16:creationId xmlns:a16="http://schemas.microsoft.com/office/drawing/2014/main" id="{79BD36EC-D613-4779-9C3F-D3A50F0D7D57}"/>
              </a:ext>
            </a:extLst>
          </p:cNvPr>
          <p:cNvSpPr txBox="1"/>
          <p:nvPr/>
        </p:nvSpPr>
        <p:spPr>
          <a:xfrm>
            <a:off x="4005943" y="4067476"/>
            <a:ext cx="7728854" cy="646331"/>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CV: giá trị hiện tại của bộ đếm dạng Integer CV_BCD:</a:t>
            </a:r>
            <a:r>
              <a:rPr lang="en-US" sz="180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giá</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trị</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hiện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tại</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của</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bộ</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đếm</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dạng</a:t>
            </a:r>
            <a:r>
              <a:rPr lang="vi-VN" sz="1800" spc="-5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BCD</a:t>
            </a:r>
            <a:endParaRPr lang="en-US"/>
          </a:p>
        </p:txBody>
      </p:sp>
    </p:spTree>
    <p:extLst>
      <p:ext uri="{BB962C8B-B14F-4D97-AF65-F5344CB8AC3E}">
        <p14:creationId xmlns:p14="http://schemas.microsoft.com/office/powerpoint/2010/main" val="1140286923"/>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ĐỔI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KIỂU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DỮ</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LIỆU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DI</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CHUYỂN</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8.2. TẬP LỆNH CỦA  PLC S7-300 (DẠNG LAD)</a:t>
            </a: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310411"/>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Một</a:t>
            </a:r>
            <a:r>
              <a:rPr lang="vi-VN" sz="1800" b="1" spc="-7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số</a:t>
            </a:r>
            <a:r>
              <a:rPr lang="vi-VN" sz="1800" b="1" spc="-6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6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khác</a:t>
            </a:r>
            <a:endParaRPr lang="en-US"/>
          </a:p>
        </p:txBody>
      </p:sp>
      <p:sp>
        <p:nvSpPr>
          <p:cNvPr id="20" name="TextBox 19">
            <a:extLst>
              <a:ext uri="{FF2B5EF4-FFF2-40B4-BE49-F238E27FC236}">
                <a16:creationId xmlns:a16="http://schemas.microsoft.com/office/drawing/2014/main" id="{BE0A1915-67A8-4A05-85B7-D63B1EDFA625}"/>
              </a:ext>
            </a:extLst>
          </p:cNvPr>
          <p:cNvSpPr txBox="1"/>
          <p:nvPr/>
        </p:nvSpPr>
        <p:spPr>
          <a:xfrm>
            <a:off x="615948" y="1753057"/>
            <a:ext cx="11118851"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 JMP:</a:t>
            </a:r>
            <a:r>
              <a:rPr lang="vi-VN" sz="1800" spc="3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 nếu RLO=1, Nếu RLO=1 chương trình sẽ nhảy đến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nhãn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a:t>
            </a:r>
            <a:endParaRPr lang="en-US"/>
          </a:p>
        </p:txBody>
      </p:sp>
      <p:pic>
        <p:nvPicPr>
          <p:cNvPr id="21" name="Picture 20">
            <a:extLst>
              <a:ext uri="{FF2B5EF4-FFF2-40B4-BE49-F238E27FC236}">
                <a16:creationId xmlns:a16="http://schemas.microsoft.com/office/drawing/2014/main" id="{7064259A-8C36-4989-B212-E477215795C8}"/>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863340" y="2197255"/>
            <a:ext cx="4465320" cy="765810"/>
          </a:xfrm>
          <a:prstGeom prst="rect">
            <a:avLst/>
          </a:prstGeom>
          <a:noFill/>
          <a:ln>
            <a:noFill/>
          </a:ln>
        </p:spPr>
      </p:pic>
      <p:sp>
        <p:nvSpPr>
          <p:cNvPr id="29" name="TextBox 28">
            <a:extLst>
              <a:ext uri="{FF2B5EF4-FFF2-40B4-BE49-F238E27FC236}">
                <a16:creationId xmlns:a16="http://schemas.microsoft.com/office/drawing/2014/main" id="{FEC627F1-5362-4557-9119-1A64932F7654}"/>
              </a:ext>
            </a:extLst>
          </p:cNvPr>
          <p:cNvSpPr txBox="1"/>
          <p:nvPr/>
        </p:nvSpPr>
        <p:spPr>
          <a:xfrm>
            <a:off x="615947" y="3303962"/>
            <a:ext cx="112776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JMPN:</a:t>
            </a:r>
            <a:r>
              <a:rPr lang="vi-VN" sz="1800" spc="2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RLO=0,Nếu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RLO=0</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chương</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trình</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sẽ</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 đến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nhãn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a:t>
            </a:r>
            <a:endParaRPr lang="en-US"/>
          </a:p>
        </p:txBody>
      </p:sp>
      <p:pic>
        <p:nvPicPr>
          <p:cNvPr id="31" name="Picture 30">
            <a:extLst>
              <a:ext uri="{FF2B5EF4-FFF2-40B4-BE49-F238E27FC236}">
                <a16:creationId xmlns:a16="http://schemas.microsoft.com/office/drawing/2014/main" id="{6B339920-A58B-4230-96C8-252B3D21537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3857625" y="3730266"/>
            <a:ext cx="4476750" cy="770890"/>
          </a:xfrm>
          <a:prstGeom prst="rect">
            <a:avLst/>
          </a:prstGeom>
          <a:noFill/>
          <a:ln>
            <a:noFill/>
          </a:ln>
        </p:spPr>
      </p:pic>
      <p:sp>
        <p:nvSpPr>
          <p:cNvPr id="34" name="TextBox 33">
            <a:extLst>
              <a:ext uri="{FF2B5EF4-FFF2-40B4-BE49-F238E27FC236}">
                <a16:creationId xmlns:a16="http://schemas.microsoft.com/office/drawing/2014/main" id="{9C74E244-F84E-426E-B918-7152F7C9957B}"/>
              </a:ext>
            </a:extLst>
          </p:cNvPr>
          <p:cNvSpPr txBox="1"/>
          <p:nvPr/>
        </p:nvSpPr>
        <p:spPr>
          <a:xfrm>
            <a:off x="615948" y="4950317"/>
            <a:ext cx="11118851"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 OPN : Lệnh mở khối DB để có thể truy cập trực tiếp tới khối </a:t>
            </a:r>
            <a:r>
              <a:rPr lang="vi-VN" sz="1800" spc="-20">
                <a:effectLst/>
                <a:latin typeface="Times New Roman" panose="02020603050405020304" pitchFamily="18" charset="0"/>
                <a:ea typeface="Times New Roman" panose="02020603050405020304" pitchFamily="18" charset="0"/>
              </a:rPr>
              <a:t>này.</a:t>
            </a:r>
            <a:endParaRPr lang="en-US"/>
          </a:p>
        </p:txBody>
      </p:sp>
      <p:pic>
        <p:nvPicPr>
          <p:cNvPr id="35" name="Picture 34">
            <a:extLst>
              <a:ext uri="{FF2B5EF4-FFF2-40B4-BE49-F238E27FC236}">
                <a16:creationId xmlns:a16="http://schemas.microsoft.com/office/drawing/2014/main" id="{567B7E9B-55AE-46A5-93D9-95E120169828}"/>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3823335" y="5380078"/>
            <a:ext cx="4505325" cy="770890"/>
          </a:xfrm>
          <a:prstGeom prst="rect">
            <a:avLst/>
          </a:prstGeom>
          <a:noFill/>
          <a:ln>
            <a:noFill/>
          </a:ln>
        </p:spPr>
      </p:pic>
    </p:spTree>
    <p:extLst>
      <p:ext uri="{BB962C8B-B14F-4D97-AF65-F5344CB8AC3E}">
        <p14:creationId xmlns:p14="http://schemas.microsoft.com/office/powerpoint/2010/main" val="3904448521"/>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413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3. </a:t>
            </a:r>
            <a:r>
              <a:rPr lang="vi-VN" sz="1800" b="1">
                <a:effectLst/>
                <a:latin typeface="Times New Roman" panose="02020603050405020304" pitchFamily="18" charset="0"/>
                <a:ea typeface="Times New Roman" panose="02020603050405020304" pitchFamily="18" charset="0"/>
              </a:rPr>
              <a:t>LỆNH</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ĐỔI</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KIỂU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DỮ</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LIỆU</a:t>
            </a:r>
            <a:r>
              <a:rPr lang="vi-VN" sz="1800" b="1" spc="-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VÀ</a:t>
            </a:r>
            <a:r>
              <a:rPr lang="vi-VN" sz="1800" b="1" spc="-1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DI</a:t>
            </a:r>
            <a:r>
              <a:rPr lang="vi-VN" sz="1800" b="1" spc="-5">
                <a:effectLst/>
                <a:latin typeface="Times New Roman" panose="02020603050405020304" pitchFamily="18" charset="0"/>
                <a:ea typeface="Times New Roman" panose="02020603050405020304" pitchFamily="18" charset="0"/>
              </a:rPr>
              <a:t> </a:t>
            </a:r>
            <a:r>
              <a:rPr lang="vi-VN" sz="1800" b="1" spc="-10">
                <a:effectLst/>
                <a:latin typeface="Times New Roman" panose="02020603050405020304" pitchFamily="18" charset="0"/>
                <a:ea typeface="Times New Roman" panose="02020603050405020304" pitchFamily="18" charset="0"/>
              </a:rPr>
              <a:t>CHUYỂN</a:t>
            </a:r>
            <a:r>
              <a:rPr lang="en-US" sz="1800" b="1" spc="-10">
                <a:effectLst/>
                <a:latin typeface="Times New Roman" panose="02020603050405020304" pitchFamily="18" charset="0"/>
                <a:ea typeface="Times New Roman" panose="02020603050405020304" pitchFamily="18" charset="0"/>
              </a:rPr>
              <a:t>:</a:t>
            </a:r>
            <a:endParaRPr lang="en-US" altLang="en-US" sz="1800"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a:latin typeface="Times New Roman" panose="02020603050405020304" pitchFamily="18" charset="0"/>
                <a:cs typeface="Times New Roman" panose="02020603050405020304" pitchFamily="18" charset="0"/>
              </a:rPr>
              <a:t>8.2. TẬP LỆNH CỦA  PLC S7-300 (DẠNG LAD)</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C9D32C3-F5BD-46C0-B497-CFA0F7B5D974}"/>
              </a:ext>
            </a:extLst>
          </p:cNvPr>
          <p:cNvSpPr txBox="1"/>
          <p:nvPr/>
        </p:nvSpPr>
        <p:spPr>
          <a:xfrm>
            <a:off x="615949" y="1310411"/>
            <a:ext cx="6096000" cy="369332"/>
          </a:xfrm>
          <a:prstGeom prst="rect">
            <a:avLst/>
          </a:prstGeom>
          <a:noFill/>
        </p:spPr>
        <p:txBody>
          <a:bodyPr wrap="square">
            <a:spAutoFit/>
          </a:bodyPr>
          <a:lstStyle/>
          <a:p>
            <a:r>
              <a:rPr lang="vi-VN" sz="1800" b="1">
                <a:effectLst/>
                <a:latin typeface="Times New Roman" panose="02020603050405020304" pitchFamily="18" charset="0"/>
                <a:ea typeface="Times New Roman" panose="02020603050405020304" pitchFamily="18" charset="0"/>
              </a:rPr>
              <a:t>Một</a:t>
            </a:r>
            <a:r>
              <a:rPr lang="vi-VN" sz="1800" b="1" spc="-70">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số</a:t>
            </a:r>
            <a:r>
              <a:rPr lang="vi-VN" sz="1800" b="1" spc="-6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lệnh</a:t>
            </a:r>
            <a:r>
              <a:rPr lang="vi-VN" sz="1800" b="1" spc="-65">
                <a:effectLst/>
                <a:latin typeface="Times New Roman" panose="02020603050405020304" pitchFamily="18" charset="0"/>
                <a:ea typeface="Times New Roman" panose="02020603050405020304" pitchFamily="18" charset="0"/>
              </a:rPr>
              <a:t> </a:t>
            </a:r>
            <a:r>
              <a:rPr lang="vi-VN" sz="1800" b="1">
                <a:effectLst/>
                <a:latin typeface="Times New Roman" panose="02020603050405020304" pitchFamily="18" charset="0"/>
                <a:ea typeface="Times New Roman" panose="02020603050405020304" pitchFamily="18" charset="0"/>
              </a:rPr>
              <a:t>khác</a:t>
            </a:r>
            <a:endParaRPr lang="en-US"/>
          </a:p>
        </p:txBody>
      </p:sp>
      <p:sp>
        <p:nvSpPr>
          <p:cNvPr id="20" name="TextBox 19">
            <a:extLst>
              <a:ext uri="{FF2B5EF4-FFF2-40B4-BE49-F238E27FC236}">
                <a16:creationId xmlns:a16="http://schemas.microsoft.com/office/drawing/2014/main" id="{BE0A1915-67A8-4A05-85B7-D63B1EDFA625}"/>
              </a:ext>
            </a:extLst>
          </p:cNvPr>
          <p:cNvSpPr txBox="1"/>
          <p:nvPr/>
        </p:nvSpPr>
        <p:spPr>
          <a:xfrm>
            <a:off x="615948" y="1753057"/>
            <a:ext cx="11118851"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 JMP:</a:t>
            </a:r>
            <a:r>
              <a:rPr lang="vi-VN" sz="1800" spc="3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 nếu RLO=1, Nếu RLO=1 chương trình sẽ nhảy đến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nhãn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a:t>
            </a:r>
            <a:endParaRPr lang="en-US"/>
          </a:p>
        </p:txBody>
      </p:sp>
      <p:pic>
        <p:nvPicPr>
          <p:cNvPr id="21" name="Picture 20">
            <a:extLst>
              <a:ext uri="{FF2B5EF4-FFF2-40B4-BE49-F238E27FC236}">
                <a16:creationId xmlns:a16="http://schemas.microsoft.com/office/drawing/2014/main" id="{7064259A-8C36-4989-B212-E477215795C8}"/>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863340" y="2197255"/>
            <a:ext cx="4465320" cy="765810"/>
          </a:xfrm>
          <a:prstGeom prst="rect">
            <a:avLst/>
          </a:prstGeom>
          <a:noFill/>
          <a:ln>
            <a:noFill/>
          </a:ln>
        </p:spPr>
      </p:pic>
      <p:sp>
        <p:nvSpPr>
          <p:cNvPr id="29" name="TextBox 28">
            <a:extLst>
              <a:ext uri="{FF2B5EF4-FFF2-40B4-BE49-F238E27FC236}">
                <a16:creationId xmlns:a16="http://schemas.microsoft.com/office/drawing/2014/main" id="{FEC627F1-5362-4557-9119-1A64932F7654}"/>
              </a:ext>
            </a:extLst>
          </p:cNvPr>
          <p:cNvSpPr txBox="1"/>
          <p:nvPr/>
        </p:nvSpPr>
        <p:spPr>
          <a:xfrm>
            <a:off x="615947" y="3303962"/>
            <a:ext cx="11277600"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JMPN:</a:t>
            </a:r>
            <a:r>
              <a:rPr lang="vi-VN" sz="1800" spc="2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nếu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RLO=0,Nếu</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RLO=0</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chương</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trình</a:t>
            </a:r>
            <a:r>
              <a:rPr lang="vi-VN" sz="1800" spc="-45">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sẽ</a:t>
            </a:r>
            <a:r>
              <a:rPr lang="vi-VN" sz="1800" spc="-4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 đến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nhãn</a:t>
            </a:r>
            <a:r>
              <a:rPr lang="vi-VN" sz="1800" spc="-50">
                <a:effectLst/>
                <a:latin typeface="Times New Roman" panose="02020603050405020304" pitchFamily="18" charset="0"/>
                <a:ea typeface="Times New Roman" panose="02020603050405020304" pitchFamily="18" charset="0"/>
              </a:rPr>
              <a:t> </a:t>
            </a:r>
            <a:r>
              <a:rPr lang="vi-VN" sz="1800">
                <a:effectLst/>
                <a:latin typeface="Times New Roman" panose="02020603050405020304" pitchFamily="18" charset="0"/>
                <a:ea typeface="Times New Roman" panose="02020603050405020304" pitchFamily="18" charset="0"/>
              </a:rPr>
              <a:t>“nhảy”.</a:t>
            </a:r>
            <a:endParaRPr lang="en-US"/>
          </a:p>
        </p:txBody>
      </p:sp>
      <p:pic>
        <p:nvPicPr>
          <p:cNvPr id="31" name="Picture 30">
            <a:extLst>
              <a:ext uri="{FF2B5EF4-FFF2-40B4-BE49-F238E27FC236}">
                <a16:creationId xmlns:a16="http://schemas.microsoft.com/office/drawing/2014/main" id="{6B339920-A58B-4230-96C8-252B3D21537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3857625" y="3730266"/>
            <a:ext cx="4476750" cy="770890"/>
          </a:xfrm>
          <a:prstGeom prst="rect">
            <a:avLst/>
          </a:prstGeom>
          <a:noFill/>
          <a:ln>
            <a:noFill/>
          </a:ln>
        </p:spPr>
      </p:pic>
      <p:sp>
        <p:nvSpPr>
          <p:cNvPr id="34" name="TextBox 33">
            <a:extLst>
              <a:ext uri="{FF2B5EF4-FFF2-40B4-BE49-F238E27FC236}">
                <a16:creationId xmlns:a16="http://schemas.microsoft.com/office/drawing/2014/main" id="{9C74E244-F84E-426E-B918-7152F7C9957B}"/>
              </a:ext>
            </a:extLst>
          </p:cNvPr>
          <p:cNvSpPr txBox="1"/>
          <p:nvPr/>
        </p:nvSpPr>
        <p:spPr>
          <a:xfrm>
            <a:off x="615948" y="4950317"/>
            <a:ext cx="11118851" cy="369332"/>
          </a:xfrm>
          <a:prstGeom prst="rect">
            <a:avLst/>
          </a:prstGeom>
          <a:noFill/>
        </p:spPr>
        <p:txBody>
          <a:bodyPr wrap="square">
            <a:spAutoFit/>
          </a:bodyPr>
          <a:lstStyle/>
          <a:p>
            <a:r>
              <a:rPr lang="vi-VN" sz="1800">
                <a:effectLst/>
                <a:latin typeface="Times New Roman" panose="02020603050405020304" pitchFamily="18" charset="0"/>
                <a:ea typeface="Times New Roman" panose="02020603050405020304" pitchFamily="18" charset="0"/>
              </a:rPr>
              <a:t>Lệnh OPN : Lệnh mở khối DB để có thể truy cập trực tiếp tới khối </a:t>
            </a:r>
            <a:r>
              <a:rPr lang="vi-VN" sz="1800" spc="-20">
                <a:effectLst/>
                <a:latin typeface="Times New Roman" panose="02020603050405020304" pitchFamily="18" charset="0"/>
                <a:ea typeface="Times New Roman" panose="02020603050405020304" pitchFamily="18" charset="0"/>
              </a:rPr>
              <a:t>này.</a:t>
            </a:r>
            <a:endParaRPr lang="en-US"/>
          </a:p>
        </p:txBody>
      </p:sp>
      <p:pic>
        <p:nvPicPr>
          <p:cNvPr id="35" name="Picture 34">
            <a:extLst>
              <a:ext uri="{FF2B5EF4-FFF2-40B4-BE49-F238E27FC236}">
                <a16:creationId xmlns:a16="http://schemas.microsoft.com/office/drawing/2014/main" id="{567B7E9B-55AE-46A5-93D9-95E120169828}"/>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3823335" y="5380078"/>
            <a:ext cx="4505325" cy="770890"/>
          </a:xfrm>
          <a:prstGeom prst="rect">
            <a:avLst/>
          </a:prstGeom>
          <a:noFill/>
          <a:ln>
            <a:noFill/>
          </a:ln>
        </p:spPr>
      </p:pic>
    </p:spTree>
    <p:extLst>
      <p:ext uri="{BB962C8B-B14F-4D97-AF65-F5344CB8AC3E}">
        <p14:creationId xmlns:p14="http://schemas.microsoft.com/office/powerpoint/2010/main" val="4002132573"/>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2522" y="2824321"/>
            <a:ext cx="6208543" cy="3493340"/>
          </a:xfrm>
          <a:prstGeom prst="rect">
            <a:avLst/>
          </a:prstGeom>
        </p:spPr>
      </p:pic>
      <p:sp>
        <p:nvSpPr>
          <p:cNvPr id="4" name="Rectangle 3"/>
          <p:cNvSpPr/>
          <p:nvPr/>
        </p:nvSpPr>
        <p:spPr>
          <a:xfrm>
            <a:off x="1047565" y="2093476"/>
            <a:ext cx="1015605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8.3 ỨNG DỤNG CỦA PLC S7-300 TRONG NHÀ MÁY</a:t>
            </a:r>
          </a:p>
        </p:txBody>
      </p:sp>
      <p:sp>
        <p:nvSpPr>
          <p:cNvPr id="5"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TỔNG QUAN VỀ PLC S7-300 VÀ ỨNG DỤNG</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02097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8108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sysClr val="windowText" lastClr="000000"/>
                </a:solidFill>
                <a:latin typeface="Times New Roman" panose="02020603050405020304" pitchFamily="18" charset="0"/>
                <a:cs typeface="Times New Roman" panose="02020603050405020304" pitchFamily="18" charset="0"/>
              </a:rPr>
              <a:t>1. </a:t>
            </a:r>
            <a:r>
              <a:rPr lang="en-US" sz="1800" b="1" i="0">
                <a:solidFill>
                  <a:sysClr val="windowText" lastClr="000000"/>
                </a:solidFill>
                <a:effectLst/>
                <a:latin typeface="Times New Roman" panose="02020603050405020304" pitchFamily="18" charset="0"/>
                <a:cs typeface="Times New Roman" panose="02020603050405020304" pitchFamily="18" charset="0"/>
              </a:rPr>
              <a:t>GIÁM SÁT &amp; ĐIỀU KHIỂN CÁC NHÀ MÁY CÔNG NGHIỆP</a:t>
            </a:r>
            <a:r>
              <a:rPr lang="en-US" sz="1800" b="1" spc="-1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1800" b="1" dirty="0">
              <a:solidFill>
                <a:sysClr val="windowText" lastClr="000000"/>
              </a:solidFill>
              <a:latin typeface="Times New Roman" panose="02020603050405020304" pitchFamily="18" charset="0"/>
              <a:cs typeface="Times New Roman" panose="02020603050405020304" pitchFamily="18" charset="0"/>
            </a:endParaRP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smtClean="0">
                <a:latin typeface="Times New Roman" panose="02020603050405020304" pitchFamily="18" charset="0"/>
                <a:cs typeface="Times New Roman" panose="02020603050405020304" pitchFamily="18" charset="0"/>
              </a:rPr>
              <a:t>8.3 ỨNG DỤNG TRONG SẢN XUẤT</a:t>
            </a:r>
            <a:endParaRPr lang="en-US" sz="20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60511E15-1BAF-465D-BD40-610CACA02292}"/>
              </a:ext>
            </a:extLst>
          </p:cNvPr>
          <p:cNvSpPr txBox="1"/>
          <p:nvPr/>
        </p:nvSpPr>
        <p:spPr>
          <a:xfrm>
            <a:off x="692868" y="1345307"/>
            <a:ext cx="4897227" cy="4613058"/>
          </a:xfrm>
          <a:prstGeom prst="rect">
            <a:avLst/>
          </a:prstGeom>
          <a:noFill/>
        </p:spPr>
        <p:txBody>
          <a:bodyPr wrap="square">
            <a:spAutoFit/>
          </a:bodyPr>
          <a:lstStyle/>
          <a:p>
            <a:pPr>
              <a:lnSpc>
                <a:spcPct val="150000"/>
              </a:lnSpc>
            </a:pPr>
            <a:r>
              <a:rPr lang="en-US" b="0" i="0" dirty="0">
                <a:solidFill>
                  <a:sysClr val="windowText" lastClr="000000"/>
                </a:solidFill>
                <a:effectLst/>
                <a:latin typeface="Times New Roman" panose="02020603050405020304" pitchFamily="18" charset="0"/>
                <a:cs typeface="Times New Roman" panose="02020603050405020304" pitchFamily="18" charset="0"/>
              </a:rPr>
              <a:t>- Đ</a:t>
            </a:r>
            <a:r>
              <a:rPr lang="vi-VN" b="0" i="0" dirty="0">
                <a:solidFill>
                  <a:sysClr val="windowText" lastClr="000000"/>
                </a:solidFill>
                <a:effectLst/>
                <a:latin typeface="Times New Roman" panose="02020603050405020304" pitchFamily="18" charset="0"/>
                <a:cs typeface="Times New Roman" panose="02020603050405020304" pitchFamily="18" charset="0"/>
              </a:rPr>
              <a:t>iều khiển khống chế nhiệt độ lò cao trong</a:t>
            </a:r>
            <a:endParaRPr lang="en-US" b="0" i="0" dirty="0">
              <a:solidFill>
                <a:sysClr val="windowText" lastClr="000000"/>
              </a:solidFill>
              <a:effectLst/>
              <a:latin typeface="Times New Roman" panose="02020603050405020304" pitchFamily="18" charset="0"/>
              <a:cs typeface="Times New Roman" panose="02020603050405020304" pitchFamily="18" charset="0"/>
            </a:endParaRPr>
          </a:p>
          <a:p>
            <a:pPr>
              <a:lnSpc>
                <a:spcPct val="150000"/>
              </a:lnSpc>
            </a:pPr>
            <a:r>
              <a:rPr lang="vi-VN" b="0" i="0" dirty="0">
                <a:solidFill>
                  <a:sysClr val="windowText" lastClr="000000"/>
                </a:solidFill>
                <a:effectLst/>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 </a:t>
            </a:r>
            <a:r>
              <a:rPr lang="vi-VN" b="0" i="0" dirty="0">
                <a:solidFill>
                  <a:sysClr val="windowText" lastClr="000000"/>
                </a:solidFill>
                <a:effectLst/>
                <a:latin typeface="Times New Roman" panose="02020603050405020304" pitchFamily="18" charset="0"/>
                <a:cs typeface="Times New Roman" panose="02020603050405020304" pitchFamily="18" charset="0"/>
              </a:rPr>
              <a:t>nhà máy gang thép</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Đ</a:t>
            </a:r>
            <a:r>
              <a:rPr lang="vi-VN" b="0" i="0" dirty="0">
                <a:solidFill>
                  <a:sysClr val="windowText" lastClr="000000"/>
                </a:solidFill>
                <a:effectLst/>
                <a:latin typeface="Times New Roman" panose="02020603050405020304" pitchFamily="18" charset="0"/>
                <a:cs typeface="Times New Roman" panose="02020603050405020304" pitchFamily="18" charset="0"/>
              </a:rPr>
              <a:t>iều khiển khống chế nhiệt độ của nhà máy</a:t>
            </a:r>
            <a:endParaRPr lang="en-US" b="0" i="0" dirty="0">
              <a:solidFill>
                <a:sysClr val="windowText" lastClr="000000"/>
              </a:solidFill>
              <a:effectLst/>
              <a:latin typeface="Times New Roman" panose="02020603050405020304" pitchFamily="18" charset="0"/>
              <a:cs typeface="Times New Roman" panose="02020603050405020304" pitchFamily="18" charset="0"/>
            </a:endParaRPr>
          </a:p>
          <a:p>
            <a:pPr>
              <a:lnSpc>
                <a:spcPct val="150000"/>
              </a:lnSpc>
            </a:pPr>
            <a:r>
              <a:rPr lang="en-US" dirty="0">
                <a:solidFill>
                  <a:sysClr val="windowText" lastClr="000000"/>
                </a:solidFill>
                <a:latin typeface="Times New Roman" panose="02020603050405020304" pitchFamily="18" charset="0"/>
                <a:cs typeface="Times New Roman" panose="02020603050405020304" pitchFamily="18" charset="0"/>
              </a:rPr>
              <a:t> </a:t>
            </a:r>
            <a:r>
              <a:rPr lang="vi-VN" b="0" i="0" dirty="0">
                <a:solidFill>
                  <a:sysClr val="windowText" lastClr="000000"/>
                </a:solidFill>
                <a:effectLst/>
                <a:latin typeface="Times New Roman" panose="02020603050405020304" pitchFamily="18" charset="0"/>
                <a:cs typeface="Times New Roman" panose="02020603050405020304" pitchFamily="18" charset="0"/>
              </a:rPr>
              <a:t> nhiệt điện</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Đ</a:t>
            </a:r>
            <a:r>
              <a:rPr lang="vi-VN" b="0" i="0" dirty="0">
                <a:solidFill>
                  <a:sysClr val="windowText" lastClr="000000"/>
                </a:solidFill>
                <a:effectLst/>
                <a:latin typeface="Times New Roman" panose="02020603050405020304" pitchFamily="18" charset="0"/>
                <a:cs typeface="Times New Roman" panose="02020603050405020304" pitchFamily="18" charset="0"/>
              </a:rPr>
              <a:t>iều khiển nhà máy nước</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Đ</a:t>
            </a:r>
            <a:r>
              <a:rPr lang="vi-VN" b="0" i="0" dirty="0">
                <a:solidFill>
                  <a:sysClr val="windowText" lastClr="000000"/>
                </a:solidFill>
                <a:effectLst/>
                <a:latin typeface="Times New Roman" panose="02020603050405020304" pitchFamily="18" charset="0"/>
                <a:cs typeface="Times New Roman" panose="02020603050405020304" pitchFamily="18" charset="0"/>
              </a:rPr>
              <a:t>iều khiển tay máy robot</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Đ</a:t>
            </a:r>
            <a:r>
              <a:rPr lang="vi-VN" b="0" i="0" dirty="0">
                <a:solidFill>
                  <a:sysClr val="windowText" lastClr="000000"/>
                </a:solidFill>
                <a:effectLst/>
                <a:latin typeface="Times New Roman" panose="02020603050405020304" pitchFamily="18" charset="0"/>
                <a:cs typeface="Times New Roman" panose="02020603050405020304" pitchFamily="18" charset="0"/>
              </a:rPr>
              <a:t>iều khiển nhà máy cán thép</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Đ</a:t>
            </a:r>
            <a:r>
              <a:rPr lang="vi-VN" b="0" i="0" dirty="0">
                <a:solidFill>
                  <a:sysClr val="windowText" lastClr="000000"/>
                </a:solidFill>
                <a:effectLst/>
                <a:latin typeface="Times New Roman" panose="02020603050405020304" pitchFamily="18" charset="0"/>
                <a:cs typeface="Times New Roman" panose="02020603050405020304" pitchFamily="18" charset="0"/>
              </a:rPr>
              <a:t>ịnh lượng và điều khiển sản lượng cho</a:t>
            </a:r>
            <a:endParaRPr lang="en-US" b="0" i="0" dirty="0">
              <a:solidFill>
                <a:sysClr val="windowText" lastClr="000000"/>
              </a:solidFill>
              <a:effectLst/>
              <a:latin typeface="Times New Roman" panose="02020603050405020304" pitchFamily="18" charset="0"/>
              <a:cs typeface="Times New Roman" panose="02020603050405020304" pitchFamily="18" charset="0"/>
            </a:endParaRPr>
          </a:p>
          <a:p>
            <a:pPr>
              <a:lnSpc>
                <a:spcPct val="150000"/>
              </a:lnSpc>
            </a:pPr>
            <a:r>
              <a:rPr lang="en-US" dirty="0">
                <a:solidFill>
                  <a:sysClr val="windowText" lastClr="000000"/>
                </a:solidFill>
                <a:latin typeface="Times New Roman" panose="02020603050405020304" pitchFamily="18" charset="0"/>
                <a:cs typeface="Times New Roman" panose="02020603050405020304" pitchFamily="18" charset="0"/>
              </a:rPr>
              <a:t> </a:t>
            </a:r>
            <a:r>
              <a:rPr lang="vi-VN" b="0" i="0" dirty="0">
                <a:solidFill>
                  <a:sysClr val="windowText" lastClr="000000"/>
                </a:solidFill>
                <a:effectLst/>
                <a:latin typeface="Times New Roman" panose="02020603050405020304" pitchFamily="18" charset="0"/>
                <a:cs typeface="Times New Roman" panose="02020603050405020304" pitchFamily="18" charset="0"/>
              </a:rPr>
              <a:t> băng tải</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en-US" b="0" i="0" dirty="0">
                <a:solidFill>
                  <a:sysClr val="windowText" lastClr="000000"/>
                </a:solidFill>
                <a:effectLst/>
                <a:latin typeface="Times New Roman" panose="02020603050405020304" pitchFamily="18" charset="0"/>
                <a:cs typeface="Times New Roman" panose="02020603050405020304" pitchFamily="18" charset="0"/>
              </a:rPr>
              <a:t>Đ</a:t>
            </a:r>
            <a:r>
              <a:rPr lang="vi-VN" b="0" i="0" dirty="0">
                <a:solidFill>
                  <a:sysClr val="windowText" lastClr="000000"/>
                </a:solidFill>
                <a:effectLst/>
                <a:latin typeface="Times New Roman" panose="02020603050405020304" pitchFamily="18" charset="0"/>
                <a:cs typeface="Times New Roman" panose="02020603050405020304" pitchFamily="18" charset="0"/>
              </a:rPr>
              <a:t>iều khiển quá trình sản xuất định mẻ cho</a:t>
            </a:r>
            <a:endParaRPr lang="en-US" b="0" i="0" dirty="0">
              <a:solidFill>
                <a:sysClr val="windowText" lastClr="000000"/>
              </a:solidFill>
              <a:effectLst/>
              <a:latin typeface="Times New Roman" panose="02020603050405020304" pitchFamily="18" charset="0"/>
              <a:cs typeface="Times New Roman" panose="02020603050405020304" pitchFamily="18" charset="0"/>
            </a:endParaRPr>
          </a:p>
          <a:p>
            <a:pPr>
              <a:lnSpc>
                <a:spcPct val="150000"/>
              </a:lnSpc>
            </a:pPr>
            <a:r>
              <a:rPr lang="en-US" dirty="0">
                <a:solidFill>
                  <a:sysClr val="windowText" lastClr="000000"/>
                </a:solidFill>
                <a:latin typeface="Times New Roman" panose="02020603050405020304" pitchFamily="18" charset="0"/>
                <a:cs typeface="Times New Roman" panose="02020603050405020304" pitchFamily="18" charset="0"/>
              </a:rPr>
              <a:t> </a:t>
            </a:r>
            <a:r>
              <a:rPr lang="vi-VN" b="0" i="0" dirty="0">
                <a:solidFill>
                  <a:sysClr val="windowText" lastClr="000000"/>
                </a:solidFill>
                <a:effectLst/>
                <a:latin typeface="Times New Roman" panose="02020603050405020304" pitchFamily="18" charset="0"/>
                <a:cs typeface="Times New Roman" panose="02020603050405020304" pitchFamily="18" charset="0"/>
              </a:rPr>
              <a:t> nhà máy luyện kim</a:t>
            </a:r>
            <a:endParaRPr lang="en-US" dirty="0">
              <a:solidFill>
                <a:sysClr val="windowText" lastClr="000000"/>
              </a:solidFill>
              <a:latin typeface="Times New Roman" panose="02020603050405020304" pitchFamily="18" charset="0"/>
              <a:cs typeface="Times New Roman" panose="02020603050405020304" pitchFamily="18" charset="0"/>
            </a:endParaRPr>
          </a:p>
        </p:txBody>
      </p:sp>
      <p:pic>
        <p:nvPicPr>
          <p:cNvPr id="1028" name="Picture 4" descr="PLC S7 200_Bài 2: Bộ điều khiển lập trình PLC - Cấu trúc và phương thức  hoạt động - Cách Dùng">
            <a:extLst>
              <a:ext uri="{FF2B5EF4-FFF2-40B4-BE49-F238E27FC236}">
                <a16:creationId xmlns:a16="http://schemas.microsoft.com/office/drawing/2014/main" id="{C190D118-F2A8-4352-8ED5-8297AAD8BB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0095" y="1406527"/>
            <a:ext cx="6167969" cy="376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611278"/>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860D83B-ABD8-4DA0-B8BA-EF983DF279B0}"/>
              </a:ext>
            </a:extLst>
          </p:cNvPr>
          <p:cNvGrpSpPr/>
          <p:nvPr/>
        </p:nvGrpSpPr>
        <p:grpSpPr>
          <a:xfrm>
            <a:off x="1823673" y="2020702"/>
            <a:ext cx="8544655" cy="4224672"/>
            <a:chOff x="883081" y="2595634"/>
            <a:chExt cx="7855566" cy="3883971"/>
          </a:xfrm>
        </p:grpSpPr>
        <p:pic>
          <p:nvPicPr>
            <p:cNvPr id="3" name="Picture 2">
              <a:extLst>
                <a:ext uri="{FF2B5EF4-FFF2-40B4-BE49-F238E27FC236}">
                  <a16:creationId xmlns:a16="http://schemas.microsoft.com/office/drawing/2014/main" id="{B77905B0-6008-4429-85FB-F99260B5CC4D}"/>
                </a:ext>
              </a:extLst>
            </p:cNvPr>
            <p:cNvPicPr>
              <a:picLocks noChangeAspect="1"/>
            </p:cNvPicPr>
            <p:nvPr/>
          </p:nvPicPr>
          <p:blipFill>
            <a:blip r:embed="rId3"/>
            <a:stretch>
              <a:fillRect/>
            </a:stretch>
          </p:blipFill>
          <p:spPr>
            <a:xfrm>
              <a:off x="5206983" y="2595634"/>
              <a:ext cx="3531664" cy="3883971"/>
            </a:xfrm>
            <a:prstGeom prst="rect">
              <a:avLst/>
            </a:prstGeom>
          </p:spPr>
        </p:pic>
        <p:pic>
          <p:nvPicPr>
            <p:cNvPr id="7" name="Picture 6">
              <a:extLst>
                <a:ext uri="{FF2B5EF4-FFF2-40B4-BE49-F238E27FC236}">
                  <a16:creationId xmlns:a16="http://schemas.microsoft.com/office/drawing/2014/main" id="{25FDD0B9-1FDD-40B7-9C4D-E6E829218FCE}"/>
                </a:ext>
              </a:extLst>
            </p:cNvPr>
            <p:cNvPicPr>
              <a:picLocks noChangeAspect="1"/>
            </p:cNvPicPr>
            <p:nvPr/>
          </p:nvPicPr>
          <p:blipFill>
            <a:blip r:embed="rId4"/>
            <a:stretch>
              <a:fillRect/>
            </a:stretch>
          </p:blipFill>
          <p:spPr>
            <a:xfrm>
              <a:off x="883081" y="2614365"/>
              <a:ext cx="4122553" cy="3865002"/>
            </a:xfrm>
            <a:prstGeom prst="rect">
              <a:avLst/>
            </a:prstGeom>
          </p:spPr>
        </p:pic>
      </p:gr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6373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576842"/>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8" y="871369"/>
            <a:ext cx="68108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sysClr val="windowText" lastClr="000000"/>
                </a:solidFill>
                <a:latin typeface="Times New Roman" panose="02020603050405020304" pitchFamily="18" charset="0"/>
                <a:cs typeface="Times New Roman" panose="02020603050405020304" pitchFamily="18" charset="0"/>
              </a:rPr>
              <a:t>2. </a:t>
            </a:r>
            <a:r>
              <a:rPr lang="en-US" sz="1800" b="1" i="0">
                <a:solidFill>
                  <a:sysClr val="windowText" lastClr="000000"/>
                </a:solidFill>
                <a:effectLst/>
                <a:latin typeface="Times New Roman" panose="02020603050405020304" pitchFamily="18" charset="0"/>
                <a:cs typeface="Times New Roman" panose="02020603050405020304" pitchFamily="18" charset="0"/>
              </a:rPr>
              <a:t>ĐIỀU KHIỂN CÁC DÂY CHUYỀN SẢN XUẤT </a:t>
            </a:r>
            <a:r>
              <a:rPr lang="en-US" sz="1800" b="1" spc="-1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1800" b="1" dirty="0">
              <a:solidFill>
                <a:sysClr val="windowText" lastClr="0000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A8FABCFB-44E3-4A1F-916F-082CE80FE087}"/>
              </a:ext>
            </a:extLst>
          </p:cNvPr>
          <p:cNvSpPr txBox="1"/>
          <p:nvPr/>
        </p:nvSpPr>
        <p:spPr>
          <a:xfrm>
            <a:off x="805991" y="1377056"/>
            <a:ext cx="6641184" cy="646331"/>
          </a:xfrm>
          <a:prstGeom prst="rect">
            <a:avLst/>
          </a:prstGeom>
          <a:noFill/>
        </p:spPr>
        <p:txBody>
          <a:bodyPr wrap="square">
            <a:spAutoFit/>
          </a:bodyPr>
          <a:lstStyle/>
          <a:p>
            <a:r>
              <a:rPr lang="en-US" b="0" i="0" dirty="0">
                <a:solidFill>
                  <a:sysClr val="windowText" lastClr="000000"/>
                </a:solidFill>
                <a:effectLst/>
                <a:latin typeface="Times New Roman" panose="02020603050405020304" pitchFamily="18" charset="0"/>
                <a:cs typeface="Times New Roman" panose="02020603050405020304" pitchFamily="18" charset="0"/>
              </a:rPr>
              <a:t>- </a:t>
            </a:r>
            <a:r>
              <a:rPr lang="vi-VN" b="0" i="0" dirty="0">
                <a:solidFill>
                  <a:sysClr val="windowText" lastClr="000000"/>
                </a:solidFill>
                <a:effectLst/>
                <a:latin typeface="Times New Roman" panose="02020603050405020304" pitchFamily="18" charset="0"/>
                <a:cs typeface="Times New Roman" panose="02020603050405020304" pitchFamily="18" charset="0"/>
              </a:rPr>
              <a:t>Dây chuyền sản xuất đóng chai</a:t>
            </a:r>
            <a:r>
              <a:rPr lang="vi-VN" dirty="0">
                <a:solidFill>
                  <a:sysClr val="windowText" lastClr="000000"/>
                </a:solidFill>
                <a:latin typeface="Times New Roman" panose="02020603050405020304" pitchFamily="18" charset="0"/>
                <a:cs typeface="Times New Roman" panose="02020603050405020304" pitchFamily="18" charset="0"/>
              </a:rPr>
              <a:t/>
            </a:r>
            <a:br>
              <a:rPr lang="vi-VN" dirty="0">
                <a:solidFill>
                  <a:sysClr val="windowText" lastClr="000000"/>
                </a:solidFill>
                <a:latin typeface="Times New Roman" panose="02020603050405020304" pitchFamily="18" charset="0"/>
                <a:cs typeface="Times New Roman" panose="02020603050405020304" pitchFamily="18" charset="0"/>
              </a:rPr>
            </a:br>
            <a:r>
              <a:rPr lang="en-US" dirty="0">
                <a:solidFill>
                  <a:sysClr val="windowText" lastClr="000000"/>
                </a:solidFill>
                <a:latin typeface="Times New Roman" panose="02020603050405020304" pitchFamily="18" charset="0"/>
                <a:cs typeface="Times New Roman" panose="02020603050405020304" pitchFamily="18" charset="0"/>
              </a:rPr>
              <a:t>- </a:t>
            </a:r>
            <a:r>
              <a:rPr lang="vi-VN" b="0" i="0" dirty="0">
                <a:solidFill>
                  <a:sysClr val="windowText" lastClr="000000"/>
                </a:solidFill>
                <a:effectLst/>
                <a:latin typeface="Times New Roman" panose="02020603050405020304" pitchFamily="18" charset="0"/>
                <a:cs typeface="Times New Roman" panose="02020603050405020304" pitchFamily="18" charset="0"/>
              </a:rPr>
              <a:t>Dây chuyền sản xuất đóng gói sản phẩm dạng hạt</a:t>
            </a:r>
            <a:endParaRPr 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B86C4341-AA64-45FF-ADEC-873A560AF577}"/>
              </a:ext>
            </a:extLst>
          </p:cNvPr>
          <p:cNvSpPr txBox="1"/>
          <p:nvPr/>
        </p:nvSpPr>
        <p:spPr>
          <a:xfrm>
            <a:off x="7939289" y="1341621"/>
            <a:ext cx="3490712" cy="646331"/>
          </a:xfrm>
          <a:prstGeom prst="rect">
            <a:avLst/>
          </a:prstGeom>
          <a:noFill/>
        </p:spPr>
        <p:txBody>
          <a:bodyPr wrap="square">
            <a:spAutoFit/>
          </a:bodyPr>
          <a:lstStyle/>
          <a:p>
            <a:r>
              <a:rPr lang="en-US">
                <a:solidFill>
                  <a:sysClr val="windowText" lastClr="000000"/>
                </a:solidFill>
                <a:latin typeface="Times New Roman" panose="02020603050405020304" pitchFamily="18" charset="0"/>
                <a:cs typeface="Times New Roman" panose="02020603050405020304" pitchFamily="18" charset="0"/>
              </a:rPr>
              <a:t>- </a:t>
            </a:r>
            <a:r>
              <a:rPr lang="vi-VN" b="0" i="0">
                <a:solidFill>
                  <a:sysClr val="windowText" lastClr="000000"/>
                </a:solidFill>
                <a:effectLst/>
                <a:latin typeface="Times New Roman" panose="02020603050405020304" pitchFamily="18" charset="0"/>
                <a:cs typeface="Times New Roman" panose="02020603050405020304" pitchFamily="18" charset="0"/>
              </a:rPr>
              <a:t>Dây chuyền sản xuất</a:t>
            </a:r>
            <a:r>
              <a:rPr lang="vi-VN">
                <a:solidFill>
                  <a:sysClr val="windowText" lastClr="000000"/>
                </a:solidFill>
                <a:latin typeface="Times New Roman" panose="02020603050405020304" pitchFamily="18" charset="0"/>
                <a:cs typeface="Times New Roman" panose="02020603050405020304" pitchFamily="18" charset="0"/>
              </a:rPr>
              <a:t/>
            </a:r>
            <a:br>
              <a:rPr lang="vi-VN">
                <a:solidFill>
                  <a:sysClr val="windowText" lastClr="000000"/>
                </a:solidFill>
                <a:latin typeface="Times New Roman" panose="02020603050405020304" pitchFamily="18" charset="0"/>
                <a:cs typeface="Times New Roman" panose="02020603050405020304" pitchFamily="18" charset="0"/>
              </a:rPr>
            </a:br>
            <a:r>
              <a:rPr lang="en-US">
                <a:solidFill>
                  <a:sysClr val="windowText" lastClr="000000"/>
                </a:solidFill>
                <a:latin typeface="Times New Roman" panose="02020603050405020304" pitchFamily="18" charset="0"/>
                <a:cs typeface="Times New Roman" panose="02020603050405020304" pitchFamily="18" charset="0"/>
              </a:rPr>
              <a:t>- </a:t>
            </a:r>
            <a:r>
              <a:rPr lang="vi-VN" b="0" i="0">
                <a:solidFill>
                  <a:sysClr val="windowText" lastClr="000000"/>
                </a:solidFill>
                <a:effectLst/>
                <a:latin typeface="Times New Roman" panose="02020603050405020304" pitchFamily="18" charset="0"/>
                <a:cs typeface="Times New Roman" panose="02020603050405020304" pitchFamily="18" charset="0"/>
              </a:rPr>
              <a:t>Dây chuyền trạm trộn BTXM</a:t>
            </a:r>
            <a:endParaRPr lang="en-US">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smtClean="0">
                <a:latin typeface="Times New Roman" panose="02020603050405020304" pitchFamily="18" charset="0"/>
                <a:cs typeface="Times New Roman" panose="02020603050405020304" pitchFamily="18" charset="0"/>
              </a:rPr>
              <a:t>8.3 ỨNG DỤNG TRONG SẢN XUẤT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362886"/>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9Slide.vn</Template>
  <TotalTime>1376</TotalTime>
  <Words>2829</Words>
  <Application>Microsoft Office PowerPoint</Application>
  <PresentationFormat>Widescreen</PresentationFormat>
  <Paragraphs>286</Paragraphs>
  <Slides>30</Slides>
  <Notes>24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30</vt:i4>
      </vt:variant>
    </vt:vector>
  </HeadingPairs>
  <TitlesOfParts>
    <vt:vector size="39" baseType="lpstr">
      <vt:lpstr>Arial</vt:lpstr>
      <vt:lpstr>Calibri</vt:lpstr>
      <vt:lpstr>Calibri Light</vt:lpstr>
      <vt:lpstr>Symbol</vt:lpstr>
      <vt:lpstr>Times New Roman</vt:lpstr>
      <vt:lpstr>VNI-Times</vt:lpstr>
      <vt:lpstr>Wingdings 3</vt:lpstr>
      <vt:lpstr>4_Default Design</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subject>9Slide.vn</dc:subject>
  <dc:creator>PHONG DAO TAO</dc:creator>
  <dc:description>9Slide.vn</dc:description>
  <cp:lastModifiedBy>Nguyen Bao Chau</cp:lastModifiedBy>
  <cp:revision>250</cp:revision>
  <dcterms:created xsi:type="dcterms:W3CDTF">2021-07-02T09:40:39Z</dcterms:created>
  <dcterms:modified xsi:type="dcterms:W3CDTF">2021-12-05T23:35:36Z</dcterms:modified>
  <cp:category>9Slide.vn</cp:category>
</cp:coreProperties>
</file>