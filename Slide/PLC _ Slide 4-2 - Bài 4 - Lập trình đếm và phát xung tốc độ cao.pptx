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7" r:id="rId3"/>
  </p:sldMasterIdLst>
  <p:notesMasterIdLst>
    <p:notesMasterId r:id="rId44"/>
  </p:notesMasterIdLst>
  <p:sldIdLst>
    <p:sldId id="257" r:id="rId4"/>
    <p:sldId id="341" r:id="rId5"/>
    <p:sldId id="339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83" r:id="rId15"/>
    <p:sldId id="384" r:id="rId16"/>
    <p:sldId id="385" r:id="rId17"/>
    <p:sldId id="386" r:id="rId18"/>
    <p:sldId id="387" r:id="rId19"/>
    <p:sldId id="388" r:id="rId20"/>
    <p:sldId id="364" r:id="rId21"/>
    <p:sldId id="361" r:id="rId22"/>
    <p:sldId id="362" r:id="rId23"/>
    <p:sldId id="363" r:id="rId24"/>
    <p:sldId id="365" r:id="rId25"/>
    <p:sldId id="366" r:id="rId26"/>
    <p:sldId id="367" r:id="rId27"/>
    <p:sldId id="368" r:id="rId28"/>
    <p:sldId id="369" r:id="rId29"/>
    <p:sldId id="370" r:id="rId30"/>
    <p:sldId id="371" r:id="rId31"/>
    <p:sldId id="372" r:id="rId32"/>
    <p:sldId id="373" r:id="rId33"/>
    <p:sldId id="374" r:id="rId34"/>
    <p:sldId id="375" r:id="rId35"/>
    <p:sldId id="376" r:id="rId36"/>
    <p:sldId id="377" r:id="rId37"/>
    <p:sldId id="378" r:id="rId38"/>
    <p:sldId id="379" r:id="rId39"/>
    <p:sldId id="380" r:id="rId40"/>
    <p:sldId id="381" r:id="rId41"/>
    <p:sldId id="382" r:id="rId42"/>
    <p:sldId id="30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897" autoAdjust="0"/>
  </p:normalViewPr>
  <p:slideViewPr>
    <p:cSldViewPr snapToGrid="0">
      <p:cViewPr varScale="1">
        <p:scale>
          <a:sx n="108" d="100"/>
          <a:sy n="108" d="100"/>
        </p:scale>
        <p:origin x="63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EF37C-3239-4CC1-9458-1F4F89E202E7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567F6F-AC6B-4134-8A12-A6DFC3D57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2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Book 7 - TIA Portal STEP 7 Basic (PID Motion) – </a:t>
            </a:r>
            <a:r>
              <a:rPr lang="en-US" altLang="en-US" dirty="0" err="1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Chương</a:t>
            </a:r>
            <a:r>
              <a:rPr lang="en-US" altLang="en-US" baseline="0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2,3,5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148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Book 7 - TIA Portal STEP 7 Basic (PID Motion) – </a:t>
            </a:r>
            <a:r>
              <a:rPr lang="en-US" altLang="en-US" dirty="0" err="1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Chương</a:t>
            </a:r>
            <a:r>
              <a:rPr lang="en-US" altLang="en-US" baseline="0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2,3,5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114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Book 7 - TIA Portal STEP 7 Basic (PID Motion) – </a:t>
            </a:r>
            <a:r>
              <a:rPr lang="en-US" altLang="en-US" dirty="0" err="1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Chương</a:t>
            </a:r>
            <a:r>
              <a:rPr lang="en-US" altLang="en-US" baseline="0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2,3,5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0722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Book 7 - TIA Portal STEP 7 Basic (PID Motion) – </a:t>
            </a:r>
            <a:r>
              <a:rPr lang="en-US" altLang="en-US" dirty="0" err="1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Chương</a:t>
            </a:r>
            <a:r>
              <a:rPr lang="en-US" altLang="en-US" baseline="0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2,3,5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4490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Book 7 - TIA Portal STEP 7 Basic (PID Motion) – </a:t>
            </a:r>
            <a:r>
              <a:rPr lang="en-US" altLang="en-US" dirty="0" err="1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Chương</a:t>
            </a:r>
            <a:r>
              <a:rPr lang="en-US" altLang="en-US" baseline="0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2,3,5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1959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0626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Book 7 - TIA Portal STEP 7 Basic (PID Motion) – </a:t>
            </a:r>
            <a:r>
              <a:rPr lang="en-US" altLang="en-US" dirty="0" err="1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Chương</a:t>
            </a:r>
            <a:r>
              <a:rPr lang="en-US" altLang="en-US" baseline="0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2,3,5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235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Book 7 - TIA Portal STEP 7 Basic (PID Motion) – </a:t>
            </a:r>
            <a:r>
              <a:rPr lang="en-US" altLang="en-US" dirty="0" err="1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Chương</a:t>
            </a:r>
            <a:r>
              <a:rPr lang="en-US" altLang="en-US" baseline="0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2,3,5</a:t>
            </a:r>
            <a:endParaRPr lang="en-US" altLang="en-US" dirty="0" smtClean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8488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Book 7 - TIA Portal STEP 7 Basic (PID Motion) – </a:t>
            </a:r>
            <a:r>
              <a:rPr lang="en-US" altLang="en-US" dirty="0" err="1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Chương</a:t>
            </a:r>
            <a:r>
              <a:rPr lang="en-US" altLang="en-US" baseline="0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2,3,5</a:t>
            </a:r>
            <a:endParaRPr lang="en-US" altLang="en-US" dirty="0" smtClean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3683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Book 7 - TIA Portal STEP 7 Basic (PID Motion) – </a:t>
            </a:r>
            <a:r>
              <a:rPr lang="en-US" altLang="en-US" dirty="0" err="1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Chương</a:t>
            </a:r>
            <a:r>
              <a:rPr lang="en-US" altLang="en-US" baseline="0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2,3,5</a:t>
            </a:r>
            <a:endParaRPr lang="en-US" altLang="en-US" dirty="0" smtClean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40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Book 7 - TIA Portal STEP 7 Basic (PID Motion) – </a:t>
            </a:r>
            <a:r>
              <a:rPr lang="en-US" altLang="en-US" dirty="0" err="1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Chương</a:t>
            </a:r>
            <a:r>
              <a:rPr lang="en-US" altLang="en-US" baseline="0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2,3,5</a:t>
            </a:r>
            <a:endParaRPr lang="en-US" altLang="en-US" dirty="0" smtClean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0175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Book 7 - TIA Portal STEP 7 Basic (PID Motion) – </a:t>
            </a:r>
            <a:r>
              <a:rPr lang="en-US" altLang="en-US" dirty="0" err="1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Chương</a:t>
            </a:r>
            <a:r>
              <a:rPr lang="en-US" altLang="en-US" baseline="0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2,3,5</a:t>
            </a:r>
            <a:endParaRPr lang="en-US" altLang="en-US" dirty="0" smtClean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5083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Book 7 - TIA Portal STEP 7 Basic (PID Motion) – </a:t>
            </a:r>
            <a:r>
              <a:rPr lang="en-US" altLang="en-US" dirty="0" err="1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Chương</a:t>
            </a:r>
            <a:r>
              <a:rPr lang="en-US" altLang="en-US" baseline="0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2,3,5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809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67F6F-AC6B-4134-8A12-A6DFC3D5752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3871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2279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7563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7071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35728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09239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1959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6284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30532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84766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80951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7586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37100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1478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86866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48890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2556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34730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1875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40923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51798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63039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611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61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3E0FCE-8BAB-41A6-9695-3E5F75C21E8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824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54E70C-47C2-4482-8988-74AF4DA451C8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72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3DC5AC-A2C3-434D-9582-E0EC0F6FAA16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42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D51F59-BE09-49EF-946D-237576B9685B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169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7DB86A-4D3F-4176-86D2-120FC381B7C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7339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8AA00D-68EE-4067-BF52-4AAB8CCFAC3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025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A71BA5-2B67-4F9A-91BC-1DB91DB7E825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72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E06C07-1723-4142-A5DC-829C5D45E06D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065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370940-1979-4244-9AD8-282EE740D23D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703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E4EF4D-25D8-42A0-896B-A7FD1DB7D984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385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F2807B-369F-4B8A-9F9F-3093857B5C91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1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AAE3A-2ACC-48DC-A270-F0C60EC6FDA1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451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blackWhite">
          <a:xfrm>
            <a:off x="254000" y="263525"/>
            <a:ext cx="11684000" cy="633095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92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11" y="448056"/>
            <a:ext cx="6877120" cy="64008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9" y="1435608"/>
            <a:ext cx="4416552" cy="3977640"/>
          </a:xfrm>
        </p:spPr>
        <p:txBody>
          <a:bodyPr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D3BA31E0-D02B-4C72-92FB-E6211966027E}" type="datetimeFigureOut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12/13/2021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8370888" y="6203950"/>
            <a:ext cx="3276600" cy="365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2A99E05D-9AF6-4DBB-8249-15FD60AE4BB7}" type="slidenum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586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54000" y="263525"/>
            <a:ext cx="11684000" cy="63309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 userDrawn="1"/>
        </p:nvSpPr>
        <p:spPr bwMode="blackWhite">
          <a:xfrm>
            <a:off x="254000" y="263525"/>
            <a:ext cx="11684000" cy="207168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9" y="1536192"/>
            <a:ext cx="6876288" cy="640080"/>
          </a:xfrm>
        </p:spPr>
        <p:txBody>
          <a:bodyPr>
            <a:normAutofit/>
          </a:bodyPr>
          <a:lstStyle>
            <a:lvl1pPr>
              <a:defRPr sz="270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501" y="2560320"/>
            <a:ext cx="9445753" cy="3977640"/>
          </a:xfrm>
        </p:spPr>
        <p:txBody>
          <a:bodyPr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02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B930ADF8-94E5-4220-A61F-562A5FFF2652}" type="datetimeFigureOut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12/13/2021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A0FCC8B3-8AA3-41AC-8D96-758D922C7515}" type="slidenum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653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54"/>
            <a:ext cx="103632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885028-6C43-4AEC-8A23-5D273E1885A2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579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"/>
          <p:cNvSpPr txBox="1">
            <a:spLocks/>
          </p:cNvSpPr>
          <p:nvPr userDrawn="1"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AUT206 - PLC CƠ BẢN</a:t>
            </a: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7" name="Picture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2A845F-9870-47E0-86FF-D5B10359773B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1452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29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F5C626-45A0-46EF-9E58-C3CA54F08697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9533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8AB801-7BEA-45FE-9251-E37D29ADF496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83823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8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86" y="2174875"/>
            <a:ext cx="5389033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9322F2-0EB2-4313-997B-CA345170667A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7698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5B2490-8E55-4AAA-82F6-A3F7CF418A16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941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91D3B4-5A6F-40CA-BA29-7FF68EE686D4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50504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79"/>
            <a:ext cx="6815667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74517C-903C-43ED-95C3-A2AD809374EB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1090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3C90D4-9AED-4A31-BEA7-B4A13D9C0FAC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4521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9408F8-F42D-44CD-8A8D-D9895C7851C4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0731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67"/>
            <a:ext cx="2743200" cy="5851525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67"/>
            <a:ext cx="8026400" cy="5851525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006642-6D9E-4802-B51E-4A3620ABCF0D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01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MEC116– CAE (ỨNG DỤNG PHẦN MỀN THIẾT KẾ 3D)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3A981B-C2C6-4DFD-8CB5-5FAE08E7F329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98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5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520700" y="447675"/>
            <a:ext cx="68770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6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35100"/>
            <a:ext cx="4414838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750" y="6203950"/>
            <a:ext cx="3276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  <a:defRPr sz="800" smtClean="0">
                <a:solidFill>
                  <a:srgbClr val="595959"/>
                </a:solidFill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BDBFA0E5-0631-4C6D-B27D-BF816283A6E3}" type="datetimeFigureOut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12/13/2021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  <a:defRPr sz="800" smtClean="0">
                <a:solidFill>
                  <a:srgbClr val="595959"/>
                </a:solidFill>
                <a:latin typeface="Times New Roman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650" y="6203950"/>
            <a:ext cx="3276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  <a:defRPr sz="800">
                <a:solidFill>
                  <a:srgbClr val="59595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5289B5E9-CF14-479A-B1BA-9851330519EC}" type="slidenum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385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5pPr>
      <a:lvl6pPr marL="4572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6pPr>
      <a:lvl7pPr marL="9144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7pPr>
      <a:lvl8pPr marL="13716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8pPr>
      <a:lvl9pPr marL="18288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9pPr>
    </p:titleStyle>
    <p:bodyStyle>
      <a:lvl1pPr marL="342900" indent="-34290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1714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5143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8572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2001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1543124" indent="-171458" algn="l" defTabSz="685832" rtl="0" eaLnBrk="1" latinLnBrk="0" hangingPunct="1">
        <a:lnSpc>
          <a:spcPct val="150000"/>
        </a:lnSpc>
        <a:spcBef>
          <a:spcPts val="750"/>
        </a:spcBef>
        <a:spcAft>
          <a:spcPts val="899"/>
        </a:spcAft>
        <a:buFont typeface="Arial" panose="020B0604020202020204" pitchFamily="34" charset="0"/>
        <a:buChar char="•"/>
        <a:defRPr lang="en-US" sz="899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86038" indent="-171458" algn="l" defTabSz="685832" rtl="0" eaLnBrk="1" latinLnBrk="0" hangingPunct="1">
        <a:lnSpc>
          <a:spcPct val="150000"/>
        </a:lnSpc>
        <a:spcBef>
          <a:spcPts val="750"/>
        </a:spcBef>
        <a:spcAft>
          <a:spcPts val="899"/>
        </a:spcAft>
        <a:buFont typeface="Arial" panose="020B0604020202020204" pitchFamily="34" charset="0"/>
        <a:buChar char="•"/>
        <a:defRPr lang="en-US" sz="899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228954" indent="-171458" algn="l" defTabSz="685832" rtl="0" eaLnBrk="1" latinLnBrk="0" hangingPunct="1">
        <a:lnSpc>
          <a:spcPct val="150000"/>
        </a:lnSpc>
        <a:spcBef>
          <a:spcPts val="750"/>
        </a:spcBef>
        <a:spcAft>
          <a:spcPts val="899"/>
        </a:spcAft>
        <a:buFont typeface="Arial" panose="020B0604020202020204" pitchFamily="34" charset="0"/>
        <a:buChar char="•"/>
        <a:defRPr lang="en-US" sz="899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2571870" indent="-171458" algn="l" defTabSz="685832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8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917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832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749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3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4580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7496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400413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3328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DAAEFA-6D00-4774-9254-65936C3AE48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9767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1.wdp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2.wdp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3.wdp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4.wdp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5.wdp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microsoft.com/office/2007/relationships/hdphoto" Target="../media/hdphoto6.wdp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png"/><Relationship Id="rId5" Type="http://schemas.microsoft.com/office/2007/relationships/hdphoto" Target="../media/hdphoto7.wdp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DD4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1524000" y="3573463"/>
            <a:ext cx="9144000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818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82600"/>
            <a:ext cx="17335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98613" y="1568450"/>
            <a:ext cx="9144000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SYLLABUS</a:t>
            </a:r>
            <a:br>
              <a:rPr lang="en-US" altLang="en-US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altLang="en-US" sz="4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br>
              <a:rPr lang="en-US" altLang="en-US" sz="4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vi-VN" altLang="en-US" sz="4000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PLC </a:t>
            </a:r>
            <a:r>
              <a:rPr lang="en-GB" altLang="en-US" sz="4000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NÂNG CAO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559" y="3573462"/>
            <a:ext cx="5846108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2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186544" y="1034256"/>
            <a:ext cx="1003458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KHI HỌC XONG MÔN HỌC NÀY, NGƯỜI HỌC CÓ KHẢ NĂNG:</a:t>
            </a: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140506" y="1731963"/>
            <a:ext cx="10080625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chuyền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G2: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tiễn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G3: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lường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sô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PLC.   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ráp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vận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hành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thiết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bị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điện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̀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domino, ...).   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G5: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Rèn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cẩn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mỉ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8086725" y="247650"/>
            <a:ext cx="3648075" cy="487363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2000" dirty="0">
                <a:solidFill>
                  <a:srgbClr val="FF5A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ĐỀ CƯƠNG CHI TIẾT</a:t>
            </a:r>
          </a:p>
        </p:txBody>
      </p:sp>
    </p:spTree>
    <p:extLst>
      <p:ext uri="{BB962C8B-B14F-4D97-AF65-F5344CB8AC3E}">
        <p14:creationId xmlns:p14="http://schemas.microsoft.com/office/powerpoint/2010/main" val="266558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DD4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1524000" y="3573463"/>
            <a:ext cx="9144000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818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82600"/>
            <a:ext cx="17335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216240" y="1135856"/>
            <a:ext cx="9759518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Bài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4:</a:t>
            </a:r>
            <a:b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alt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ĐẾM VÀ PHÁT XUNG TỐC ĐỘ CAO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AutoShape 2" descr="SIMATIC SCADA Systems | Automation Software | Siemens Glob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002" y="3573463"/>
            <a:ext cx="5117995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81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93850" y="1831975"/>
            <a:ext cx="9538748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4.4 </a:t>
            </a: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 KHIỂN VỊ TRÍ VỚI MOTION CONTROL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047565" y="534988"/>
            <a:ext cx="10156054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Bài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4:</a:t>
            </a:r>
            <a:b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altLang="en-US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ĐẾM VÀ PHÁT XUNG TỐC ĐỘ CAO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002" y="3155950"/>
            <a:ext cx="5935179" cy="331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5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475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lvl="0" fontAlgn="base">
              <a:spcAft>
                <a:spcPct val="0"/>
              </a:spcAft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4.4 </a:t>
            </a:r>
            <a:r>
              <a:rPr lang="en-US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motion control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9878" y="790576"/>
            <a:ext cx="172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35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Motion Control</a:t>
            </a:r>
            <a:endParaRPr lang="en-US" b="1" i="0" dirty="0">
              <a:solidFill>
                <a:srgbClr val="0F359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1491" y="1053584"/>
            <a:ext cx="1073162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S7-1200 (motion control)</a:t>
            </a:r>
            <a:b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ngõ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PTO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MC_Power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MC_Reset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MC_MoveAbsolute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tuyệt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MC_MoveRelative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ý: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ngõ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nữa</a:t>
            </a:r>
            <a:endParaRPr lang="en-US" altLang="en-US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vi-VN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ạo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PTO (Pulse Train Output) </a:t>
            </a:r>
            <a:r>
              <a:rPr lang="en-US" altLang="en-US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S7-1200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TIA Portal</a:t>
            </a:r>
            <a:b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Device Configuration,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Pulse generators (PTO/PWM)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PTO1/PWM1. Ở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Enable this pulse generator for use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PTO ở Pulse generator used as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737B1CF1-3E4B-4154-A100-AADB6B5D8045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23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4.4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vị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với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motion control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9878" y="790576"/>
            <a:ext cx="172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Motion Control</a:t>
            </a: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E569C919-3E51-40A3-83A9-EB0C32EEE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412" y="1289496"/>
            <a:ext cx="8080492" cy="4802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ABFA50E2-8337-4B0D-BF6E-A06188A9DAA4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24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4.4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vị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với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motion control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9878" y="790576"/>
            <a:ext cx="172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Motion Control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3531894-E4B6-441F-92EC-EFB0EE8C0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15470"/>
            <a:ext cx="11277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thư mục Technological Objects chọn Add new object. Trong bảng Add new object chọn Axis rồi nhấn OK</a:t>
            </a:r>
            <a:endParaRPr lang="en-US" altLang="en-US" sz="18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247AF4-B87A-40DE-8AFD-F1FAE47EA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348" y="1686997"/>
            <a:ext cx="7871534" cy="469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9437D30-288B-40FF-B6A7-4A7FD3B34109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06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4.4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vị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với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motion control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9878" y="790576"/>
            <a:ext cx="172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Motion Control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0B5FC8D-2844-4947-8557-ED78D6DC3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78" y="1215470"/>
            <a:ext cx="106250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Basic parameter, chọn Pulse_1 ở Select PTO for Axis control và thay đổi đơn vị là Pulses</a:t>
            </a:r>
            <a:endParaRPr lang="en-US" altLang="en-US" sz="18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07DB39F0-E09F-41D2-9845-350D6F5F0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38" y="1640364"/>
            <a:ext cx="8189533" cy="4720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E41334F2-EAA2-4081-A6A4-FC477C2CF857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62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4.4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vị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với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motion control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9878" y="790576"/>
            <a:ext cx="172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Motion Control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33905D3-7F59-4020-AA9F-0B5C1F45B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83721"/>
            <a:ext cx="11277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Extended parameters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Dynamics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Maximum velocity (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100000 pulses/s, </a:t>
            </a:r>
          </a:p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Ramp Up Time (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Ramp Down Time (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0.5s</a:t>
            </a:r>
          </a:p>
        </p:txBody>
      </p:sp>
      <p:pic>
        <p:nvPicPr>
          <p:cNvPr id="9" name="Picture 10">
            <a:extLst>
              <a:ext uri="{FF2B5EF4-FFF2-40B4-BE49-F238E27FC236}">
                <a16:creationId xmlns:a16="http://schemas.microsoft.com/office/drawing/2014/main" id="{CA0D41CA-9C7E-4715-8A27-871D28004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0034" y="2396749"/>
            <a:ext cx="6480699" cy="3997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A75E90CE-01FC-457A-A3EB-CBAEC405B606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165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4.4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vị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với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motion control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9878" y="790576"/>
            <a:ext cx="172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Motion Control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7EB4B2A-8CC3-4755-8545-2EBABF3DC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15470"/>
            <a:ext cx="11277600" cy="1704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song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Device configuration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rồi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download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PLC</a:t>
            </a:r>
            <a:b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Program blocks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viế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Ở network 1,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MC_POWER ở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Motion Control.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MC-POWER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tắt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Axis</a:t>
            </a:r>
          </a:p>
        </p:txBody>
      </p:sp>
      <p:pic>
        <p:nvPicPr>
          <p:cNvPr id="9" name="Picture 10">
            <a:extLst>
              <a:ext uri="{FF2B5EF4-FFF2-40B4-BE49-F238E27FC236}">
                <a16:creationId xmlns:a16="http://schemas.microsoft.com/office/drawing/2014/main" id="{B4CF2AB8-B63B-4B25-95F0-08F996819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280" y="3233404"/>
            <a:ext cx="6864420" cy="2359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66E84827-9623-4684-BBCC-55AA46EBBFEA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79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4.4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vị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với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motion control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9878" y="790576"/>
            <a:ext cx="172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Motion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09878" y="790576"/>
            <a:ext cx="172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Motion Control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CAD318A-4EC2-4EDB-9546-7656C71BB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78" y="1572888"/>
            <a:ext cx="10774415" cy="873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Network2,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MC_MoveVelocity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Motion Control. </a:t>
            </a:r>
          </a:p>
          <a:p>
            <a:pPr algn="just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nhịp</a:t>
            </a:r>
            <a:endParaRPr lang="en-US" altLang="en-US" sz="1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15">
            <a:extLst>
              <a:ext uri="{FF2B5EF4-FFF2-40B4-BE49-F238E27FC236}">
                <a16:creationId xmlns:a16="http://schemas.microsoft.com/office/drawing/2014/main" id="{19F9F62A-755C-4D54-973D-8BB10A3AA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532" y="2874776"/>
            <a:ext cx="6879119" cy="2380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CF21FD97-6F9C-4846-A10B-7F0A2DC1F74C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24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4.4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vị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với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motion control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457200" y="790576"/>
            <a:ext cx="23968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MOTION CONTROL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CF21FD97-6F9C-4846-A10B-7F0A2DC1F74C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59908"/>
            <a:ext cx="4332276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project PWM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S7-1200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1962" y="1599225"/>
            <a:ext cx="11272837" cy="1041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B1: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CPU S7-1200 (1214C DC-DC-DC)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B2: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Device configuration-&gt;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Nhấp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PLC-&gt;Properties-&gt;Pulse generators (PTO/PWM)-&gt;PTO1/PWM1-&gt;&gt;Check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ô Enable this pulse generator.</a:t>
            </a:r>
            <a:endParaRPr lang="en-US" dirty="0"/>
          </a:p>
        </p:txBody>
      </p:sp>
      <p:pic>
        <p:nvPicPr>
          <p:cNvPr id="13" name="Picture 12" descr="B1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1854692" y="2799766"/>
            <a:ext cx="7750945" cy="351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10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4.4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vị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với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motion control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457200" y="790576"/>
            <a:ext cx="23968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MOTION CONTROL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CF21FD97-6F9C-4846-A10B-7F0A2DC1F74C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59908"/>
            <a:ext cx="4332276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project PWM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S7-1200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584802"/>
            <a:ext cx="1127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B3: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lựa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xung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(PWM),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Timebase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dạng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dài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xung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dụ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trăm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),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quét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dài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xung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ban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dirty="0"/>
          </a:p>
        </p:txBody>
      </p:sp>
      <p:pic>
        <p:nvPicPr>
          <p:cNvPr id="10" name="Picture 9" descr="b2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1655605" y="2420894"/>
            <a:ext cx="8461159" cy="387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35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4.4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vị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với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motion control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457200" y="790576"/>
            <a:ext cx="23968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MOTION CONTROL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CF21FD97-6F9C-4846-A10B-7F0A2DC1F74C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59908"/>
            <a:ext cx="4332276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project PWM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S7-1200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1962" y="1591436"/>
            <a:ext cx="11272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B4: Qua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I/O addresses,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mặc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xung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QD1000,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ta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thay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đổi</a:t>
            </a:r>
            <a:endParaRPr lang="en-US" dirty="0"/>
          </a:p>
        </p:txBody>
      </p:sp>
      <p:pic>
        <p:nvPicPr>
          <p:cNvPr id="10" name="Picture 9" descr="b3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147656" y="2182790"/>
            <a:ext cx="8230339" cy="391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89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4.4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vị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với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motion control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457200" y="790576"/>
            <a:ext cx="23968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MOTION CONTROL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CF21FD97-6F9C-4846-A10B-7F0A2DC1F74C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59908"/>
            <a:ext cx="4332276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project PWM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S7-1200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1962" y="1545270"/>
            <a:ext cx="11272837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B5: Qua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Hardware identifier,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mặc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CPU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9.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PLC tags-&gt;Show all tags-&gt;System constant.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b4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1828060" y="2587184"/>
            <a:ext cx="8541058" cy="316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5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4.4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vị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với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motion control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457200" y="790576"/>
            <a:ext cx="23968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MOTION CONTROL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CF21FD97-6F9C-4846-A10B-7F0A2DC1F74C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59908"/>
            <a:ext cx="4332276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project PWM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S7-1200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199" y="1557969"/>
            <a:ext cx="110393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B6: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OB1,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lấy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CTRL_PWM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xung</a:t>
            </a:r>
            <a:endParaRPr lang="en-US" dirty="0"/>
          </a:p>
        </p:txBody>
      </p:sp>
      <p:pic>
        <p:nvPicPr>
          <p:cNvPr id="10" name="Picture 9" descr="b5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476129" y="2235126"/>
            <a:ext cx="7324818" cy="38677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963" y="2548359"/>
            <a:ext cx="1863987" cy="247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B#16#09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cứng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PWM 1,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M0.0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nhớ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dừng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20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4.4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Điều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khiển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vị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với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motion control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457200" y="790576"/>
            <a:ext cx="23968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MOTION CONTROL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CF21FD97-6F9C-4846-A10B-7F0A2DC1F74C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59908"/>
            <a:ext cx="4332276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project PWM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S7-1200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1962" y="1529240"/>
            <a:ext cx="11272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B7: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Khối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CTRL_PWM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1 DB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kèm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chứa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hàm</a:t>
            </a:r>
            <a:endParaRPr lang="en-US" dirty="0"/>
          </a:p>
        </p:txBody>
      </p:sp>
      <p:pic>
        <p:nvPicPr>
          <p:cNvPr id="10" name="Picture 9" descr="b6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1655605" y="2339496"/>
            <a:ext cx="8505547" cy="340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7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93850" y="1831975"/>
            <a:ext cx="9538748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4.5 XỬ</a:t>
            </a:r>
            <a:r>
              <a:rPr kumimoji="0" lang="en-US" altLang="en-US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LÝ TÍN HIỆU ANALOG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047565" y="534988"/>
            <a:ext cx="10156054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Bài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4:</a:t>
            </a:r>
            <a:b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LẬP TRÌNH ĐẾM VÀ PHÁT XUNG TỐC ĐỘ CAO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65"/>
          <a:stretch/>
        </p:blipFill>
        <p:spPr>
          <a:xfrm>
            <a:off x="3231472" y="3497802"/>
            <a:ext cx="6217328" cy="290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203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905986"/>
            <a:ext cx="112287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vi-VN" b="1" dirty="0">
                <a:solidFill>
                  <a:srgbClr val="0F35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 CHUYỂN ĐỔI SCALE VÀ BÌNH THƯỜNG HÓA NORMALIZE TRONG TIA PORTAL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41184" y="1438276"/>
            <a:ext cx="6872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Normalizing and Scaling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một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giá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trị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Analog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đầu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(PLC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Căn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bản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en-US" dirty="0"/>
          </a:p>
        </p:txBody>
      </p:sp>
      <p:pic>
        <p:nvPicPr>
          <p:cNvPr id="10" name="Picture 9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85373" y="2132908"/>
            <a:ext cx="4892335" cy="1690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1603328" y="4029047"/>
            <a:ext cx="6872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Normalizing and Scaling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một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giá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trị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Analog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đầu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(PLC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Căn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bản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en-US" dirty="0"/>
          </a:p>
        </p:txBody>
      </p:sp>
      <p:pic>
        <p:nvPicPr>
          <p:cNvPr id="12" name="Picture 11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85373" y="4604402"/>
            <a:ext cx="4970029" cy="1533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8758100" y="2944134"/>
            <a:ext cx="2976700" cy="21280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Lưu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ý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rằng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nếu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đầu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ra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Analog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đã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một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module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tín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hiệu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Analog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signal board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tín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hiệu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điện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áp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giá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trị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MIN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hướng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dẫn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SCALE_X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thay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-27648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thay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vì</a:t>
            </a: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</a:rPr>
              <a:t> 0</a:t>
            </a:r>
            <a:endParaRPr lang="en-US" sz="1500" i="1" dirty="0"/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CC2BA54F-A15C-49A6-8EB0-70D8BC58F4EA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25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9878" y="790576"/>
            <a:ext cx="111843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vi-VN" b="1" dirty="0">
                <a:solidFill>
                  <a:srgbClr val="0F35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 mẫu: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Giám sát mực nước của một bồn nước bằng TIA Portal với S7-1200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1" y="1438276"/>
            <a:ext cx="11277600" cy="2951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Đối với chương trình của chúng tôi, chúng tôi đang lập trình giám sát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 cấp bể.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Một cảm biến đo mức trong bể nước và chuyển đổi tín hiệu điện áp từ 0 đến 10V.</a:t>
            </a:r>
            <a:b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0V tương ứng với mức 100 lít và 10V đến một mức độ là 1000 lít.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Cảm biến này được kết nối với các đầu vào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đầu tiên của SIMATIC S7-1200.</a:t>
            </a:r>
            <a:b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Tín hiệu này được nhập vào trong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chức năng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1, và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bình thường hóa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lập trình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theo dõi và chỉ cho phép tối đa mức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990 lít, và theo dõi mức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cho phép tối thiểu là 110 lít.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5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314561" y="4512531"/>
            <a:ext cx="5216880" cy="1648572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2EE0B085-B5C1-4537-AF57-FAAC696AAD9A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05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7.PNG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2548" y="1935332"/>
            <a:ext cx="7857478" cy="355994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962" y="1017998"/>
            <a:ext cx="11158907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B1: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Create new project →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Tank_Analog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Create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E773BBB4-7BB3-4743-B8FF-CF019268F896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894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pic>
        <p:nvPicPr>
          <p:cNvPr id="7" name="Picture 6" descr="8.PNG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12099" y="2016086"/>
            <a:ext cx="7466907" cy="410950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28346" y="1134987"/>
            <a:ext cx="8076462" cy="385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B2: First Steps → Configure a device → 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PLC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A15F3F89-069A-44FA-9A80-BA0303AAECDD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46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pic>
        <p:nvPicPr>
          <p:cNvPr id="7" name="Picture 6" descr="9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201302" y="2358362"/>
            <a:ext cx="6853922" cy="35719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61962" y="978272"/>
            <a:ext cx="112728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B3: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‘Add new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devive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’,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‘Control_tank’.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ta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‘CPU 1214C’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trùng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khớp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PLC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ta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đang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((→ Add new device →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Control_tank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→ CPU1214C → 6ES7 ……. → Add)</a:t>
            </a:r>
            <a:endParaRPr lang="en-US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56177396-C126-47AC-9F6B-17CCC59F317F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71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pic>
        <p:nvPicPr>
          <p:cNvPr id="7" name="Picture 6" descr="10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082275" y="2479876"/>
            <a:ext cx="7505607" cy="383214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57200" y="971250"/>
            <a:ext cx="11277600" cy="1623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B4: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Bây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giờ,chương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sang project view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hardware configuration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add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module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hardware catalog(ở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phía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kéo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thả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dễ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dàng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catalog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signal board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analog (→ Catalog → Signal board → AO1 x 12Bit → 6ES7 232-… )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8811BE5C-7A07-4C27-A66E-B992567F593A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5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pic>
        <p:nvPicPr>
          <p:cNvPr id="7" name="Picture 6" descr="11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884503" y="2305309"/>
            <a:ext cx="5943600" cy="370332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57200" y="986461"/>
            <a:ext cx="11277600" cy="1047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B5: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‘Device Overview’,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cài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ra.Tại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đây,các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analog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sẵn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CPU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I64 to I67,và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sẵn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Q0.0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tới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Q1.1 (→ Device Overview → AI2 → 64…67).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3C449855-CE72-4C54-9106-F802E22F5BCE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38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pic>
        <p:nvPicPr>
          <p:cNvPr id="7" name="Picture 6" descr="12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964402" y="2223135"/>
            <a:ext cx="5943600" cy="420624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61962" y="959190"/>
            <a:ext cx="112728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B6: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mềm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truy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CPU,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IP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subnet mask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(→ Properties → General → PROFINET interface → Ethernet addresses → IP address: 192.168.0.1 → Subnet mask: 255.255.255.0)</a:t>
            </a:r>
            <a:endParaRPr lang="en-US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4312E1F8-C3D8-4CC8-A8FB-C1782CC8404F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49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pic>
        <p:nvPicPr>
          <p:cNvPr id="7" name="Picture 6" descr="13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565647" y="2104008"/>
            <a:ext cx="7157831" cy="421670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46074" y="1016456"/>
            <a:ext cx="113887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B7: Cho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ta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hơn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tuyệt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ta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global PLC tags</a:t>
            </a:r>
            <a:endParaRPr lang="en-US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9E94B2DF-B6CC-4736-8743-E203C6AFA005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21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pic>
        <p:nvPicPr>
          <p:cNvPr id="7" name="Picture 6" descr="14.PNG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76913" y="2358871"/>
            <a:ext cx="2181225" cy="3276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57200" y="1012614"/>
            <a:ext cx="11277600" cy="703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B8: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function block FC1,chọn ‘Program Blocks’.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đó,nhấp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‘Add new block’ (→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Control_tank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[CPU1214C DC/DC/DC]’ → Program blocks → Add new block).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92670EF2-7100-4F03-AD2A-E717C313FD89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77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pic>
        <p:nvPicPr>
          <p:cNvPr id="7" name="Picture 6" descr="15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394075" y="2334827"/>
            <a:ext cx="5187779" cy="391577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46074" y="856757"/>
            <a:ext cx="11388725" cy="1278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B9: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hộp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‘Function(FC)’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’Filling_level_tank1’.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ngôn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ngữ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LAD.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OK. (→ Function (FC1) → Filling_level_tank1 → LAD→OK).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E74CD8F3-AD3E-4A42-842E-21C93FC8ADFB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14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pic>
        <p:nvPicPr>
          <p:cNvPr id="7" name="Picture 6" descr="16.PNG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200" y="3798345"/>
            <a:ext cx="5943600" cy="254127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57200" y="936023"/>
            <a:ext cx="11277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B10: 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Khi khai báo biến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cục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bộ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các biến sau đây là cần thiết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ví dụ.</a:t>
            </a:r>
            <a:b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Ngõ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vào: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(Input)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r>
              <a:rPr lang="vi-VN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tank_level_AI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ảm biến cấp độ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vào các giá trị tương tự</a:t>
            </a:r>
            <a:b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(Output)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r>
              <a:rPr lang="vi-VN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tank_max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T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ình trạng của chỉ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mức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tối đa được ghi vào đầu ra</a:t>
            </a:r>
            <a:b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r>
              <a:rPr lang="vi-VN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tank_min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T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ình trạng chỉ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mức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tối thiểu được ghi vào đầu ra</a:t>
            </a:r>
            <a:b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nhớ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tạm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(Temp)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r>
              <a:rPr lang="vi-VN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tank_level_real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iến này là cần thiết để lưu trữ một giá trị trung gian</a:t>
            </a:r>
            <a:b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r>
              <a:rPr lang="vi-VN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tank_level_norm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iá trị cho các cấp độ trong các định dạng dấu chấm động được cung cấp, bình thường hóa phạm vi từ 100 đến 1000 lít.</a:t>
            </a:r>
            <a:endParaRPr lang="en-US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23B3BB2C-2BA4-4F35-A58A-C6DD89C7BE6A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101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pic>
        <p:nvPicPr>
          <p:cNvPr id="7" name="Picture 6" descr="17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526732" y="2413987"/>
            <a:ext cx="5734685" cy="1905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57200" y="1164987"/>
            <a:ext cx="11277600" cy="1150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B11: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cục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‘#’).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FC1: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18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6631539" y="2413987"/>
            <a:ext cx="4934585" cy="3829050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7694BC1A-C802-44EA-97E1-7E3F7B200577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06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pic>
        <p:nvPicPr>
          <p:cNvPr id="7" name="Picture 6" descr="19.PNG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03950" y="2892779"/>
            <a:ext cx="2238375" cy="284797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57200" y="1173866"/>
            <a:ext cx="11277600" cy="832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B12: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Bây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OB1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“Filling_level_tank1 [FC1]”.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hiện.Nhấp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đúp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“Main[OB1]”.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FD3E510C-D646-4A17-8F28-86077E96CE36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81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pic>
        <p:nvPicPr>
          <p:cNvPr id="7" name="Picture 6" descr="20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008790" y="2471373"/>
            <a:ext cx="5943600" cy="335343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57200" y="1041812"/>
            <a:ext cx="11277600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B13: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Kéo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thả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"Filling_level_tank1 [FC1]“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Network 1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OB1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CE0FF91A-C501-412F-8C8D-FD85FBC8ACE7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6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017998"/>
            <a:ext cx="11277600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B14: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Save project.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21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547151" y="2119531"/>
            <a:ext cx="7120631" cy="3742562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DA245B41-E0A5-4A54-8E9C-789C1C9DB859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32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57200" y="1025010"/>
            <a:ext cx="11277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B15: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load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CPU,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‘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Control_tank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025" name="Picture 21" descr="22.PNG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2726" y="1076326"/>
            <a:ext cx="466078" cy="407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23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4111517" y="1992483"/>
            <a:ext cx="3667125" cy="3743325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A5275993-477A-4166-88FC-46D7BCC7020D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63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005190"/>
            <a:ext cx="11277600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B16: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PG/PC interface, 1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sổ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(→ PG/PC interface for loading → Load).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24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008791" y="2057776"/>
            <a:ext cx="5943600" cy="4104005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43A157F5-3237-4E19-9EB8-9652EE68E0DB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02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083361"/>
            <a:ext cx="1127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B17: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Click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‘Load’ 1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lần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nữa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suốt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quá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tải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cửa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sổ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/>
          </a:p>
        </p:txBody>
      </p:sp>
      <p:pic>
        <p:nvPicPr>
          <p:cNvPr id="9" name="Picture 8" descr="25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741329" y="2135401"/>
            <a:ext cx="5923277" cy="3608044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A05DB359-3813-4AFA-A33C-28E43A829D2B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04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115110"/>
            <a:ext cx="1127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B18: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Cửa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sổ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tải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chương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Click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“Finish”</a:t>
            </a:r>
            <a:endParaRPr lang="en-US" dirty="0"/>
          </a:p>
        </p:txBody>
      </p:sp>
      <p:pic>
        <p:nvPicPr>
          <p:cNvPr id="9" name="Picture 8" descr="26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174290" y="1864538"/>
            <a:ext cx="7156142" cy="4287687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6D942E01-250D-4394-8E05-D2236701BD47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65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4.5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tín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hiệu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analog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57200" y="993845"/>
            <a:ext cx="11277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B19: Start CPU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cách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click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biểu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tượng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</p:txBody>
      </p:sp>
      <p:pic>
        <p:nvPicPr>
          <p:cNvPr id="2049" name="Picture 26" descr="27.PNG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322" y="1015931"/>
            <a:ext cx="510467" cy="534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57200" y="1736795"/>
            <a:ext cx="11277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B20: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hỏi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bạn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muốn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start CPU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cách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click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‘OK’</a:t>
            </a:r>
          </a:p>
        </p:txBody>
      </p:sp>
      <p:pic>
        <p:nvPicPr>
          <p:cNvPr id="10" name="Picture 9" descr="28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3332455" y="2479745"/>
            <a:ext cx="3886200" cy="1857375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4732308"/>
            <a:ext cx="11277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Click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biểu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tượng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</p:txBody>
      </p:sp>
      <p:pic>
        <p:nvPicPr>
          <p:cNvPr id="2052" name="Picture 28" descr="29.PNG"/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961" y="4641179"/>
            <a:ext cx="499856" cy="50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64891" y="5627271"/>
            <a:ext cx="11277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Monitoring On/Off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bạn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giám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sát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trạng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thái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biến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vận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hành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chương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A35E5120-67BD-4A96-9E1B-F93C29B9D2B7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7E3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25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3" y="0"/>
            <a:ext cx="9132887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8612550"/>
      </p:ext>
    </p:extLst>
  </p:cSld>
  <p:clrMapOvr>
    <a:masterClrMapping/>
  </p:clrMapOvr>
</p:sld>
</file>

<file path=ppt/theme/theme1.xml><?xml version="1.0" encoding="utf-8"?>
<a:theme xmlns:a="http://schemas.openxmlformats.org/drawingml/2006/main" name="4_Default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elcome to Powerpoint 2016_CLR_v2" id="{CAB9082A-965C-42BE-8170-C940D3319B60}" vid="{82B84162-888A-4FD2-BEC9-B29B6DB2C73F}"/>
    </a:ext>
  </a:extLst>
</a:theme>
</file>

<file path=ppt/theme/theme3.xml><?xml version="1.0" encoding="utf-8"?>
<a:theme xmlns:a="http://schemas.openxmlformats.org/drawingml/2006/main" name="5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</TotalTime>
  <Words>1875</Words>
  <Application>Microsoft Office PowerPoint</Application>
  <PresentationFormat>Widescreen</PresentationFormat>
  <Paragraphs>207</Paragraphs>
  <Slides>40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Calibri</vt:lpstr>
      <vt:lpstr>Calibri Light</vt:lpstr>
      <vt:lpstr>Segoe UI</vt:lpstr>
      <vt:lpstr>Segoe UI Light</vt:lpstr>
      <vt:lpstr>Times New Roman</vt:lpstr>
      <vt:lpstr>4_Default Design</vt:lpstr>
      <vt:lpstr>WelcomeDoc</vt:lpstr>
      <vt:lpstr>5_Default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1.3 THIẾT BỊ ĐIỀU KHIỂN LẬP TRÌNH S7-1200  1.4 XỬ LÝ CHƯƠNG TRÌNH  1.5 KẾT NỐI DÂY GIỮA PLC VÀ CÁC THIẾT BỊ NGOẠI VI  1.6 KIỂM TRA VIỆC KẾT NỐI DÂY BẰNG PHẦN MỀM</dc:title>
  <dc:creator>ngha14051997@gmail.com</dc:creator>
  <cp:lastModifiedBy>Nguyen Bao Chau</cp:lastModifiedBy>
  <cp:revision>162</cp:revision>
  <dcterms:created xsi:type="dcterms:W3CDTF">2021-07-02T09:40:39Z</dcterms:created>
  <dcterms:modified xsi:type="dcterms:W3CDTF">2021-12-13T13:08:23Z</dcterms:modified>
</cp:coreProperties>
</file>