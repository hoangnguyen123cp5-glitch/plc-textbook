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7" r:id="rId3"/>
  </p:sldMasterIdLst>
  <p:notesMasterIdLst>
    <p:notesMasterId r:id="rId32"/>
  </p:notesMasterIdLst>
  <p:sldIdLst>
    <p:sldId id="257" r:id="rId4"/>
    <p:sldId id="341" r:id="rId5"/>
    <p:sldId id="393" r:id="rId6"/>
    <p:sldId id="353" r:id="rId7"/>
    <p:sldId id="354" r:id="rId8"/>
    <p:sldId id="355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92" r:id="rId17"/>
    <p:sldId id="386" r:id="rId18"/>
    <p:sldId id="387" r:id="rId19"/>
    <p:sldId id="388" r:id="rId20"/>
    <p:sldId id="389" r:id="rId21"/>
    <p:sldId id="390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897" autoAdjust="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EF37C-3239-4CC1-9458-1F4F89E202E7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F6F-AC6B-4134-8A12-A6DFC3D5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4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err="1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Giao</a:t>
            </a:r>
            <a:r>
              <a:rPr lang="en-US" altLang="en-US" baseline="0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baseline="0" dirty="0" err="1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thức</a:t>
            </a:r>
            <a:r>
              <a:rPr lang="en-US" altLang="en-US" baseline="0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USS 	https://www.tpnewtech.com/truyen-thong-uss.html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baseline="0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		http://fulle.com.vn/truyen-thong-ss-bien-tan-v20--mm420-voi-s7-1200.html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baseline="0" dirty="0" err="1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Giao</a:t>
            </a:r>
            <a:r>
              <a:rPr lang="en-US" altLang="en-US" baseline="0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baseline="0" dirty="0" err="1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thức</a:t>
            </a:r>
            <a:r>
              <a:rPr lang="en-US" altLang="en-US" baseline="0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RTU 	https://thuannhat.com.vn/rtu-la-gi/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08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26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840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48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535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796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05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125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01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43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548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320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547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680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401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486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018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377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195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6351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040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https://congnghedoluong.com/2020/05/27/encoder-la-gi/</a:t>
            </a: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4636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6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3E0FCE-8BAB-41A6-9695-3E5F75C21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2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E70C-47C2-4482-8988-74AF4DA451C8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DC5AC-A2C3-434D-9582-E0EC0F6FAA16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2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1F59-BE09-49EF-946D-237576B9685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69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7DB86A-4D3F-4176-86D2-120FC381B7C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3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8AA00D-68EE-4067-BF52-4AAB8CCFAC3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1BA5-2B67-4F9A-91BC-1DB91DB7E825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E06C07-1723-4142-A5DC-829C5D45E06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06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70940-1979-4244-9AD8-282EE740D23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4EF4D-25D8-42A0-896B-A7FD1DB7D98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38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F2807B-369F-4B8A-9F9F-3093857B5C9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AAE3A-2ACC-48DC-A270-F0C60EC6FDA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blackWhite">
          <a:xfrm>
            <a:off x="254000" y="263525"/>
            <a:ext cx="11684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11" y="448056"/>
            <a:ext cx="687712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9" y="1435608"/>
            <a:ext cx="4416552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D3BA31E0-D02B-4C72-92FB-E6211966027E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0888" y="6203950"/>
            <a:ext cx="32766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2A99E05D-9AF6-4DBB-8249-15FD60AE4BB7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54000" y="263525"/>
            <a:ext cx="11684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 bwMode="blackWhite">
          <a:xfrm>
            <a:off x="254000" y="263525"/>
            <a:ext cx="11684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8" cy="640080"/>
          </a:xfrm>
        </p:spPr>
        <p:txBody>
          <a:bodyPr>
            <a:normAutofit/>
          </a:bodyPr>
          <a:lstStyle>
            <a:lvl1pPr>
              <a:defRPr sz="27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501" y="2560320"/>
            <a:ext cx="9445753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2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930ADF8-94E5-4220-A61F-562A5FFF2652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0FCC8B3-8AA3-41AC-8D96-758D922C7515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85028-6C43-4AEC-8A23-5D273E1885A2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79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"/>
          <p:cNvSpPr txBox="1">
            <a:spLocks/>
          </p:cNvSpPr>
          <p:nvPr userDrawn="1"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AUT206 - PLC CƠ BẢN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A845F-9870-47E0-86FF-D5B10359773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45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5C626-45A0-46EF-9E58-C3CA54F08697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5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AB801-7BEA-45FE-9251-E37D29ADF49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82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6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9322F2-0EB2-4313-997B-CA345170667A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6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B2490-8E55-4AAA-82F6-A3F7CF418A1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941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91D3B4-5A6F-40CA-BA29-7FF68EE686D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50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9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74517C-903C-43ED-95C3-A2AD809374E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09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C90D4-9AED-4A31-BEA7-B4A13D9C0FA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5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408F8-F42D-44CD-8A8D-D9895C7851C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73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67"/>
            <a:ext cx="80264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06642-6D9E-4802-B51E-4A3620ABCF0D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MEC116– CAE (ỨNG DỤNG PHẦN MỀN THIẾT KẾ 3D)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3A981B-C2C6-4DFD-8CB5-5FAE08E7F329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20700" y="447675"/>
            <a:ext cx="68770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35100"/>
            <a:ext cx="441483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DBFA0E5-0631-4C6D-B27D-BF816283A6E3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11/26/2021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>
                <a:solidFill>
                  <a:srgbClr val="59595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5289B5E9-CF14-479A-B1BA-9851330519EC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8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6pPr>
      <a:lvl7pPr marL="9144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7pPr>
      <a:lvl8pPr marL="13716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8pPr>
      <a:lvl9pPr marL="18288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342900" indent="-34290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1714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5143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8572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001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54312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6038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95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870" indent="-171458" algn="l" defTabSz="685832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749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496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41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3328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AAEFA-6D00-4774-9254-65936C3AE48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g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8613" y="1568450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SYLLABUS</a:t>
            </a:r>
            <a:b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PLC </a:t>
            </a:r>
            <a:r>
              <a:rPr lang="en-GB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9" y="3573462"/>
            <a:ext cx="5846108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6544" y="1034256"/>
            <a:ext cx="100345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KHI HỌC XONG MÔN HỌC NÀY, NGƯỜI HỌC CÓ KHẢ NĂNG: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40506" y="1731963"/>
            <a:ext cx="10080625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chuyền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thiết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domino, ...).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086725" y="247650"/>
            <a:ext cx="3648075" cy="487363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2000" dirty="0">
                <a:solidFill>
                  <a:srgbClr val="FF5A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2665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6240" y="1135856"/>
            <a:ext cx="975951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6: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GIAO THỨC TRUYỀN THÔNG</a:t>
            </a:r>
          </a:p>
        </p:txBody>
      </p:sp>
      <p:sp>
        <p:nvSpPr>
          <p:cNvPr id="2" name="AutoShape 2" descr="SIMATIC SCADA Systems | Automation Software | Siemens Glob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2" descr="Truyền thông Profinet là gì?">
            <a:extLst>
              <a:ext uri="{FF2B5EF4-FFF2-40B4-BE49-F238E27FC236}">
                <a16:creationId xmlns:a16="http://schemas.microsoft.com/office/drawing/2014/main" id="{7AC6910C-5F6F-44D6-AA29-383BC5C14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306" y="3987006"/>
            <a:ext cx="4110038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4" y="3987006"/>
            <a:ext cx="3514725" cy="190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4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THỨC TRUYỀN THÔNG ĐIỂM - ĐIỂM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047565" y="534988"/>
            <a:ext cx="10156054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6: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THỨC TRUYỀN THÔNG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8" name="Picture 4" descr="Training S7 - 400 CHƯƠNG TRÌNH KHUNG S7 - 400  ------------------------------------------------------------------------------------------------------------------------------------------------------------------  GIỚI THIỆU CHUNG VỀ PLC 1.1.Tổng quát PLC S7_400 1.2 Cấu trúc phần cứng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890" y="3055938"/>
            <a:ext cx="6327404" cy="330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8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325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lvl="0" fontAlgn="base">
              <a:spcAft>
                <a:spcPct val="0"/>
              </a:spcAft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704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380346"/>
            <a:ext cx="11034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CPU</a:t>
            </a:r>
            <a:r>
              <a:rPr lang="en-US" spc="1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hỗ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1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1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ối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ù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ọ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61963" y="225722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ểu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ối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iêu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ẩn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hỗ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</a:t>
            </a:r>
            <a:r>
              <a:rPr lang="en-US" i="1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ù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ọn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odule</a:t>
            </a:r>
            <a:r>
              <a:rPr lang="en-US" i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cation mod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32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RS485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ung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điện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902" y="2568581"/>
            <a:ext cx="3673241" cy="37034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02" y="3753607"/>
            <a:ext cx="3758135" cy="2518465"/>
          </a:xfrm>
          <a:prstGeom prst="rect">
            <a:avLst/>
          </a:prstGeom>
        </p:spPr>
      </p:pic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5B33FB3D-0DF8-4B2B-9D31-5E596B3A58D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3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SINAMICS G/S: Speed control of a G110/S110 using S7-1200 (TIA Portal) with  USS®-Pr... - ID: 40157517 - Industry Support Siemen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08"/>
          <a:stretch/>
        </p:blipFill>
        <p:spPr bwMode="auto">
          <a:xfrm>
            <a:off x="705271" y="1382713"/>
            <a:ext cx="4008268" cy="229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704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0" y="1204773"/>
            <a:ext cx="5638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1600" marR="626745" indent="14288"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cung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cung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ển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SS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dbus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Master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dbus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Slave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70" b="13349"/>
          <a:stretch/>
        </p:blipFill>
        <p:spPr>
          <a:xfrm>
            <a:off x="705271" y="3918871"/>
            <a:ext cx="4115304" cy="22833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9443" y="6156057"/>
            <a:ext cx="3249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D5156"/>
                </a:solidFill>
                <a:latin typeface="arial" panose="020B0604020202020204" pitchFamily="34" charset="0"/>
              </a:rPr>
              <a:t>Remote terminal units (</a:t>
            </a:r>
            <a:r>
              <a:rPr lang="en-US" b="1" dirty="0">
                <a:solidFill>
                  <a:srgbClr val="5F6368"/>
                </a:solidFill>
                <a:latin typeface="arial" panose="020B0604020202020204" pitchFamily="34" charset="0"/>
              </a:rPr>
              <a:t>RTUs</a:t>
            </a:r>
            <a:r>
              <a:rPr lang="en-US" dirty="0">
                <a:solidFill>
                  <a:srgbClr val="4D5156"/>
                </a:solidFill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60381" y="471926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i="1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(CM)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cung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gồ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1241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RS485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1241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RS232.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nối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bất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ỳ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oại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nà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ắ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bên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trái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bên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trái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endParaRPr lang="en-US" dirty="0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9EBF215E-F40C-4BB7-AB5D-C3CF49470F21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2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382713"/>
            <a:ext cx="9428085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module</a:t>
            </a:r>
            <a:r>
              <a:rPr kumimoji="0" lang="en-US" sz="18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</a:t>
            </a:r>
            <a:r>
              <a:rPr kumimoji="0" lang="en-US" sz="1800" b="0" i="0" u="none" strike="noStrike" kern="1200" cap="none" spc="2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u</a:t>
            </a:r>
            <a:r>
              <a:rPr kumimoji="0" lang="en-US" sz="1800" b="0" i="0" u="none" strike="noStrike" kern="120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ền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ô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ng</a:t>
            </a:r>
            <a:r>
              <a:rPr kumimoji="0" 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RS232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485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ặc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tính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sau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Cổng</a:t>
            </a:r>
            <a:r>
              <a:rPr kumimoji="0" 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ư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ợc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</a:t>
            </a:r>
            <a:r>
              <a:rPr kumimoji="0" lang="en-US" sz="1800" b="0" i="0" u="none" strike="noStrike" kern="1200" cap="none" spc="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Hỗ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trợ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giao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hứ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ư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ợc</a:t>
            </a:r>
            <a:r>
              <a:rPr kumimoji="0" lang="en-US" sz="18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cấu</a:t>
            </a:r>
            <a:r>
              <a:rPr kumimoji="0" lang="en-US" sz="1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hình</a:t>
            </a:r>
            <a:r>
              <a:rPr kumimoji="0" lang="en-US" sz="1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ư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ợ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lập</a:t>
            </a:r>
            <a:r>
              <a:rPr kumimoji="0" lang="en-US" sz="1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rình</a:t>
            </a:r>
            <a:r>
              <a:rPr kumimoji="0" lang="en-US" sz="1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thông</a:t>
            </a:r>
            <a:r>
              <a:rPr kumimoji="0" 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qua</a:t>
            </a:r>
            <a:r>
              <a:rPr kumimoji="0" lang="en-US" sz="1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ập</a:t>
            </a:r>
            <a:r>
              <a:rPr kumimoji="0" lang="en-US" sz="1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lệnh</a:t>
            </a:r>
            <a:r>
              <a:rPr kumimoji="0" lang="en-US" sz="1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ở</a:t>
            </a:r>
            <a:r>
              <a:rPr kumimoji="0" lang="en-US" sz="1800" b="0" i="0" u="none" strike="noStrike" kern="1200" cap="none" spc="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rộng</a:t>
            </a:r>
            <a:r>
              <a:rPr kumimoji="0" lang="en-US" sz="1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á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</a:t>
            </a:r>
            <a:r>
              <a:rPr kumimoji="0" lang="en-US" sz="1800" b="0" i="0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5600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viện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Hiển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thị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ạt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ộ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ng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phát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thu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ằng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Hiển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một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LED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ẩn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đoán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kumimoji="0" lang="en-US" sz="1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ư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ợc</a:t>
            </a:r>
            <a:r>
              <a:rPr kumimoji="0" 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cấp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ng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u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ồ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</a:t>
            </a:r>
            <a:r>
              <a:rPr kumimoji="0" 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bởi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PU.</a:t>
            </a:r>
            <a:r>
              <a:rPr kumimoji="0" 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Khô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</a:t>
            </a: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ần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k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ết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nối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nguồn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bên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ng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ài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704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14" y="4556772"/>
            <a:ext cx="4312173" cy="17758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4"/>
          <a:stretch/>
        </p:blipFill>
        <p:spPr>
          <a:xfrm>
            <a:off x="7816741" y="4204664"/>
            <a:ext cx="4137087" cy="2127974"/>
          </a:xfrm>
          <a:prstGeom prst="rect">
            <a:avLst/>
          </a:prstGeom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F563D542-2883-4DD7-945F-BCE772D8C1E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2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927262"/>
            <a:ext cx="33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5389" y="1699210"/>
            <a:ext cx="11341222" cy="3489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</a:t>
            </a:r>
            <a:r>
              <a:rPr lang="en-US" i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60070" marR="624840" indent="-228600" algn="just">
              <a:lnSpc>
                <a:spcPct val="149000"/>
              </a:lnSpc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ục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evice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iguration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EP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3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</a:t>
            </a:r>
            <a:r>
              <a:rPr lang="en-US" i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ẵn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bị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ữ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lâu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CPU.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ồn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RUN sang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60070" marR="626110" indent="-228600" algn="just">
              <a:lnSpc>
                <a:spcPct val="149000"/>
              </a:lnSpc>
              <a:spcBef>
                <a:spcPts val="50"/>
              </a:spcBef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pc="2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pc="2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ệnh</a:t>
            </a:r>
            <a:r>
              <a:rPr lang="en-US" spc="2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RT_CFG,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RCV_C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2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cài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ổng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ở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chế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ồi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bị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ển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đổi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ồ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CA645629-E09E-41AE-A57E-C0795E09A6D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21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7200" y="927262"/>
            <a:ext cx="33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719404"/>
            <a:ext cx="11277600" cy="384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3734435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“Propertie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pc="2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sổ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hiển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“Port con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iguration”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rate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ber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 stop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ts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ol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 marR="628015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Ngoại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trừ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bất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chấp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232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S485.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7A6D99E8-10D0-442E-8A04-6537EB5A7D98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09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46074" y="1528566"/>
            <a:ext cx="11845926" cy="1330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626110" indent="457200" algn="just">
              <a:lnSpc>
                <a:spcPct val="149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pc="2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n-US" spc="2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2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2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2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pc="2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2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PORT_C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2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2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khống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ý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ằng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S7-1200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ữ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PORT_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290218"/>
            <a:ext cx="10818891" cy="190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628015" indent="457200" algn="just">
              <a:lnSpc>
                <a:spcPct val="150000"/>
              </a:lnSpc>
              <a:spcBef>
                <a:spcPts val="13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 rate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d):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</a:t>
            </a:r>
            <a:r>
              <a:rPr lang="en-US" i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9,6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ỗi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â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300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                 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2,4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</a:t>
            </a:r>
            <a:r>
              <a:rPr lang="en-US" spc="3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19,2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</a:t>
            </a:r>
            <a:r>
              <a:rPr lang="en-US" spc="3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76,8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600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                 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4,8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</a:t>
            </a:r>
            <a:r>
              <a:rPr lang="en-US" spc="3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28,4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</a:t>
            </a:r>
            <a:r>
              <a:rPr lang="en-US" spc="3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115,2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47447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	1,2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</a:t>
            </a:r>
            <a:r>
              <a:rPr lang="en-US" spc="3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9,6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</a:t>
            </a:r>
            <a:r>
              <a:rPr lang="en-US" spc="3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57,6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kbit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927262"/>
            <a:ext cx="33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dirty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BF76083-BC63-4877-A2D2-82AFC0D01B1E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70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7301" y="1488842"/>
            <a:ext cx="11277600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Parity</a:t>
            </a:r>
            <a:r>
              <a:rPr lang="en-US" b="1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ẵn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mặc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ối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ẵn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“No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”.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2870"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ẵn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chẵn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Odd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ẵn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uôn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luôn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lên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Space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chẵn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lẻ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uôn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luôn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27262"/>
            <a:ext cx="33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61963" y="4686929"/>
            <a:ext cx="1127283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62611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ber of</a:t>
            </a:r>
            <a:r>
              <a:rPr lang="en-US" b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top</a:t>
            </a:r>
            <a:r>
              <a:rPr lang="en-US" b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bits</a:t>
            </a:r>
            <a:r>
              <a:rPr lang="en-US" b="1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bit</a:t>
            </a:r>
            <a:r>
              <a:rPr lang="en-US" i="1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bit</a:t>
            </a:r>
            <a:r>
              <a:rPr lang="en-US" i="1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Mặc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ịnh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B2E4F907-9754-475B-91B3-6EF46E7B9320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0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438276"/>
            <a:ext cx="11367856" cy="4632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 marR="624840" indent="-228600" algn="just">
              <a:lnSpc>
                <a:spcPct val="149000"/>
              </a:lnSpc>
              <a:tabLst>
                <a:tab pos="5588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 control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RS232,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cứng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hay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cứng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RTS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luôn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luôn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bật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RTS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ASCII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XON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XOFF.</a:t>
            </a:r>
          </a:p>
          <a:p>
            <a:pPr marL="560070" marR="624840" indent="-228600" algn="just">
              <a:lnSpc>
                <a:spcPct val="149000"/>
              </a:lnSpc>
              <a:spcBef>
                <a:spcPts val="25"/>
              </a:spcBef>
              <a:tabLst>
                <a:tab pos="5588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RS 485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560070" marR="624840" indent="-228600" algn="just">
              <a:lnSpc>
                <a:spcPct val="149000"/>
              </a:lnSpc>
              <a:tabLst>
                <a:tab pos="558800" algn="l"/>
              </a:tabLst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60070" marR="624840" indent="-228600" algn="just">
              <a:lnSpc>
                <a:spcPct val="149000"/>
              </a:lnSpc>
              <a:tabLst>
                <a:tab pos="5588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Wait time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CTS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RTS, hay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XON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XOFF,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CST hay XON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hủy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giây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Phạm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65535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giây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27262"/>
            <a:ext cx="3322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136A6E42-9346-41A0-AA3E-70C9F712F2F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8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6074" y="976893"/>
            <a:ext cx="11388725" cy="1418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>
              <a:spcBef>
                <a:spcPts val="130"/>
              </a:spcBef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 marR="626745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PLC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ải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14435" t="34150" r="4201" b="6396"/>
          <a:stretch/>
        </p:blipFill>
        <p:spPr>
          <a:xfrm>
            <a:off x="2378397" y="2407929"/>
            <a:ext cx="7324077" cy="30103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5747142"/>
            <a:ext cx="112775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Chú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ý: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500" i="1" spc="2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z="1500" i="1" spc="2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500" i="1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z="1500" i="1" spc="23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500" i="1" spc="20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z="1500" i="1" spc="24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z="1500" i="1" spc="2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z="1500" i="1" spc="2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1500" i="1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500" i="1" spc="2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z="1500" i="1" spc="24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z="1500" i="1" spc="23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SEND</a:t>
            </a:r>
            <a:r>
              <a:rPr lang="en-US" sz="1500" i="1" spc="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CFG</a:t>
            </a:r>
            <a:r>
              <a:rPr lang="en-US" sz="1500" i="1" spc="17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ong</a:t>
            </a:r>
            <a:r>
              <a:rPr lang="en-US" sz="1500" i="1" spc="2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z="1500" i="1" spc="19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z="1500" i="1" spc="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ẽ</a:t>
            </a:r>
            <a:r>
              <a:rPr lang="en-US" sz="1500" i="1" spc="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kh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z="1500" i="1" spc="3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ập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500" i="1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z="1500" i="1" spc="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hì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500" i="1" spc="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cổn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500" i="1" spc="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z="1500" i="1" spc="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ý</a:t>
            </a:r>
            <a:r>
              <a:rPr lang="en-US" sz="1500" i="1" spc="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ằ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500" i="1" spc="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en-US" sz="1500" i="1" spc="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z="1500" i="1" spc="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giữ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500" i="1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500" i="1" spc="-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z="1500" i="1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500" i="1" spc="-3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z="1500" i="1" spc="-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z="1500" i="1" spc="-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z="1500" i="1" spc="-1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z="1500" i="1" spc="-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z="1500" i="1" spc="-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SEN</a:t>
            </a:r>
            <a:r>
              <a:rPr lang="en-US" sz="1500" i="1" spc="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D_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CFG</a:t>
            </a:r>
            <a:r>
              <a:rPr lang="en-US" sz="1500" i="1" spc="-6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tro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500" i="1" spc="-2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z="1500" i="1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sz="1500" i="1" spc="-1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mất</a:t>
            </a:r>
            <a:r>
              <a:rPr lang="en-US" sz="1500" i="1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z="1500" i="1" spc="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ồn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500" i="1" dirty="0">
              <a:solidFill>
                <a:srgbClr val="FF0000"/>
              </a:solidFill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13EF0B3-2BC1-48E3-9085-F7B7327629BA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131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6074" y="976893"/>
            <a:ext cx="11388725" cy="1418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0" lvl="0" indent="0" algn="l" defTabSz="914400" rtl="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Cấu</a:t>
            </a:r>
            <a:r>
              <a:rPr kumimoji="0" lang="en-US" sz="1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hì</a:t>
            </a:r>
            <a:r>
              <a:rPr kumimoji="0" lang="en-US" sz="1800" b="1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1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ông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ố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phát</a:t>
            </a:r>
            <a:r>
              <a:rPr kumimoji="0" lang="en-US" sz="18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gửi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</a:t>
            </a:r>
            <a:r>
              <a:rPr kumimoji="0" lang="en-US" sz="1800" b="1" i="0" u="none" strike="noStrike" kern="1200" cap="none" spc="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ận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7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 </a:t>
            </a:r>
          </a:p>
          <a:p>
            <a:pPr marL="102870" marR="626745" lvl="0" indent="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ư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ớc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khi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PLC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ể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gia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trong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ột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</a:t>
            </a:r>
            <a:r>
              <a:rPr kumimoji="0" lang="en-US" sz="1800" b="0" i="0" u="none" strike="noStrike" kern="1200" cap="none" spc="2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u</a:t>
            </a:r>
            <a:r>
              <a:rPr kumimoji="0" lang="en-US" sz="18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ền</a:t>
            </a:r>
            <a:r>
              <a:rPr kumimoji="0" lang="en-US" sz="1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thông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PtP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ải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ấu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hình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thông</a:t>
            </a:r>
            <a:r>
              <a:rPr kumimoji="0" lang="en-US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số</a:t>
            </a:r>
            <a:r>
              <a:rPr kumimoji="0" lang="en-US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ho</a:t>
            </a:r>
            <a:r>
              <a:rPr kumimoji="0" lang="en-US" sz="1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việc</a:t>
            </a:r>
            <a:r>
              <a:rPr kumimoji="0" lang="en-US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phát</a:t>
            </a:r>
            <a:r>
              <a:rPr kumimoji="0" lang="en-US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(h</a:t>
            </a:r>
            <a:r>
              <a:rPr kumimoji="0" lang="en-US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ử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</a:t>
            </a:r>
            <a:r>
              <a:rPr kumimoji="0" lang="en-US" sz="1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và</a:t>
            </a:r>
            <a:r>
              <a:rPr kumimoji="0" lang="en-US" sz="1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ận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các</a:t>
            </a:r>
            <a:r>
              <a:rPr kumimoji="0" lang="en-US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hông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đ</a:t>
            </a:r>
            <a:r>
              <a:rPr kumimoji="0" lang="en-US" sz="1800" b="0" i="0" u="none" strike="noStrike" kern="1200" cap="none" spc="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ệp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r>
              <a:rPr kumimoji="0" lang="en-US" sz="1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747142"/>
            <a:ext cx="112775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kumimoji="0" lang="en-US" sz="15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Chú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ý: </a:t>
            </a:r>
            <a:r>
              <a:rPr lang="vi-V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 giá trị thông số được thiết lập từ lệnh RCV_CFG trong chương trình người dùng sẽ khống chế các thiết lập cấu hình của cổng. Lưu ý rằng CPU không giữ lại các thông</a:t>
            </a:r>
            <a:r>
              <a:rPr lang="en-US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 được thiết lập từ lệnh RCV_CFG trong sự kiện mất nguồn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endParaRPr kumimoji="0" lang="en-US" sz="15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5387" t="16376" r="7237" b="5254"/>
          <a:stretch/>
        </p:blipFill>
        <p:spPr>
          <a:xfrm>
            <a:off x="3295649" y="2395230"/>
            <a:ext cx="5762626" cy="3283129"/>
          </a:xfrm>
          <a:prstGeom prst="rect">
            <a:avLst/>
          </a:prstGeom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C33E1230-2EFC-45F2-82C8-2E263B074E4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77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6074" y="1157010"/>
            <a:ext cx="9883775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>
              <a:lnSpc>
                <a:spcPts val="14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xét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rú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â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11275"/>
          <a:stretch/>
        </p:blipFill>
        <p:spPr>
          <a:xfrm>
            <a:off x="1592263" y="1494871"/>
            <a:ext cx="8406373" cy="23541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915042"/>
            <a:ext cx="11277600" cy="2546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0070">
              <a:spcBef>
                <a:spcPts val="13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khởi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</a:t>
            </a:r>
            <a:r>
              <a:rPr lang="en-US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size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te).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60070" marR="626110" indent="-228600" algn="just">
              <a:lnSpc>
                <a:spcPct val="148000"/>
              </a:lnSpc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hê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rong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12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3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bao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(n).</a:t>
            </a:r>
            <a:endParaRPr lang="en-US" dirty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9FF2CC63-E4A2-4A44-A8A8-949AA1306095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955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46075" y="1157010"/>
            <a:ext cx="10617200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3670">
              <a:lnSpc>
                <a:spcPts val="1400"/>
              </a:lnSpc>
              <a:spcBef>
                <a:spcPts val="130"/>
              </a:spcBef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2: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xét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trúc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7401"/>
          <a:stretch/>
        </p:blipFill>
        <p:spPr>
          <a:xfrm>
            <a:off x="2098116" y="1620014"/>
            <a:ext cx="7607860" cy="20375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657600"/>
            <a:ext cx="11649075" cy="2687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3670">
              <a:spcBef>
                <a:spcPts val="13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vói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          </a:t>
            </a: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khởi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ầ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tại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822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size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te).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10870" marR="624205" indent="-228600" algn="just">
              <a:lnSpc>
                <a:spcPct val="149000"/>
              </a:lnSpc>
              <a:spcAft>
                <a:spcPts val="0"/>
              </a:spcAft>
              <a:tabLst>
                <a:tab pos="6096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2,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ED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rong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iều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ó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tổng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ạng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9).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2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bao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(n).</a:t>
            </a:r>
            <a:endParaRPr lang="en-US" dirty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8F6533D-CBA6-4978-A9FD-297647C209A7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76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1530891"/>
            <a:ext cx="11734800" cy="211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628015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rộng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ới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ù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xét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980065"/>
            <a:ext cx="4008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spcBef>
                <a:spcPts val="13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</a:t>
            </a:r>
            <a:r>
              <a:rPr lang="en-US" b="1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8434" name="Picture 2" descr="Serial communication program | Download Scientific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733" y="3559972"/>
            <a:ext cx="6238875" cy="231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738DA7E-E6D6-40A1-BB97-91FDFF6BC16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3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594448"/>
            <a:ext cx="11734800" cy="351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ì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 marR="626745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ì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ao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02870" marR="62611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ổng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2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ỗ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ên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quá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ên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â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ù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T_C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D_C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_CFG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0065"/>
            <a:ext cx="4008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spcBef>
                <a:spcPts val="13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</a:t>
            </a:r>
            <a:r>
              <a:rPr lang="en-US" b="1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A9F2FC1-4028-47A5-AC6C-1758C04B4A2C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473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382713"/>
            <a:ext cx="11277600" cy="12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ru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60070"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dùng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2870"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</a:t>
            </a:r>
            <a:r>
              <a:rPr lang="en-US" i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80065"/>
            <a:ext cx="4008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spcBef>
                <a:spcPts val="13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TRU</a:t>
            </a:r>
            <a:r>
              <a:rPr lang="en-US" b="1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b="1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1975" y="2617525"/>
            <a:ext cx="11734800" cy="3549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 marR="62611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i="1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ác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ết</a:t>
            </a:r>
            <a:r>
              <a:rPr lang="en-US" spc="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bị</a:t>
            </a:r>
            <a:r>
              <a:rPr lang="en-US" spc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Bef>
                <a:spcPts val="60"/>
              </a:spcBef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D_PTP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_PTP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2870" marR="62611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bổ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cung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khả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ặt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lập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S232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RCV_R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470">
              <a:spcAft>
                <a:spcPts val="0"/>
              </a:spcAf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SNG_G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          </a:t>
            </a:r>
            <a:r>
              <a:rPr lang="en-US" spc="85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SGN_S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en-US" dirty="0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AD3C529-A5F5-4724-8BBB-B210D4786616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9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LỆNH PTP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00535"/>
            <a:ext cx="3923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chu</a:t>
            </a:r>
            <a:r>
              <a:rPr lang="en-US" i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i="1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i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i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i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i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n-US" i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853357"/>
            <a:ext cx="11277600" cy="387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"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</a:t>
            </a:r>
            <a:r>
              <a:rPr lang="en-US" i="1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45"/>
              </a:spcBef>
              <a:spcAft>
                <a:spcPts val="0"/>
              </a:spcAft>
            </a:pPr>
            <a:r>
              <a:rPr lang="en-US" sz="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00"/>
              </a:lnSpc>
              <a:spcAft>
                <a:spcPts val="0"/>
              </a:spcAft>
            </a:pP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60070" marR="624840" indent="-228600" algn="just">
              <a:lnSpc>
                <a:spcPct val="149000"/>
              </a:lnSpc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chẩn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đoán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iag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ostic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nó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ghi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địa</a:t>
            </a:r>
            <a:r>
              <a:rPr lang="en-US" spc="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U.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bật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nó</a:t>
            </a:r>
            <a:r>
              <a:rPr lang="en-US" spc="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pc="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ghi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hỉ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lúc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ẽ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nhấp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ều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nghĩa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ịa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CM,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cung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ấp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CPU.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ải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xuống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dule</a:t>
            </a:r>
            <a:r>
              <a:rPr lang="en-US" i="1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tải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CPU.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tải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xuống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ED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chẩn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đo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dule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ổn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60070" marR="626110" indent="-228600" algn="just">
              <a:lnSpc>
                <a:spcPct val="146000"/>
              </a:lnSpc>
              <a:spcBef>
                <a:spcPts val="45"/>
              </a:spcBef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(Tran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mit):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goài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ổ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60070" marR="627380" indent="-228600" algn="just">
              <a:lnSpc>
                <a:spcPct val="147000"/>
              </a:lnSpc>
              <a:spcBef>
                <a:spcPts val="85"/>
              </a:spcBef>
              <a:spcAft>
                <a:spcPts val="0"/>
              </a:spcAft>
              <a:tabLst>
                <a:tab pos="558800" algn="l"/>
              </a:tabLst>
            </a:pPr>
            <a:r>
              <a:rPr lang="en-US" dirty="0">
                <a:latin typeface="Segoe MDL2 Assets" panose="050A0102010101010101" pitchFamily="18" charset="0"/>
                <a:ea typeface="Segoe MDL2 Assets" panose="050A0102010101010101" pitchFamily="18" charset="0"/>
                <a:cs typeface="Segoe MDL2 Assets" panose="050A0102010101010101" pitchFamily="18" charset="0"/>
              </a:rPr>
              <a:t>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(Rece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ve):</a:t>
            </a:r>
            <a:r>
              <a:rPr lang="en-US" spc="1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LED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ẽ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sáng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ữ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đang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3BB8502F-63A3-4674-A6E3-AEB989C54BF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766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LỆNH PTP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286660"/>
            <a:ext cx="1857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T_CF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216" y="3578801"/>
            <a:ext cx="1800225" cy="246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1758346"/>
            <a:ext cx="5712780" cy="1330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26110" indent="457200" algn="just">
              <a:lnSpc>
                <a:spcPct val="149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PORT_CFG  (Port  Configuration  –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baud,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35657" y="1286660"/>
            <a:ext cx="1857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D_CF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442" y="4115618"/>
            <a:ext cx="1800225" cy="192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169980" y="1726597"/>
            <a:ext cx="6022019" cy="256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26110" indent="457200" algn="just">
              <a:lnSpc>
                <a:spcPct val="149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SEND_CFG (Send  Configuration –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gửi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điệp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SEND_CFG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49E10816-9960-433A-9B99-C02EABCCF83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42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LỆNH PTP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143" y="3536623"/>
            <a:ext cx="1575000" cy="156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305658"/>
            <a:ext cx="1715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_CFG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1771522"/>
            <a:ext cx="54375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RCV_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eive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iguration –</a:t>
            </a:r>
            <a:r>
              <a:rPr lang="en-US" spc="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nối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cổng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ấu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ì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1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ều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pc="1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ầu</a:t>
            </a:r>
            <a:r>
              <a:rPr lang="en-US" spc="1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thúc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ệp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586" y="3566578"/>
            <a:ext cx="1800225" cy="150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933459" y="1794143"/>
            <a:ext cx="49803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_PTP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PtP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bắt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END_P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ếp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ục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</a:t>
            </a:r>
            <a:r>
              <a:rPr lang="en-US" spc="1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pc="1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baud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spc="1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933459" y="1277258"/>
            <a:ext cx="1804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D_PTP</a:t>
            </a:r>
            <a:endParaRPr lang="en-US" dirty="0"/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A8DBA3ED-AF5F-413F-9FD9-2C0F82F185D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751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4122414"/>
            <a:ext cx="1800225" cy="117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LỆNH PTP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24375"/>
            <a:ext cx="55884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Lệnh RCV_PTP (Receive PtP – nhận PtP) kiểm tra các thông điệp nào đã được nhận trong CM. Nếu một thông điệp là có sẵn, nó sẽ được truyền từ CM 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CPU. Một lỗi sẽ trả về giá trị STATUS thích hợp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17359"/>
            <a:ext cx="1663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_PTP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999133" y="1417359"/>
            <a:ext cx="163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RC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_RST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58866" y="1924375"/>
            <a:ext cx="5048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RCV_RST (Receiver Reset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đệm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CM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831" y="4129339"/>
            <a:ext cx="1800225" cy="103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CF552720-E642-4D1A-BA8B-BE482CB567FB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171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3502565"/>
            <a:ext cx="1516063" cy="179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1406527"/>
            <a:ext cx="1689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SG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_GET</a:t>
            </a:r>
            <a:endParaRPr lang="en-US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 LỆNH PTP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964" y="1788558"/>
            <a:ext cx="5432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SGN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GET (Get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RS232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nals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RS232)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ọ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S232.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CM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32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060" y="3576112"/>
            <a:ext cx="1566585" cy="172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667130" y="1788558"/>
            <a:ext cx="50676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SGN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2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RS232</a:t>
            </a:r>
            <a:r>
              <a:rPr lang="en-US" spc="18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gnals</a:t>
            </a:r>
            <a:r>
              <a:rPr lang="en-US" spc="1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pc="2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spc="2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ặt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ạng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ệu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RS23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ỉ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ợp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CM RS232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67130" y="1382713"/>
            <a:ext cx="163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i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SG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_SET</a:t>
            </a:r>
            <a:endParaRPr lang="en-US" dirty="0"/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3B079DC0-0833-4D6B-8E0E-CC1F92F75A7F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93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8373" y="1029260"/>
            <a:ext cx="4959435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lnSpc>
                <a:spcPts val="14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TRỊ TRẢ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ỦA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b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9571" b="5133"/>
          <a:stretch/>
        </p:blipFill>
        <p:spPr>
          <a:xfrm>
            <a:off x="1890507" y="2066460"/>
            <a:ext cx="7964439" cy="3260141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FDC9C68A-E8E7-440F-8168-956CD4D50464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3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88373" y="1029260"/>
            <a:ext cx="3214726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2870">
              <a:lnSpc>
                <a:spcPts val="14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CÁC LỚP LỖI VÀ CÁC LỖI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9423"/>
          <a:stretch/>
        </p:blipFill>
        <p:spPr>
          <a:xfrm>
            <a:off x="1800980" y="1515095"/>
            <a:ext cx="7582716" cy="4765111"/>
          </a:xfrm>
          <a:prstGeom prst="rect">
            <a:avLst/>
          </a:prstGeom>
        </p:spPr>
      </p:pic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9947691-1AF5-407C-A3FF-BE52D1206429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50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6.1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Giao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thức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truyền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-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Điểm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936140"/>
            <a:ext cx="2273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78455"/>
              </p:ext>
            </p:extLst>
          </p:nvPr>
        </p:nvGraphicFramePr>
        <p:xfrm>
          <a:off x="1721459" y="1829856"/>
          <a:ext cx="8851846" cy="304398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60330">
                  <a:extLst>
                    <a:ext uri="{9D8B030D-6E8A-4147-A177-3AD203B41FA5}">
                      <a16:colId xmlns:a16="http://schemas.microsoft.com/office/drawing/2014/main" val="1210266433"/>
                    </a:ext>
                  </a:extLst>
                </a:gridCol>
                <a:gridCol w="7191516">
                  <a:extLst>
                    <a:ext uri="{9D8B030D-6E8A-4147-A177-3AD203B41FA5}">
                      <a16:colId xmlns:a16="http://schemas.microsoft.com/office/drawing/2014/main" val="4113475448"/>
                    </a:ext>
                  </a:extLst>
                </a:gridCol>
              </a:tblGrid>
              <a:tr h="619553">
                <a:tc>
                  <a:txBody>
                    <a:bodyPr/>
                    <a:lstStyle/>
                    <a:p>
                      <a:pPr marL="97155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ID 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sự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b="1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b="1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800" b="1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en-US" sz="1800" b="1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ỗi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061845" indent="0" algn="ctr"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iêu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tả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382817"/>
                  </a:ext>
                </a:extLst>
              </a:tr>
              <a:tr h="901364"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302895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en-US" sz="1800" spc="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r>
                        <a:rPr lang="en-US" sz="18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sz="1800" i="1" spc="-5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800" i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odule</a:t>
                      </a:r>
                      <a:r>
                        <a:rPr lang="en-US" sz="1800" i="1" spc="1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</a:t>
                      </a:r>
                      <a:r>
                        <a:rPr lang="en-US" sz="1800" spc="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spc="-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thô</a:t>
                      </a:r>
                      <a:r>
                        <a:rPr lang="en-US" sz="18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800" spc="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là</a:t>
                      </a:r>
                      <a:r>
                        <a:rPr lang="en-US" sz="1800" spc="1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800" spc="1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module</a:t>
                      </a:r>
                      <a:r>
                        <a:rPr lang="en-US" sz="1800" i="1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485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và</a:t>
                      </a:r>
                      <a:r>
                        <a:rPr lang="en-US" sz="1800" spc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không</a:t>
                      </a:r>
                      <a:r>
                        <a:rPr lang="en-US" sz="1800" spc="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í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800" spc="1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735616"/>
                  </a:ext>
                </a:extLst>
              </a:tr>
              <a:tr h="901364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302895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en-US" sz="1800" spc="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r>
                        <a:rPr lang="en-US" sz="18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sz="1800" i="1" spc="-5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800" i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odule</a:t>
                      </a:r>
                      <a:r>
                        <a:rPr lang="en-US" sz="1800" i="1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</a:t>
                      </a:r>
                      <a:r>
                        <a:rPr lang="en-US" sz="1800" spc="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spc="-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thông</a:t>
                      </a:r>
                      <a:r>
                        <a:rPr lang="en-US" sz="18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là</a:t>
                      </a:r>
                      <a:r>
                        <a:rPr lang="en-US" sz="1800" spc="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8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module</a:t>
                      </a:r>
                      <a:r>
                        <a:rPr lang="en-US" sz="1800" i="1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RS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232,</a:t>
                      </a:r>
                      <a:r>
                        <a:rPr lang="en-US" sz="18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8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800" spc="3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khô</a:t>
                      </a:r>
                      <a:r>
                        <a:rPr lang="en-US" sz="18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8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8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í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spc="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>
                        <a:spcAft>
                          <a:spcPts val="0"/>
                        </a:spcAft>
                      </a:pP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8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ậ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vì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dòng</a:t>
                      </a:r>
                      <a:r>
                        <a:rPr lang="en-US" sz="18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H/W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được</a:t>
                      </a:r>
                      <a:r>
                        <a:rPr lang="en-US" sz="18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kích</a:t>
                      </a:r>
                      <a:r>
                        <a:rPr lang="en-US" sz="18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ạ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65618"/>
                  </a:ext>
                </a:extLst>
              </a:tr>
              <a:tr h="621704">
                <a:tc>
                  <a:txBody>
                    <a:bodyPr/>
                    <a:lstStyle/>
                    <a:p>
                      <a:pPr marL="302895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en-US" sz="1800" spc="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</a:t>
                      </a:r>
                      <a:r>
                        <a:rPr lang="en-US" sz="18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Tín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DSR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không</a:t>
                      </a:r>
                      <a:r>
                        <a:rPr lang="en-US" sz="18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được</a:t>
                      </a:r>
                      <a:r>
                        <a:rPr lang="en-US" sz="18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ặ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vì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module</a:t>
                      </a:r>
                      <a:r>
                        <a:rPr lang="en-US" sz="1800" i="1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là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8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8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8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bị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800726"/>
                  </a:ext>
                </a:extLst>
              </a:tr>
            </a:tbl>
          </a:graphicData>
        </a:graphic>
      </p:graphicFrame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4DECF439-27F2-4499-83B6-2EA47062DED9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808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0"/>
            <a:ext cx="9132887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612550"/>
      </p:ext>
    </p:extLst>
  </p:cSld>
  <p:clrMapOvr>
    <a:masterClrMapping/>
  </p:clrMapOvr>
</p:sld>
</file>

<file path=ppt/theme/theme1.xml><?xml version="1.0" encoding="utf-8"?>
<a:theme xmlns:a="http://schemas.openxmlformats.org/drawingml/2006/main" name="4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3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3406</Words>
  <Application>Microsoft Office PowerPoint</Application>
  <PresentationFormat>Widescreen</PresentationFormat>
  <Paragraphs>306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Arial</vt:lpstr>
      <vt:lpstr>Calibri</vt:lpstr>
      <vt:lpstr>Calibri Light</vt:lpstr>
      <vt:lpstr>Segoe MDL2 Assets</vt:lpstr>
      <vt:lpstr>Segoe UI</vt:lpstr>
      <vt:lpstr>Segoe UI Light</vt:lpstr>
      <vt:lpstr>Times New Roman</vt:lpstr>
      <vt:lpstr>4_Default Design</vt:lpstr>
      <vt:lpstr>WelcomeDoc</vt:lpstr>
      <vt:lpstr>5_Default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THIẾT BỊ ĐIỀU KHIỂN LẬP TRÌNH S7-1200  1.4 XỬ LÝ CHƯƠNG TRÌNH  1.5 KẾT NỐI DÂY GIỮA PLC VÀ CÁC THIẾT BỊ NGOẠI VI  1.6 KIỂM TRA VIỆC KẾT NỐI DÂY BẰNG PHẦN MỀM</dc:title>
  <dc:creator>ngha14051997@gmail.com</dc:creator>
  <cp:lastModifiedBy>Xuan Quang</cp:lastModifiedBy>
  <cp:revision>151</cp:revision>
  <dcterms:created xsi:type="dcterms:W3CDTF">2021-07-02T09:40:39Z</dcterms:created>
  <dcterms:modified xsi:type="dcterms:W3CDTF">2021-11-26T14:01:28Z</dcterms:modified>
</cp:coreProperties>
</file>