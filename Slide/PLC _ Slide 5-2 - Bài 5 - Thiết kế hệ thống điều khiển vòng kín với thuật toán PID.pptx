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7" r:id="rId3"/>
  </p:sldMasterIdLst>
  <p:notesMasterIdLst>
    <p:notesMasterId r:id="rId37"/>
  </p:notesMasterIdLst>
  <p:sldIdLst>
    <p:sldId id="257" r:id="rId4"/>
    <p:sldId id="341" r:id="rId5"/>
    <p:sldId id="339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78" r:id="rId32"/>
    <p:sldId id="379" r:id="rId33"/>
    <p:sldId id="380" r:id="rId34"/>
    <p:sldId id="381" r:id="rId35"/>
    <p:sldId id="30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897" autoAdjust="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EF37C-3239-4CC1-9458-1F4F89E202E7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67F6F-AC6B-4134-8A12-A6DFC3D57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2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148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732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395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937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303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6865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2428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6437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759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1424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8687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75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739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5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07560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77665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88308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9300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50222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29778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5785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80357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79530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02489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77326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9434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3433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6603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611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6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3E0FCE-8BAB-41A6-9695-3E5F75C21E8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824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54E70C-47C2-4482-8988-74AF4DA451C8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72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3DC5AC-A2C3-434D-9582-E0EC0F6FAA16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42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D51F59-BE09-49EF-946D-237576B9685B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69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7DB86A-4D3F-4176-86D2-120FC381B7C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733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8AA00D-68EE-4067-BF52-4AAB8CCFAC3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25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A71BA5-2B67-4F9A-91BC-1DB91DB7E825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72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E06C07-1723-4142-A5DC-829C5D45E06D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06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370940-1979-4244-9AD8-282EE740D23D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70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E4EF4D-25D8-42A0-896B-A7FD1DB7D984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385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F2807B-369F-4B8A-9F9F-3093857B5C91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1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AAE3A-2ACC-48DC-A270-F0C60EC6FDA1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451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blackWhite">
          <a:xfrm>
            <a:off x="254000" y="263525"/>
            <a:ext cx="11684000" cy="633095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92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11" y="448056"/>
            <a:ext cx="6877120" cy="64008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9" y="1435608"/>
            <a:ext cx="4416552" cy="3977640"/>
          </a:xfrm>
        </p:spPr>
        <p:txBody>
          <a:bodyPr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D3BA31E0-D02B-4C72-92FB-E6211966027E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11/26/2021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8370888" y="6203950"/>
            <a:ext cx="3276600" cy="365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2A99E05D-9AF6-4DBB-8249-15FD60AE4BB7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586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54000" y="263525"/>
            <a:ext cx="11684000" cy="63309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 userDrawn="1"/>
        </p:nvSpPr>
        <p:spPr bwMode="blackWhite">
          <a:xfrm>
            <a:off x="254000" y="263525"/>
            <a:ext cx="11684000" cy="2071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9" y="1536192"/>
            <a:ext cx="6876288" cy="640080"/>
          </a:xfrm>
        </p:spPr>
        <p:txBody>
          <a:bodyPr>
            <a:normAutofit/>
          </a:bodyPr>
          <a:lstStyle>
            <a:lvl1pPr>
              <a:defRPr sz="270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501" y="2560320"/>
            <a:ext cx="9445753" cy="3977640"/>
          </a:xfrm>
        </p:spPr>
        <p:txBody>
          <a:bodyPr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02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B930ADF8-94E5-4220-A61F-562A5FFF2652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11/26/2021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A0FCC8B3-8AA3-41AC-8D96-758D922C7515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65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54"/>
            <a:ext cx="103632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885028-6C43-4AEC-8A23-5D273E1885A2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579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"/>
          <p:cNvSpPr txBox="1">
            <a:spLocks/>
          </p:cNvSpPr>
          <p:nvPr userDrawn="1"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AUT206 - PLC CƠ BẢN</a:t>
            </a: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7" name="Picture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2A845F-9870-47E0-86FF-D5B10359773B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1452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29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F5C626-45A0-46EF-9E58-C3CA54F08697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533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8AB801-7BEA-45FE-9251-E37D29ADF496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3823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6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9322F2-0EB2-4313-997B-CA345170667A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769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5B2490-8E55-4AAA-82F6-A3F7CF418A16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941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91D3B4-5A6F-40CA-BA29-7FF68EE686D4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50504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79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74517C-903C-43ED-95C3-A2AD809374EB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1090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3C90D4-9AED-4A31-BEA7-B4A13D9C0FAC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4521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9408F8-F42D-44CD-8A8D-D9895C7851C4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0731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67"/>
            <a:ext cx="2743200" cy="5851525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67"/>
            <a:ext cx="8026400" cy="5851525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006642-6D9E-4802-B51E-4A3620ABCF0D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01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MEC116– CAE (ỨNG DỤNG PHẦN MỀN THIẾT KẾ 3D)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3A981B-C2C6-4DFD-8CB5-5FAE08E7F329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98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520700" y="447675"/>
            <a:ext cx="68770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6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35100"/>
            <a:ext cx="4414838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750" y="6203950"/>
            <a:ext cx="3276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 smtClean="0">
                <a:solidFill>
                  <a:srgbClr val="595959"/>
                </a:solidFill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BDBFA0E5-0631-4C6D-B27D-BF816283A6E3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11/26/2021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 smtClean="0">
                <a:solidFill>
                  <a:srgbClr val="595959"/>
                </a:solidFill>
                <a:latin typeface="Times New Roman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650" y="6203950"/>
            <a:ext cx="3276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>
                <a:solidFill>
                  <a:srgbClr val="59595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5289B5E9-CF14-479A-B1BA-9851330519EC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38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5pPr>
      <a:lvl6pPr marL="4572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6pPr>
      <a:lvl7pPr marL="9144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7pPr>
      <a:lvl8pPr marL="13716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8pPr>
      <a:lvl9pPr marL="18288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9pPr>
    </p:titleStyle>
    <p:bodyStyle>
      <a:lvl1pPr marL="342900" indent="-34290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1714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5143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8572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2001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1543124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86038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228954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2571870" indent="-171458" algn="l" defTabSz="685832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8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917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832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749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3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4580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7496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400413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3328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DAAEFA-6D00-4774-9254-65936C3AE48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976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1.wmf"/><Relationship Id="rId3" Type="http://schemas.openxmlformats.org/officeDocument/2006/relationships/image" Target="../media/image1.png"/><Relationship Id="rId7" Type="http://schemas.openxmlformats.org/officeDocument/2006/relationships/image" Target="../media/image8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3.wmf"/><Relationship Id="rId2" Type="http://schemas.openxmlformats.org/officeDocument/2006/relationships/notesSlide" Target="../notesSlides/notesSlide3.xml"/><Relationship Id="rId16" Type="http://schemas.openxmlformats.org/officeDocument/2006/relationships/oleObject" Target="../embeddings/oleObject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0.wmf"/><Relationship Id="rId5" Type="http://schemas.openxmlformats.org/officeDocument/2006/relationships/image" Target="../media/image6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DD4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1524000" y="3573463"/>
            <a:ext cx="9144000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818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82600"/>
            <a:ext cx="17335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98613" y="1568450"/>
            <a:ext cx="9144000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SYLLABUS</a:t>
            </a:r>
            <a:br>
              <a:rPr lang="en-US" altLang="en-US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altLang="en-US" sz="4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br>
              <a:rPr lang="en-US" altLang="en-US" sz="4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vi-VN" altLang="en-US" sz="4000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PLC </a:t>
            </a:r>
            <a:r>
              <a:rPr lang="en-GB" altLang="en-US" sz="4000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NÂNG CAO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559" y="3573462"/>
            <a:ext cx="5846108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186544" y="1034256"/>
            <a:ext cx="100345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KHI HỌC XONG MÔN HỌC NÀY, NGƯỜI HỌC CÓ KHẢ NĂNG: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140506" y="1731963"/>
            <a:ext cx="10080625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chuyền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G2: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tiễn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G3: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lường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sô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PLC.  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ráp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vận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hành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thiết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bị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điện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domino, ...).  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G5: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Rèn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cẩn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mỉ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8086725" y="247650"/>
            <a:ext cx="3648075" cy="487363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2000" dirty="0">
                <a:solidFill>
                  <a:srgbClr val="FF5A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ĐỀ CƯƠNG CHI TIẾT</a:t>
            </a:r>
          </a:p>
        </p:txBody>
      </p:sp>
    </p:spTree>
    <p:extLst>
      <p:ext uri="{BB962C8B-B14F-4D97-AF65-F5344CB8AC3E}">
        <p14:creationId xmlns:p14="http://schemas.microsoft.com/office/powerpoint/2010/main" val="266558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DD4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1524000" y="3573463"/>
            <a:ext cx="9144000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818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82600"/>
            <a:ext cx="17335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16240" y="1135856"/>
            <a:ext cx="9759518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5:</a:t>
            </a:r>
            <a:b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alt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HỆ THỐNG ĐIỀU KHIỂN VÒNG KÍN VỚI THUẬT TOÁN PID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AutoShape 2" descr="SIMATIC SCADA Systems | Automation Software | Siemens Glob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What is a PID Controller? - RealPa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434" y="3573463"/>
            <a:ext cx="5153192" cy="287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81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93850" y="1831975"/>
            <a:ext cx="9538748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HỆ THỐNG ĐIỀU KHIỂN VÒNG KÍN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047565" y="534988"/>
            <a:ext cx="10156054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5:</a:t>
            </a:r>
            <a:b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altLang="en-US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HỆ THỐNG ĐIỀU KHIỂN VÒNG KÍN VỚI THUẬT TOÁN PID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050" name="Picture 2" descr="How to Program a Basic PID Loop in ControlLogix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421" y="3155950"/>
            <a:ext cx="5766342" cy="3243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85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475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lvl="0" fontAlgn="base">
              <a:spcAft>
                <a:spcPct val="0"/>
              </a:spcAft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vòng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5">
            <a:extLst>
              <a:ext uri="{FF2B5EF4-FFF2-40B4-BE49-F238E27FC236}">
                <a16:creationId xmlns:a16="http://schemas.microsoft.com/office/drawing/2014/main" id="{D010FF32-86B0-4064-A854-640C0E583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87836"/>
            <a:ext cx="12939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78588343-973F-4F26-A655-0D729ED0D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68" y="1735722"/>
            <a:ext cx="1118783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57175" indent="-257175" algn="just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buChar char="-"/>
            </a:pPr>
            <a:r>
              <a:rPr lang="vi-V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Bộ điều khiển vòng kín được sử dụng nhiều nhất trong công nghiệp.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marL="257175" indent="-257175" algn="just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buChar char="-"/>
            </a:pPr>
            <a:r>
              <a:rPr lang="vi-V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Là kết hợp của 3 bộ điều khiển: tỉ lệ, tích phân và vi phân.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marL="257175" indent="-257175" algn="just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buChar char="-"/>
            </a:pPr>
            <a:r>
              <a:rPr lang="vi-V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Có khả năng triệt tiêu sai số xác lập, tăng tốc độ đáp ứng, giảm độ vọt lố nếu thông số của bộ điều khiển được lựa chọn thích hợp.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33902BE7-0596-4EBB-8F54-65B8771C7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14605"/>
            <a:ext cx="11400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20A10AE0-8E4A-4B22-9E45-608392FDE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27" y="3486173"/>
            <a:ext cx="1118783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57175" indent="-257175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buChar char="-"/>
            </a:pPr>
            <a:r>
              <a:rPr lang="vi-V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Bộ điều khiển PID vòng kín bao gồm: 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marL="257175" indent="-257175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vi-VN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Setpoint (Điểm đặt)</a:t>
            </a:r>
            <a:endParaRPr lang="en-US" altLang="en-US" sz="18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vi-VN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điều khiển PID </a:t>
            </a:r>
            <a:endParaRPr lang="en-US" altLang="en-US" sz="18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vi-VN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 cấu chấp hành</a:t>
            </a:r>
            <a:endParaRPr lang="en-US" altLang="en-US" sz="18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vi-VN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Ngõ ra và tín hiệu trả về qua cảm biến. </a:t>
            </a:r>
            <a:endParaRPr lang="en-US" altLang="en-US" sz="18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vi-V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Công thức toán của bộ điều khiển PID có dạng: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19" name="Object 4">
            <a:extLst>
              <a:ext uri="{FF2B5EF4-FFF2-40B4-BE49-F238E27FC236}">
                <a16:creationId xmlns:a16="http://schemas.microsoft.com/office/drawing/2014/main" id="{25D83543-50B2-4754-82D7-36B8645E30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062559"/>
              </p:ext>
            </p:extLst>
          </p:nvPr>
        </p:nvGraphicFramePr>
        <p:xfrm>
          <a:off x="4200363" y="5253198"/>
          <a:ext cx="3881042" cy="808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98700" imgH="482600" progId="Equation.DSMT4">
                  <p:embed/>
                </p:oleObj>
              </mc:Choice>
              <mc:Fallback>
                <p:oleObj r:id="rId4" imgW="2298700" imgH="482600" progId="Equation.DSMT4">
                  <p:embed/>
                  <p:pic>
                    <p:nvPicPr>
                      <p:cNvPr id="90126" name="Object 4">
                        <a:extLst>
                          <a:ext uri="{FF2B5EF4-FFF2-40B4-BE49-F238E27FC236}">
                            <a16:creationId xmlns:a16="http://schemas.microsoft.com/office/drawing/2014/main" id="{25D83543-50B2-4754-82D7-36B8645E3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0363" y="5253198"/>
                        <a:ext cx="3881042" cy="808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</a:t>
            </a:r>
            <a:r>
              <a:rPr kumimoji="0" lang="en-US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KẾ HỆ THỐNG ĐIỀU KHIỂN VÒNG KÍN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39BD8A9E-1F3C-4758-A216-7ACE63A27018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235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5">
            <a:extLst>
              <a:ext uri="{FF2B5EF4-FFF2-40B4-BE49-F238E27FC236}">
                <a16:creationId xmlns:a16="http://schemas.microsoft.com/office/drawing/2014/main" id="{D010FF32-86B0-4064-A854-640C0E583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87836"/>
            <a:ext cx="12939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Khái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niệm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78588343-973F-4F26-A655-0D729ED0D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68" y="1735722"/>
            <a:ext cx="1118783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57175" marR="0" lvl="0" indent="-257175" algn="just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-"/>
              <a:tabLst/>
              <a:defRPr/>
            </a:pPr>
            <a:r>
              <a:rPr kumimoji="0" lang="vi-V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Calibri" panose="020F0502020204030204" pitchFamily="34" charset="0"/>
              </a:rPr>
              <a:t>Bộ điều khiển vòng kín được sử dụng nhiều nhất trong công nghiệp.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Calibri" panose="020F0502020204030204" pitchFamily="34" charset="0"/>
            </a:endParaRPr>
          </a:p>
          <a:p>
            <a:pPr marL="257175" marR="0" lvl="0" indent="-257175" algn="just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-"/>
              <a:tabLst/>
              <a:defRPr/>
            </a:pPr>
            <a:r>
              <a:rPr kumimoji="0" lang="vi-V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Calibri" panose="020F0502020204030204" pitchFamily="34" charset="0"/>
              </a:rPr>
              <a:t>Là kết hợp của 3 bộ điều khiển: tỉ lệ, tích phân và vi phân.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Calibri" panose="020F0502020204030204" pitchFamily="34" charset="0"/>
            </a:endParaRPr>
          </a:p>
          <a:p>
            <a:pPr marL="257175" marR="0" lvl="0" indent="-257175" algn="just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-"/>
              <a:tabLst/>
              <a:defRPr/>
            </a:pPr>
            <a:r>
              <a:rPr kumimoji="0" lang="vi-V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Calibri" panose="020F0502020204030204" pitchFamily="34" charset="0"/>
              </a:rPr>
              <a:t>Có khả năng triệt tiêu sai số xác lập, tăng tốc độ đáp ứng, giảm độ vọt lố nếu thông số của bộ điều khiển được lựa chọn thích hợp.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33902BE7-0596-4EBB-8F54-65B8771C7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14605"/>
            <a:ext cx="11400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Cấu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trúc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20A10AE0-8E4A-4B22-9E45-608392FDE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27" y="3486173"/>
            <a:ext cx="1118783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57175" marR="0" lvl="0" indent="-257175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-"/>
              <a:tabLst/>
              <a:defRPr/>
            </a:pPr>
            <a:r>
              <a:rPr kumimoji="0" lang="vi-V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Calibri" panose="020F0502020204030204" pitchFamily="34" charset="0"/>
              </a:rPr>
              <a:t>Bộ điều khiển PID vòng kín bao gồm: 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Calibri" panose="020F0502020204030204" pitchFamily="34" charset="0"/>
            </a:endParaRPr>
          </a:p>
          <a:p>
            <a:pPr marL="257175" marR="0" lvl="0" indent="-257175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</a:t>
            </a:r>
            <a:r>
              <a:rPr kumimoji="0" lang="vi-VN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Setpoint (Điểm đặt)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57175" marR="0" lvl="0" indent="-257175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</a:t>
            </a:r>
            <a:r>
              <a:rPr kumimoji="0" lang="vi-VN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Bộ điều khiển PID 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57175" marR="0" lvl="0" indent="-257175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</a:t>
            </a:r>
            <a:r>
              <a:rPr kumimoji="0" lang="vi-VN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Cơ cấu chấp hành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57175" marR="0" lvl="0" indent="-257175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</a:t>
            </a:r>
            <a:r>
              <a:rPr kumimoji="0" lang="vi-VN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Ngõ ra và tín hiệu trả về qua cảm biến. 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</a:t>
            </a:r>
            <a:r>
              <a:rPr kumimoji="0" lang="en-US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KẾ HỆ THỐNG ĐIỀU KHIỂN VÒNG KÍN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4" name="Picture 15" descr="Bộ điều khiển PID là gì? Cách cài đặt thông số bộ điều khiển PID">
            <a:extLst>
              <a:ext uri="{FF2B5EF4-FFF2-40B4-BE49-F238E27FC236}">
                <a16:creationId xmlns:a16="http://schemas.microsoft.com/office/drawing/2014/main" id="{AE4EB031-DCFB-4693-B7C9-F3485FEE0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276" y="3101505"/>
            <a:ext cx="5465525" cy="2935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Footer Placeholder 1">
            <a:extLst>
              <a:ext uri="{FF2B5EF4-FFF2-40B4-BE49-F238E27FC236}">
                <a16:creationId xmlns:a16="http://schemas.microsoft.com/office/drawing/2014/main" id="{85552357-8F97-451D-96A3-E660764B1A25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721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</a:t>
            </a:r>
            <a:r>
              <a:rPr kumimoji="0" lang="en-US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KẾ HỆ THỐNG ĐIỀU KHIỂN VÒNG KÍN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3770B8C0-95D8-43AF-85DF-62677AB11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2670286"/>
            <a:ext cx="30219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52197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52197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5219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5219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5219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5219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5219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5219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5219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3914775" algn="l"/>
              </a:tabLst>
            </a:pPr>
            <a:r>
              <a:rPr lang="vi-V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Biến đổi Laplace 2 vế ta được: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C5E355EC-4C52-4F1C-AAA4-C0DF2C64C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3745623"/>
            <a:ext cx="62898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vi-V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 ra được hàm truyền của bộ điều khiển PID được biểu diễn:</a:t>
            </a: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199" y="1733476"/>
            <a:ext cx="45736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7175" lvl="0" indent="-257175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vi-VN" altLang="en-US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Công thức toán của bộ điều khiển PID có dạng:</a:t>
            </a:r>
            <a:endParaRPr lang="en-US" altLang="en-US" dirty="0">
              <a:solidFill>
                <a:prstClr val="black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25D83543-50B2-4754-82D7-36B8645E30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182903"/>
              </p:ext>
            </p:extLst>
          </p:nvPr>
        </p:nvGraphicFramePr>
        <p:xfrm>
          <a:off x="5030887" y="2026500"/>
          <a:ext cx="3881042" cy="808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98700" imgH="482600" progId="Equation.DSMT4">
                  <p:embed/>
                </p:oleObj>
              </mc:Choice>
              <mc:Fallback>
                <p:oleObj r:id="rId4" imgW="2298700" imgH="482600" progId="Equation.DSMT4">
                  <p:embed/>
                  <p:pic>
                    <p:nvPicPr>
                      <p:cNvPr id="19" name="Object 4">
                        <a:extLst>
                          <a:ext uri="{FF2B5EF4-FFF2-40B4-BE49-F238E27FC236}">
                            <a16:creationId xmlns:a16="http://schemas.microsoft.com/office/drawing/2014/main" id="{25D83543-50B2-4754-82D7-36B8645E3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0887" y="2026500"/>
                        <a:ext cx="3881042" cy="808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8">
            <a:extLst>
              <a:ext uri="{FF2B5EF4-FFF2-40B4-BE49-F238E27FC236}">
                <a16:creationId xmlns:a16="http://schemas.microsoft.com/office/drawing/2014/main" id="{ED0D2EC3-C2B5-4013-8CC1-EC2AABA679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296178"/>
              </p:ext>
            </p:extLst>
          </p:nvPr>
        </p:nvGraphicFramePr>
        <p:xfrm>
          <a:off x="5030887" y="3039618"/>
          <a:ext cx="3482798" cy="598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311400" imgH="393700" progId="Equation.DSMT4">
                  <p:embed/>
                </p:oleObj>
              </mc:Choice>
              <mc:Fallback>
                <p:oleObj r:id="rId6" imgW="2311400" imgH="393700" progId="Equation.DSMT4">
                  <p:embed/>
                  <p:pic>
                    <p:nvPicPr>
                      <p:cNvPr id="90129" name="Object 28">
                        <a:extLst>
                          <a:ext uri="{FF2B5EF4-FFF2-40B4-BE49-F238E27FC236}">
                            <a16:creationId xmlns:a16="http://schemas.microsoft.com/office/drawing/2014/main" id="{ED0D2EC3-C2B5-4013-8CC1-EC2AABA679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0887" y="3039618"/>
                        <a:ext cx="3482798" cy="5988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1">
            <a:extLst>
              <a:ext uri="{FF2B5EF4-FFF2-40B4-BE49-F238E27FC236}">
                <a16:creationId xmlns:a16="http://schemas.microsoft.com/office/drawing/2014/main" id="{7DFC2D77-91DB-44C8-8640-24756F9FBF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742405"/>
              </p:ext>
            </p:extLst>
          </p:nvPr>
        </p:nvGraphicFramePr>
        <p:xfrm>
          <a:off x="5030887" y="4208251"/>
          <a:ext cx="4504643" cy="680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882900" imgH="431800" progId="Equation.DSMT4">
                  <p:embed/>
                </p:oleObj>
              </mc:Choice>
              <mc:Fallback>
                <p:oleObj r:id="rId8" imgW="2882900" imgH="431800" progId="Equation.DSMT4">
                  <p:embed/>
                  <p:pic>
                    <p:nvPicPr>
                      <p:cNvPr id="90132" name="Object 31">
                        <a:extLst>
                          <a:ext uri="{FF2B5EF4-FFF2-40B4-BE49-F238E27FC236}">
                            <a16:creationId xmlns:a16="http://schemas.microsoft.com/office/drawing/2014/main" id="{7DFC2D77-91DB-44C8-8640-24756F9FBF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0887" y="4208251"/>
                        <a:ext cx="4504643" cy="680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2">
            <a:extLst>
              <a:ext uri="{FF2B5EF4-FFF2-40B4-BE49-F238E27FC236}">
                <a16:creationId xmlns:a16="http://schemas.microsoft.com/office/drawing/2014/main" id="{466082A5-DC45-4A0C-AFD1-164EB02783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990867"/>
              </p:ext>
            </p:extLst>
          </p:nvPr>
        </p:nvGraphicFramePr>
        <p:xfrm>
          <a:off x="3118581" y="5205386"/>
          <a:ext cx="721198" cy="637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20700" imgH="457200" progId="Equation.DSMT4">
                  <p:embed/>
                </p:oleObj>
              </mc:Choice>
              <mc:Fallback>
                <p:oleObj r:id="rId10" imgW="520700" imgH="457200" progId="Equation.DSMT4">
                  <p:embed/>
                  <p:pic>
                    <p:nvPicPr>
                      <p:cNvPr id="90134" name="Object 42">
                        <a:extLst>
                          <a:ext uri="{FF2B5EF4-FFF2-40B4-BE49-F238E27FC236}">
                            <a16:creationId xmlns:a16="http://schemas.microsoft.com/office/drawing/2014/main" id="{466082A5-DC45-4A0C-AFD1-164EB0278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581" y="5205386"/>
                        <a:ext cx="721198" cy="637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5">
            <a:extLst>
              <a:ext uri="{FF2B5EF4-FFF2-40B4-BE49-F238E27FC236}">
                <a16:creationId xmlns:a16="http://schemas.microsoft.com/office/drawing/2014/main" id="{02723426-3DA5-4E2E-9AC8-DB5E1C3DB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7134" y="5275403"/>
            <a:ext cx="6014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8" name="Object 52">
            <a:extLst>
              <a:ext uri="{FF2B5EF4-FFF2-40B4-BE49-F238E27FC236}">
                <a16:creationId xmlns:a16="http://schemas.microsoft.com/office/drawing/2014/main" id="{6141959B-48B0-4EC0-B228-91CF4CCD44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33309"/>
              </p:ext>
            </p:extLst>
          </p:nvPr>
        </p:nvGraphicFramePr>
        <p:xfrm>
          <a:off x="3118581" y="5912535"/>
          <a:ext cx="291775" cy="31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28600" imgH="241300" progId="Equation.DSMT4">
                  <p:embed/>
                </p:oleObj>
              </mc:Choice>
              <mc:Fallback>
                <p:oleObj r:id="rId12" imgW="228600" imgH="241300" progId="Equation.DSMT4">
                  <p:embed/>
                  <p:pic>
                    <p:nvPicPr>
                      <p:cNvPr id="90137" name="Object 52">
                        <a:extLst>
                          <a:ext uri="{FF2B5EF4-FFF2-40B4-BE49-F238E27FC236}">
                            <a16:creationId xmlns:a16="http://schemas.microsoft.com/office/drawing/2014/main" id="{6141959B-48B0-4EC0-B228-91CF4CCD44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581" y="5912535"/>
                        <a:ext cx="291775" cy="31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53">
            <a:extLst>
              <a:ext uri="{FF2B5EF4-FFF2-40B4-BE49-F238E27FC236}">
                <a16:creationId xmlns:a16="http://schemas.microsoft.com/office/drawing/2014/main" id="{CFDDA466-4A7C-464C-BD55-35D63B5DC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8" y="5899276"/>
            <a:ext cx="17604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vi-V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hệ số khuếch đại</a:t>
            </a:r>
            <a:endParaRPr lang="en-US" altLang="en-US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 54">
            <a:extLst>
              <a:ext uri="{FF2B5EF4-FFF2-40B4-BE49-F238E27FC236}">
                <a16:creationId xmlns:a16="http://schemas.microsoft.com/office/drawing/2014/main" id="{B9D4CEBE-0E26-4A87-8758-68690D1D6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118" y="5272307"/>
            <a:ext cx="26132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vi-V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hằng số thời gian tích phân</a:t>
            </a:r>
            <a:endParaRPr lang="en-US" altLang="en-US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" name="Rectangle 55">
            <a:extLst>
              <a:ext uri="{FF2B5EF4-FFF2-40B4-BE49-F238E27FC236}">
                <a16:creationId xmlns:a16="http://schemas.microsoft.com/office/drawing/2014/main" id="{0F4860F9-4501-49DA-99E7-27A1341E7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118" y="5915514"/>
            <a:ext cx="24641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vi-VN" altLang="en-US" sz="16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hằng số thời gian vi phân</a:t>
            </a:r>
            <a:endParaRPr lang="en-US" altLang="en-US" sz="16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2" name="Object 57">
            <a:extLst>
              <a:ext uri="{FF2B5EF4-FFF2-40B4-BE49-F238E27FC236}">
                <a16:creationId xmlns:a16="http://schemas.microsoft.com/office/drawing/2014/main" id="{2A81DF38-55DF-41DC-8010-E240441918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309542"/>
              </p:ext>
            </p:extLst>
          </p:nvPr>
        </p:nvGraphicFramePr>
        <p:xfrm>
          <a:off x="6784794" y="5295538"/>
          <a:ext cx="203783" cy="341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39700" imgH="228600" progId="Equation.DSMT4">
                  <p:embed/>
                </p:oleObj>
              </mc:Choice>
              <mc:Fallback>
                <p:oleObj r:id="rId14" imgW="139700" imgH="228600" progId="Equation.DSMT4">
                  <p:embed/>
                  <p:pic>
                    <p:nvPicPr>
                      <p:cNvPr id="90142" name="Object 57">
                        <a:extLst>
                          <a:ext uri="{FF2B5EF4-FFF2-40B4-BE49-F238E27FC236}">
                            <a16:creationId xmlns:a16="http://schemas.microsoft.com/office/drawing/2014/main" id="{2A81DF38-55DF-41DC-8010-E240441918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794" y="5295538"/>
                        <a:ext cx="203783" cy="341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9">
            <a:extLst>
              <a:ext uri="{FF2B5EF4-FFF2-40B4-BE49-F238E27FC236}">
                <a16:creationId xmlns:a16="http://schemas.microsoft.com/office/drawing/2014/main" id="{BF7A50E3-6511-4A0E-9DBA-D49F4B56A1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101303"/>
              </p:ext>
            </p:extLst>
          </p:nvPr>
        </p:nvGraphicFramePr>
        <p:xfrm>
          <a:off x="6747028" y="5912535"/>
          <a:ext cx="261090" cy="354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65028" imgH="228501" progId="Equation.DSMT4">
                  <p:embed/>
                </p:oleObj>
              </mc:Choice>
              <mc:Fallback>
                <p:oleObj r:id="rId16" imgW="165028" imgH="228501" progId="Equation.DSMT4">
                  <p:embed/>
                  <p:pic>
                    <p:nvPicPr>
                      <p:cNvPr id="90144" name="Object 59">
                        <a:extLst>
                          <a:ext uri="{FF2B5EF4-FFF2-40B4-BE49-F238E27FC236}">
                            <a16:creationId xmlns:a16="http://schemas.microsoft.com/office/drawing/2014/main" id="{BF7A50E3-6511-4A0E-9DBA-D49F4B56A1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7028" y="5912535"/>
                        <a:ext cx="261090" cy="354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ooter Placeholder 1">
            <a:extLst>
              <a:ext uri="{FF2B5EF4-FFF2-40B4-BE49-F238E27FC236}">
                <a16:creationId xmlns:a16="http://schemas.microsoft.com/office/drawing/2014/main" id="{4C316C0C-6BEA-4F1C-BCAC-89BAFE602AE0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989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F96C3D10-7529-4BE3-9435-5B13503BF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73133"/>
            <a:ext cx="9592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vi-V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Để thiết kế bộ điều khiển PID vòng kín ta thực hiện các bước sau: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841270"/>
            <a:ext cx="78076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Nhận phản hồi từ hệ mở và xác định các thông số cần cải thiện (độ vọt lố, thời gian xác lập, sai số xác lập,...)</a:t>
            </a:r>
          </a:p>
          <a:p>
            <a:pPr marL="342900" indent="-342900">
              <a:buAutoNum type="arabi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Thêm khâu điều khiển tỉ lệ 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(cải thiện thời gian đi lên)</a:t>
            </a:r>
          </a:p>
          <a:p>
            <a:pPr marL="342900" indent="-342900">
              <a:buAutoNum type="arabi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Thêm khâu điều khiển tích phân 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(giảm độ vọt lố)</a:t>
            </a:r>
          </a:p>
          <a:p>
            <a:pPr marL="342900" indent="-342900">
              <a:buAutoNum type="arabi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Thêm khâu điều khiển vi phân 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(giảm sai số xác lập)</a:t>
            </a:r>
          </a:p>
          <a:p>
            <a:pPr marL="342900" indent="-342900">
              <a:buAutoNum type="arabi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Điều chỉnh hệ số các khâu phù hợp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3537"/>
            <a:ext cx="78076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phương pháp xác định thông số PID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Ziegler-Nichols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Đặt 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 Tăng 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 đến khi hệ giao động tuần hoàn. Đặt giá trị 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số được xác định dựa vào bảng: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934982"/>
              </p:ext>
            </p:extLst>
          </p:nvPr>
        </p:nvGraphicFramePr>
        <p:xfrm>
          <a:off x="3560614" y="4824302"/>
          <a:ext cx="5070772" cy="1600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7693">
                  <a:extLst>
                    <a:ext uri="{9D8B030D-6E8A-4147-A177-3AD203B41FA5}">
                      <a16:colId xmlns:a16="http://schemas.microsoft.com/office/drawing/2014/main" val="4001225371"/>
                    </a:ext>
                  </a:extLst>
                </a:gridCol>
                <a:gridCol w="1267693">
                  <a:extLst>
                    <a:ext uri="{9D8B030D-6E8A-4147-A177-3AD203B41FA5}">
                      <a16:colId xmlns:a16="http://schemas.microsoft.com/office/drawing/2014/main" val="1855248106"/>
                    </a:ext>
                  </a:extLst>
                </a:gridCol>
                <a:gridCol w="1267693">
                  <a:extLst>
                    <a:ext uri="{9D8B030D-6E8A-4147-A177-3AD203B41FA5}">
                      <a16:colId xmlns:a16="http://schemas.microsoft.com/office/drawing/2014/main" val="610357608"/>
                    </a:ext>
                  </a:extLst>
                </a:gridCol>
                <a:gridCol w="1267693">
                  <a:extLst>
                    <a:ext uri="{9D8B030D-6E8A-4147-A177-3AD203B41FA5}">
                      <a16:colId xmlns:a16="http://schemas.microsoft.com/office/drawing/2014/main" val="949036081"/>
                    </a:ext>
                  </a:extLst>
                </a:gridCol>
              </a:tblGrid>
              <a:tr h="287604"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Ziegler-Nichols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6013283"/>
                  </a:ext>
                </a:extLst>
              </a:tr>
              <a:tr h="287604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29252"/>
                  </a:ext>
                </a:extLst>
              </a:tr>
              <a:tr h="28760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0.50K</a:t>
                      </a:r>
                      <a:r>
                        <a:rPr lang="en-US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7147878"/>
                  </a:ext>
                </a:extLst>
              </a:tr>
              <a:tr h="28760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0.45K</a:t>
                      </a:r>
                      <a:r>
                        <a:rPr lang="en-US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1.2K</a:t>
                      </a:r>
                      <a:r>
                        <a:rPr lang="en-US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/P</a:t>
                      </a:r>
                      <a:r>
                        <a:rPr lang="en-US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3233829"/>
                  </a:ext>
                </a:extLst>
              </a:tr>
              <a:tr h="28760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0.60K</a:t>
                      </a:r>
                      <a:r>
                        <a:rPr lang="en-US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2K</a:t>
                      </a:r>
                      <a:r>
                        <a:rPr lang="en-US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/P</a:t>
                      </a:r>
                      <a:r>
                        <a:rPr lang="en-US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c/8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4506376"/>
                  </a:ext>
                </a:extLst>
              </a:tr>
            </a:tbl>
          </a:graphicData>
        </a:graphic>
      </p:graphicFrame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6DE126C2-D799-43D6-88BB-B7EABA551BA1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97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EC67D767-4C72-44D9-85F2-F0343A8D0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38" y="1300535"/>
            <a:ext cx="115368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algn="just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vi-V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điều chỉnh bằng phần mềm</a:t>
            </a:r>
            <a:endParaRPr lang="en-US" altLang="en-US" sz="18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vi-V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 phần mềm để tự động chỉnh thông số PID dựa trên mô hình toán.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959565"/>
            <a:ext cx="82266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B1: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Portal view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Create new project →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Tank_PID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→ Create.</a:t>
            </a:r>
            <a:endParaRPr lang="en-US" dirty="0"/>
          </a:p>
        </p:txBody>
      </p:sp>
      <p:pic>
        <p:nvPicPr>
          <p:cNvPr id="10" name="Picture 9" descr="45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160243" y="2648654"/>
            <a:ext cx="7614071" cy="3272751"/>
          </a:xfrm>
          <a:prstGeom prst="rect">
            <a:avLst/>
          </a:prstGeom>
        </p:spPr>
      </p:pic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53C8EC93-1DB7-420A-A520-D7D2D2D69877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343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471326"/>
            <a:ext cx="4179349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First steps → Configure a device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46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138777" y="2138098"/>
            <a:ext cx="7457984" cy="3694531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0256FBBD-9FF7-4985-8FE5-DF72E4912D71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951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61962" y="1438276"/>
            <a:ext cx="112728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B3: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Control_Tank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Add new device →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Control_Tank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→ CPU1214C → 6ES7 ……. → Add) </a:t>
            </a: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tùy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CPU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mình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en-US" dirty="0"/>
          </a:p>
        </p:txBody>
      </p:sp>
      <p:pic>
        <p:nvPicPr>
          <p:cNvPr id="9" name="Picture 8" descr="47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280820" y="2512046"/>
            <a:ext cx="7289307" cy="3595791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AF2D0321-CAF3-47E7-96A4-F252D7BF80E8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227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382713"/>
            <a:ext cx="11277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B4: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Project View. </a:t>
            </a:r>
          </a:p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Kéo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signal board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catalog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Analog.</a:t>
            </a:r>
          </a:p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Catalog → Signal board → AO1 x 12Bit → 6ES7 232-…</a:t>
            </a:r>
            <a:endParaRPr lang="en-US" dirty="0"/>
          </a:p>
        </p:txBody>
      </p:sp>
      <p:pic>
        <p:nvPicPr>
          <p:cNvPr id="9" name="Picture 8" descr="48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085513" y="2560003"/>
            <a:ext cx="7671046" cy="3485689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D002CBB7-B780-4442-B795-002CD456C665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959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61962" y="1438276"/>
            <a:ext cx="112728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B5: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Device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overview,bạn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set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ra.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analog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PLC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IW64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tới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IW66,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I0.0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tới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I1.3.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analog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signal board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OW80 (→ Device view → AO1 x 12Bit → 80…81)</a:t>
            </a:r>
            <a:endParaRPr lang="en-US" dirty="0"/>
          </a:p>
        </p:txBody>
      </p:sp>
      <p:pic>
        <p:nvPicPr>
          <p:cNvPr id="9" name="Picture 8" descr="49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357985" y="2361606"/>
            <a:ext cx="6359886" cy="3853243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5CBEC973-98ED-4536-9B6C-089ED8E3B45C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146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382713"/>
            <a:ext cx="11277600" cy="88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B6: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Properties → General → PROFINET interface → Ethernet addresses →IP address: 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192.168.0.1 → Subnet mask: 255.255.255.0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50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192044" y="2568506"/>
            <a:ext cx="7049610" cy="3565963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F39CAAAC-7B59-4EDA-A89B-E3C9B61CC560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946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61962" y="1406527"/>
            <a:ext cx="11272837" cy="857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B7: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Control_tank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[CPU1214C DC/DC/DC]’ → PLC tags → PLC tags.</a:t>
            </a:r>
          </a:p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51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957110" y="2498029"/>
            <a:ext cx="7781694" cy="3254701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F141BCEA-AE9F-4236-8E82-C84312194184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92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61962" y="1471326"/>
            <a:ext cx="11272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B8: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Control_tank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[CPU1214C DC/DC/DC]’ → Program blocks → Add new block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function block FC1.</a:t>
            </a:r>
            <a:endParaRPr lang="en-US" dirty="0"/>
          </a:p>
        </p:txBody>
      </p:sp>
      <p:pic>
        <p:nvPicPr>
          <p:cNvPr id="9" name="Picture 8" descr="52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795604" y="2024148"/>
            <a:ext cx="3528473" cy="4190221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206A3D8D-2F6F-447B-8E52-0FE5204C084A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946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526742" y="1426936"/>
            <a:ext cx="11208058" cy="847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B9: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Organization block(OB) → Cyclic interrupt  → FBD → Cycle time 100 → OK</a:t>
            </a:r>
          </a:p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 thứ tự của OB được tự động đánh số là OB200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53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129901" y="2490097"/>
            <a:ext cx="7200530" cy="3679884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A76052C-9C9F-4BD4-B724-6A6CE43BD90B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942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61962" y="1382713"/>
            <a:ext cx="11272837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B10: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OB200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vừa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cục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w_fuel_tank1 – Real-set filling level</a:t>
            </a:r>
            <a:endParaRPr lang="en-US" dirty="0"/>
          </a:p>
        </p:txBody>
      </p:sp>
      <p:pic>
        <p:nvPicPr>
          <p:cNvPr id="9" name="Picture 8" descr="54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854692" y="2364373"/>
            <a:ext cx="7706557" cy="3317336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85CA639A-C2D5-4111-8CEF-BB7C8DEA9C58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786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pic>
        <p:nvPicPr>
          <p:cNvPr id="8" name="Picture 7" descr="55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008790" y="1725054"/>
            <a:ext cx="5943600" cy="466852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85169" y="1379200"/>
            <a:ext cx="2772936" cy="385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B11: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lệnh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4DF8AE74-FC86-4B63-A96E-1DEFAE2E617F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912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388771"/>
            <a:ext cx="1127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B12: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network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3,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lấy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PID_Compact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Extended instructions → PID →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PID_Compact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→ OK</a:t>
            </a:r>
            <a:endParaRPr lang="en-US" dirty="0"/>
          </a:p>
        </p:txBody>
      </p:sp>
      <p:pic>
        <p:nvPicPr>
          <p:cNvPr id="9" name="Picture 8" descr="56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751338" y="2066095"/>
            <a:ext cx="5943600" cy="4387850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EDCDB406-D09E-4515-AE8F-0CC8EA23E24F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455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82713"/>
            <a:ext cx="112728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B13: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OB 200,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báo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PID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dưới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PID_Compact</a:t>
            </a:r>
            <a:endParaRPr lang="en-US" dirty="0"/>
          </a:p>
        </p:txBody>
      </p:sp>
      <p:pic>
        <p:nvPicPr>
          <p:cNvPr id="12" name="Picture 11" descr="57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491503" y="2312988"/>
            <a:ext cx="6998725" cy="3590662"/>
          </a:xfrm>
          <a:prstGeom prst="rect">
            <a:avLst/>
          </a:prstGeom>
        </p:spPr>
      </p:pic>
      <p:pic>
        <p:nvPicPr>
          <p:cNvPr id="13" name="Picture 12" descr="58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11373589" y="1287836"/>
            <a:ext cx="356448" cy="443717"/>
          </a:xfrm>
          <a:prstGeom prst="rect">
            <a:avLst/>
          </a:prstGeom>
        </p:spPr>
      </p:pic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6076B996-629E-405F-84ED-439C3BA4740A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380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61962" y="1382713"/>
            <a:ext cx="11272837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B14: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Basic settings →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Control mode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Volume →  l → Actual value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Input_PER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(analog) → Manipulated value: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Output_PER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59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280820" y="2327144"/>
            <a:ext cx="7031855" cy="3807326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339C4503-8740-4937-A1D2-9847C333B026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891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61962" y="1300535"/>
            <a:ext cx="11272837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B15: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Input Scaling &gt;&gt;Actual value scaling → Scaled high value 1000.0 l → high limit 1000.0 l → Low limit 0.0 l → Scaled low value 0.0 l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60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200922" y="2167689"/>
            <a:ext cx="7218286" cy="4073313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F4E5F2E0-BA0E-4D87-8D66-DE5747EAF284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508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61962" y="1300535"/>
            <a:ext cx="11272837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B16: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Advance settings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Input monitoring → PID parameters 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vẽ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Save project.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61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280822" y="1974029"/>
            <a:ext cx="7564514" cy="4087327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7D9B7974-15A9-4F5E-8C15-620895A19D71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801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287836"/>
            <a:ext cx="1127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B17: Load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PLC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Control_tank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xong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click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tượng</a:t>
            </a:r>
            <a:endParaRPr lang="en-US" dirty="0"/>
          </a:p>
        </p:txBody>
      </p:sp>
      <p:pic>
        <p:nvPicPr>
          <p:cNvPr id="9" name="Picture 8" descr="22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9024151" y="1273177"/>
            <a:ext cx="304800" cy="266700"/>
          </a:xfrm>
          <a:prstGeom prst="rect">
            <a:avLst/>
          </a:prstGeom>
        </p:spPr>
      </p:pic>
      <p:pic>
        <p:nvPicPr>
          <p:cNvPr id="10" name="Picture 9" descr="62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1863571" y="1840658"/>
            <a:ext cx="7901866" cy="4134014"/>
          </a:xfrm>
          <a:prstGeom prst="rect">
            <a:avLst/>
          </a:prstGeom>
        </p:spPr>
      </p:pic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7A66F355-1100-4463-BBA1-3ADF29DB5195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426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199" y="1287836"/>
            <a:ext cx="5703903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B18: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PG/PC interface for loading → Load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63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263065" y="1808908"/>
            <a:ext cx="6747769" cy="4440971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ACEB876A-EF07-4EAE-824B-69E239AB7B4B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375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199" y="1287836"/>
            <a:ext cx="34400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B19: click Load 1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nữa</a:t>
            </a:r>
            <a:endParaRPr lang="en-US" dirty="0"/>
          </a:p>
        </p:txBody>
      </p:sp>
      <p:pic>
        <p:nvPicPr>
          <p:cNvPr id="9" name="Picture 8" descr="64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094391" y="1840659"/>
            <a:ext cx="7404716" cy="4274948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DAA0EB03-ABAB-43CC-B91E-5AEAC48C2177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061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300535"/>
            <a:ext cx="3593238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B20: Load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Finish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65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961225" y="1933425"/>
            <a:ext cx="6987466" cy="4127931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8C850EE0-936A-465E-9BF4-56DC3195EFE3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683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921659"/>
            <a:ext cx="35766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B21: Start CPU,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click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57200" y="2303690"/>
            <a:ext cx="4108817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B22: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hỏi,bằng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‘OK’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27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4033820" y="1296701"/>
            <a:ext cx="369504" cy="373165"/>
          </a:xfrm>
          <a:prstGeom prst="rect">
            <a:avLst/>
          </a:prstGeom>
        </p:spPr>
      </p:pic>
      <p:pic>
        <p:nvPicPr>
          <p:cNvPr id="12" name="Picture 11" descr="28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3736181" y="2936923"/>
            <a:ext cx="3886200" cy="1857375"/>
          </a:xfrm>
          <a:prstGeom prst="rect">
            <a:avLst/>
          </a:prstGeom>
        </p:spPr>
      </p:pic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D80D74A6-0BD0-43C5-9B96-63EAC2F4FBC4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513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pic>
        <p:nvPicPr>
          <p:cNvPr id="8" name="Picture 7" descr="67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124200" y="2609957"/>
            <a:ext cx="5943600" cy="376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333832"/>
            <a:ext cx="5801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B23: Click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giám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dirty="0"/>
          </a:p>
        </p:txBody>
      </p:sp>
      <p:pic>
        <p:nvPicPr>
          <p:cNvPr id="10" name="Picture 9" descr="29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3202204" y="1333832"/>
            <a:ext cx="304800" cy="2857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85820" y="1671519"/>
            <a:ext cx="107489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CPU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khởi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ban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khiển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PID_Compact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chưa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kích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kích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ta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bắt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lệnh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click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dirty="0"/>
          </a:p>
        </p:txBody>
      </p:sp>
      <p:pic>
        <p:nvPicPr>
          <p:cNvPr id="13" name="Picture 12" descr="66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4546929" y="2051478"/>
            <a:ext cx="1383354" cy="512482"/>
          </a:xfrm>
          <a:prstGeom prst="rect">
            <a:avLst/>
          </a:prstGeom>
        </p:spPr>
      </p:pic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A883851F-3D3B-4A40-B0FC-78E3FDE26681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024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61962" y="1300535"/>
            <a:ext cx="11272837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B24: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Measurement on → Self optimization initial start → Start of self optimization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68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098307" y="1711416"/>
            <a:ext cx="6035706" cy="4749707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10BE8655-DF01-49CD-B413-126E12B5C127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342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hệ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thống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vòng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kín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5385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HỆ THỐNG ĐIỀU KHIỂN VÒNG KÍN:</a:t>
            </a:r>
          </a:p>
        </p:txBody>
      </p:sp>
      <p:sp>
        <p:nvSpPr>
          <p:cNvPr id="2" name="Rectangle 1"/>
          <p:cNvSpPr/>
          <p:nvPr/>
        </p:nvSpPr>
        <p:spPr>
          <a:xfrm>
            <a:off x="461962" y="1287836"/>
            <a:ext cx="11272837" cy="1047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B25: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lỗi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xảy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ra,các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PID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ưu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khiển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PID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sang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sổ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ưu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ưu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power 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restart.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(Upload PID parameters to project)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71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072049" y="2450237"/>
            <a:ext cx="5540560" cy="4010887"/>
          </a:xfrm>
          <a:prstGeom prst="rect">
            <a:avLst/>
          </a:prstGeom>
        </p:spPr>
      </p:pic>
      <p:pic>
        <p:nvPicPr>
          <p:cNvPr id="10" name="Picture 9" descr="70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4685559" y="1970690"/>
            <a:ext cx="285935" cy="275360"/>
          </a:xfrm>
          <a:prstGeom prst="rect">
            <a:avLst/>
          </a:prstGeom>
        </p:spPr>
      </p:pic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18207618-BA55-4BEC-9776-69A9D724EAB4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6444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7E3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5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0"/>
            <a:ext cx="9132887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8612550"/>
      </p:ext>
    </p:extLst>
  </p:cSld>
  <p:clrMapOvr>
    <a:masterClrMapping/>
  </p:clrMapOvr>
</p:sld>
</file>

<file path=ppt/theme/theme1.xml><?xml version="1.0" encoding="utf-8"?>
<a:theme xmlns:a="http://schemas.openxmlformats.org/drawingml/2006/main" name="4_Default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elcome to Powerpoint 2016_CLR_v2" id="{CAB9082A-965C-42BE-8170-C940D3319B60}" vid="{82B84162-888A-4FD2-BEC9-B29B6DB2C73F}"/>
    </a:ext>
  </a:extLst>
</a:theme>
</file>

<file path=ppt/theme/theme3.xml><?xml version="1.0" encoding="utf-8"?>
<a:theme xmlns:a="http://schemas.openxmlformats.org/drawingml/2006/main" name="5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2347</Words>
  <Application>Microsoft Office PowerPoint</Application>
  <PresentationFormat>Widescreen</PresentationFormat>
  <Paragraphs>245</Paragraphs>
  <Slides>33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Calibri Light</vt:lpstr>
      <vt:lpstr>Segoe UI</vt:lpstr>
      <vt:lpstr>Segoe UI Light</vt:lpstr>
      <vt:lpstr>Times New Roman</vt:lpstr>
      <vt:lpstr>4_Default Design</vt:lpstr>
      <vt:lpstr>WelcomeDoc</vt:lpstr>
      <vt:lpstr>5_Default Design</vt:lpstr>
      <vt:lpstr>Equation.DSMT4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1.3 THIẾT BỊ ĐIỀU KHIỂN LẬP TRÌNH S7-1200  1.4 XỬ LÝ CHƯƠNG TRÌNH  1.5 KẾT NỐI DÂY GIỮA PLC VÀ CÁC THIẾT BỊ NGOẠI VI  1.6 KIỂM TRA VIỆC KẾT NỐI DÂY BẰNG PHẦN MỀM</dc:title>
  <dc:creator>ngha14051997@gmail.com</dc:creator>
  <cp:lastModifiedBy>Xuan Quang</cp:lastModifiedBy>
  <cp:revision>150</cp:revision>
  <dcterms:created xsi:type="dcterms:W3CDTF">2021-07-02T09:40:39Z</dcterms:created>
  <dcterms:modified xsi:type="dcterms:W3CDTF">2021-11-26T13:59:28Z</dcterms:modified>
</cp:coreProperties>
</file>